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877824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987552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0A7D6E"/>
                </a:solidFill>
                <a:latin typeface="Arial"/>
              </a:rPr>
              <a:t>TNT (N = 35)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615184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222222"/>
                </a:solidFill>
                <a:latin typeface="Arial"/>
              </a:rPr>
              <a:t>External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2724912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8A2B4C"/>
                </a:solidFill>
                <a:latin typeface="Arial"/>
              </a:rPr>
              <a:t>nCRT-long (N = 518)</a:t>
            </a:r>
          </a:p>
        </p:txBody>
      </p:sp>
      <p:sp>
        <p:nvSpPr>
          <p:cNvPr id="7" name="Rectangle 6"/>
          <p:cNvSpPr/>
          <p:nvPr/>
        </p:nvSpPr>
        <p:spPr>
          <a:xfrm>
            <a:off x="1618488" y="822960"/>
            <a:ext cx="2048256" cy="329184"/>
          </a:xfrm>
          <a:prstGeom prst="rect">
            <a:avLst/>
          </a:prstGeom>
          <a:solidFill>
            <a:srgbClr val="4F738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905256"/>
            <a:ext cx="204825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Radiation phase · 50.4 Gy / 28 fx · RT alone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66744" y="822960"/>
            <a:ext cx="1024128" cy="329184"/>
          </a:xfrm>
          <a:prstGeom prst="rect">
            <a:avLst/>
          </a:prstGeom>
          <a:solidFill>
            <a:srgbClr val="A6622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6744" y="905256"/>
            <a:ext cx="102412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Consolidation · FOLFOX / CAPOX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0872" y="822960"/>
            <a:ext cx="1024128" cy="329184"/>
          </a:xfrm>
          <a:prstGeom prst="rect">
            <a:avLst/>
          </a:prstGeom>
          <a:solidFill>
            <a:srgbClr val="444A5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905256"/>
            <a:ext cx="102412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surgery / W&amp;W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18488" y="2560320"/>
            <a:ext cx="2048256" cy="329184"/>
          </a:xfrm>
          <a:prstGeom prst="rect">
            <a:avLst/>
          </a:prstGeom>
          <a:solidFill>
            <a:srgbClr val="4F738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8488" y="2642616"/>
            <a:ext cx="204825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Radiation phase · 50.4 Gy · RT + concurrent capecitabine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66744" y="2560320"/>
            <a:ext cx="2048256" cy="329184"/>
          </a:xfrm>
          <a:prstGeom prst="rect">
            <a:avLst/>
          </a:prstGeom>
          <a:solidFill>
            <a:srgbClr val="444A5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2642616"/>
            <a:ext cx="2048256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surgery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1252728"/>
            <a:ext cx="5120640" cy="0"/>
          </a:xfrm>
          <a:prstGeom prst="line">
            <a:avLst/>
          </a:prstGeom>
          <a:ln w="7620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4360" y="2990088"/>
            <a:ext cx="5120640" cy="0"/>
          </a:xfrm>
          <a:prstGeom prst="line">
            <a:avLst/>
          </a:prstGeom>
          <a:ln w="7620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590488" y="721808"/>
            <a:ext cx="56000" cy="56000"/>
          </a:xfrm>
          <a:prstGeom prst="ellipse">
            <a:avLst/>
          </a:prstGeom>
          <a:solidFill>
            <a:srgbClr val="0A7D6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548640"/>
            <a:ext cx="10058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pre-biopsy</a:t>
            </a:r>
          </a:p>
        </p:txBody>
      </p:sp>
      <p:sp>
        <p:nvSpPr>
          <p:cNvPr id="21" name="Oval 20"/>
          <p:cNvSpPr/>
          <p:nvPr/>
        </p:nvSpPr>
        <p:spPr>
          <a:xfrm>
            <a:off x="3638744" y="721808"/>
            <a:ext cx="56000" cy="56000"/>
          </a:xfrm>
          <a:prstGeom prst="ellipse">
            <a:avLst/>
          </a:prstGeom>
          <a:solidFill>
            <a:srgbClr val="0A7D6E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63824" y="548640"/>
            <a:ext cx="100584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0A7D6E"/>
                </a:solidFill>
                <a:latin typeface="Arial"/>
              </a:rPr>
              <a:t>post-biopsy
(post-RT, pre-chemo)</a:t>
            </a:r>
          </a:p>
        </p:txBody>
      </p:sp>
      <p:sp>
        <p:nvSpPr>
          <p:cNvPr id="23" name="Oval 22"/>
          <p:cNvSpPr/>
          <p:nvPr/>
        </p:nvSpPr>
        <p:spPr>
          <a:xfrm>
            <a:off x="1590488" y="2459168"/>
            <a:ext cx="56000" cy="56000"/>
          </a:xfrm>
          <a:prstGeom prst="ellipse">
            <a:avLst/>
          </a:prstGeom>
          <a:solidFill>
            <a:srgbClr val="8A2B4C"/>
          </a:solidFill>
          <a:ln w="1143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2359152"/>
            <a:ext cx="10058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8A2B4C"/>
                </a:solidFill>
                <a:latin typeface="Arial"/>
              </a:rPr>
              <a:t>pre-biopsy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572768" y="365760"/>
            <a:ext cx="0" cy="91440"/>
          </a:xfrm>
          <a:prstGeom prst="line">
            <a:avLst/>
          </a:prstGeom>
          <a:ln w="1016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2768" y="365760"/>
            <a:ext cx="2139696" cy="0"/>
          </a:xfrm>
          <a:prstGeom prst="line">
            <a:avLst/>
          </a:prstGeom>
          <a:ln w="1016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12464" y="365760"/>
            <a:ext cx="0" cy="91440"/>
          </a:xfrm>
          <a:prstGeom prst="line">
            <a:avLst/>
          </a:prstGeom>
          <a:ln w="1016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618488" y="210312"/>
            <a:ext cx="2048256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1">
                <a:solidFill>
                  <a:srgbClr val="222222"/>
                </a:solidFill>
                <a:latin typeface="Arial"/>
              </a:rPr>
              <a:t>Sampling window brackets radiation phase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66360" y="1746504"/>
            <a:ext cx="1188720" cy="411480"/>
          </a:xfrm>
          <a:prstGeom prst="rect">
            <a:avLst/>
          </a:prstGeom>
          <a:solidFill>
            <a:srgbClr val="D4A300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1746504"/>
            <a:ext cx="11887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Arial"/>
              </a:rPr>
              <a:t>Final full-TNT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920240"/>
            <a:ext cx="11887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00" b="0" i="0">
                <a:solidFill>
                  <a:srgbClr val="FFFFFF"/>
                </a:solidFill>
                <a:latin typeface="Arial"/>
              </a:rPr>
              <a:t>good (TRG 0-1) · bad (TRG 2-3)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5221224" y="987552"/>
            <a:ext cx="493776" cy="960120"/>
          </a:xfrm>
          <a:prstGeom prst="line">
            <a:avLst/>
          </a:prstGeom>
          <a:ln w="7620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5221224" y="1947672"/>
            <a:ext cx="493776" cy="777240"/>
          </a:xfrm>
          <a:prstGeom prst="line">
            <a:avLst/>
          </a:prstGeom>
          <a:ln w="7620">
            <a:solidFill>
              <a:srgbClr val="2222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143000" y="1828800"/>
            <a:ext cx="3657600" cy="502920"/>
          </a:xfrm>
          <a:prstGeom prst="rect">
            <a:avLst/>
          </a:prstGeom>
          <a:solidFill>
            <a:srgbClr val="FAF2D8"/>
          </a:solidFill>
          <a:ln w="889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1856232"/>
            <a:ext cx="3566160" cy="173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D4A300"/>
                </a:solidFill>
                <a:latin typeface="Arial"/>
              </a:rPr>
              <a:t>Chemo-timing contrast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2011680"/>
            <a:ext cx="35661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A7D6E"/>
                </a:solidFill>
                <a:latin typeface="Arial"/>
              </a:rPr>
              <a:t>Discovery: chemo AFTER RT (consolidated)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2157984"/>
            <a:ext cx="35661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8A2B4C"/>
                </a:solidFill>
                <a:latin typeface="Arial"/>
              </a:rPr>
              <a:t>External: chemo DURING RT (concurrent)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" y="3474720"/>
            <a:ext cx="5669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Both regimens end at the same clinical response endpoint. Baseline (pre) biopsies precede all therapy; the TNT post-biopsy samples RT alone (chemo follows). The pre-only baseline predictor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" y="3630168"/>
            <a:ext cx="5669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(tested in Fig 9) therefore cannot encode the chemo-timing difference → regimen-agnostic.  Paired analyses (Figs 6-8) are scoped to the RT-phase window only.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3090672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1">
                <a:solidFill>
                  <a:srgbClr val="666666"/>
                </a:solidFill>
                <a:latin typeface="Arial"/>
              </a:rPr>
              <a:t>diagnosis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3090672"/>
            <a:ext cx="45720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 i="1">
                <a:solidFill>
                  <a:srgbClr val="666666"/>
                </a:solidFill>
                <a:latin typeface="Arial"/>
              </a:rPr>
              <a:t>~6 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594360"/>
            <a:ext cx="457200" cy="1926771"/>
          </a:xfrm>
          <a:prstGeom prst="rect">
            <a:avLst/>
          </a:prstGeom>
          <a:solidFill>
            <a:srgbClr val="366D9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475450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366D96"/>
                </a:solidFill>
                <a:latin typeface="Arial"/>
              </a:rPr>
              <a:t>M (n=25)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521131"/>
            <a:ext cx="457200" cy="770709"/>
          </a:xfrm>
          <a:prstGeom prst="rect">
            <a:avLst/>
          </a:prstGeom>
          <a:solidFill>
            <a:srgbClr val="B45A7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2824190"/>
            <a:ext cx="8686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B45A70"/>
                </a:solidFill>
                <a:latin typeface="Arial"/>
              </a:rPr>
              <a:t>F (n=10)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594360"/>
            <a:ext cx="457200" cy="385354"/>
          </a:xfrm>
          <a:prstGeom prst="rect">
            <a:avLst/>
          </a:prstGeom>
          <a:solidFill>
            <a:srgbClr val="A8C8E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1296" y="704741"/>
            <a:ext cx="6858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  <a:latin typeface="Arial"/>
              </a:rPr>
              <a:t>T2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823613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(n=5)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979714"/>
            <a:ext cx="457200" cy="154142"/>
          </a:xfrm>
          <a:prstGeom prst="rect">
            <a:avLst/>
          </a:prstGeom>
          <a:solidFill>
            <a:srgbClr val="7DA7C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974489"/>
            <a:ext cx="6858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  <a:latin typeface="Arial"/>
              </a:rPr>
              <a:t>T2/T3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1093361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(n=2)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133856"/>
            <a:ext cx="457200" cy="1464346"/>
          </a:xfrm>
          <a:prstGeom prst="rect">
            <a:avLst/>
          </a:prstGeom>
          <a:solidFill>
            <a:srgbClr val="457A9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1296" y="1783733"/>
            <a:ext cx="6858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  <a:latin typeface="Arial"/>
              </a:rPr>
              <a:t>T3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1902605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(n=19)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598202"/>
            <a:ext cx="457200" cy="693638"/>
          </a:xfrm>
          <a:prstGeom prst="rect">
            <a:avLst/>
          </a:prstGeom>
          <a:solidFill>
            <a:srgbClr val="214A7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1296" y="2862725"/>
            <a:ext cx="6858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  <a:latin typeface="Arial"/>
              </a:rPr>
              <a:t>T4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2981597"/>
            <a:ext cx="68580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(n=9)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594360"/>
            <a:ext cx="457200" cy="1387275"/>
          </a:xfrm>
          <a:prstGeom prst="rect">
            <a:avLst/>
          </a:prstGeom>
          <a:solidFill>
            <a:srgbClr val="0A7D6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4104" y="1205702"/>
            <a:ext cx="8229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A7D6E"/>
                </a:solidFill>
                <a:latin typeface="Arial"/>
              </a:rPr>
              <a:t>good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1324574"/>
            <a:ext cx="8229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(n=18)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2040" y="1981635"/>
            <a:ext cx="457200" cy="1310205"/>
          </a:xfrm>
          <a:prstGeom prst="rect">
            <a:avLst/>
          </a:prstGeom>
          <a:solidFill>
            <a:srgbClr val="C53E1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4104" y="2554442"/>
            <a:ext cx="8229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C53E1F"/>
                </a:solidFill>
                <a:latin typeface="Arial"/>
              </a:rPr>
              <a:t>bad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2673314"/>
            <a:ext cx="82296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(n=17)</a:t>
            </a:r>
          </a:p>
        </p:txBody>
      </p:sp>
      <p:sp>
        <p:nvSpPr>
          <p:cNvPr id="25" name="Freeform 24"/>
          <p:cNvSpPr/>
          <p:nvPr/>
        </p:nvSpPr>
        <p:spPr>
          <a:xfrm>
            <a:off x="1554480" y="594360"/>
            <a:ext cx="1463040" cy="231213"/>
          </a:xfrm>
          <a:custGeom>
            <a:avLst/>
            <a:gdLst/>
            <a:ahLst/>
            <a:cxnLst/>
            <a:rect l="l" t="t" r="r" b="b"/>
            <a:pathLst>
              <a:path w="1463040" h="231213">
                <a:moveTo>
                  <a:pt x="0" y="0"/>
                </a:moveTo>
                <a:lnTo>
                  <a:pt x="1463040" y="0"/>
                </a:lnTo>
                <a:lnTo>
                  <a:pt x="1463040" y="231213"/>
                </a:lnTo>
                <a:lnTo>
                  <a:pt x="0" y="231213"/>
                </a:lnTo>
                <a:close/>
              </a:path>
            </a:pathLst>
          </a:custGeom>
          <a:solidFill>
            <a:srgbClr val="7CA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554480" y="825573"/>
            <a:ext cx="1463040" cy="308283"/>
          </a:xfrm>
          <a:custGeom>
            <a:avLst/>
            <a:gdLst/>
            <a:ahLst/>
            <a:cxnLst/>
            <a:rect l="l" t="t" r="r" b="b"/>
            <a:pathLst>
              <a:path w="1463040" h="308283">
                <a:moveTo>
                  <a:pt x="0" y="0"/>
                </a:moveTo>
                <a:lnTo>
                  <a:pt x="1463040" y="154141"/>
                </a:lnTo>
                <a:lnTo>
                  <a:pt x="1463040" y="308283"/>
                </a:lnTo>
                <a:lnTo>
                  <a:pt x="0" y="154141"/>
                </a:lnTo>
                <a:close/>
              </a:path>
            </a:pathLst>
          </a:custGeom>
          <a:solidFill>
            <a:srgbClr val="7CA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1554480" y="979714"/>
            <a:ext cx="1463040" cy="1156063"/>
          </a:xfrm>
          <a:custGeom>
            <a:avLst/>
            <a:gdLst/>
            <a:ahLst/>
            <a:cxnLst/>
            <a:rect l="l" t="t" r="r" b="b"/>
            <a:pathLst>
              <a:path w="1463040" h="1156063">
                <a:moveTo>
                  <a:pt x="0" y="0"/>
                </a:moveTo>
                <a:lnTo>
                  <a:pt x="1463040" y="154142"/>
                </a:lnTo>
                <a:lnTo>
                  <a:pt x="1463040" y="1156063"/>
                </a:lnTo>
                <a:lnTo>
                  <a:pt x="0" y="1001921"/>
                </a:lnTo>
                <a:close/>
              </a:path>
            </a:pathLst>
          </a:custGeom>
          <a:solidFill>
            <a:srgbClr val="7CA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554480" y="1981635"/>
            <a:ext cx="1463040" cy="1156063"/>
          </a:xfrm>
          <a:custGeom>
            <a:avLst/>
            <a:gdLst/>
            <a:ahLst/>
            <a:cxnLst/>
            <a:rect l="l" t="t" r="r" b="b"/>
            <a:pathLst>
              <a:path w="1463040" h="1156063">
                <a:moveTo>
                  <a:pt x="0" y="0"/>
                </a:moveTo>
                <a:lnTo>
                  <a:pt x="1463040" y="616567"/>
                </a:lnTo>
                <a:lnTo>
                  <a:pt x="1463040" y="1156063"/>
                </a:lnTo>
                <a:lnTo>
                  <a:pt x="0" y="539496"/>
                </a:lnTo>
                <a:close/>
              </a:path>
            </a:pathLst>
          </a:custGeom>
          <a:solidFill>
            <a:srgbClr val="7CA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554480" y="825573"/>
            <a:ext cx="1463040" cy="1849700"/>
          </a:xfrm>
          <a:custGeom>
            <a:avLst/>
            <a:gdLst/>
            <a:ahLst/>
            <a:cxnLst/>
            <a:rect l="l" t="t" r="r" b="b"/>
            <a:pathLst>
              <a:path w="1463040" h="1849700">
                <a:moveTo>
                  <a:pt x="0" y="1695558"/>
                </a:moveTo>
                <a:lnTo>
                  <a:pt x="1463040" y="0"/>
                </a:lnTo>
                <a:lnTo>
                  <a:pt x="1463040" y="154141"/>
                </a:lnTo>
                <a:lnTo>
                  <a:pt x="0" y="1849700"/>
                </a:lnTo>
                <a:close/>
              </a:path>
            </a:pathLst>
          </a:custGeom>
          <a:solidFill>
            <a:srgbClr val="CE9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554480" y="2135777"/>
            <a:ext cx="1463040" cy="1001921"/>
          </a:xfrm>
          <a:custGeom>
            <a:avLst/>
            <a:gdLst/>
            <a:ahLst/>
            <a:cxnLst/>
            <a:rect l="l" t="t" r="r" b="b"/>
            <a:pathLst>
              <a:path w="1463040" h="1001921">
                <a:moveTo>
                  <a:pt x="0" y="539496"/>
                </a:moveTo>
                <a:lnTo>
                  <a:pt x="1463040" y="0"/>
                </a:lnTo>
                <a:lnTo>
                  <a:pt x="1463040" y="462425"/>
                </a:lnTo>
                <a:lnTo>
                  <a:pt x="0" y="1001921"/>
                </a:lnTo>
                <a:close/>
              </a:path>
            </a:pathLst>
          </a:custGeom>
          <a:solidFill>
            <a:srgbClr val="CE9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54480" y="3137698"/>
            <a:ext cx="1463040" cy="154142"/>
          </a:xfrm>
          <a:custGeom>
            <a:avLst/>
            <a:gdLst/>
            <a:ahLst/>
            <a:cxnLst/>
            <a:rect l="l" t="t" r="r" b="b"/>
            <a:pathLst>
              <a:path w="1463040" h="154142">
                <a:moveTo>
                  <a:pt x="0" y="0"/>
                </a:moveTo>
                <a:lnTo>
                  <a:pt x="1463040" y="0"/>
                </a:lnTo>
                <a:lnTo>
                  <a:pt x="1463040" y="154142"/>
                </a:lnTo>
                <a:lnTo>
                  <a:pt x="0" y="154142"/>
                </a:lnTo>
                <a:close/>
              </a:path>
            </a:pathLst>
          </a:custGeom>
          <a:solidFill>
            <a:srgbClr val="CE93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474720" y="594360"/>
            <a:ext cx="1417320" cy="308283"/>
          </a:xfrm>
          <a:custGeom>
            <a:avLst/>
            <a:gdLst/>
            <a:ahLst/>
            <a:cxnLst/>
            <a:rect l="l" t="t" r="r" b="b"/>
            <a:pathLst>
              <a:path w="1417320" h="308283">
                <a:moveTo>
                  <a:pt x="0" y="0"/>
                </a:moveTo>
                <a:lnTo>
                  <a:pt x="1417320" y="0"/>
                </a:lnTo>
                <a:lnTo>
                  <a:pt x="1417320" y="308283"/>
                </a:lnTo>
                <a:lnTo>
                  <a:pt x="0" y="308283"/>
                </a:lnTo>
                <a:close/>
              </a:path>
            </a:pathLst>
          </a:custGeom>
          <a:solidFill>
            <a:srgbClr val="6CB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474720" y="902643"/>
            <a:ext cx="1417320" cy="1156063"/>
          </a:xfrm>
          <a:custGeom>
            <a:avLst/>
            <a:gdLst/>
            <a:ahLst/>
            <a:cxnLst/>
            <a:rect l="l" t="t" r="r" b="b"/>
            <a:pathLst>
              <a:path w="1417320" h="1156063">
                <a:moveTo>
                  <a:pt x="0" y="0"/>
                </a:moveTo>
                <a:lnTo>
                  <a:pt x="1417320" y="1078992"/>
                </a:lnTo>
                <a:lnTo>
                  <a:pt x="1417320" y="1156063"/>
                </a:lnTo>
                <a:lnTo>
                  <a:pt x="0" y="77071"/>
                </a:lnTo>
                <a:close/>
              </a:path>
            </a:pathLst>
          </a:custGeom>
          <a:solidFill>
            <a:srgbClr val="DC8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474720" y="902643"/>
            <a:ext cx="1417320" cy="231213"/>
          </a:xfrm>
          <a:custGeom>
            <a:avLst/>
            <a:gdLst/>
            <a:ahLst/>
            <a:cxnLst/>
            <a:rect l="l" t="t" r="r" b="b"/>
            <a:pathLst>
              <a:path w="1417320" h="231213">
                <a:moveTo>
                  <a:pt x="0" y="77071"/>
                </a:moveTo>
                <a:lnTo>
                  <a:pt x="1417320" y="0"/>
                </a:lnTo>
                <a:lnTo>
                  <a:pt x="1417320" y="154142"/>
                </a:lnTo>
                <a:lnTo>
                  <a:pt x="0" y="231213"/>
                </a:lnTo>
                <a:close/>
              </a:path>
            </a:pathLst>
          </a:custGeom>
          <a:solidFill>
            <a:srgbClr val="6CB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474720" y="1056785"/>
            <a:ext cx="1417320" cy="847780"/>
          </a:xfrm>
          <a:custGeom>
            <a:avLst/>
            <a:gdLst/>
            <a:ahLst/>
            <a:cxnLst/>
            <a:rect l="l" t="t" r="r" b="b"/>
            <a:pathLst>
              <a:path w="1417320" h="847780">
                <a:moveTo>
                  <a:pt x="0" y="77071"/>
                </a:moveTo>
                <a:lnTo>
                  <a:pt x="1417320" y="0"/>
                </a:lnTo>
                <a:lnTo>
                  <a:pt x="1417320" y="770709"/>
                </a:lnTo>
                <a:lnTo>
                  <a:pt x="0" y="847780"/>
                </a:lnTo>
                <a:close/>
              </a:path>
            </a:pathLst>
          </a:custGeom>
          <a:solidFill>
            <a:srgbClr val="6CB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474720" y="1904565"/>
            <a:ext cx="1417320" cy="847779"/>
          </a:xfrm>
          <a:custGeom>
            <a:avLst/>
            <a:gdLst/>
            <a:ahLst/>
            <a:cxnLst/>
            <a:rect l="l" t="t" r="r" b="b"/>
            <a:pathLst>
              <a:path w="1417320" h="847779">
                <a:moveTo>
                  <a:pt x="0" y="0"/>
                </a:moveTo>
                <a:lnTo>
                  <a:pt x="1417320" y="154141"/>
                </a:lnTo>
                <a:lnTo>
                  <a:pt x="1417320" y="847779"/>
                </a:lnTo>
                <a:lnTo>
                  <a:pt x="0" y="693637"/>
                </a:lnTo>
                <a:close/>
              </a:path>
            </a:pathLst>
          </a:custGeom>
          <a:solidFill>
            <a:srgbClr val="DC8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3474720" y="1827494"/>
            <a:ext cx="1417320" cy="924850"/>
          </a:xfrm>
          <a:custGeom>
            <a:avLst/>
            <a:gdLst/>
            <a:ahLst/>
            <a:cxnLst/>
            <a:rect l="l" t="t" r="r" b="b"/>
            <a:pathLst>
              <a:path w="1417320" h="924850">
                <a:moveTo>
                  <a:pt x="0" y="770708"/>
                </a:moveTo>
                <a:lnTo>
                  <a:pt x="1417320" y="0"/>
                </a:lnTo>
                <a:lnTo>
                  <a:pt x="1417320" y="154141"/>
                </a:lnTo>
                <a:lnTo>
                  <a:pt x="0" y="924850"/>
                </a:lnTo>
                <a:close/>
              </a:path>
            </a:pathLst>
          </a:custGeom>
          <a:solidFill>
            <a:srgbClr val="6CB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474720" y="2752344"/>
            <a:ext cx="1417320" cy="539496"/>
          </a:xfrm>
          <a:custGeom>
            <a:avLst/>
            <a:gdLst/>
            <a:ahLst/>
            <a:cxnLst/>
            <a:rect l="l" t="t" r="r" b="b"/>
            <a:pathLst>
              <a:path w="1417320" h="539496">
                <a:moveTo>
                  <a:pt x="0" y="0"/>
                </a:moveTo>
                <a:lnTo>
                  <a:pt x="1417320" y="0"/>
                </a:lnTo>
                <a:lnTo>
                  <a:pt x="1417320" y="539496"/>
                </a:lnTo>
                <a:lnTo>
                  <a:pt x="0" y="539496"/>
                </a:lnTo>
                <a:close/>
              </a:path>
            </a:pathLst>
          </a:custGeom>
          <a:solidFill>
            <a:srgbClr val="DC8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320040"/>
            <a:ext cx="9144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Sex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320040"/>
            <a:ext cx="9144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Clinical 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320040"/>
            <a:ext cx="9144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222222"/>
                </a:solidFill>
                <a:latin typeface="Arial"/>
              </a:rPr>
              <a:t>Final response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" y="3474720"/>
            <a:ext cx="5669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555555"/>
                </a:solidFill>
                <a:latin typeface="Arial"/>
              </a:rPr>
              <a:t>N = 35 MSS LARC patients; ribbon widths proportional to subject counts.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" y="3630168"/>
            <a:ext cx="5669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T4 stage enriched in bad responders (7/9 vs 2/9 good, Fisher P = 0.086); no sig. sex association.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5840" y="301752"/>
            <a:ext cx="1645920" cy="164592"/>
          </a:xfrm>
          <a:prstGeom prst="rect">
            <a:avLst/>
          </a:prstGeom>
          <a:solidFill>
            <a:srgbClr val="479D9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0175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WES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301752"/>
            <a:ext cx="1645920" cy="164592"/>
          </a:xfrm>
          <a:prstGeom prst="rect">
            <a:avLst/>
          </a:prstGeom>
          <a:solidFill>
            <a:srgbClr val="D36E57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301752"/>
            <a:ext cx="16459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RNA-seq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84632"/>
            <a:ext cx="5486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612648"/>
            <a:ext cx="5486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666666"/>
                </a:solidFill>
                <a:latin typeface="Arial"/>
              </a:rPr>
              <a:t>n=28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484632"/>
            <a:ext cx="5486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pre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612648"/>
            <a:ext cx="5486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666666"/>
                </a:solidFill>
                <a:latin typeface="Arial"/>
              </a:rPr>
              <a:t>n=35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84632"/>
            <a:ext cx="5486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612648"/>
            <a:ext cx="5486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666666"/>
                </a:solidFill>
                <a:latin typeface="Arial"/>
              </a:rPr>
              <a:t>n=14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84632"/>
            <a:ext cx="5486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normal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612648"/>
            <a:ext cx="5486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666666"/>
                </a:solidFill>
                <a:latin typeface="Arial"/>
              </a:rPr>
              <a:t>n=10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84632"/>
            <a:ext cx="5486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pre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612648"/>
            <a:ext cx="5486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666666"/>
                </a:solidFill>
                <a:latin typeface="Arial"/>
              </a:rPr>
              <a:t>n=33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484632"/>
            <a:ext cx="5486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612648"/>
            <a:ext cx="54864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 i="0">
                <a:solidFill>
                  <a:srgbClr val="666666"/>
                </a:solidFill>
                <a:latin typeface="Arial"/>
              </a:rPr>
              <a:t>n=13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" y="654449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91025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5840" y="705800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74480" y="705800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23120" y="705800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71760" y="705800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0400" y="705800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69040" y="705800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" y="738051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774627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5840" y="789402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74480" y="789402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23120" y="789402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71760" y="789402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20400" y="789402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69040" y="789402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4592" y="821654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858230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5840" y="873005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74480" y="873005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23120" y="873005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71760" y="873005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20400" y="873005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69040" y="873005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" y="905256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" y="941832"/>
            <a:ext cx="73152" cy="82296"/>
          </a:xfrm>
          <a:prstGeom prst="rect">
            <a:avLst/>
          </a:prstGeom>
          <a:solidFill>
            <a:srgbClr val="7DA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5840" y="956607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574480" y="956607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123120" y="956607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671760" y="956607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20400" y="956607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69040" y="956607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4592" y="98885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" y="1025434"/>
            <a:ext cx="73152" cy="82296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25840" y="1040209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574480" y="1040209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23120" y="1040209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71760" y="1040209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20400" y="1040209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769040" y="1040209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4592" y="1072460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" y="1109036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25840" y="1123811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74480" y="1123811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123120" y="1123811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671760" y="1123811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20400" y="1123811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769040" y="1123811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4592" y="1156063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14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048" y="1192639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5840" y="1207414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574480" y="1207414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123120" y="1207414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671760" y="1207414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20400" y="1207414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769040" y="1207414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4592" y="1239665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16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84048" y="1276241"/>
            <a:ext cx="73152" cy="82296"/>
          </a:xfrm>
          <a:prstGeom prst="rect">
            <a:avLst/>
          </a:prstGeom>
          <a:solidFill>
            <a:srgbClr val="A8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25840" y="1291016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574480" y="1291016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123120" y="1291016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671760" y="1291016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220400" y="1291016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769040" y="1291016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4592" y="1323267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17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4048" y="1359843"/>
            <a:ext cx="73152" cy="82296"/>
          </a:xfrm>
          <a:prstGeom prst="rect">
            <a:avLst/>
          </a:prstGeom>
          <a:solidFill>
            <a:srgbClr val="7DA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25840" y="1374618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574480" y="1374618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123120" y="1374618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71760" y="1374618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220400" y="1374618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769040" y="1374618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64592" y="1406870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20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84048" y="1443446"/>
            <a:ext cx="73152" cy="82296"/>
          </a:xfrm>
          <a:prstGeom prst="rect">
            <a:avLst/>
          </a:prstGeom>
          <a:solidFill>
            <a:srgbClr val="A8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25840" y="1458221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574480" y="1458221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123120" y="1458221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671760" y="1458221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220400" y="1458221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769040" y="1458221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4592" y="1490472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23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4048" y="1527048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25840" y="1541823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574480" y="1541823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123120" y="1541823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671760" y="1541823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220400" y="1541823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769040" y="1541823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4592" y="1574074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24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84048" y="1610650"/>
            <a:ext cx="73152" cy="82296"/>
          </a:xfrm>
          <a:prstGeom prst="rect">
            <a:avLst/>
          </a:prstGeom>
          <a:solidFill>
            <a:srgbClr val="A8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25840" y="1625425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574480" y="1625425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123120" y="1625425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671760" y="1625425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220400" y="1625425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769040" y="1625425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64592" y="1657676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25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84048" y="1694252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25840" y="1709027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574480" y="1709027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123120" y="1709027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671760" y="1709027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220400" y="1709027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69040" y="1709027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64592" y="1741279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27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84048" y="1777855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25840" y="1792630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574480" y="1792630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123120" y="1792630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671760" y="1792630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220400" y="1792630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769040" y="1792630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4592" y="1824881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28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84048" y="1861457"/>
            <a:ext cx="73152" cy="82296"/>
          </a:xfrm>
          <a:prstGeom prst="rect">
            <a:avLst/>
          </a:prstGeom>
          <a:solidFill>
            <a:srgbClr val="A8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25840" y="1876232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574480" y="1876232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123120" y="1876232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671760" y="1876232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220400" y="1876232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769040" y="1876232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64592" y="1908483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29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84048" y="1945059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25840" y="1959834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574480" y="1959834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123120" y="1959834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671760" y="1959834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220400" y="1959834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769040" y="1959834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64592" y="1992086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30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84048" y="2028662"/>
            <a:ext cx="73152" cy="82296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025840" y="2043437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574480" y="2043437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123120" y="2043437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671760" y="2043437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220400" y="2043437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769040" y="2043437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64592" y="207568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0A7D6E"/>
                </a:solidFill>
                <a:latin typeface="Arial"/>
              </a:rPr>
              <a:t>31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84048" y="2112264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025840" y="2127039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574480" y="2127039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123120" y="2127039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671760" y="2127039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220400" y="2127039"/>
            <a:ext cx="508640" cy="4360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769040" y="2127039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64592" y="2159290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84048" y="2195866"/>
            <a:ext cx="73152" cy="82296"/>
          </a:xfrm>
          <a:prstGeom prst="rect">
            <a:avLst/>
          </a:prstGeom>
          <a:solidFill>
            <a:srgbClr val="A8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025840" y="2210641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574480" y="2210641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2123120" y="2210641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671760" y="2210641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3220400" y="2210641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3769040" y="2210641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64592" y="2242892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84048" y="2279468"/>
            <a:ext cx="73152" cy="82296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1025840" y="2294243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574480" y="2294243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123120" y="2294243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671760" y="2294243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220400" y="2294243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769040" y="2294243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64592" y="2326495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7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384048" y="2363071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025840" y="2377846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574480" y="2377846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2123120" y="2377846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2671760" y="2377846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3220400" y="2377846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769040" y="2377846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64592" y="2410097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10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84048" y="2446673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025840" y="2461448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574480" y="2461448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2123120" y="2461448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2671760" y="2461448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3220400" y="2461448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3769040" y="2461448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64592" y="2493699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11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384048" y="2530275"/>
            <a:ext cx="73152" cy="82296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025840" y="2545050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574480" y="2545050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123120" y="2545050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671760" y="2545050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3220400" y="2545050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3769040" y="2545050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64592" y="2577302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12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384048" y="2613878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025840" y="2628653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1574480" y="2628653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2123120" y="2628653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2671760" y="2628653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3220400" y="2628653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3769040" y="2628653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64592" y="2660904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13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384048" y="2697480"/>
            <a:ext cx="73152" cy="82296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025840" y="2712255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1574480" y="2712255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2123120" y="2712255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2671760" y="2712255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3220400" y="2712255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3769040" y="2712255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64592" y="2744506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15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84048" y="2781082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1025840" y="2795857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1574480" y="2795857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2123120" y="2795857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2671760" y="2795857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3220400" y="2795857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3769040" y="2795857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164592" y="282810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18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84048" y="2864684"/>
            <a:ext cx="73152" cy="82296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025840" y="2879459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574480" y="2879459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2123120" y="2879459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2671760" y="2879459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3220400" y="2879459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3769040" y="2879459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64592" y="2911711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19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384048" y="2948287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025840" y="2963062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574480" y="2963062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2123120" y="2963062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2671760" y="2963062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3220400" y="2963062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3769040" y="2963062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64592" y="2995313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21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384048" y="3031889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025840" y="3046664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574480" y="3046664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2123120" y="3046664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2671760" y="3046664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3220400" y="3046664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3769040" y="3046664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64592" y="3078915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22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384048" y="3115491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025840" y="3130266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574480" y="3130266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2123120" y="3130266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2671760" y="3130266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3220400" y="3130266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3769040" y="3130266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164592" y="3162518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26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384048" y="3199094"/>
            <a:ext cx="73152" cy="82296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025840" y="3213869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574480" y="3213869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2123120" y="3213869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2671760" y="3213869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3220400" y="3213869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3769040" y="3213869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164592" y="3246120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32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384048" y="3282696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025840" y="3297471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574480" y="3297471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2123120" y="3297471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2671760" y="3297471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3220400" y="3297471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3769040" y="3297471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164592" y="3329722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33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384048" y="3366298"/>
            <a:ext cx="73152" cy="82296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025840" y="3381073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574480" y="3381073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2123120" y="3381073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2671760" y="3381073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3220400" y="3381073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3769040" y="3381073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164592" y="3413324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34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384048" y="3449900"/>
            <a:ext cx="73152" cy="82296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25840" y="3464675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574480" y="3464675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2123120" y="3464675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2671760" y="3464675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3220400" y="3464675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3769040" y="3464675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64592" y="3496927"/>
            <a:ext cx="201168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 i="0">
                <a:solidFill>
                  <a:srgbClr val="C53E1F"/>
                </a:solidFill>
                <a:latin typeface="Arial"/>
              </a:rPr>
              <a:t>35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384048" y="3533503"/>
            <a:ext cx="73152" cy="82296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25840" y="3548278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574480" y="3548278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2123120" y="3548278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671760" y="3548278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3220400" y="3548278"/>
            <a:ext cx="508640" cy="4360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3769040" y="3548278"/>
            <a:ext cx="508640" cy="43602"/>
          </a:xfrm>
          <a:prstGeom prst="rect">
            <a:avLst/>
          </a:prstGeom>
          <a:solidFill>
            <a:srgbClr val="F0F0F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9" name="Connector 298"/>
          <p:cNvCxnSpPr/>
          <p:nvPr/>
        </p:nvCxnSpPr>
        <p:spPr>
          <a:xfrm>
            <a:off x="2651760" y="274320"/>
            <a:ext cx="0" cy="3337560"/>
          </a:xfrm>
          <a:prstGeom prst="line">
            <a:avLst/>
          </a:prstGeom>
          <a:ln w="762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Rectangle 299"/>
          <p:cNvSpPr/>
          <p:nvPr/>
        </p:nvSpPr>
        <p:spPr>
          <a:xfrm>
            <a:off x="1005840" y="685800"/>
            <a:ext cx="3291840" cy="2926080"/>
          </a:xfrm>
          <a:prstGeom prst="rect">
            <a:avLst/>
          </a:prstGeom>
          <a:noFill/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1" name="Connector 300"/>
          <p:cNvCxnSpPr/>
          <p:nvPr/>
        </p:nvCxnSpPr>
        <p:spPr>
          <a:xfrm>
            <a:off x="1005840" y="2190641"/>
            <a:ext cx="3291840" cy="0"/>
          </a:xfrm>
          <a:prstGeom prst="line">
            <a:avLst/>
          </a:prstGeom>
          <a:ln w="1016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TextBox 301"/>
          <p:cNvSpPr txBox="1"/>
          <p:nvPr/>
        </p:nvSpPr>
        <p:spPr>
          <a:xfrm>
            <a:off x="137160" y="1365069"/>
            <a:ext cx="5029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A7D6E"/>
                </a:solidFill>
                <a:latin typeface="Arial"/>
              </a:rPr>
              <a:t>good (n=18)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37160" y="2828109"/>
            <a:ext cx="5029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C53E1F"/>
                </a:solidFill>
                <a:latin typeface="Arial"/>
              </a:rPr>
              <a:t>bad (n=17)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4526280" y="731520"/>
            <a:ext cx="91440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  <a:latin typeface="Arial"/>
              </a:rPr>
              <a:t>Sample present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526280" y="932688"/>
            <a:ext cx="146304" cy="128016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4709160" y="905256"/>
            <a:ext cx="7315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good responder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4526280" y="1097280"/>
            <a:ext cx="146304" cy="128016"/>
          </a:xfrm>
          <a:prstGeom prst="rect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4709160" y="1069848"/>
            <a:ext cx="7315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bad responder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4526280" y="1261872"/>
            <a:ext cx="146304" cy="12801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4709160" y="1234440"/>
            <a:ext cx="8229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absent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4526280" y="1463040"/>
            <a:ext cx="9144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  <a:latin typeface="Arial"/>
              </a:rPr>
              <a:t>cT stage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526280" y="1627632"/>
            <a:ext cx="91440" cy="91440"/>
          </a:xfrm>
          <a:prstGeom prst="rect">
            <a:avLst/>
          </a:prstGeom>
          <a:solidFill>
            <a:srgbClr val="A8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4654296" y="1617632"/>
            <a:ext cx="731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T2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526280" y="1764792"/>
            <a:ext cx="91440" cy="91440"/>
          </a:xfrm>
          <a:prstGeom prst="rect">
            <a:avLst/>
          </a:prstGeom>
          <a:solidFill>
            <a:srgbClr val="7DA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4654296" y="1754792"/>
            <a:ext cx="731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T2/T3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526280" y="1901952"/>
            <a:ext cx="91440" cy="91440"/>
          </a:xfrm>
          <a:prstGeom prst="rect">
            <a:avLst/>
          </a:prstGeom>
          <a:solidFill>
            <a:srgbClr val="457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4654296" y="1891952"/>
            <a:ext cx="731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T3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4526280" y="2039112"/>
            <a:ext cx="91440" cy="91440"/>
          </a:xfrm>
          <a:prstGeom prst="rect">
            <a:avLst/>
          </a:prstGeom>
          <a:solidFill>
            <a:srgbClr val="214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4654296" y="2029112"/>
            <a:ext cx="7315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T4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137160" y="3749039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77 WES samples (28 normal + 35 pre + 14 post) · 56 RNA-seq samples (10 normal + 33 pre + 13 post)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137160" y="3886200"/>
            <a:ext cx="56692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666666"/>
                </a:solidFill>
                <a:latin typeface="Arial"/>
              </a:rPr>
              <a:t>12 subjects have paired pre + post RNA-seq (used in all paired-analysis figures).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576072"/>
            <a:ext cx="6400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E4A68"/>
                </a:solidFill>
                <a:latin typeface="Arial"/>
              </a:rPr>
              <a:t>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704088"/>
            <a:ext cx="8686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Pre-CRT LASSO AUC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896112"/>
            <a:ext cx="86868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4-feature ElasticNet, nested outer-LOOCV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797814"/>
            <a:ext cx="3017520" cy="16459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797814"/>
            <a:ext cx="1478585" cy="164592"/>
          </a:xfrm>
          <a:prstGeom prst="rect">
            <a:avLst/>
          </a:prstGeom>
          <a:solidFill>
            <a:srgbClr val="0E4A6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980694"/>
            <a:ext cx="3017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1">
                <a:solidFill>
                  <a:srgbClr val="666666"/>
                </a:solidFill>
                <a:latin typeface="Arial"/>
              </a:rPr>
              <a:t>AUC  (chance = 0.5)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576072"/>
            <a:ext cx="11887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E4A68"/>
                </a:solidFill>
                <a:latin typeface="Arial"/>
              </a:rPr>
              <a:t>0.745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822960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rial"/>
              </a:rPr>
              <a:t>[0.56, 0.90]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005840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0E4A68"/>
                </a:solidFill>
                <a:latin typeface="Arial"/>
              </a:rPr>
              <a:t>→ Fig 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" y="1257300"/>
            <a:ext cx="5577840" cy="0"/>
          </a:xfrm>
          <a:prstGeom prst="line">
            <a:avLst/>
          </a:prstGeom>
          <a:ln w="381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2880" y="1330452"/>
            <a:ext cx="6400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0E4A68"/>
                </a:solidFill>
                <a:latin typeface="Arial"/>
              </a:rPr>
              <a:t>EXTERNAL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1458468"/>
            <a:ext cx="8686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Thread 1 meta (5 cohorts, N = 518)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1650492"/>
            <a:ext cx="86868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DSB Z = +3.17 · cell-cycle +3.21 · E2F/MYC +2.79 · EMT +1.61 (trend)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1552194"/>
            <a:ext cx="3017520" cy="16459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1552194"/>
            <a:ext cx="2421560" cy="164592"/>
          </a:xfrm>
          <a:prstGeom prst="rect">
            <a:avLst/>
          </a:prstGeom>
          <a:solidFill>
            <a:srgbClr val="0E4A68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1735074"/>
            <a:ext cx="3017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1">
                <a:solidFill>
                  <a:srgbClr val="666666"/>
                </a:solidFill>
                <a:latin typeface="Arial"/>
              </a:rPr>
              <a:t>Stouffer Z  (|Z| = 1.96 = P 0.05)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1330452"/>
            <a:ext cx="11887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0E4A68"/>
                </a:solidFill>
                <a:latin typeface="Arial"/>
              </a:rPr>
              <a:t>+3.21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1577340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rial"/>
              </a:rPr>
              <a:t>max 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760220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0E4A68"/>
                </a:solidFill>
                <a:latin typeface="Arial"/>
              </a:rPr>
              <a:t>→ Fig 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2880" y="2011680"/>
            <a:ext cx="5577840" cy="0"/>
          </a:xfrm>
          <a:prstGeom prst="line">
            <a:avLst/>
          </a:prstGeom>
          <a:ln w="381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2880" y="2084832"/>
            <a:ext cx="6400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8A2B4C"/>
                </a:solidFill>
                <a:latin typeface="Arial"/>
              </a:rPr>
              <a:t>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2212848"/>
            <a:ext cx="8686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Thread 2 meta (6 sources, N = 816)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2404872"/>
            <a:ext cx="86868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CD8-cytotoxic + Akiyoshi 2023 (JAMA Netw Open)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2306574"/>
            <a:ext cx="3017520" cy="16459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2306574"/>
            <a:ext cx="2481910" cy="164592"/>
          </a:xfrm>
          <a:prstGeom prst="rect">
            <a:avLst/>
          </a:prstGeom>
          <a:solidFill>
            <a:srgbClr val="8A2B4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2489454"/>
            <a:ext cx="3017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1">
                <a:solidFill>
                  <a:srgbClr val="666666"/>
                </a:solidFill>
                <a:latin typeface="Arial"/>
              </a:rPr>
              <a:t>Stouffer 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2084832"/>
            <a:ext cx="11887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8A2B4C"/>
                </a:solidFill>
                <a:latin typeface="Arial"/>
              </a:rPr>
              <a:t>+3.29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2331720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rial"/>
              </a:rPr>
              <a:t>P = 0.001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514600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8A2B4C"/>
                </a:solidFill>
                <a:latin typeface="Arial"/>
              </a:rPr>
              <a:t>→ Fig 9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82880" y="2766060"/>
            <a:ext cx="5577840" cy="0"/>
          </a:xfrm>
          <a:prstGeom prst="line">
            <a:avLst/>
          </a:prstGeom>
          <a:ln w="381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82880" y="2839212"/>
            <a:ext cx="6400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D4A300"/>
                </a:solidFill>
                <a:latin typeface="Arial"/>
              </a:rPr>
              <a:t>PAIRED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2967228"/>
            <a:ext cx="8686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222222"/>
                </a:solidFill>
                <a:latin typeface="Arial"/>
              </a:rPr>
              <a:t>Radiation-phase pharmacodynamics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" y="3159252"/>
            <a:ext cx="86868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Arial"/>
              </a:rPr>
              <a:t>EMT good 6/6 up (P = 0.016) · IGH coherence Wilcoxon P = 0.035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3060954"/>
            <a:ext cx="3017520" cy="16459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0" y="3060954"/>
            <a:ext cx="1806368" cy="164592"/>
          </a:xfrm>
          <a:prstGeom prst="rect">
            <a:avLst/>
          </a:prstGeom>
          <a:solidFill>
            <a:srgbClr val="D4A300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3243834"/>
            <a:ext cx="30175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1">
                <a:solidFill>
                  <a:srgbClr val="666666"/>
                </a:solidFill>
                <a:latin typeface="Arial"/>
              </a:rPr>
              <a:t>−log₁₀ P  (horizontal bar length)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39212"/>
            <a:ext cx="11887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D4A300"/>
                </a:solidFill>
                <a:latin typeface="Arial"/>
              </a:rPr>
              <a:t>0.016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3086100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Arial"/>
              </a:rPr>
              <a:t>min 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0" y="3268980"/>
            <a:ext cx="128016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D4A300"/>
                </a:solidFill>
                <a:latin typeface="Arial"/>
              </a:rPr>
              <a:t>→ Figs 6-7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" y="3657600"/>
            <a:ext cx="5669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Two externally-validated orthogonal pre-CRT axes (Thread 1 tumor-intrinsic + Thread 2 immune) reproduce across a chemo-timing axis, supporting a regimen-agnostic interpretation;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" y="3794760"/>
            <a:ext cx="5669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paired radiation-phase biopsies add an orthogonal dynamic layer (target engagement + directional immune coherence).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" y="3931920"/>
            <a:ext cx="5669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1">
                <a:solidFill>
                  <a:srgbClr val="D4A300"/>
                </a:solidFill>
                <a:latin typeface="Arial"/>
              </a:rPr>
              <a:t>Two-layer clinical algorithm: pre-CRT stratification at diagnosis + mid-treatment coherence read at RT → consolidation.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