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749808"/>
            <a:ext cx="8686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859536"/>
            <a:ext cx="8686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SC-RT TNT (N = 35)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8686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External · SC-RT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682496"/>
            <a:ext cx="8686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D4A300"/>
                </a:solidFill>
                <a:latin typeface="Arial"/>
              </a:rPr>
              <a:t>GSE254249 (N = 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2395728"/>
            <a:ext cx="8686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External · LC-CRT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2505456"/>
            <a:ext cx="8686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8A2B4C"/>
                </a:solidFill>
                <a:latin typeface="Arial"/>
              </a:rPr>
              <a:t>5 GEO + Akiyoshi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2615184"/>
            <a:ext cx="86868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(N = 518–816)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37944" y="731520"/>
            <a:ext cx="1664208" cy="274320"/>
          </a:xfrm>
          <a:prstGeom prst="rect">
            <a:avLst/>
          </a:prstGeom>
          <a:solidFill>
            <a:srgbClr val="4F738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37944" y="786384"/>
            <a:ext cx="166420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SC-RT · 25 Gy / 5 Fx · RT alone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2152" y="731520"/>
            <a:ext cx="832104" cy="274320"/>
          </a:xfrm>
          <a:prstGeom prst="rect">
            <a:avLst/>
          </a:prstGeom>
          <a:solidFill>
            <a:srgbClr val="A6622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2152" y="786384"/>
            <a:ext cx="8321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Consolidation · FOLFOX / CAPOX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4256" y="731520"/>
            <a:ext cx="832104" cy="274320"/>
          </a:xfrm>
          <a:prstGeom prst="rect">
            <a:avLst/>
          </a:prstGeom>
          <a:solidFill>
            <a:srgbClr val="444A5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786384"/>
            <a:ext cx="8321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surgery / W&amp;W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37944" y="1554480"/>
            <a:ext cx="1664208" cy="274320"/>
          </a:xfrm>
          <a:prstGeom prst="rect">
            <a:avLst/>
          </a:prstGeom>
          <a:solidFill>
            <a:srgbClr val="4F738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37944" y="1609344"/>
            <a:ext cx="166420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SC-RT · 25 Gy / 5 Fx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2152" y="1554480"/>
            <a:ext cx="832104" cy="274320"/>
          </a:xfrm>
          <a:prstGeom prst="rect">
            <a:avLst/>
          </a:prstGeom>
          <a:solidFill>
            <a:srgbClr val="A6622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2152" y="1609344"/>
            <a:ext cx="8321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Consolidation · FOLFOXIRI (3-drug)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256" y="1554480"/>
            <a:ext cx="832104" cy="274320"/>
          </a:xfrm>
          <a:prstGeom prst="rect">
            <a:avLst/>
          </a:prstGeom>
          <a:solidFill>
            <a:srgbClr val="444A5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2544" y="1609344"/>
            <a:ext cx="83210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surgery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37944" y="2377440"/>
            <a:ext cx="1664208" cy="274320"/>
          </a:xfrm>
          <a:prstGeom prst="rect">
            <a:avLst/>
          </a:prstGeom>
          <a:solidFill>
            <a:srgbClr val="4F738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37944" y="2432304"/>
            <a:ext cx="166420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LC-CRT · 50.4 Gy / 28 Fx · RT + concurrent capecitabine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2152" y="2377440"/>
            <a:ext cx="1664208" cy="274320"/>
          </a:xfrm>
          <a:prstGeom prst="rect">
            <a:avLst/>
          </a:prstGeom>
          <a:solidFill>
            <a:srgbClr val="444A5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2152" y="2432304"/>
            <a:ext cx="166420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surgery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40" y="1060704"/>
            <a:ext cx="4160520" cy="0"/>
          </a:xfrm>
          <a:prstGeom prst="line">
            <a:avLst/>
          </a:prstGeom>
          <a:ln w="762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840" y="1883664"/>
            <a:ext cx="4160520" cy="0"/>
          </a:xfrm>
          <a:prstGeom prst="line">
            <a:avLst/>
          </a:prstGeom>
          <a:ln w="762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5840" y="2706624"/>
            <a:ext cx="4160520" cy="0"/>
          </a:xfrm>
          <a:prstGeom prst="line">
            <a:avLst/>
          </a:prstGeom>
          <a:ln w="762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813944" y="661800"/>
            <a:ext cx="48000" cy="48000"/>
          </a:xfrm>
          <a:prstGeom prst="ellipse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35024" y="512064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0A7D6E"/>
                </a:solidFill>
                <a:latin typeface="Arial"/>
              </a:rPr>
              <a:t>pre-biopsy</a:t>
            </a:r>
          </a:p>
        </p:txBody>
      </p:sp>
      <p:sp>
        <p:nvSpPr>
          <p:cNvPr id="31" name="Oval 30"/>
          <p:cNvSpPr/>
          <p:nvPr/>
        </p:nvSpPr>
        <p:spPr>
          <a:xfrm>
            <a:off x="3478152" y="661800"/>
            <a:ext cx="48000" cy="48000"/>
          </a:xfrm>
          <a:prstGeom prst="ellipse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232" y="512064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0A7D6E"/>
                </a:solidFill>
                <a:latin typeface="Arial"/>
              </a:rPr>
              <a:t>post-biopsy
(post-RT)</a:t>
            </a:r>
          </a:p>
        </p:txBody>
      </p:sp>
      <p:sp>
        <p:nvSpPr>
          <p:cNvPr id="33" name="Oval 32"/>
          <p:cNvSpPr/>
          <p:nvPr/>
        </p:nvSpPr>
        <p:spPr>
          <a:xfrm>
            <a:off x="1815944" y="1486760"/>
            <a:ext cx="44000" cy="44000"/>
          </a:xfrm>
          <a:prstGeom prst="ellipse">
            <a:avLst/>
          </a:prstGeom>
          <a:solidFill>
            <a:srgbClr val="D4A30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26464" y="1371600"/>
            <a:ext cx="8229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D4A300"/>
                </a:solidFill>
                <a:latin typeface="Arial"/>
              </a:rPr>
              <a:t>pre (n=3)</a:t>
            </a:r>
          </a:p>
        </p:txBody>
      </p:sp>
      <p:sp>
        <p:nvSpPr>
          <p:cNvPr id="35" name="Oval 34"/>
          <p:cNvSpPr/>
          <p:nvPr/>
        </p:nvSpPr>
        <p:spPr>
          <a:xfrm>
            <a:off x="4312256" y="1486760"/>
            <a:ext cx="44000" cy="44000"/>
          </a:xfrm>
          <a:prstGeom prst="ellipse">
            <a:avLst/>
          </a:prstGeom>
          <a:solidFill>
            <a:srgbClr val="D4A30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31336" y="137160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D4A300"/>
                </a:solidFill>
                <a:latin typeface="Arial"/>
              </a:rPr>
              <a:t>post-TNT (n=8)</a:t>
            </a:r>
          </a:p>
        </p:txBody>
      </p:sp>
      <p:sp>
        <p:nvSpPr>
          <p:cNvPr id="37" name="Oval 36"/>
          <p:cNvSpPr/>
          <p:nvPr/>
        </p:nvSpPr>
        <p:spPr>
          <a:xfrm>
            <a:off x="1815944" y="2309720"/>
            <a:ext cx="44000" cy="44000"/>
          </a:xfrm>
          <a:prstGeom prst="ellipse">
            <a:avLst/>
          </a:prstGeom>
          <a:solidFill>
            <a:srgbClr val="8A2B4C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26464" y="2194560"/>
            <a:ext cx="8229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8A2B4C"/>
                </a:solidFill>
                <a:latin typeface="Arial"/>
              </a:rPr>
              <a:t>pre-biopsy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792224" y="347472"/>
            <a:ext cx="0" cy="73152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92224" y="347472"/>
            <a:ext cx="1755648" cy="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47872" y="347472"/>
            <a:ext cx="0" cy="73152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837944" y="219456"/>
            <a:ext cx="16642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1">
                <a:solidFill>
                  <a:srgbClr val="222222"/>
                </a:solidFill>
                <a:latin typeface="Arial"/>
              </a:rPr>
              <a:t>Discovery sampling window brackets radiation phase only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1536192"/>
            <a:ext cx="1188720" cy="411480"/>
          </a:xfrm>
          <a:prstGeom prst="rect">
            <a:avLst/>
          </a:prstGeom>
          <a:solidFill>
            <a:srgbClr val="D4A30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7720" y="1536192"/>
            <a:ext cx="1188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Final TNT response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1709928"/>
            <a:ext cx="1188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FFFFFF"/>
                </a:solidFill>
                <a:latin typeface="Arial"/>
              </a:rPr>
              <a:t>good (TRG 0-1) · bad (TRG 2-3)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4672584" y="868680"/>
            <a:ext cx="493776" cy="868680"/>
          </a:xfrm>
          <a:prstGeom prst="line">
            <a:avLst/>
          </a:prstGeom>
          <a:ln w="635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672584" y="1691640"/>
            <a:ext cx="493776" cy="45720"/>
          </a:xfrm>
          <a:prstGeom prst="line">
            <a:avLst/>
          </a:prstGeom>
          <a:ln w="635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4672584" y="1737360"/>
            <a:ext cx="493776" cy="777240"/>
          </a:xfrm>
          <a:prstGeom prst="line">
            <a:avLst/>
          </a:prstGeom>
          <a:ln w="635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37160" y="3035808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All three regimens converge to the same final-response endpoint. The pre-treatment baseline predictor (Fig 9) cannot encode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" y="3191256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downstream regimen choice and nevertheless reproduces across RT fractionation (SC-RT vs LC-CRT) and chemo-timing/backbone axes → regimen-agnostic.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7160" y="3346704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Paired analyses (Figs 6–8) are scoped to the discovery RT-phase window only.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2770632"/>
            <a:ext cx="45720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666666"/>
                </a:solidFill>
                <a:latin typeface="Arial"/>
              </a:rPr>
              <a:t>diagnosis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37760" y="2770632"/>
            <a:ext cx="45720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666666"/>
                </a:solidFill>
                <a:latin typeface="Arial"/>
              </a:rPr>
              <a:t>~6 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594360"/>
            <a:ext cx="457200" cy="1926771"/>
          </a:xfrm>
          <a:prstGeom prst="rect">
            <a:avLst/>
          </a:prstGeom>
          <a:solidFill>
            <a:srgbClr val="366D9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1475450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366D96"/>
                </a:solidFill>
                <a:latin typeface="Arial"/>
              </a:rPr>
              <a:t>M (n=25)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521131"/>
            <a:ext cx="457200" cy="770709"/>
          </a:xfrm>
          <a:prstGeom prst="rect">
            <a:avLst/>
          </a:prstGeom>
          <a:solidFill>
            <a:srgbClr val="B45A7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2824190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B45A70"/>
                </a:solidFill>
                <a:latin typeface="Arial"/>
              </a:rPr>
              <a:t>F (n=10)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594360"/>
            <a:ext cx="457200" cy="385354"/>
          </a:xfrm>
          <a:prstGeom prst="rect">
            <a:avLst/>
          </a:prstGeom>
          <a:solidFill>
            <a:srgbClr val="A8C8E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1296" y="704741"/>
            <a:ext cx="6858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T2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1296" y="823613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(n=5)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979714"/>
            <a:ext cx="457200" cy="154142"/>
          </a:xfrm>
          <a:prstGeom prst="rect">
            <a:avLst/>
          </a:prstGeom>
          <a:solidFill>
            <a:srgbClr val="7DA7C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974489"/>
            <a:ext cx="6858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T2/T3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1093361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(n=2)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133856"/>
            <a:ext cx="457200" cy="1464346"/>
          </a:xfrm>
          <a:prstGeom prst="rect">
            <a:avLst/>
          </a:prstGeom>
          <a:solidFill>
            <a:srgbClr val="457A9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783733"/>
            <a:ext cx="6858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T3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1902605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(n=19)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598202"/>
            <a:ext cx="457200" cy="693638"/>
          </a:xfrm>
          <a:prstGeom prst="rect">
            <a:avLst/>
          </a:prstGeom>
          <a:solidFill>
            <a:srgbClr val="214A7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2862725"/>
            <a:ext cx="6858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T4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2981597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(n=9)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594360"/>
            <a:ext cx="457200" cy="1387275"/>
          </a:xfrm>
          <a:prstGeom prst="rect">
            <a:avLst/>
          </a:prstGeom>
          <a:solidFill>
            <a:srgbClr val="0A7D6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1205702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good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1324574"/>
            <a:ext cx="82296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(n=18)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92040" y="1981635"/>
            <a:ext cx="457200" cy="1310205"/>
          </a:xfrm>
          <a:prstGeom prst="rect">
            <a:avLst/>
          </a:prstGeom>
          <a:solidFill>
            <a:srgbClr val="C53E1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4104" y="2554442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bad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4" y="2673314"/>
            <a:ext cx="82296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(n=17)</a:t>
            </a:r>
          </a:p>
        </p:txBody>
      </p:sp>
      <p:sp>
        <p:nvSpPr>
          <p:cNvPr id="25" name="Freeform 24"/>
          <p:cNvSpPr/>
          <p:nvPr/>
        </p:nvSpPr>
        <p:spPr>
          <a:xfrm>
            <a:off x="1554480" y="594360"/>
            <a:ext cx="1463040" cy="231213"/>
          </a:xfrm>
          <a:custGeom>
            <a:avLst/>
            <a:gdLst/>
            <a:ahLst/>
            <a:cxnLst/>
            <a:rect l="l" t="t" r="r" b="b"/>
            <a:pathLst>
              <a:path w="1463040" h="231213">
                <a:moveTo>
                  <a:pt x="0" y="0"/>
                </a:moveTo>
                <a:lnTo>
                  <a:pt x="1463040" y="0"/>
                </a:lnTo>
                <a:lnTo>
                  <a:pt x="1463040" y="231213"/>
                </a:lnTo>
                <a:lnTo>
                  <a:pt x="0" y="231213"/>
                </a:lnTo>
                <a:close/>
              </a:path>
            </a:pathLst>
          </a:custGeom>
          <a:solidFill>
            <a:srgbClr val="7CA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554480" y="825573"/>
            <a:ext cx="1463040" cy="308283"/>
          </a:xfrm>
          <a:custGeom>
            <a:avLst/>
            <a:gdLst/>
            <a:ahLst/>
            <a:cxnLst/>
            <a:rect l="l" t="t" r="r" b="b"/>
            <a:pathLst>
              <a:path w="1463040" h="308283">
                <a:moveTo>
                  <a:pt x="0" y="0"/>
                </a:moveTo>
                <a:lnTo>
                  <a:pt x="1463040" y="154141"/>
                </a:lnTo>
                <a:lnTo>
                  <a:pt x="1463040" y="308283"/>
                </a:lnTo>
                <a:lnTo>
                  <a:pt x="0" y="154141"/>
                </a:lnTo>
                <a:close/>
              </a:path>
            </a:pathLst>
          </a:custGeom>
          <a:solidFill>
            <a:srgbClr val="7CA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1554480" y="979714"/>
            <a:ext cx="1463040" cy="1156063"/>
          </a:xfrm>
          <a:custGeom>
            <a:avLst/>
            <a:gdLst/>
            <a:ahLst/>
            <a:cxnLst/>
            <a:rect l="l" t="t" r="r" b="b"/>
            <a:pathLst>
              <a:path w="1463040" h="1156063">
                <a:moveTo>
                  <a:pt x="0" y="0"/>
                </a:moveTo>
                <a:lnTo>
                  <a:pt x="1463040" y="154142"/>
                </a:lnTo>
                <a:lnTo>
                  <a:pt x="1463040" y="1156063"/>
                </a:lnTo>
                <a:lnTo>
                  <a:pt x="0" y="1001921"/>
                </a:lnTo>
                <a:close/>
              </a:path>
            </a:pathLst>
          </a:custGeom>
          <a:solidFill>
            <a:srgbClr val="7CA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554480" y="1981635"/>
            <a:ext cx="1463040" cy="1156063"/>
          </a:xfrm>
          <a:custGeom>
            <a:avLst/>
            <a:gdLst/>
            <a:ahLst/>
            <a:cxnLst/>
            <a:rect l="l" t="t" r="r" b="b"/>
            <a:pathLst>
              <a:path w="1463040" h="1156063">
                <a:moveTo>
                  <a:pt x="0" y="0"/>
                </a:moveTo>
                <a:lnTo>
                  <a:pt x="1463040" y="616567"/>
                </a:lnTo>
                <a:lnTo>
                  <a:pt x="1463040" y="1156063"/>
                </a:lnTo>
                <a:lnTo>
                  <a:pt x="0" y="539496"/>
                </a:lnTo>
                <a:close/>
              </a:path>
            </a:pathLst>
          </a:custGeom>
          <a:solidFill>
            <a:srgbClr val="7CA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554480" y="825573"/>
            <a:ext cx="1463040" cy="1849700"/>
          </a:xfrm>
          <a:custGeom>
            <a:avLst/>
            <a:gdLst/>
            <a:ahLst/>
            <a:cxnLst/>
            <a:rect l="l" t="t" r="r" b="b"/>
            <a:pathLst>
              <a:path w="1463040" h="1849700">
                <a:moveTo>
                  <a:pt x="0" y="1695558"/>
                </a:moveTo>
                <a:lnTo>
                  <a:pt x="1463040" y="0"/>
                </a:lnTo>
                <a:lnTo>
                  <a:pt x="1463040" y="154141"/>
                </a:lnTo>
                <a:lnTo>
                  <a:pt x="0" y="1849700"/>
                </a:lnTo>
                <a:close/>
              </a:path>
            </a:pathLst>
          </a:custGeom>
          <a:solidFill>
            <a:srgbClr val="CE93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554480" y="2135777"/>
            <a:ext cx="1463040" cy="1001921"/>
          </a:xfrm>
          <a:custGeom>
            <a:avLst/>
            <a:gdLst/>
            <a:ahLst/>
            <a:cxnLst/>
            <a:rect l="l" t="t" r="r" b="b"/>
            <a:pathLst>
              <a:path w="1463040" h="1001921">
                <a:moveTo>
                  <a:pt x="0" y="539496"/>
                </a:moveTo>
                <a:lnTo>
                  <a:pt x="1463040" y="0"/>
                </a:lnTo>
                <a:lnTo>
                  <a:pt x="1463040" y="462425"/>
                </a:lnTo>
                <a:lnTo>
                  <a:pt x="0" y="1001921"/>
                </a:lnTo>
                <a:close/>
              </a:path>
            </a:pathLst>
          </a:custGeom>
          <a:solidFill>
            <a:srgbClr val="CE93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54480" y="3137698"/>
            <a:ext cx="1463040" cy="154142"/>
          </a:xfrm>
          <a:custGeom>
            <a:avLst/>
            <a:gdLst/>
            <a:ahLst/>
            <a:cxnLst/>
            <a:rect l="l" t="t" r="r" b="b"/>
            <a:pathLst>
              <a:path w="1463040" h="154142">
                <a:moveTo>
                  <a:pt x="0" y="0"/>
                </a:moveTo>
                <a:lnTo>
                  <a:pt x="1463040" y="0"/>
                </a:lnTo>
                <a:lnTo>
                  <a:pt x="1463040" y="154142"/>
                </a:lnTo>
                <a:lnTo>
                  <a:pt x="0" y="154142"/>
                </a:lnTo>
                <a:close/>
              </a:path>
            </a:pathLst>
          </a:custGeom>
          <a:solidFill>
            <a:srgbClr val="CE93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3474720" y="594360"/>
            <a:ext cx="1417320" cy="308283"/>
          </a:xfrm>
          <a:custGeom>
            <a:avLst/>
            <a:gdLst/>
            <a:ahLst/>
            <a:cxnLst/>
            <a:rect l="l" t="t" r="r" b="b"/>
            <a:pathLst>
              <a:path w="1417320" h="308283">
                <a:moveTo>
                  <a:pt x="0" y="0"/>
                </a:moveTo>
                <a:lnTo>
                  <a:pt x="1417320" y="0"/>
                </a:lnTo>
                <a:lnTo>
                  <a:pt x="1417320" y="308283"/>
                </a:lnTo>
                <a:lnTo>
                  <a:pt x="0" y="308283"/>
                </a:lnTo>
                <a:close/>
              </a:path>
            </a:pathLst>
          </a:custGeom>
          <a:solidFill>
            <a:srgbClr val="6CB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474720" y="902643"/>
            <a:ext cx="1417320" cy="1156063"/>
          </a:xfrm>
          <a:custGeom>
            <a:avLst/>
            <a:gdLst/>
            <a:ahLst/>
            <a:cxnLst/>
            <a:rect l="l" t="t" r="r" b="b"/>
            <a:pathLst>
              <a:path w="1417320" h="1156063">
                <a:moveTo>
                  <a:pt x="0" y="0"/>
                </a:moveTo>
                <a:lnTo>
                  <a:pt x="1417320" y="1078992"/>
                </a:lnTo>
                <a:lnTo>
                  <a:pt x="1417320" y="1156063"/>
                </a:lnTo>
                <a:lnTo>
                  <a:pt x="0" y="77071"/>
                </a:lnTo>
                <a:close/>
              </a:path>
            </a:pathLst>
          </a:custGeom>
          <a:solidFill>
            <a:srgbClr val="DC8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474720" y="902643"/>
            <a:ext cx="1417320" cy="231213"/>
          </a:xfrm>
          <a:custGeom>
            <a:avLst/>
            <a:gdLst/>
            <a:ahLst/>
            <a:cxnLst/>
            <a:rect l="l" t="t" r="r" b="b"/>
            <a:pathLst>
              <a:path w="1417320" h="231213">
                <a:moveTo>
                  <a:pt x="0" y="77071"/>
                </a:moveTo>
                <a:lnTo>
                  <a:pt x="1417320" y="0"/>
                </a:lnTo>
                <a:lnTo>
                  <a:pt x="1417320" y="154142"/>
                </a:lnTo>
                <a:lnTo>
                  <a:pt x="0" y="231213"/>
                </a:lnTo>
                <a:close/>
              </a:path>
            </a:pathLst>
          </a:custGeom>
          <a:solidFill>
            <a:srgbClr val="6CB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3474720" y="1056785"/>
            <a:ext cx="1417320" cy="847780"/>
          </a:xfrm>
          <a:custGeom>
            <a:avLst/>
            <a:gdLst/>
            <a:ahLst/>
            <a:cxnLst/>
            <a:rect l="l" t="t" r="r" b="b"/>
            <a:pathLst>
              <a:path w="1417320" h="847780">
                <a:moveTo>
                  <a:pt x="0" y="77071"/>
                </a:moveTo>
                <a:lnTo>
                  <a:pt x="1417320" y="0"/>
                </a:lnTo>
                <a:lnTo>
                  <a:pt x="1417320" y="770709"/>
                </a:lnTo>
                <a:lnTo>
                  <a:pt x="0" y="847780"/>
                </a:lnTo>
                <a:close/>
              </a:path>
            </a:pathLst>
          </a:custGeom>
          <a:solidFill>
            <a:srgbClr val="6CB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3474720" y="1904565"/>
            <a:ext cx="1417320" cy="847779"/>
          </a:xfrm>
          <a:custGeom>
            <a:avLst/>
            <a:gdLst/>
            <a:ahLst/>
            <a:cxnLst/>
            <a:rect l="l" t="t" r="r" b="b"/>
            <a:pathLst>
              <a:path w="1417320" h="847779">
                <a:moveTo>
                  <a:pt x="0" y="0"/>
                </a:moveTo>
                <a:lnTo>
                  <a:pt x="1417320" y="154141"/>
                </a:lnTo>
                <a:lnTo>
                  <a:pt x="1417320" y="847779"/>
                </a:lnTo>
                <a:lnTo>
                  <a:pt x="0" y="693637"/>
                </a:lnTo>
                <a:close/>
              </a:path>
            </a:pathLst>
          </a:custGeom>
          <a:solidFill>
            <a:srgbClr val="DC8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474720" y="1827494"/>
            <a:ext cx="1417320" cy="924850"/>
          </a:xfrm>
          <a:custGeom>
            <a:avLst/>
            <a:gdLst/>
            <a:ahLst/>
            <a:cxnLst/>
            <a:rect l="l" t="t" r="r" b="b"/>
            <a:pathLst>
              <a:path w="1417320" h="924850">
                <a:moveTo>
                  <a:pt x="0" y="770708"/>
                </a:moveTo>
                <a:lnTo>
                  <a:pt x="1417320" y="0"/>
                </a:lnTo>
                <a:lnTo>
                  <a:pt x="1417320" y="154141"/>
                </a:lnTo>
                <a:lnTo>
                  <a:pt x="0" y="924850"/>
                </a:lnTo>
                <a:close/>
              </a:path>
            </a:pathLst>
          </a:custGeom>
          <a:solidFill>
            <a:srgbClr val="6CB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74720" y="2752344"/>
            <a:ext cx="1417320" cy="539496"/>
          </a:xfrm>
          <a:custGeom>
            <a:avLst/>
            <a:gdLst/>
            <a:ahLst/>
            <a:cxnLst/>
            <a:rect l="l" t="t" r="r" b="b"/>
            <a:pathLst>
              <a:path w="1417320" h="539496">
                <a:moveTo>
                  <a:pt x="0" y="0"/>
                </a:moveTo>
                <a:lnTo>
                  <a:pt x="1417320" y="0"/>
                </a:lnTo>
                <a:lnTo>
                  <a:pt x="1417320" y="539496"/>
                </a:lnTo>
                <a:lnTo>
                  <a:pt x="0" y="539496"/>
                </a:lnTo>
                <a:close/>
              </a:path>
            </a:pathLst>
          </a:custGeom>
          <a:solidFill>
            <a:srgbClr val="DC8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20040"/>
            <a:ext cx="9144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Sex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20040"/>
            <a:ext cx="9144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Clinical 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320040"/>
            <a:ext cx="9144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Final response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" y="3474720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N = 35 MSS LARC patients; ribbon widths proportional to subject counts.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" y="3630168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T4 stage enriched in bad responders (7/9 vs 2/9 good, Fisher P = 0.086); no sig. sex association.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301752"/>
            <a:ext cx="1645920" cy="164592"/>
          </a:xfrm>
          <a:prstGeom prst="rect">
            <a:avLst/>
          </a:prstGeom>
          <a:solidFill>
            <a:srgbClr val="479D9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30175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WES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0" y="301752"/>
            <a:ext cx="1645920" cy="164592"/>
          </a:xfrm>
          <a:prstGeom prst="rect">
            <a:avLst/>
          </a:prstGeom>
          <a:solidFill>
            <a:srgbClr val="D36E5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301752"/>
            <a:ext cx="1645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RNA-seq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normal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12648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666666"/>
                </a:solidFill>
                <a:latin typeface="Arial"/>
              </a:rPr>
              <a:t>n=28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84632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612648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666666"/>
                </a:solidFill>
                <a:latin typeface="Arial"/>
              </a:rPr>
              <a:t>n=35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84632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612648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666666"/>
                </a:solidFill>
                <a:latin typeface="Arial"/>
              </a:rPr>
              <a:t>n=14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84632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normal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612648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666666"/>
                </a:solidFill>
                <a:latin typeface="Arial"/>
              </a:rPr>
              <a:t>n=10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4632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612648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666666"/>
                </a:solidFill>
                <a:latin typeface="Arial"/>
              </a:rPr>
              <a:t>n=33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84632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612648"/>
            <a:ext cx="5486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666666"/>
                </a:solidFill>
                <a:latin typeface="Arial"/>
              </a:rPr>
              <a:t>n=13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" y="654449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691025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840" y="70580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4480" y="70580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23120" y="70580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71760" y="705800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20400" y="70580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69040" y="70580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" y="738051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774627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25840" y="78940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74480" y="78940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23120" y="78940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71760" y="78940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20400" y="78940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69040" y="78940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821654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858230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5840" y="87300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4480" y="87300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23120" y="87300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71760" y="87300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20400" y="87300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9040" y="87300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4592" y="905256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" y="941832"/>
            <a:ext cx="73152" cy="82296"/>
          </a:xfrm>
          <a:prstGeom prst="rect">
            <a:avLst/>
          </a:prstGeom>
          <a:solidFill>
            <a:srgbClr val="7DA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5840" y="95660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74480" y="95660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23120" y="95660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71760" y="95660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20400" y="95660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69040" y="95660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4592" y="988858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1025434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5840" y="104020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74480" y="104020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23120" y="104020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71760" y="104020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0400" y="104020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69040" y="104020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4592" y="1072460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" y="1109036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25840" y="112381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574480" y="112381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23120" y="112381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71760" y="112381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20400" y="112381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769040" y="112381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4592" y="1156063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" y="1192639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25840" y="120741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74480" y="120741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23120" y="120741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671760" y="1207414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20400" y="120741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69040" y="120741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4592" y="1239665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16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84048" y="1276241"/>
            <a:ext cx="73152" cy="82296"/>
          </a:xfrm>
          <a:prstGeom prst="rect">
            <a:avLst/>
          </a:prstGeom>
          <a:solidFill>
            <a:srgbClr val="A8C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25840" y="1291016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574480" y="1291016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123120" y="1291016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671760" y="1291016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20400" y="1291016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769040" y="1291016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64592" y="1323267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17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84048" y="1359843"/>
            <a:ext cx="73152" cy="82296"/>
          </a:xfrm>
          <a:prstGeom prst="rect">
            <a:avLst/>
          </a:prstGeom>
          <a:solidFill>
            <a:srgbClr val="7DA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5840" y="137461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574480" y="1374618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123120" y="137461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71760" y="137461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220400" y="1374618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69040" y="137461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4592" y="1406870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84048" y="1443446"/>
            <a:ext cx="73152" cy="82296"/>
          </a:xfrm>
          <a:prstGeom prst="rect">
            <a:avLst/>
          </a:prstGeom>
          <a:solidFill>
            <a:srgbClr val="A8C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25840" y="145822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74480" y="145822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123120" y="145822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671760" y="1458221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0400" y="145822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769040" y="145822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64592" y="1490472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84048" y="1527048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25840" y="1541823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574480" y="1541823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123120" y="154182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671760" y="1541823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220400" y="1541823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769040" y="154182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64592" y="1574074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84048" y="1610650"/>
            <a:ext cx="73152" cy="82296"/>
          </a:xfrm>
          <a:prstGeom prst="rect">
            <a:avLst/>
          </a:prstGeom>
          <a:solidFill>
            <a:srgbClr val="A8C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25840" y="162542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574480" y="162542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123120" y="162542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71760" y="162542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220400" y="1625425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69040" y="162542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64592" y="1657676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84048" y="1694252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25840" y="170902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574480" y="170902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123120" y="170902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671760" y="170902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220400" y="170902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769040" y="170902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64592" y="1741279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84048" y="1777855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840" y="179263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574480" y="179263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123120" y="1792630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71760" y="179263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220400" y="1792630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69040" y="1792630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64592" y="1824881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84048" y="1861457"/>
            <a:ext cx="73152" cy="82296"/>
          </a:xfrm>
          <a:prstGeom prst="rect">
            <a:avLst/>
          </a:prstGeom>
          <a:solidFill>
            <a:srgbClr val="A8C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25840" y="187623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574480" y="187623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123120" y="187623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71760" y="187623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220400" y="1876232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769040" y="187623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64592" y="1908483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29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84048" y="1945059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025840" y="195983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74480" y="195983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123120" y="1959834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71760" y="195983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220400" y="1959834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769040" y="1959834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64592" y="1992086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30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84048" y="2028662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025840" y="204343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574480" y="204343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123120" y="204343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671760" y="204343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20400" y="2043437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769040" y="204343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64592" y="2075688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0A7D6E"/>
                </a:solidFill>
                <a:latin typeface="Arial"/>
              </a:rPr>
              <a:t>31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84048" y="2112264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25840" y="212703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574480" y="212703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123120" y="212703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671760" y="212703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220400" y="2127039"/>
            <a:ext cx="508640" cy="4360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769040" y="212703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64592" y="2159290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84048" y="2195866"/>
            <a:ext cx="73152" cy="82296"/>
          </a:xfrm>
          <a:prstGeom prst="rect">
            <a:avLst/>
          </a:prstGeom>
          <a:solidFill>
            <a:srgbClr val="A8C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25840" y="221064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574480" y="221064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123120" y="221064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671760" y="221064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220400" y="221064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769040" y="221064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64592" y="2242892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84048" y="2279468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025840" y="229424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574480" y="229424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123120" y="229424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671760" y="229424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220400" y="229424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769040" y="229424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64592" y="2326495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384048" y="2363071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025840" y="237784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574480" y="237784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123120" y="237784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671760" y="2377846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220400" y="237784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69040" y="237784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64592" y="2410097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384048" y="2446673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025840" y="246144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74480" y="246144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123120" y="246144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671760" y="246144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20400" y="246144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769040" y="246144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64592" y="2493699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384048" y="2530275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25840" y="2545050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574480" y="2545050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123120" y="2545050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671760" y="2545050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220400" y="2545050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769040" y="2545050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64592" y="2577302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4048" y="2613878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025840" y="262865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574480" y="262865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123120" y="262865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671760" y="262865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220400" y="262865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769040" y="262865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64592" y="2660904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384048" y="2697480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025840" y="271225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574480" y="2712255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2123120" y="2712255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2671760" y="271225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220400" y="2712255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3769040" y="2712255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64592" y="2744506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84048" y="2781082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025840" y="279585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574480" y="2795857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2123120" y="279585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2671760" y="279585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3220400" y="2795857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769040" y="2795857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64592" y="2828108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18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84048" y="2864684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25840" y="287945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574480" y="2879459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123120" y="287945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71760" y="287945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220400" y="2879459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769040" y="287945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64592" y="2911711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19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384048" y="2948287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25840" y="296306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574480" y="2963062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2123120" y="296306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2671760" y="296306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220400" y="2963062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769040" y="2963062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64592" y="2995313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21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384048" y="3031889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025840" y="3046664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574480" y="3046664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2123120" y="3046664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2671760" y="3046664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3220400" y="3046664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3769040" y="3046664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164592" y="3078915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22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384048" y="3115491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025840" y="313026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574480" y="313026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123120" y="3130266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671760" y="313026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220400" y="3130266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769040" y="3130266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64592" y="3162518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26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384048" y="3199094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025840" y="3213869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574480" y="3213869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123120" y="321386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671760" y="3213869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3220400" y="3213869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3769040" y="3213869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164592" y="3246120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32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384048" y="3282696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025840" y="329747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574480" y="329747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2123120" y="329747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2671760" y="329747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3220400" y="3297471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3769040" y="3297471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164592" y="3329722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33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84048" y="3366298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25840" y="338107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74480" y="338107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123120" y="338107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671760" y="338107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220400" y="3381073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769040" y="3381073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64592" y="3413324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34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384048" y="3449900"/>
            <a:ext cx="73152" cy="8229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025840" y="3464675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574480" y="3464675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123120" y="346467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671760" y="346467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3220400" y="3464675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3769040" y="3464675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64592" y="3496927"/>
            <a:ext cx="20116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 i="0">
                <a:solidFill>
                  <a:srgbClr val="C53E1F"/>
                </a:solidFill>
                <a:latin typeface="Arial"/>
              </a:rPr>
              <a:t>35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384048" y="3533503"/>
            <a:ext cx="73152" cy="8229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1025840" y="354827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1574480" y="354827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123120" y="354827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2671760" y="354827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220400" y="3548278"/>
            <a:ext cx="508640" cy="4360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769040" y="3548278"/>
            <a:ext cx="508640" cy="43602"/>
          </a:xfrm>
          <a:prstGeom prst="rect">
            <a:avLst/>
          </a:prstGeom>
          <a:solidFill>
            <a:srgbClr val="F0F0F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9" name="Connector 298"/>
          <p:cNvCxnSpPr/>
          <p:nvPr/>
        </p:nvCxnSpPr>
        <p:spPr>
          <a:xfrm>
            <a:off x="2651760" y="274320"/>
            <a:ext cx="0" cy="333756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ectangle 299"/>
          <p:cNvSpPr/>
          <p:nvPr/>
        </p:nvSpPr>
        <p:spPr>
          <a:xfrm>
            <a:off x="1005840" y="685800"/>
            <a:ext cx="3291840" cy="2926080"/>
          </a:xfrm>
          <a:prstGeom prst="rect">
            <a:avLst/>
          </a:prstGeom>
          <a:noFill/>
          <a:ln w="63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1" name="Connector 300"/>
          <p:cNvCxnSpPr/>
          <p:nvPr/>
        </p:nvCxnSpPr>
        <p:spPr>
          <a:xfrm>
            <a:off x="1005840" y="2190641"/>
            <a:ext cx="3291840" cy="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TextBox 301"/>
          <p:cNvSpPr txBox="1"/>
          <p:nvPr/>
        </p:nvSpPr>
        <p:spPr>
          <a:xfrm>
            <a:off x="137160" y="1365069"/>
            <a:ext cx="5029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good (n=18)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37160" y="2828109"/>
            <a:ext cx="5029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C53E1F"/>
                </a:solidFill>
                <a:latin typeface="Arial"/>
              </a:rPr>
              <a:t>bad (n=17)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26280" y="731520"/>
            <a:ext cx="9144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Sample present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526280" y="932688"/>
            <a:ext cx="146304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4709160" y="905256"/>
            <a:ext cx="7315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good responder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526280" y="1097280"/>
            <a:ext cx="146304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4709160" y="1069848"/>
            <a:ext cx="7315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bad responder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26280" y="1261872"/>
            <a:ext cx="146304" cy="12801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709160" y="1234440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absent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4526280" y="1463040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cT stage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526280" y="1627632"/>
            <a:ext cx="91440" cy="91440"/>
          </a:xfrm>
          <a:prstGeom prst="rect">
            <a:avLst/>
          </a:prstGeom>
          <a:solidFill>
            <a:srgbClr val="A8C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4654296" y="161763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T2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526280" y="1764792"/>
            <a:ext cx="91440" cy="91440"/>
          </a:xfrm>
          <a:prstGeom prst="rect">
            <a:avLst/>
          </a:prstGeom>
          <a:solidFill>
            <a:srgbClr val="7DA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4654296" y="175479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T2/T3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26280" y="1901952"/>
            <a:ext cx="91440" cy="91440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4654296" y="189195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T3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526280" y="2039112"/>
            <a:ext cx="91440" cy="91440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4654296" y="202911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T4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37160" y="3749039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77 WES samples (28 normal + 35 pre + 14 post) · 56 RNA-seq samples (10 normal + 33 pre + 13 post)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37160" y="388620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666666"/>
                </a:solidFill>
                <a:latin typeface="Arial"/>
              </a:rPr>
              <a:t>12 subjects have paired pre + post RNA-seq (used in all paired-analysis figures).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463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E4A68"/>
                </a:solidFill>
                <a:latin typeface="Arial"/>
              </a:rPr>
              <a:t>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2648"/>
            <a:ext cx="8686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Pre-CRT LASSO 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804672"/>
            <a:ext cx="8686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4-feature ElasticNet, nested outer-LOOCV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649224"/>
            <a:ext cx="3017520" cy="16459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649224"/>
            <a:ext cx="1478585" cy="164592"/>
          </a:xfrm>
          <a:prstGeom prst="rect">
            <a:avLst/>
          </a:prstGeom>
          <a:solidFill>
            <a:srgbClr val="0E4A6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832104"/>
            <a:ext cx="3017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1">
                <a:solidFill>
                  <a:srgbClr val="666666"/>
                </a:solidFill>
                <a:latin typeface="Arial"/>
              </a:rPr>
              <a:t>AUC  (chance = 0.5)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484632"/>
            <a:ext cx="1188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E4A68"/>
                </a:solidFill>
                <a:latin typeface="Arial"/>
              </a:rPr>
              <a:t>0.745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73152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Arial"/>
              </a:rPr>
              <a:t>[0.56, 0.90]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91440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0E4A68"/>
                </a:solidFill>
                <a:latin typeface="Arial"/>
              </a:rPr>
              <a:t>→ Fig 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" y="1051560"/>
            <a:ext cx="5577840" cy="0"/>
          </a:xfrm>
          <a:prstGeom prst="line">
            <a:avLst/>
          </a:prstGeom>
          <a:ln w="381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2880" y="11247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E4A68"/>
                </a:solidFill>
                <a:latin typeface="Arial"/>
              </a:rPr>
              <a:t>LC-CRT META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1252728"/>
            <a:ext cx="8686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Thread 1 (5 cohorts, N = 518)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" y="1444752"/>
            <a:ext cx="8686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DSB Z=+3.17 · cell-cycle +3.21 · E2F/MYC +2.79 · EMT +1.61 (trend)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1289304"/>
            <a:ext cx="3017520" cy="16459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1289304"/>
            <a:ext cx="2421560" cy="164592"/>
          </a:xfrm>
          <a:prstGeom prst="rect">
            <a:avLst/>
          </a:prstGeom>
          <a:solidFill>
            <a:srgbClr val="0E4A6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472184"/>
            <a:ext cx="3017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1">
                <a:solidFill>
                  <a:srgbClr val="666666"/>
                </a:solidFill>
                <a:latin typeface="Arial"/>
              </a:rPr>
              <a:t>Stouffer Z  (|Z| = 1.96 = P 0.05)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1124712"/>
            <a:ext cx="1188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E4A68"/>
                </a:solidFill>
                <a:latin typeface="Arial"/>
              </a:rPr>
              <a:t>+3.21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137160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Arial"/>
              </a:rPr>
              <a:t>max 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155448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0E4A68"/>
                </a:solidFill>
                <a:latin typeface="Arial"/>
              </a:rPr>
              <a:t>→ Fig 9A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" y="1691640"/>
            <a:ext cx="5577840" cy="0"/>
          </a:xfrm>
          <a:prstGeom prst="line">
            <a:avLst/>
          </a:prstGeom>
          <a:ln w="381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2880" y="176479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8A2B4C"/>
                </a:solidFill>
                <a:latin typeface="Arial"/>
              </a:rPr>
              <a:t>LC-CRT META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1892808"/>
            <a:ext cx="8686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Thread 2 (6 sources, N = 816)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2084832"/>
            <a:ext cx="8686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CD8-cytotoxic + Akiyoshi 2023 (JAMA Netw Open)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1929384"/>
            <a:ext cx="3017520" cy="16459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97280" y="1929384"/>
            <a:ext cx="2481910" cy="164592"/>
          </a:xfrm>
          <a:prstGeom prst="rect">
            <a:avLst/>
          </a:prstGeom>
          <a:solidFill>
            <a:srgbClr val="8A2B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2112264"/>
            <a:ext cx="3017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1">
                <a:solidFill>
                  <a:srgbClr val="666666"/>
                </a:solidFill>
                <a:latin typeface="Arial"/>
              </a:rPr>
              <a:t>Stouffer 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1764792"/>
            <a:ext cx="1188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8A2B4C"/>
                </a:solidFill>
                <a:latin typeface="Arial"/>
              </a:rPr>
              <a:t>+3.29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201168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Arial"/>
              </a:rPr>
              <a:t>P = 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9456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8A2B4C"/>
                </a:solidFill>
                <a:latin typeface="Arial"/>
              </a:rPr>
              <a:t>→ Fig 9A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2880" y="2331720"/>
            <a:ext cx="5577840" cy="0"/>
          </a:xfrm>
          <a:prstGeom prst="line">
            <a:avLst/>
          </a:prstGeom>
          <a:ln w="381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82880" y="240487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SC-RT EXTERNAL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2532888"/>
            <a:ext cx="8686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GSE254249 (post-TNT, N = 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" y="2724912"/>
            <a:ext cx="8686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7/7 signatures concordant with discovery · Tcell_infil MW P = 0.036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2569464"/>
            <a:ext cx="3017520" cy="16459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7280" y="2569464"/>
            <a:ext cx="3017520" cy="164592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2752344"/>
            <a:ext cx="3017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1">
                <a:solidFill>
                  <a:srgbClr val="666666"/>
                </a:solidFill>
                <a:latin typeface="Arial"/>
              </a:rPr>
              <a:t>signature direction concordance  (7/7 = unanimous)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404872"/>
            <a:ext cx="1188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D4A300"/>
                </a:solidFill>
                <a:latin typeface="Arial"/>
              </a:rPr>
              <a:t>7/7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0" y="265176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Arial"/>
              </a:rPr>
              <a:t>sign P = 0.016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0" y="283464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D4A300"/>
                </a:solidFill>
                <a:latin typeface="Arial"/>
              </a:rPr>
              <a:t>→ Fig 9E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82880" y="2971800"/>
            <a:ext cx="5577840" cy="0"/>
          </a:xfrm>
          <a:prstGeom prst="line">
            <a:avLst/>
          </a:prstGeom>
          <a:ln w="381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82880" y="304495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B37D00"/>
                </a:solidFill>
                <a:latin typeface="Arial"/>
              </a:rPr>
              <a:t>PAIRED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3172968"/>
            <a:ext cx="8686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Radiation-phase pharmacodynamics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" y="3364992"/>
            <a:ext cx="8686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EMT good 6/6 up (P = 0.016) · IGH coherence Wilcoxon P = 0.035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7280" y="3209544"/>
            <a:ext cx="3017520" cy="16459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7280" y="3209544"/>
            <a:ext cx="1806368" cy="164592"/>
          </a:xfrm>
          <a:prstGeom prst="rect">
            <a:avLst/>
          </a:prstGeom>
          <a:solidFill>
            <a:srgbClr val="B37D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3392424"/>
            <a:ext cx="3017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1">
                <a:solidFill>
                  <a:srgbClr val="666666"/>
                </a:solidFill>
                <a:latin typeface="Arial"/>
              </a:rPr>
              <a:t>−log₁₀ P  (horizontal bar length)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3044952"/>
            <a:ext cx="1188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B37D00"/>
                </a:solidFill>
                <a:latin typeface="Arial"/>
              </a:rPr>
              <a:t>0.016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0" y="329184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Arial"/>
              </a:rPr>
              <a:t>min 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60" y="3474720"/>
            <a:ext cx="1280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B37D00"/>
                </a:solidFill>
                <a:latin typeface="Arial"/>
              </a:rPr>
              <a:t>→ Figs 6-7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160" y="3675887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Two externally-validated orthogonal pre-CRT axes (Thread 1 tumor-intrinsic + Thread 2 immune) reproduce across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160" y="3803904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three regimen strata (SC-RT + FOLFOX/CAPOX; LC-CRT + concurrent cape; SC-RT + FOLFOXIRI), supporting a regimen-agnostic interpretation;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7160" y="393192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D4A300"/>
                </a:solidFill>
                <a:latin typeface="Arial"/>
              </a:rPr>
              <a:t>paired radiation-phase biopsies add an orthogonal dynamic layer (target engagement + directional immune coherence).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