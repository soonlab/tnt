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400800" cy="7589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874519" y="365760"/>
            <a:ext cx="306324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874519" y="5989320"/>
            <a:ext cx="306324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3318853" y="365760"/>
            <a:ext cx="132261" cy="562356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3384983" y="365760"/>
            <a:ext cx="0" cy="562356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62369" y="5989320"/>
            <a:ext cx="0" cy="54864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879489" y="6062472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-1.0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23676" y="5989320"/>
            <a:ext cx="0" cy="54864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540796" y="6062472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4983" y="5989320"/>
            <a:ext cx="0" cy="54864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202103" y="6062472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46290" y="5989320"/>
            <a:ext cx="0" cy="54864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863410" y="6062472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07597" y="5989320"/>
            <a:ext cx="0" cy="54864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24717" y="6062472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6245352"/>
            <a:ext cx="30632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Δ z-score (good − poor), 95 % bootstrap CI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31804" y="478231"/>
            <a:ext cx="1373693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112960" y="443231"/>
            <a:ext cx="70000" cy="7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" y="395935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CD8 proliferation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0911" y="395935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22222"/>
                </a:solidFill>
                <a:latin typeface="Arial"/>
              </a:rPr>
              <a:t>P = 0.0351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19" y="395935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B58900"/>
                </a:solidFill>
                <a:latin typeface="Arial"/>
              </a:rPr>
              <a:t>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980328" y="703173"/>
            <a:ext cx="1486975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645634" y="679173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" y="620877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MHC-II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10911" y="620877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22222"/>
                </a:solidFill>
                <a:latin typeface="Arial"/>
              </a:rPr>
              <a:t>P = 0.0746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62803" y="928116"/>
            <a:ext cx="55047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599001" y="904116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" y="845820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Stemness (mRNAsi proxy)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10911" y="845820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0.145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046817" y="1153058"/>
            <a:ext cx="1215747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3640161" y="1129058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" y="1070762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B cell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10911" y="1070762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0.165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361690" y="1378000"/>
            <a:ext cx="1472043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3034734" y="1354000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295704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Macrophage M2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10911" y="1295704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0.201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346295" y="1602943"/>
            <a:ext cx="1382780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3041413" y="1578943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" y="1520647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CAF — myCAF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0911" y="1520647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0.242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712130" y="1827885"/>
            <a:ext cx="1364078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312390" y="1803885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" y="1745589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CD8 exhaustion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10911" y="1745589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0.288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202582" y="2052828"/>
            <a:ext cx="937958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3633733" y="2028828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" y="1970532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Hypoxia (Buffa)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10911" y="1970532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0.288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2454313" y="2277770"/>
            <a:ext cx="1564057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3144405" y="2253770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2195474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Cytolytic activity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10911" y="2195474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0.305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600131" y="2502712"/>
            <a:ext cx="1085046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3117781" y="2478712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" y="2420416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EMT (Mak)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10911" y="2420416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0.358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2447290" y="2727655"/>
            <a:ext cx="1431835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3123733" y="2703655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" y="2645359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NK cell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10911" y="2645359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0.358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079327" y="2952597"/>
            <a:ext cx="132121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3697734" y="2928597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440" y="2870301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Epithelial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0911" y="2870301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0.418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381278" y="3177540"/>
            <a:ext cx="1312390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3059679" y="3153540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" y="3095244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TGF-β (Mariathasan)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10911" y="3095244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0.482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2763051" y="3402482"/>
            <a:ext cx="1737636" cy="0"/>
          </a:xfrm>
          <a:prstGeom prst="line">
            <a:avLst/>
          </a:prstGeom>
          <a:ln w="22860">
            <a:solidFill>
              <a:srgbClr val="B58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3603313" y="3378482"/>
            <a:ext cx="48000" cy="48000"/>
          </a:xfrm>
          <a:prstGeom prst="ellipse">
            <a:avLst/>
          </a:prstGeom>
          <a:solidFill>
            <a:srgbClr val="B58900"/>
          </a:solidFill>
          <a:ln w="16510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440" y="3320186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B58900"/>
                </a:solidFill>
                <a:latin typeface="Arial"/>
              </a:rPr>
              <a:t>B-cell infiltration 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10911" y="3320186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0.505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2641886" y="3627424"/>
            <a:ext cx="1390345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3263586" y="3603424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40" y="3545128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IFN-γ (Ayers 18)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10911" y="3545128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0.627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2647084" y="3852367"/>
            <a:ext cx="1470508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3303079" y="3828367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3770071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Checkpoint inhibitory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10911" y="3770071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0.653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775602" y="4077309"/>
            <a:ext cx="1257859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3333407" y="4053309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1440" y="3995013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Macrophage M1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10911" y="3995013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0.653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2822251" y="4302252"/>
            <a:ext cx="1401005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3449387" y="4278252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1440" y="4219956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Treg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10911" y="4219956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0.653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2757178" y="4527194"/>
            <a:ext cx="1089279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3264750" y="4503194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1440" y="4444898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CAF — iCAF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010911" y="4444898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0.787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2420467" y="4752136"/>
            <a:ext cx="1978287" cy="0"/>
          </a:xfrm>
          <a:prstGeom prst="line">
            <a:avLst/>
          </a:prstGeom>
          <a:ln w="22860">
            <a:solidFill>
              <a:srgbClr val="B58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3344120" y="4728136"/>
            <a:ext cx="48000" cy="48000"/>
          </a:xfrm>
          <a:prstGeom prst="ellipse">
            <a:avLst/>
          </a:prstGeom>
          <a:solidFill>
            <a:srgbClr val="B58900"/>
          </a:solidFill>
          <a:ln w="16510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440" y="4669840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B58900"/>
                </a:solidFill>
                <a:latin typeface="Arial"/>
              </a:rPr>
              <a:t>CD8 cytotoxic ★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10911" y="4669840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0.843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2810559" y="4977079"/>
            <a:ext cx="1330827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/>
          <p:cNvSpPr/>
          <p:nvPr/>
        </p:nvSpPr>
        <p:spPr>
          <a:xfrm>
            <a:off x="3399392" y="4953079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1440" y="4894783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NLRC5 · HLA · IFNG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10911" y="4894783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0.871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2727472" y="5202021"/>
            <a:ext cx="1457508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3395768" y="5178021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1440" y="5119725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CD8 activation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010911" y="5119725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0.871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2950333" y="5426964"/>
            <a:ext cx="1033345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3423226" y="5402964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1440" y="5344668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Antigen presentation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010911" y="5344668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0.928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2740368" y="5651906"/>
            <a:ext cx="1144603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Oval 110"/>
          <p:cNvSpPr/>
          <p:nvPr/>
        </p:nvSpPr>
        <p:spPr>
          <a:xfrm>
            <a:off x="3298596" y="5627906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1440" y="5569610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TLS (Cabrita)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10911" y="5569610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0.957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2573216" y="5876848"/>
            <a:ext cx="1684494" cy="0"/>
          </a:xfrm>
          <a:prstGeom prst="line">
            <a:avLst/>
          </a:prstGeom>
          <a:ln w="22860">
            <a:solidFill>
              <a:srgbClr val="B58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Oval 114"/>
          <p:cNvSpPr/>
          <p:nvPr/>
        </p:nvSpPr>
        <p:spPr>
          <a:xfrm>
            <a:off x="3366842" y="5852848"/>
            <a:ext cx="48000" cy="48000"/>
          </a:xfrm>
          <a:prstGeom prst="ellipse">
            <a:avLst/>
          </a:prstGeom>
          <a:solidFill>
            <a:srgbClr val="B58900"/>
          </a:solidFill>
          <a:ln w="16510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1440" y="5794552"/>
            <a:ext cx="1737359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1" i="0">
                <a:solidFill>
                  <a:srgbClr val="B58900"/>
                </a:solidFill>
                <a:latin typeface="Arial"/>
              </a:rPr>
              <a:t>T-cell infiltration ★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010911" y="5794552"/>
            <a:ext cx="7772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P = 0.957</a:t>
            </a:r>
          </a:p>
        </p:txBody>
      </p:sp>
      <p:sp>
        <p:nvSpPr>
          <p:cNvPr id="118" name="Oval 117"/>
          <p:cNvSpPr/>
          <p:nvPr/>
        </p:nvSpPr>
        <p:spPr>
          <a:xfrm>
            <a:off x="610080" y="6571968"/>
            <a:ext cx="60000" cy="60000"/>
          </a:xfrm>
          <a:prstGeom prst="ellipse">
            <a:avLst/>
          </a:prstGeom>
          <a:solidFill>
            <a:srgbClr val="B589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31520" y="6537960"/>
            <a:ext cx="5029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B58900"/>
                </a:solidFill>
                <a:latin typeface="Arial"/>
              </a:rPr>
              <a:t>★ purified immune signatures, externally validated (§3.12)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40080" y="6766560"/>
            <a:ext cx="128016" cy="91440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22960" y="6739128"/>
            <a:ext cx="18288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Δ &gt; 0 (enriched in good responders)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834640" y="6766560"/>
            <a:ext cx="128016" cy="91440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17520" y="6739128"/>
            <a:ext cx="21031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Δ &lt; 0 (enriched in poor responders)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" y="6949440"/>
            <a:ext cx="5029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777777"/>
                </a:solidFill>
                <a:latin typeface="Arial"/>
              </a:rPr>
              <a:t>Marker size: large = P &lt; 0.05 · small = n.s.  Stars: ★ P &lt; 0.05 · ★★ P &lt; 0.01 · ★★★ P &lt; 0.001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