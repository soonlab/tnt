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88720" y="4800600"/>
            <a:ext cx="621792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88720" y="411480"/>
            <a:ext cx="0" cy="438912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83030" y="48006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00150" y="48554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-3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54580" y="48006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171700" y="48554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-2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26130" y="48006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143250" y="48554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-1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97680" y="48006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14800" y="48554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69230" y="48006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86350" y="48554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+1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40780" y="48006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57900" y="48554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+2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12330" y="48006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029450" y="48554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+3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43000" y="4800600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4718304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43000" y="3956538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3874242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43000" y="3112476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3030180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10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43000" y="2268415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2186119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15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43000" y="1424353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240" y="1342057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20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43000" y="580292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97996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056632"/>
            <a:ext cx="62179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2A47"/>
                </a:solidFill>
                <a:latin typeface="Arial"/>
              </a:rPr>
              <a:t>NES (normalised enrichment score)</a:t>
            </a:r>
          </a:p>
        </p:txBody>
      </p:sp>
      <p:sp>
        <p:nvSpPr>
          <p:cNvPr id="31" name="TextBox 30"/>
          <p:cNvSpPr txBox="1"/>
          <p:nvPr/>
        </p:nvSpPr>
        <p:spPr>
          <a:xfrm rot="16200000">
            <a:off x="45720" y="2505456"/>
            <a:ext cx="12801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2A47"/>
                </a:solidFill>
                <a:latin typeface="Arial"/>
              </a:rPr>
              <a:t>−log₁₀(BH padj)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297680" y="411480"/>
            <a:ext cx="0" cy="4389120"/>
          </a:xfrm>
          <a:prstGeom prst="line">
            <a:avLst/>
          </a:prstGeom>
          <a:ln w="7620">
            <a:solidFill>
              <a:srgbClr val="0E2A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88720" y="4580970"/>
            <a:ext cx="6217920" cy="0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261872" y="4398090"/>
            <a:ext cx="9144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777777"/>
                </a:solidFill>
                <a:latin typeface="Arial"/>
              </a:rPr>
              <a:t>BH padj = 0.05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88720" y="4698964"/>
            <a:ext cx="6217920" cy="0"/>
          </a:xfrm>
          <a:prstGeom prst="line">
            <a:avLst/>
          </a:prstGeom>
          <a:ln w="5080">
            <a:solidFill>
              <a:srgbClr val="C0C6C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261872" y="4516084"/>
            <a:ext cx="9144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C0C6CF"/>
                </a:solidFill>
                <a:latin typeface="Arial"/>
              </a:rPr>
              <a:t>BH padj = 0.25</a:t>
            </a:r>
          </a:p>
        </p:txBody>
      </p:sp>
      <p:sp>
        <p:nvSpPr>
          <p:cNvPr id="37" name="Oval 36"/>
          <p:cNvSpPr/>
          <p:nvPr/>
        </p:nvSpPr>
        <p:spPr>
          <a:xfrm>
            <a:off x="2972997" y="4672036"/>
            <a:ext cx="72000" cy="72000"/>
          </a:xfrm>
          <a:prstGeom prst="ellipse">
            <a:avLst/>
          </a:prstGeom>
          <a:solidFill>
            <a:srgbClr val="B03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123204" y="4675155"/>
            <a:ext cx="72000" cy="72000"/>
          </a:xfrm>
          <a:prstGeom prst="ellipse">
            <a:avLst/>
          </a:prstGeom>
          <a:solidFill>
            <a:srgbClr val="C11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135259" y="4675155"/>
            <a:ext cx="72000" cy="72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063941" y="4685646"/>
            <a:ext cx="72000" cy="72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60053" y="4691780"/>
            <a:ext cx="72000" cy="72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175192" y="4706241"/>
            <a:ext cx="72000" cy="72000"/>
          </a:xfrm>
          <a:prstGeom prst="ellipse">
            <a:avLst/>
          </a:prstGeom>
          <a:solidFill>
            <a:srgbClr val="C11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290210" y="4717684"/>
            <a:ext cx="72000" cy="72000"/>
          </a:xfrm>
          <a:prstGeom prst="ellipse">
            <a:avLst/>
          </a:prstGeom>
          <a:solidFill>
            <a:srgbClr val="005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217374" y="4717684"/>
            <a:ext cx="72000" cy="72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225341" y="4720200"/>
            <a:ext cx="72000" cy="72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239884" y="4720200"/>
            <a:ext cx="72000" cy="72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292964" y="4737182"/>
            <a:ext cx="72000" cy="72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288310" y="4737182"/>
            <a:ext cx="72000" cy="72000"/>
          </a:xfrm>
          <a:prstGeom prst="ellipse">
            <a:avLst/>
          </a:prstGeom>
          <a:solidFill>
            <a:srgbClr val="C11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317191" y="4742053"/>
            <a:ext cx="72000" cy="72000"/>
          </a:xfrm>
          <a:prstGeom prst="ellipse">
            <a:avLst/>
          </a:prstGeom>
          <a:solidFill>
            <a:srgbClr val="C11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321938" y="4742849"/>
            <a:ext cx="72000" cy="72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360898" y="4747323"/>
            <a:ext cx="72000" cy="72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401855" y="4756691"/>
            <a:ext cx="72000" cy="72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382426" y="4756691"/>
            <a:ext cx="72000" cy="72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453558" y="4756691"/>
            <a:ext cx="72000" cy="72000"/>
          </a:xfrm>
          <a:prstGeom prst="ellipse">
            <a:avLst/>
          </a:prstGeom>
          <a:solidFill>
            <a:srgbClr val="B03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85876" y="4760388"/>
            <a:ext cx="72000" cy="72000"/>
          </a:xfrm>
          <a:prstGeom prst="ellipse">
            <a:avLst/>
          </a:prstGeom>
          <a:solidFill>
            <a:srgbClr val="B03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077864" y="4760388"/>
            <a:ext cx="72000" cy="72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454157" y="4762355"/>
            <a:ext cx="72000" cy="72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488640" y="4763188"/>
            <a:ext cx="72000" cy="72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489523" y="4764150"/>
            <a:ext cx="72000" cy="72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942093" y="4764150"/>
            <a:ext cx="72000" cy="72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534299" y="4764150"/>
            <a:ext cx="72000" cy="72000"/>
          </a:xfrm>
          <a:prstGeom prst="ellipse">
            <a:avLst/>
          </a:prstGeom>
          <a:solidFill>
            <a:srgbClr val="C11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541180" y="4764150"/>
            <a:ext cx="72000" cy="72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627645" y="4764150"/>
            <a:ext cx="72000" cy="72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645673" y="4764150"/>
            <a:ext cx="72000" cy="72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150838" y="4720402"/>
            <a:ext cx="72000" cy="72000"/>
          </a:xfrm>
          <a:prstGeom prst="ellipse">
            <a:avLst/>
          </a:prstGeom>
          <a:solidFill>
            <a:srgbClr val="C11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481375" y="4764600"/>
            <a:ext cx="72000" cy="72000"/>
          </a:xfrm>
          <a:prstGeom prst="ellipse">
            <a:avLst/>
          </a:prstGeom>
          <a:solidFill>
            <a:srgbClr val="C11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939216" y="794857"/>
            <a:ext cx="112000" cy="112000"/>
          </a:xfrm>
          <a:prstGeom prst="ellipse">
            <a:avLst/>
          </a:prstGeom>
          <a:solidFill>
            <a:srgbClr val="057A64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631426" y="2489227"/>
            <a:ext cx="112000" cy="112000"/>
          </a:xfrm>
          <a:prstGeom prst="ellipse">
            <a:avLst/>
          </a:prstGeom>
          <a:solidFill>
            <a:srgbClr val="057A64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534532" y="2765395"/>
            <a:ext cx="112000" cy="112000"/>
          </a:xfrm>
          <a:prstGeom prst="ellipse">
            <a:avLst/>
          </a:prstGeom>
          <a:solidFill>
            <a:srgbClr val="057A64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143429" y="3373884"/>
            <a:ext cx="112000" cy="112000"/>
          </a:xfrm>
          <a:prstGeom prst="ellipse">
            <a:avLst/>
          </a:prstGeom>
          <a:solidFill>
            <a:srgbClr val="B03219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412323" y="3885213"/>
            <a:ext cx="112000" cy="112000"/>
          </a:xfrm>
          <a:prstGeom prst="ellipse">
            <a:avLst/>
          </a:prstGeom>
          <a:solidFill>
            <a:srgbClr val="057A64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505511" y="4094554"/>
            <a:ext cx="112000" cy="112000"/>
          </a:xfrm>
          <a:prstGeom prst="ellipse">
            <a:avLst/>
          </a:prstGeom>
          <a:solidFill>
            <a:srgbClr val="B03219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911352" y="4193480"/>
            <a:ext cx="112000" cy="112000"/>
          </a:xfrm>
          <a:prstGeom prst="ellipse">
            <a:avLst/>
          </a:prstGeom>
          <a:solidFill>
            <a:srgbClr val="057A64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765159" y="4358143"/>
            <a:ext cx="112000" cy="112000"/>
          </a:xfrm>
          <a:prstGeom prst="ellipse">
            <a:avLst/>
          </a:prstGeom>
          <a:solidFill>
            <a:srgbClr val="A6ADB5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810131" y="4465813"/>
            <a:ext cx="112000" cy="112000"/>
          </a:xfrm>
          <a:prstGeom prst="ellipse">
            <a:avLst/>
          </a:prstGeom>
          <a:solidFill>
            <a:srgbClr val="B03219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780967" y="4475565"/>
            <a:ext cx="112000" cy="112000"/>
          </a:xfrm>
          <a:prstGeom prst="ellipse">
            <a:avLst/>
          </a:prstGeom>
          <a:solidFill>
            <a:srgbClr val="A6ADB5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893384" y="4574558"/>
            <a:ext cx="112000" cy="112000"/>
          </a:xfrm>
          <a:prstGeom prst="ellipse">
            <a:avLst/>
          </a:prstGeom>
          <a:solidFill>
            <a:srgbClr val="A6ADB5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905254" y="4574558"/>
            <a:ext cx="112000" cy="112000"/>
          </a:xfrm>
          <a:prstGeom prst="ellipse">
            <a:avLst/>
          </a:prstGeom>
          <a:solidFill>
            <a:srgbClr val="A6ADB5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932356" y="4574558"/>
            <a:ext cx="112000" cy="112000"/>
          </a:xfrm>
          <a:prstGeom prst="ellipse">
            <a:avLst/>
          </a:prstGeom>
          <a:solidFill>
            <a:srgbClr val="A6ADB5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953712" y="4585018"/>
            <a:ext cx="112000" cy="112000"/>
          </a:xfrm>
          <a:prstGeom prst="ellipse">
            <a:avLst/>
          </a:prstGeom>
          <a:solidFill>
            <a:srgbClr val="A6ADB5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972705" y="4601362"/>
            <a:ext cx="112000" cy="112000"/>
          </a:xfrm>
          <a:prstGeom prst="ellipse">
            <a:avLst/>
          </a:prstGeom>
          <a:solidFill>
            <a:srgbClr val="C11456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825245" y="4601362"/>
            <a:ext cx="112000" cy="112000"/>
          </a:xfrm>
          <a:prstGeom prst="ellipse">
            <a:avLst/>
          </a:prstGeom>
          <a:solidFill>
            <a:srgbClr val="A6ADB5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975820" y="4601362"/>
            <a:ext cx="112000" cy="112000"/>
          </a:xfrm>
          <a:prstGeom prst="ellipse">
            <a:avLst/>
          </a:prstGeom>
          <a:solidFill>
            <a:srgbClr val="A6ADB5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973928" y="4609882"/>
            <a:ext cx="112000" cy="112000"/>
          </a:xfrm>
          <a:prstGeom prst="ellipse">
            <a:avLst/>
          </a:prstGeom>
          <a:solidFill>
            <a:srgbClr val="C11456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025272" y="4612374"/>
            <a:ext cx="112000" cy="112000"/>
          </a:xfrm>
          <a:prstGeom prst="ellipse">
            <a:avLst/>
          </a:prstGeom>
          <a:solidFill>
            <a:srgbClr val="C11456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944695" y="4622289"/>
            <a:ext cx="112000" cy="112000"/>
          </a:xfrm>
          <a:prstGeom prst="ellipse">
            <a:avLst/>
          </a:prstGeom>
          <a:solidFill>
            <a:srgbClr val="A6ADB5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027297" y="4622289"/>
            <a:ext cx="112000" cy="112000"/>
          </a:xfrm>
          <a:prstGeom prst="ellipse">
            <a:avLst/>
          </a:prstGeom>
          <a:solidFill>
            <a:srgbClr val="A6ADB5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039002" y="4622289"/>
            <a:ext cx="112000" cy="112000"/>
          </a:xfrm>
          <a:prstGeom prst="ellipse">
            <a:avLst/>
          </a:prstGeom>
          <a:solidFill>
            <a:srgbClr val="C11456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406930" y="3673126"/>
            <a:ext cx="112000" cy="112000"/>
          </a:xfrm>
          <a:prstGeom prst="ellipse">
            <a:avLst/>
          </a:prstGeom>
          <a:solidFill>
            <a:srgbClr val="00567D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235288" y="3815200"/>
            <a:ext cx="112000" cy="112000"/>
          </a:xfrm>
          <a:prstGeom prst="ellipse">
            <a:avLst/>
          </a:prstGeom>
          <a:solidFill>
            <a:srgbClr val="057A64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078686" y="4027356"/>
            <a:ext cx="112000" cy="112000"/>
          </a:xfrm>
          <a:prstGeom prst="ellipse">
            <a:avLst/>
          </a:prstGeom>
          <a:solidFill>
            <a:srgbClr val="057A64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223551" y="4043413"/>
            <a:ext cx="112000" cy="112000"/>
          </a:xfrm>
          <a:prstGeom prst="ellipse">
            <a:avLst/>
          </a:prstGeom>
          <a:solidFill>
            <a:srgbClr val="057A64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193349" y="4081135"/>
            <a:ext cx="112000" cy="112000"/>
          </a:xfrm>
          <a:prstGeom prst="ellipse">
            <a:avLst/>
          </a:prstGeom>
          <a:solidFill>
            <a:srgbClr val="B03219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068773" y="4167667"/>
            <a:ext cx="112000" cy="112000"/>
          </a:xfrm>
          <a:prstGeom prst="ellipse">
            <a:avLst/>
          </a:prstGeom>
          <a:solidFill>
            <a:srgbClr val="057A64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2238231" y="4182064"/>
            <a:ext cx="112000" cy="112000"/>
          </a:xfrm>
          <a:prstGeom prst="ellipse">
            <a:avLst/>
          </a:prstGeom>
          <a:solidFill>
            <a:srgbClr val="B03219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294142" y="4183602"/>
            <a:ext cx="112000" cy="112000"/>
          </a:xfrm>
          <a:prstGeom prst="ellipse">
            <a:avLst/>
          </a:prstGeom>
          <a:solidFill>
            <a:srgbClr val="C11456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313021" y="4199205"/>
            <a:ext cx="112000" cy="112000"/>
          </a:xfrm>
          <a:prstGeom prst="ellipse">
            <a:avLst/>
          </a:prstGeom>
          <a:solidFill>
            <a:srgbClr val="B03219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986467" y="4199205"/>
            <a:ext cx="112000" cy="112000"/>
          </a:xfrm>
          <a:prstGeom prst="ellipse">
            <a:avLst/>
          </a:prstGeom>
          <a:solidFill>
            <a:srgbClr val="057A64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900813" y="4279044"/>
            <a:ext cx="112000" cy="112000"/>
          </a:xfrm>
          <a:prstGeom prst="ellipse">
            <a:avLst/>
          </a:prstGeom>
          <a:solidFill>
            <a:srgbClr val="C11456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100456" y="4279044"/>
            <a:ext cx="112000" cy="112000"/>
          </a:xfrm>
          <a:prstGeom prst="ellipse">
            <a:avLst/>
          </a:prstGeom>
          <a:solidFill>
            <a:srgbClr val="C11456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404404" y="4309169"/>
            <a:ext cx="112000" cy="112000"/>
          </a:xfrm>
          <a:prstGeom prst="ellipse">
            <a:avLst/>
          </a:prstGeom>
          <a:solidFill>
            <a:srgbClr val="B03219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2558439" y="4426509"/>
            <a:ext cx="112000" cy="112000"/>
          </a:xfrm>
          <a:prstGeom prst="ellipse">
            <a:avLst/>
          </a:prstGeom>
          <a:solidFill>
            <a:srgbClr val="B03219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2794445" y="4587136"/>
            <a:ext cx="112000" cy="112000"/>
          </a:xfrm>
          <a:prstGeom prst="ellipse">
            <a:avLst/>
          </a:prstGeom>
          <a:solidFill>
            <a:srgbClr val="B03219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788666" y="4612246"/>
            <a:ext cx="112000" cy="112000"/>
          </a:xfrm>
          <a:prstGeom prst="ellipse">
            <a:avLst/>
          </a:prstGeom>
          <a:solidFill>
            <a:srgbClr val="00567D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905216" y="760857"/>
            <a:ext cx="180000" cy="180000"/>
          </a:xfrm>
          <a:prstGeom prst="ellipse">
            <a:avLst/>
          </a:prstGeom>
          <a:noFill/>
          <a:ln w="1397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597426" y="2455227"/>
            <a:ext cx="180000" cy="180000"/>
          </a:xfrm>
          <a:prstGeom prst="ellipse">
            <a:avLst/>
          </a:prstGeom>
          <a:noFill/>
          <a:ln w="1397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500532" y="2731395"/>
            <a:ext cx="180000" cy="180000"/>
          </a:xfrm>
          <a:prstGeom prst="ellipse">
            <a:avLst/>
          </a:prstGeom>
          <a:noFill/>
          <a:ln w="1397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2109429" y="3339884"/>
            <a:ext cx="180000" cy="180000"/>
          </a:xfrm>
          <a:prstGeom prst="ellipse">
            <a:avLst/>
          </a:prstGeom>
          <a:noFill/>
          <a:ln w="1397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378323" y="3851213"/>
            <a:ext cx="180000" cy="180000"/>
          </a:xfrm>
          <a:prstGeom prst="ellipse">
            <a:avLst/>
          </a:prstGeom>
          <a:noFill/>
          <a:ln w="1397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6372930" y="3639126"/>
            <a:ext cx="180000" cy="180000"/>
          </a:xfrm>
          <a:prstGeom prst="ellipse">
            <a:avLst/>
          </a:prstGeom>
          <a:noFill/>
          <a:ln w="1397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6201288" y="3781200"/>
            <a:ext cx="180000" cy="180000"/>
          </a:xfrm>
          <a:prstGeom prst="ellipse">
            <a:avLst/>
          </a:prstGeom>
          <a:noFill/>
          <a:ln w="1397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6189551" y="4009413"/>
            <a:ext cx="180000" cy="180000"/>
          </a:xfrm>
          <a:prstGeom prst="ellipse">
            <a:avLst/>
          </a:prstGeom>
          <a:noFill/>
          <a:ln w="1397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2159349" y="4047135"/>
            <a:ext cx="180000" cy="180000"/>
          </a:xfrm>
          <a:prstGeom prst="ellipse">
            <a:avLst/>
          </a:prstGeom>
          <a:noFill/>
          <a:ln w="1397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2204231" y="4148064"/>
            <a:ext cx="180000" cy="180000"/>
          </a:xfrm>
          <a:prstGeom prst="ellipse">
            <a:avLst/>
          </a:prstGeom>
          <a:noFill/>
          <a:ln w="1397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260142" y="4149602"/>
            <a:ext cx="180000" cy="180000"/>
          </a:xfrm>
          <a:prstGeom prst="ellipse">
            <a:avLst/>
          </a:prstGeom>
          <a:noFill/>
          <a:ln w="1397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068368" y="740414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57A64"/>
                </a:solidFill>
                <a:latin typeface="Arial"/>
              </a:rPr>
              <a:t>E2F Targets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760578" y="2448388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57A64"/>
                </a:solidFill>
                <a:latin typeface="Arial"/>
              </a:rPr>
              <a:t>G2M Checkpoint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63684" y="2775357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57A64"/>
                </a:solidFill>
                <a:latin typeface="Arial"/>
              </a:rPr>
              <a:t>Myc Targets V1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71797" y="3364126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B03219"/>
                </a:solidFill>
                <a:latin typeface="Arial"/>
              </a:rPr>
              <a:t>Epithelial Mesenchymal Transition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536082" y="3619446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0567D"/>
                </a:solidFill>
                <a:latin typeface="Arial"/>
              </a:rPr>
              <a:t>HDR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541475" y="3862043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57A64"/>
                </a:solidFill>
                <a:latin typeface="Arial"/>
              </a:rPr>
              <a:t>Myc Targets V2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364440" y="3796163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57A64"/>
                </a:solidFill>
                <a:latin typeface="Arial"/>
              </a:rPr>
              <a:t>Mitotic prometaphase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352703" y="3995638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57A64"/>
                </a:solidFill>
                <a:latin typeface="Arial"/>
              </a:rPr>
              <a:t>Spindle checkpoint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21717" y="4085094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B03219"/>
                </a:solidFill>
                <a:latin typeface="Arial"/>
              </a:rPr>
              <a:t>Collagen assembly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207838" y="3975435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57A64"/>
                </a:solidFill>
                <a:latin typeface="Arial"/>
              </a:rPr>
              <a:t>Metaphase-anaphase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423294" y="4156661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C11456"/>
                </a:solidFill>
                <a:latin typeface="Arial"/>
              </a:rPr>
              <a:t>CD22 BCR reg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33879" y="4078908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B03219"/>
                </a:solidFill>
                <a:latin typeface="Arial"/>
              </a:rPr>
              <a:t>Myogenesis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66599" y="4158669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B03219"/>
                </a:solidFill>
                <a:latin typeface="Arial"/>
              </a:rPr>
              <a:t>Elastic fibre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197925" y="4158326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57A64"/>
                </a:solidFill>
                <a:latin typeface="Arial"/>
              </a:rPr>
              <a:t>G1-S transition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41389" y="4203458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B03219"/>
                </a:solidFill>
                <a:latin typeface="Arial"/>
              </a:rPr>
              <a:t>ECM proteoglycans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4880610" y="587044"/>
            <a:ext cx="2277313" cy="0"/>
          </a:xfrm>
          <a:prstGeom prst="line">
            <a:avLst/>
          </a:prstGeom>
          <a:ln w="279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ight Triangle 131"/>
          <p:cNvSpPr/>
          <p:nvPr/>
        </p:nvSpPr>
        <p:spPr>
          <a:xfrm>
            <a:off x="7127923" y="557044"/>
            <a:ext cx="60000" cy="60000"/>
          </a:xfrm>
          <a:prstGeom prst="rtTriangl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880610" y="312724"/>
            <a:ext cx="227731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A7D6E"/>
                </a:solidFill>
                <a:latin typeface="Arial"/>
              </a:rPr>
              <a:t>Enriched in Good responders</a:t>
            </a:r>
          </a:p>
        </p:txBody>
      </p:sp>
      <p:cxnSp>
        <p:nvCxnSpPr>
          <p:cNvPr id="134" name="Connector 133"/>
          <p:cNvCxnSpPr/>
          <p:nvPr/>
        </p:nvCxnSpPr>
        <p:spPr>
          <a:xfrm flipH="1">
            <a:off x="1437436" y="587044"/>
            <a:ext cx="2277314" cy="0"/>
          </a:xfrm>
          <a:prstGeom prst="line">
            <a:avLst/>
          </a:prstGeom>
          <a:ln w="279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ight Triangle 134"/>
          <p:cNvSpPr/>
          <p:nvPr/>
        </p:nvSpPr>
        <p:spPr>
          <a:xfrm rot="10800000">
            <a:off x="1407436" y="557044"/>
            <a:ext cx="60000" cy="60000"/>
          </a:xfrm>
          <a:prstGeom prst="rtTriangl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437436" y="312724"/>
            <a:ext cx="227731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53E1F"/>
                </a:solidFill>
                <a:latin typeface="Arial"/>
              </a:rPr>
              <a:t>Enriched in Poor responders</a:t>
            </a:r>
          </a:p>
        </p:txBody>
      </p:sp>
      <p:sp>
        <p:nvSpPr>
          <p:cNvPr id="137" name="Oval 136"/>
          <p:cNvSpPr/>
          <p:nvPr/>
        </p:nvSpPr>
        <p:spPr>
          <a:xfrm>
            <a:off x="1299880" y="5423824"/>
            <a:ext cx="52000" cy="52000"/>
          </a:xfrm>
          <a:prstGeom prst="ellipse">
            <a:avLst/>
          </a:prstGeom>
          <a:solidFill>
            <a:srgbClr val="057A64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463040" y="5367528"/>
            <a:ext cx="1798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Cell cycle</a:t>
            </a:r>
          </a:p>
        </p:txBody>
      </p:sp>
      <p:sp>
        <p:nvSpPr>
          <p:cNvPr id="139" name="Oval 138"/>
          <p:cNvSpPr/>
          <p:nvPr/>
        </p:nvSpPr>
        <p:spPr>
          <a:xfrm>
            <a:off x="3372520" y="5423824"/>
            <a:ext cx="52000" cy="52000"/>
          </a:xfrm>
          <a:prstGeom prst="ellipse">
            <a:avLst/>
          </a:prstGeom>
          <a:solidFill>
            <a:srgbClr val="00567D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535680" y="5367528"/>
            <a:ext cx="1798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DNA repair</a:t>
            </a:r>
          </a:p>
        </p:txBody>
      </p:sp>
      <p:sp>
        <p:nvSpPr>
          <p:cNvPr id="141" name="Oval 140"/>
          <p:cNvSpPr/>
          <p:nvPr/>
        </p:nvSpPr>
        <p:spPr>
          <a:xfrm>
            <a:off x="5445160" y="5423824"/>
            <a:ext cx="52000" cy="52000"/>
          </a:xfrm>
          <a:prstGeom prst="ellipse">
            <a:avLst/>
          </a:prstGeom>
          <a:solidFill>
            <a:srgbClr val="C11456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608320" y="5367528"/>
            <a:ext cx="1798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Immune</a:t>
            </a:r>
          </a:p>
        </p:txBody>
      </p:sp>
      <p:sp>
        <p:nvSpPr>
          <p:cNvPr id="143" name="Oval 142"/>
          <p:cNvSpPr/>
          <p:nvPr/>
        </p:nvSpPr>
        <p:spPr>
          <a:xfrm>
            <a:off x="1299880" y="5679856"/>
            <a:ext cx="52000" cy="52000"/>
          </a:xfrm>
          <a:prstGeom prst="ellipse">
            <a:avLst/>
          </a:prstGeom>
          <a:solidFill>
            <a:srgbClr val="B03219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463040" y="5623560"/>
            <a:ext cx="1798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EMT / Stromal</a:t>
            </a:r>
          </a:p>
        </p:txBody>
      </p:sp>
      <p:sp>
        <p:nvSpPr>
          <p:cNvPr id="145" name="Oval 144"/>
          <p:cNvSpPr/>
          <p:nvPr/>
        </p:nvSpPr>
        <p:spPr>
          <a:xfrm>
            <a:off x="3376520" y="5683856"/>
            <a:ext cx="44000" cy="44000"/>
          </a:xfrm>
          <a:prstGeom prst="ellipse">
            <a:avLst/>
          </a:prstGeom>
          <a:solidFill>
            <a:srgbClr val="A6ADB5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535680" y="5623560"/>
            <a:ext cx="1798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Other Hallmark</a:t>
            </a:r>
          </a:p>
        </p:txBody>
      </p:sp>
      <p:sp>
        <p:nvSpPr>
          <p:cNvPr id="147" name="Oval 146"/>
          <p:cNvSpPr/>
          <p:nvPr/>
        </p:nvSpPr>
        <p:spPr>
          <a:xfrm>
            <a:off x="5441160" y="5675856"/>
            <a:ext cx="60000" cy="60000"/>
          </a:xfrm>
          <a:prstGeom prst="ellipse">
            <a:avLst/>
          </a:prstGeom>
          <a:noFill/>
          <a:ln w="1270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608320" y="5623560"/>
            <a:ext cx="1798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|NES| ≥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