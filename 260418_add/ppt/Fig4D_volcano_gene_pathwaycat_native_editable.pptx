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67665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560320" y="4800600"/>
            <a:ext cx="667512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560320" y="411480"/>
            <a:ext cx="0" cy="438912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688687" y="48006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505807" y="48554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-5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30526" y="48006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147646" y="48554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-4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72364" y="48006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89484" y="48554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-3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14203" y="48006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31323" y="48554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-2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56041" y="48006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73161" y="48554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-1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97880" y="48006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715000" y="48554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39718" y="48006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56838" y="48554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+1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81556" y="48006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98676" y="48554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+2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23395" y="48006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640515" y="48554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+3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65233" y="48006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82353" y="48554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+4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07072" y="480060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924192" y="48554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+5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14600" y="4800600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48840" y="4718304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514600" y="4284232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148840" y="4201936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514600" y="3767865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148840" y="3685569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514600" y="3251498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148840" y="3169202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3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14600" y="2735131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148840" y="2652835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4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514600" y="2218764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148840" y="2136468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5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514600" y="1702397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148840" y="1620101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6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514600" y="1186030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148840" y="1103734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7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514600" y="669663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148840" y="587367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0" y="5056632"/>
            <a:ext cx="66751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2A47"/>
                </a:solidFill>
                <a:latin typeface="Arial"/>
              </a:rPr>
              <a:t>log₂ fold change (good vs poor)</a:t>
            </a:r>
          </a:p>
        </p:txBody>
      </p:sp>
      <p:sp>
        <p:nvSpPr>
          <p:cNvPr id="45" name="TextBox 44"/>
          <p:cNvSpPr txBox="1"/>
          <p:nvPr/>
        </p:nvSpPr>
        <p:spPr>
          <a:xfrm rot="16200000">
            <a:off x="1417320" y="2505456"/>
            <a:ext cx="12801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2A47"/>
                </a:solidFill>
                <a:latin typeface="Arial"/>
              </a:rPr>
              <a:t>−log₁₀(p-value)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897880" y="411480"/>
            <a:ext cx="0" cy="4389120"/>
          </a:xfrm>
          <a:prstGeom prst="line">
            <a:avLst/>
          </a:prstGeom>
          <a:ln w="7620">
            <a:solidFill>
              <a:srgbClr val="0E2A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60320" y="3767865"/>
            <a:ext cx="6675120" cy="0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606040" y="3584985"/>
            <a:ext cx="8229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777777"/>
                </a:solidFill>
                <a:latin typeface="Arial"/>
              </a:rPr>
              <a:t>P = 0.01</a:t>
            </a:r>
          </a:p>
        </p:txBody>
      </p:sp>
      <p:sp>
        <p:nvSpPr>
          <p:cNvPr id="49" name="Oval 48"/>
          <p:cNvSpPr/>
          <p:nvPr/>
        </p:nvSpPr>
        <p:spPr>
          <a:xfrm>
            <a:off x="5886021" y="477986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96652" y="436757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046848" y="475266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766117" y="454617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727048" y="466160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872533" y="476894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530309" y="458375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989105" y="473233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033906" y="473738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901481" y="476430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51771" y="474198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204482" y="455401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534170" y="449160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014720" y="445938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598965" y="444251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550139" y="455861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494335" y="459458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825420" y="469169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767464" y="473624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943404" y="470110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620642" y="448138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091768" y="418520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368982" y="446328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505319" y="398969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917483" y="476174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719071" y="444685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419869" y="439558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220980" y="426112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308444" y="464054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559440" y="430271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748705" y="465572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973115" y="458375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895146" y="476452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818112" y="468816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770701" y="462873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849577" y="475872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022532" y="448604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093852" y="467839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913075" y="477232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923875" y="469966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097951" y="469621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113143" y="413297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194845" y="412923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737304" y="474545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016364" y="455054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935304" y="475911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013493" y="445887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396668" y="439891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879506" y="478167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014010" y="473289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822150" y="471505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5813531" y="475687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781140" y="458687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988867" y="433670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799298" y="467664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374629" y="433500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925803" y="471448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986766" y="461419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114793" y="445690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5217193" y="454500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352546" y="449820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5642195" y="441481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6276414" y="470122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6155990" y="463515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840815" y="472950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980369" y="442479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843377" y="468648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73518" y="464275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773235" y="464851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928442" y="471982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6017998" y="461337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918549" y="473733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677150" y="468131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753736" y="463243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808772" y="467009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6053320" y="473094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6074214" y="451016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694187" y="458037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689940" y="462655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6060780" y="433783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967213" y="457540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347691" y="460397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02868" y="468208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62541" y="474530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42478" y="473648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698988" y="462717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4989142" y="430367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4664159" y="386350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5964888" y="466607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5380460" y="470911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4908539" y="439559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5632014" y="455089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5812457" y="466848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5997822" y="433333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5364391" y="439100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935879" y="470476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5795566" y="473231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060684" y="453508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5717093" y="470812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5857531" y="476625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5956642" y="458442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5844209" y="472110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750593" y="475221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520523" y="450245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5846097" y="476688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388496" y="402108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5873262" y="478229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5301416" y="454509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5850749" y="469315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4103848" y="456511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6057149" y="474068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5293409" y="439479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5519153" y="421154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5961696" y="472190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5300047" y="438340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5439476" y="466229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5789252" y="472717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5427288" y="442804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5675278" y="455249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5882196" y="478406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5621044" y="455232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5630618" y="434839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5797107" y="457600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996315" y="445765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5770141" y="459027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6161661" y="432343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5933447" y="470296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5775795" y="462189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5679018" y="420656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6462933" y="468694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5980014" y="447891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5822616" y="472416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5710213" y="451020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5838283" y="470637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5747613" y="467290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5704360" y="469793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5680856" y="457967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5638356" y="462716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5744568" y="469081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5890642" y="476942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5937319" y="475447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5980799" y="468561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852241" y="475605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5487641" y="461924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5349663" y="434373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983842" y="449268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5829829" y="470209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5929394" y="468679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6033748" y="452451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6763161" y="437200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5974194" y="463560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5764203" y="464842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5989128" y="445390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6015261" y="466422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5964527" y="474597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5785698" y="461948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5848559" y="470011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6065594" y="424627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5799277" y="468629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6035909" y="435349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5853769" y="476871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5822741" y="466520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6080803" y="469921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5946157" y="466753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6058929" y="432565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6225996" y="428375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5826828" y="475323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5555232" y="456728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5358255" y="446513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5884712" y="478331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6003240" y="468413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5894778" y="476609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5368408" y="450955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5631756" y="461670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6370691" y="462232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5778364" y="470980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6912118" y="433678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5334451" y="453243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6278623" y="467295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5786541" y="472421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6023895" y="468407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5771998" y="459046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6011191" y="470527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6231567" y="472675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881764" y="478451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5540236" y="459731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5893947" y="477097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5337716" y="441706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6265686" y="435166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4668144" y="425947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666087" y="447113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5690955" y="434604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204150" y="408105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5500116" y="462055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6909605" y="444833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5943188" y="474264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6104177" y="437170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5939213" y="468360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5973804" y="451239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6066225" y="453576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6050071" y="468127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6140764" y="453943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5545404" y="420748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5824565" y="475434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5713608" y="453999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5778180" y="462802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6312311" y="456046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5411623" y="434164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5926254" y="474355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6044290" y="456339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5765263" y="469695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5958190" y="464157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5966351" y="453735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6110157" y="469631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5818125" y="472578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5961310" y="469394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5921093" y="470966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5642774" y="443321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5716555" y="468435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5636976" y="456251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5636316" y="472470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5154407" y="420059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5893417" y="477715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6305746" y="426774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5550535" y="429994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5910635" y="469629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4556234" y="451518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5809663" y="475194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5468251" y="461733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5755367" y="455136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6081573" y="430973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5896521" y="477634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6261303" y="428948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5187090" y="448147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925924" y="473567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5984489" y="442974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5874682" y="477511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5862043" y="477665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5947151" y="468532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5468975" y="438977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6287017" y="433851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5821929" y="467154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4516769" y="396523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6040906" y="457662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6026065" y="462377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5941395" y="470024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5765798" y="458718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5633214" y="458255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5546692" y="444972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5913979" y="473348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5707586" y="464116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5534935" y="472442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6243089" y="379484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5550538" y="437999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5504711" y="446960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5903493" y="472382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6501666" y="430110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6160202" y="438292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6085993" y="431422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6274944" y="421396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5825477" y="469706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6137715" y="447887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5939133" y="468760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5458593" y="461427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5947428" y="459722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5680052" y="428331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5892095" y="476522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5871015" y="476712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6150735" y="461374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5802305" y="463463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5975650" y="456192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5667275" y="463426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5947083" y="475158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5970388" y="471537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5927250" y="469970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5224393" y="453495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5669528" y="461814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5405826" y="448002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5951102" y="460979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5733854" y="463562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5760523" y="464814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5529617" y="467517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5823123" y="472912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5861869" y="476583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5646025" y="459926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5832779" y="469549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5931614" y="473718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6010023" y="446513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5680653" y="475313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5553212" y="444698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5445418" y="465040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6278100" y="467161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5822289" y="476655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5977002" y="468048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5931283" y="461193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5942619" y="471298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5817074" y="466523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5926348" y="473411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5383459" y="464410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6006212" y="465199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6014014" y="435553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5667001" y="469712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6813835" y="423417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5913548" y="476140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5798224" y="469645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5374470" y="445867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5310349" y="430468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6224909" y="465813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6016723" y="440628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6220268" y="459001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6004207" y="449681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5879938" y="478343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5020872" y="436024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5951657" y="470511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5429516" y="442643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5929222" y="471565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5568045" y="428216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6324689" y="434682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5375106" y="456989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5496752" y="450036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5948028" y="473671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5750541" y="466155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5852050" y="477043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6048686" y="463063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5885347" y="477830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5581138" y="455136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4346187" y="446960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5884345" y="478345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5313486" y="448760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5788267" y="468669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5563086" y="449210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5567513" y="397005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6350426" y="429675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5580878" y="439533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5837966" y="470612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5616764" y="459059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5884122" y="477858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5472655" y="467623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4897987" y="418920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6046219" y="389874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6079439" y="443488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5989984" y="451390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5796577" y="460763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5884996" y="478318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5508945" y="457843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6197746" y="417663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6095034" y="468265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6069692" y="466889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5599698" y="438492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5920761" y="476962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5975750" y="454248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5827568" y="460823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5743940" y="457721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5986936" y="458957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5207891" y="403773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5955383" y="462756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5916621" y="475053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5779727" y="464708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5819480" y="474028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5676558" y="459323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5797510" y="460430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5510491" y="449128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5825888" y="473761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5679784" y="469570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5822479" y="468121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5823233" y="463017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5364086" y="447599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6138837" y="472357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5806180" y="465279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5826603" y="464863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5680424" y="473569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6349265" y="448478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5942623" y="464916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6167692" y="455181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6026133" y="427739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5903607" y="476129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5440734" y="442667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5838533" y="474684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5776873" y="468459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6042158" y="452467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5239654" y="411164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5874981" y="477999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6164477" y="460587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5600112" y="441283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5819836" y="475069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5854689" y="473631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5912438" y="474282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6179751" y="470232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5939270" y="465211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5880286" y="478382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4814507" y="395444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5233702" y="443359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5759631" y="459986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6005913" y="462387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5655762" y="461130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5722315" y="429607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5897095" y="476070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5638604" y="453374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5882402" y="478388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5965128" y="469763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5885148" y="477921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6095969" y="468225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5999370" y="472195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5378046" y="422490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5203867" y="434536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6115289" y="411363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5608990" y="445199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5998978" y="471070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5900139" y="477127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6361916" y="469085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5930461" y="474464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6139595" y="471561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5821232" y="471438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5831581" y="470980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5558182" y="462901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5932109" y="465795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5991730" y="462552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5867295" y="476368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6276873" y="445994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6395157" y="457774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6229851" y="445764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5813222" y="464660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6306817" y="378765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6140958" y="465503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5811851" y="462264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5165128" y="391003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5585443" y="428035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6028439" y="449839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5988173" y="471858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6080991" y="468511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5648080" y="447399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5967041" y="470532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6385373" y="460336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5135814" y="444751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5490028" y="451435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Oval 483"/>
          <p:cNvSpPr/>
          <p:nvPr/>
        </p:nvSpPr>
        <p:spPr>
          <a:xfrm>
            <a:off x="5884383" y="477822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Oval 484"/>
          <p:cNvSpPr/>
          <p:nvPr/>
        </p:nvSpPr>
        <p:spPr>
          <a:xfrm>
            <a:off x="5942719" y="476339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6066201" y="468384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Oval 486"/>
          <p:cNvSpPr/>
          <p:nvPr/>
        </p:nvSpPr>
        <p:spPr>
          <a:xfrm>
            <a:off x="6023548" y="457502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Oval 487"/>
          <p:cNvSpPr/>
          <p:nvPr/>
        </p:nvSpPr>
        <p:spPr>
          <a:xfrm>
            <a:off x="6154883" y="463416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xfrm>
            <a:off x="5896652" y="476998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5869735" y="476320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6000587" y="471829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5765288" y="469960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5762192" y="472073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6582301" y="401689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5840012" y="471333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6006693" y="467704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5918395" y="475820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6264659" y="430261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5773558" y="473323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5817464" y="469851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5325519" y="430148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Oval 501"/>
          <p:cNvSpPr/>
          <p:nvPr/>
        </p:nvSpPr>
        <p:spPr>
          <a:xfrm>
            <a:off x="6134567" y="468238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5782716" y="469803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xfrm>
            <a:off x="5910317" y="468995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Oval 504"/>
          <p:cNvSpPr/>
          <p:nvPr/>
        </p:nvSpPr>
        <p:spPr>
          <a:xfrm>
            <a:off x="5377464" y="435535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xfrm>
            <a:off x="5659276" y="462914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5760158" y="455165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Oval 507"/>
          <p:cNvSpPr/>
          <p:nvPr/>
        </p:nvSpPr>
        <p:spPr>
          <a:xfrm>
            <a:off x="5759652" y="465429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xfrm>
            <a:off x="5604831" y="454420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6173564" y="389354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Oval 510"/>
          <p:cNvSpPr/>
          <p:nvPr/>
        </p:nvSpPr>
        <p:spPr>
          <a:xfrm>
            <a:off x="5926550" y="463936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Oval 511"/>
          <p:cNvSpPr/>
          <p:nvPr/>
        </p:nvSpPr>
        <p:spPr>
          <a:xfrm>
            <a:off x="5915690" y="471018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5940541" y="469665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6187502" y="443469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Oval 514"/>
          <p:cNvSpPr/>
          <p:nvPr/>
        </p:nvSpPr>
        <p:spPr>
          <a:xfrm>
            <a:off x="5979141" y="456033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5920221" y="474267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xfrm>
            <a:off x="4779896" y="446265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Oval 517"/>
          <p:cNvSpPr/>
          <p:nvPr/>
        </p:nvSpPr>
        <p:spPr>
          <a:xfrm>
            <a:off x="5411925" y="440356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Oval 518"/>
          <p:cNvSpPr/>
          <p:nvPr/>
        </p:nvSpPr>
        <p:spPr>
          <a:xfrm>
            <a:off x="5661201" y="452259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Oval 519"/>
          <p:cNvSpPr/>
          <p:nvPr/>
        </p:nvSpPr>
        <p:spPr>
          <a:xfrm>
            <a:off x="5544807" y="452248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Oval 520"/>
          <p:cNvSpPr/>
          <p:nvPr/>
        </p:nvSpPr>
        <p:spPr>
          <a:xfrm>
            <a:off x="5814158" y="469746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Oval 521"/>
          <p:cNvSpPr/>
          <p:nvPr/>
        </p:nvSpPr>
        <p:spPr>
          <a:xfrm>
            <a:off x="5602528" y="437655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Oval 522"/>
          <p:cNvSpPr/>
          <p:nvPr/>
        </p:nvSpPr>
        <p:spPr>
          <a:xfrm>
            <a:off x="5808824" y="458072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Oval 523"/>
          <p:cNvSpPr/>
          <p:nvPr/>
        </p:nvSpPr>
        <p:spPr>
          <a:xfrm>
            <a:off x="5551689" y="466503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Oval 524"/>
          <p:cNvSpPr/>
          <p:nvPr/>
        </p:nvSpPr>
        <p:spPr>
          <a:xfrm>
            <a:off x="5759353" y="476767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Oval 525"/>
          <p:cNvSpPr/>
          <p:nvPr/>
        </p:nvSpPr>
        <p:spPr>
          <a:xfrm>
            <a:off x="7904053" y="441989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Oval 526"/>
          <p:cNvSpPr/>
          <p:nvPr/>
        </p:nvSpPr>
        <p:spPr>
          <a:xfrm>
            <a:off x="5812419" y="464374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Oval 527"/>
          <p:cNvSpPr/>
          <p:nvPr/>
        </p:nvSpPr>
        <p:spPr>
          <a:xfrm>
            <a:off x="5997697" y="4477083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Oval 528"/>
          <p:cNvSpPr/>
          <p:nvPr/>
        </p:nvSpPr>
        <p:spPr>
          <a:xfrm>
            <a:off x="5788703" y="461555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Oval 529"/>
          <p:cNvSpPr/>
          <p:nvPr/>
        </p:nvSpPr>
        <p:spPr>
          <a:xfrm>
            <a:off x="5961752" y="466921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Oval 530"/>
          <p:cNvSpPr/>
          <p:nvPr/>
        </p:nvSpPr>
        <p:spPr>
          <a:xfrm>
            <a:off x="6225144" y="456308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Oval 531"/>
          <p:cNvSpPr/>
          <p:nvPr/>
        </p:nvSpPr>
        <p:spPr>
          <a:xfrm>
            <a:off x="6159687" y="459091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Oval 532"/>
          <p:cNvSpPr/>
          <p:nvPr/>
        </p:nvSpPr>
        <p:spPr>
          <a:xfrm>
            <a:off x="5881673" y="478415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Oval 533"/>
          <p:cNvSpPr/>
          <p:nvPr/>
        </p:nvSpPr>
        <p:spPr>
          <a:xfrm>
            <a:off x="5607230" y="4707868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Oval 534"/>
          <p:cNvSpPr/>
          <p:nvPr/>
        </p:nvSpPr>
        <p:spPr>
          <a:xfrm>
            <a:off x="6052401" y="441955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Oval 535"/>
          <p:cNvSpPr/>
          <p:nvPr/>
        </p:nvSpPr>
        <p:spPr>
          <a:xfrm>
            <a:off x="4603399" y="438962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Oval 536"/>
          <p:cNvSpPr/>
          <p:nvPr/>
        </p:nvSpPr>
        <p:spPr>
          <a:xfrm>
            <a:off x="5964915" y="458086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Oval 537"/>
          <p:cNvSpPr/>
          <p:nvPr/>
        </p:nvSpPr>
        <p:spPr>
          <a:xfrm>
            <a:off x="5395082" y="435262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Oval 538"/>
          <p:cNvSpPr/>
          <p:nvPr/>
        </p:nvSpPr>
        <p:spPr>
          <a:xfrm>
            <a:off x="6257955" y="410221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Oval 539"/>
          <p:cNvSpPr/>
          <p:nvPr/>
        </p:nvSpPr>
        <p:spPr>
          <a:xfrm>
            <a:off x="5665011" y="457865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Oval 540"/>
          <p:cNvSpPr/>
          <p:nvPr/>
        </p:nvSpPr>
        <p:spPr>
          <a:xfrm>
            <a:off x="5786787" y="4752606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Oval 541"/>
          <p:cNvSpPr/>
          <p:nvPr/>
        </p:nvSpPr>
        <p:spPr>
          <a:xfrm>
            <a:off x="5738135" y="4737581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Oval 542"/>
          <p:cNvSpPr/>
          <p:nvPr/>
        </p:nvSpPr>
        <p:spPr>
          <a:xfrm>
            <a:off x="5878271" y="4778762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Oval 543"/>
          <p:cNvSpPr/>
          <p:nvPr/>
        </p:nvSpPr>
        <p:spPr>
          <a:xfrm>
            <a:off x="5790821" y="4649119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Oval 544"/>
          <p:cNvSpPr/>
          <p:nvPr/>
        </p:nvSpPr>
        <p:spPr>
          <a:xfrm>
            <a:off x="5576989" y="4540344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Oval 545"/>
          <p:cNvSpPr/>
          <p:nvPr/>
        </p:nvSpPr>
        <p:spPr>
          <a:xfrm>
            <a:off x="5818755" y="4755127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Oval 546"/>
          <p:cNvSpPr/>
          <p:nvPr/>
        </p:nvSpPr>
        <p:spPr>
          <a:xfrm>
            <a:off x="6003172" y="4390675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Oval 547"/>
          <p:cNvSpPr/>
          <p:nvPr/>
        </p:nvSpPr>
        <p:spPr>
          <a:xfrm>
            <a:off x="5552920" y="4549540"/>
            <a:ext cx="32000" cy="32000"/>
          </a:xfrm>
          <a:prstGeom prst="ellipse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Oval 548"/>
          <p:cNvSpPr/>
          <p:nvPr/>
        </p:nvSpPr>
        <p:spPr>
          <a:xfrm>
            <a:off x="3799142" y="2439433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Oval 549"/>
          <p:cNvSpPr/>
          <p:nvPr/>
        </p:nvSpPr>
        <p:spPr>
          <a:xfrm>
            <a:off x="6284417" y="2582033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Oval 550"/>
          <p:cNvSpPr/>
          <p:nvPr/>
        </p:nvSpPr>
        <p:spPr>
          <a:xfrm>
            <a:off x="5262613" y="2673858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Oval 551"/>
          <p:cNvSpPr/>
          <p:nvPr/>
        </p:nvSpPr>
        <p:spPr>
          <a:xfrm>
            <a:off x="6304353" y="2757932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Oval 552"/>
          <p:cNvSpPr/>
          <p:nvPr/>
        </p:nvSpPr>
        <p:spPr>
          <a:xfrm>
            <a:off x="3492426" y="2772175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Oval 553"/>
          <p:cNvSpPr/>
          <p:nvPr/>
        </p:nvSpPr>
        <p:spPr>
          <a:xfrm>
            <a:off x="6802820" y="2804773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Oval 554"/>
          <p:cNvSpPr/>
          <p:nvPr/>
        </p:nvSpPr>
        <p:spPr>
          <a:xfrm>
            <a:off x="4777559" y="2835774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Oval 555"/>
          <p:cNvSpPr/>
          <p:nvPr/>
        </p:nvSpPr>
        <p:spPr>
          <a:xfrm>
            <a:off x="6277687" y="2845676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Oval 556"/>
          <p:cNvSpPr/>
          <p:nvPr/>
        </p:nvSpPr>
        <p:spPr>
          <a:xfrm>
            <a:off x="6123233" y="2967870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Oval 557"/>
          <p:cNvSpPr/>
          <p:nvPr/>
        </p:nvSpPr>
        <p:spPr>
          <a:xfrm>
            <a:off x="4628841" y="2997871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Oval 558"/>
          <p:cNvSpPr/>
          <p:nvPr/>
        </p:nvSpPr>
        <p:spPr>
          <a:xfrm>
            <a:off x="8849177" y="3032707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Oval 559"/>
          <p:cNvSpPr/>
          <p:nvPr/>
        </p:nvSpPr>
        <p:spPr>
          <a:xfrm>
            <a:off x="2666687" y="3035717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Oval 560"/>
          <p:cNvSpPr/>
          <p:nvPr/>
        </p:nvSpPr>
        <p:spPr>
          <a:xfrm>
            <a:off x="7165844" y="3042799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Oval 561"/>
          <p:cNvSpPr/>
          <p:nvPr/>
        </p:nvSpPr>
        <p:spPr>
          <a:xfrm>
            <a:off x="7543002" y="3044239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Oval 562"/>
          <p:cNvSpPr/>
          <p:nvPr/>
        </p:nvSpPr>
        <p:spPr>
          <a:xfrm>
            <a:off x="4611881" y="3044581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6674378" y="3061280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Oval 564"/>
          <p:cNvSpPr/>
          <p:nvPr/>
        </p:nvSpPr>
        <p:spPr>
          <a:xfrm>
            <a:off x="6134766" y="3062113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Oval 565"/>
          <p:cNvSpPr/>
          <p:nvPr/>
        </p:nvSpPr>
        <p:spPr>
          <a:xfrm>
            <a:off x="6571298" y="3066766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Oval 566"/>
          <p:cNvSpPr/>
          <p:nvPr/>
        </p:nvSpPr>
        <p:spPr>
          <a:xfrm>
            <a:off x="5450938" y="3081713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Oval 567"/>
          <p:cNvSpPr/>
          <p:nvPr/>
        </p:nvSpPr>
        <p:spPr>
          <a:xfrm>
            <a:off x="6524747" y="3117333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Oval 568"/>
          <p:cNvSpPr/>
          <p:nvPr/>
        </p:nvSpPr>
        <p:spPr>
          <a:xfrm>
            <a:off x="6832991" y="3123607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Oval 569"/>
          <p:cNvSpPr/>
          <p:nvPr/>
        </p:nvSpPr>
        <p:spPr>
          <a:xfrm>
            <a:off x="6424069" y="3162829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Oval 570"/>
          <p:cNvSpPr/>
          <p:nvPr/>
        </p:nvSpPr>
        <p:spPr>
          <a:xfrm>
            <a:off x="7761536" y="3165715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Oval 571"/>
          <p:cNvSpPr/>
          <p:nvPr/>
        </p:nvSpPr>
        <p:spPr>
          <a:xfrm>
            <a:off x="7434164" y="3187449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4961081" y="3187585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Oval 573"/>
          <p:cNvSpPr/>
          <p:nvPr/>
        </p:nvSpPr>
        <p:spPr>
          <a:xfrm>
            <a:off x="5194655" y="3193636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Oval 574"/>
          <p:cNvSpPr/>
          <p:nvPr/>
        </p:nvSpPr>
        <p:spPr>
          <a:xfrm>
            <a:off x="6785310" y="3210757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5156692" y="3218374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Oval 576"/>
          <p:cNvSpPr/>
          <p:nvPr/>
        </p:nvSpPr>
        <p:spPr>
          <a:xfrm>
            <a:off x="4697838" y="3224160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Oval 577"/>
          <p:cNvSpPr/>
          <p:nvPr/>
        </p:nvSpPr>
        <p:spPr>
          <a:xfrm>
            <a:off x="4268736" y="3251916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4504987" y="3262002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Oval 579"/>
          <p:cNvSpPr/>
          <p:nvPr/>
        </p:nvSpPr>
        <p:spPr>
          <a:xfrm>
            <a:off x="7842135" y="3269863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Oval 580"/>
          <p:cNvSpPr/>
          <p:nvPr/>
        </p:nvSpPr>
        <p:spPr>
          <a:xfrm>
            <a:off x="6486708" y="3270745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5542015" y="3271960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Oval 582"/>
          <p:cNvSpPr/>
          <p:nvPr/>
        </p:nvSpPr>
        <p:spPr>
          <a:xfrm>
            <a:off x="3755522" y="3276266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6284703" y="3279005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7434526" y="3285250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5202671" y="3290586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4810745" y="3295245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4324169" y="3297960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6566812" y="3306660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6117302" y="3307071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5077502" y="3310565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4684260" y="3323689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4376052" y="3329039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4650274" y="3336981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5460413" y="3341817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4847695" y="3345907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4723935" y="3348337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9085072" y="3355507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6168995" y="3394730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6625548" y="3402013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9010738" y="3403130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4856989" y="3404265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3973677" y="3405749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5458448" y="3408365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5479000" y="3411641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6852689" y="3416769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4852134" y="3416874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6061975" y="3417840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6155299" y="3419844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5581633" y="3423677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6109958" y="3432956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6072650" y="3453265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7349589" y="3455026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7206246" y="3457244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7332710" y="3458969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Oval 615"/>
          <p:cNvSpPr/>
          <p:nvPr/>
        </p:nvSpPr>
        <p:spPr>
          <a:xfrm>
            <a:off x="5720152" y="3462178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Oval 616"/>
          <p:cNvSpPr/>
          <p:nvPr/>
        </p:nvSpPr>
        <p:spPr>
          <a:xfrm>
            <a:off x="7890210" y="3472318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6245086" y="3475487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2691796" y="3480440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Oval 619"/>
          <p:cNvSpPr/>
          <p:nvPr/>
        </p:nvSpPr>
        <p:spPr>
          <a:xfrm>
            <a:off x="4556545" y="3486018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6162282" y="3487996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6234189" y="3488681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6148086" y="3489576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5544715" y="3505259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5331916" y="3507312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4678272" y="3507580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6382320" y="3509606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2835944" y="3509778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5462272" y="3513346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6159517" y="3513719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6284044" y="3520891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4877729" y="3524042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6486336" y="3524345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6205122" y="3528014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5641284" y="3529564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6330859" y="3533192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6854077" y="3535680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4689119" y="3552800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6177311" y="3552869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4181933" y="3553584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4869746" y="3560084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5269262" y="3567383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4564800" y="3568094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7073328" y="3568449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6185066" y="3573503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5083867" y="3575437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Oval 646"/>
          <p:cNvSpPr/>
          <p:nvPr/>
        </p:nvSpPr>
        <p:spPr>
          <a:xfrm>
            <a:off x="7695767" y="3582201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Oval 647"/>
          <p:cNvSpPr/>
          <p:nvPr/>
        </p:nvSpPr>
        <p:spPr>
          <a:xfrm>
            <a:off x="8167022" y="3583851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Oval 648"/>
          <p:cNvSpPr/>
          <p:nvPr/>
        </p:nvSpPr>
        <p:spPr>
          <a:xfrm>
            <a:off x="6322074" y="3585007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Oval 649"/>
          <p:cNvSpPr/>
          <p:nvPr/>
        </p:nvSpPr>
        <p:spPr>
          <a:xfrm>
            <a:off x="6027078" y="3585796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Oval 650"/>
          <p:cNvSpPr/>
          <p:nvPr/>
        </p:nvSpPr>
        <p:spPr>
          <a:xfrm>
            <a:off x="6262347" y="3587103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Oval 651"/>
          <p:cNvSpPr/>
          <p:nvPr/>
        </p:nvSpPr>
        <p:spPr>
          <a:xfrm>
            <a:off x="5345196" y="3588075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Oval 652"/>
          <p:cNvSpPr/>
          <p:nvPr/>
        </p:nvSpPr>
        <p:spPr>
          <a:xfrm>
            <a:off x="5258689" y="3596391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Oval 653"/>
          <p:cNvSpPr/>
          <p:nvPr/>
        </p:nvSpPr>
        <p:spPr>
          <a:xfrm>
            <a:off x="4782386" y="3597520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Oval 654"/>
          <p:cNvSpPr/>
          <p:nvPr/>
        </p:nvSpPr>
        <p:spPr>
          <a:xfrm>
            <a:off x="3599139" y="3597523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Oval 655"/>
          <p:cNvSpPr/>
          <p:nvPr/>
        </p:nvSpPr>
        <p:spPr>
          <a:xfrm>
            <a:off x="6137485" y="3599776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Oval 656"/>
          <p:cNvSpPr/>
          <p:nvPr/>
        </p:nvSpPr>
        <p:spPr>
          <a:xfrm>
            <a:off x="6230723" y="3602087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Oval 657"/>
          <p:cNvSpPr/>
          <p:nvPr/>
        </p:nvSpPr>
        <p:spPr>
          <a:xfrm>
            <a:off x="5260050" y="3602183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Oval 658"/>
          <p:cNvSpPr/>
          <p:nvPr/>
        </p:nvSpPr>
        <p:spPr>
          <a:xfrm>
            <a:off x="5338841" y="3602235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Oval 659"/>
          <p:cNvSpPr/>
          <p:nvPr/>
        </p:nvSpPr>
        <p:spPr>
          <a:xfrm>
            <a:off x="4684412" y="3605651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Oval 660"/>
          <p:cNvSpPr/>
          <p:nvPr/>
        </p:nvSpPr>
        <p:spPr>
          <a:xfrm>
            <a:off x="4864852" y="3609275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Oval 661"/>
          <p:cNvSpPr/>
          <p:nvPr/>
        </p:nvSpPr>
        <p:spPr>
          <a:xfrm>
            <a:off x="7261998" y="3614884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Oval 662"/>
          <p:cNvSpPr/>
          <p:nvPr/>
        </p:nvSpPr>
        <p:spPr>
          <a:xfrm>
            <a:off x="3078235" y="3617658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Oval 663"/>
          <p:cNvSpPr/>
          <p:nvPr/>
        </p:nvSpPr>
        <p:spPr>
          <a:xfrm>
            <a:off x="5197654" y="3618810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Oval 664"/>
          <p:cNvSpPr/>
          <p:nvPr/>
        </p:nvSpPr>
        <p:spPr>
          <a:xfrm>
            <a:off x="6225519" y="3620769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Oval 665"/>
          <p:cNvSpPr/>
          <p:nvPr/>
        </p:nvSpPr>
        <p:spPr>
          <a:xfrm>
            <a:off x="5601098" y="3623049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Oval 666"/>
          <p:cNvSpPr/>
          <p:nvPr/>
        </p:nvSpPr>
        <p:spPr>
          <a:xfrm>
            <a:off x="3812813" y="3624612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Oval 667"/>
          <p:cNvSpPr/>
          <p:nvPr/>
        </p:nvSpPr>
        <p:spPr>
          <a:xfrm>
            <a:off x="8048882" y="3625203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Oval 668"/>
          <p:cNvSpPr/>
          <p:nvPr/>
        </p:nvSpPr>
        <p:spPr>
          <a:xfrm>
            <a:off x="6189649" y="3628797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Oval 669"/>
          <p:cNvSpPr/>
          <p:nvPr/>
        </p:nvSpPr>
        <p:spPr>
          <a:xfrm>
            <a:off x="5147174" y="3630046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Oval 670"/>
          <p:cNvSpPr/>
          <p:nvPr/>
        </p:nvSpPr>
        <p:spPr>
          <a:xfrm>
            <a:off x="5515161" y="3631280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Oval 671"/>
          <p:cNvSpPr/>
          <p:nvPr/>
        </p:nvSpPr>
        <p:spPr>
          <a:xfrm>
            <a:off x="6515090" y="3632506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Oval 672"/>
          <p:cNvSpPr/>
          <p:nvPr/>
        </p:nvSpPr>
        <p:spPr>
          <a:xfrm>
            <a:off x="6046011" y="3632661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Oval 673"/>
          <p:cNvSpPr/>
          <p:nvPr/>
        </p:nvSpPr>
        <p:spPr>
          <a:xfrm>
            <a:off x="7988530" y="3634395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Oval 674"/>
          <p:cNvSpPr/>
          <p:nvPr/>
        </p:nvSpPr>
        <p:spPr>
          <a:xfrm>
            <a:off x="8506105" y="3637221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Oval 675"/>
          <p:cNvSpPr/>
          <p:nvPr/>
        </p:nvSpPr>
        <p:spPr>
          <a:xfrm>
            <a:off x="3313935" y="3639545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Oval 676"/>
          <p:cNvSpPr/>
          <p:nvPr/>
        </p:nvSpPr>
        <p:spPr>
          <a:xfrm>
            <a:off x="6030734" y="3641619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Oval 677"/>
          <p:cNvSpPr/>
          <p:nvPr/>
        </p:nvSpPr>
        <p:spPr>
          <a:xfrm>
            <a:off x="7036722" y="3642753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Oval 678"/>
          <p:cNvSpPr/>
          <p:nvPr/>
        </p:nvSpPr>
        <p:spPr>
          <a:xfrm>
            <a:off x="6180617" y="3644791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Oval 679"/>
          <p:cNvSpPr/>
          <p:nvPr/>
        </p:nvSpPr>
        <p:spPr>
          <a:xfrm>
            <a:off x="4924853" y="3644972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Oval 680"/>
          <p:cNvSpPr/>
          <p:nvPr/>
        </p:nvSpPr>
        <p:spPr>
          <a:xfrm>
            <a:off x="7646570" y="3646446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Oval 681"/>
          <p:cNvSpPr/>
          <p:nvPr/>
        </p:nvSpPr>
        <p:spPr>
          <a:xfrm>
            <a:off x="7051288" y="3647287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Oval 682"/>
          <p:cNvSpPr/>
          <p:nvPr/>
        </p:nvSpPr>
        <p:spPr>
          <a:xfrm>
            <a:off x="7246685" y="3650774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Oval 683"/>
          <p:cNvSpPr/>
          <p:nvPr/>
        </p:nvSpPr>
        <p:spPr>
          <a:xfrm>
            <a:off x="9085072" y="3653796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Oval 684"/>
          <p:cNvSpPr/>
          <p:nvPr/>
        </p:nvSpPr>
        <p:spPr>
          <a:xfrm>
            <a:off x="4383662" y="3653844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Oval 685"/>
          <p:cNvSpPr/>
          <p:nvPr/>
        </p:nvSpPr>
        <p:spPr>
          <a:xfrm>
            <a:off x="5580118" y="3654668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Oval 686"/>
          <p:cNvSpPr/>
          <p:nvPr/>
        </p:nvSpPr>
        <p:spPr>
          <a:xfrm>
            <a:off x="9085072" y="3656085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Oval 687"/>
          <p:cNvSpPr/>
          <p:nvPr/>
        </p:nvSpPr>
        <p:spPr>
          <a:xfrm>
            <a:off x="5040985" y="3656194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Oval 688"/>
          <p:cNvSpPr/>
          <p:nvPr/>
        </p:nvSpPr>
        <p:spPr>
          <a:xfrm>
            <a:off x="5323741" y="3657281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Oval 689"/>
          <p:cNvSpPr/>
          <p:nvPr/>
        </p:nvSpPr>
        <p:spPr>
          <a:xfrm>
            <a:off x="6373816" y="3658037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Oval 690"/>
          <p:cNvSpPr/>
          <p:nvPr/>
        </p:nvSpPr>
        <p:spPr>
          <a:xfrm>
            <a:off x="5302487" y="3658435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Oval 691"/>
          <p:cNvSpPr/>
          <p:nvPr/>
        </p:nvSpPr>
        <p:spPr>
          <a:xfrm>
            <a:off x="6088824" y="3660625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Oval 692"/>
          <p:cNvSpPr/>
          <p:nvPr/>
        </p:nvSpPr>
        <p:spPr>
          <a:xfrm>
            <a:off x="6343194" y="3661408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Oval 693"/>
          <p:cNvSpPr/>
          <p:nvPr/>
        </p:nvSpPr>
        <p:spPr>
          <a:xfrm>
            <a:off x="5256708" y="3662255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Oval 694"/>
          <p:cNvSpPr/>
          <p:nvPr/>
        </p:nvSpPr>
        <p:spPr>
          <a:xfrm>
            <a:off x="7756711" y="3663747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Oval 695"/>
          <p:cNvSpPr/>
          <p:nvPr/>
        </p:nvSpPr>
        <p:spPr>
          <a:xfrm>
            <a:off x="6368739" y="3664657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Oval 696"/>
          <p:cNvSpPr/>
          <p:nvPr/>
        </p:nvSpPr>
        <p:spPr>
          <a:xfrm>
            <a:off x="4567952" y="3665470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Oval 697"/>
          <p:cNvSpPr/>
          <p:nvPr/>
        </p:nvSpPr>
        <p:spPr>
          <a:xfrm>
            <a:off x="5111430" y="3665562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Oval 698"/>
          <p:cNvSpPr/>
          <p:nvPr/>
        </p:nvSpPr>
        <p:spPr>
          <a:xfrm>
            <a:off x="5588666" y="3666500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Oval 699"/>
          <p:cNvSpPr/>
          <p:nvPr/>
        </p:nvSpPr>
        <p:spPr>
          <a:xfrm>
            <a:off x="6440589" y="3666690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Oval 700"/>
          <p:cNvSpPr/>
          <p:nvPr/>
        </p:nvSpPr>
        <p:spPr>
          <a:xfrm>
            <a:off x="5111003" y="3666824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Oval 701"/>
          <p:cNvSpPr/>
          <p:nvPr/>
        </p:nvSpPr>
        <p:spPr>
          <a:xfrm>
            <a:off x="6805086" y="3668231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Oval 702"/>
          <p:cNvSpPr/>
          <p:nvPr/>
        </p:nvSpPr>
        <p:spPr>
          <a:xfrm>
            <a:off x="3686652" y="3671354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Oval 703"/>
          <p:cNvSpPr/>
          <p:nvPr/>
        </p:nvSpPr>
        <p:spPr>
          <a:xfrm>
            <a:off x="7484670" y="3673361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704"/>
          <p:cNvSpPr/>
          <p:nvPr/>
        </p:nvSpPr>
        <p:spPr>
          <a:xfrm>
            <a:off x="6129163" y="3674775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Oval 705"/>
          <p:cNvSpPr/>
          <p:nvPr/>
        </p:nvSpPr>
        <p:spPr>
          <a:xfrm>
            <a:off x="2887851" y="3675507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Oval 706"/>
          <p:cNvSpPr/>
          <p:nvPr/>
        </p:nvSpPr>
        <p:spPr>
          <a:xfrm>
            <a:off x="5119178" y="3676624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Oval 707"/>
          <p:cNvSpPr/>
          <p:nvPr/>
        </p:nvSpPr>
        <p:spPr>
          <a:xfrm>
            <a:off x="6314402" y="3678151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Oval 708"/>
          <p:cNvSpPr/>
          <p:nvPr/>
        </p:nvSpPr>
        <p:spPr>
          <a:xfrm>
            <a:off x="8654414" y="3678706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Oval 709"/>
          <p:cNvSpPr/>
          <p:nvPr/>
        </p:nvSpPr>
        <p:spPr>
          <a:xfrm>
            <a:off x="7026158" y="3678945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Oval 710"/>
          <p:cNvSpPr/>
          <p:nvPr/>
        </p:nvSpPr>
        <p:spPr>
          <a:xfrm>
            <a:off x="4496699" y="3679244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Oval 711"/>
          <p:cNvSpPr/>
          <p:nvPr/>
        </p:nvSpPr>
        <p:spPr>
          <a:xfrm>
            <a:off x="9085072" y="3679918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Oval 712"/>
          <p:cNvSpPr/>
          <p:nvPr/>
        </p:nvSpPr>
        <p:spPr>
          <a:xfrm>
            <a:off x="6103789" y="3683894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Oval 713"/>
          <p:cNvSpPr/>
          <p:nvPr/>
        </p:nvSpPr>
        <p:spPr>
          <a:xfrm>
            <a:off x="6521016" y="3683906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Oval 714"/>
          <p:cNvSpPr/>
          <p:nvPr/>
        </p:nvSpPr>
        <p:spPr>
          <a:xfrm>
            <a:off x="5648843" y="3683990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Oval 715"/>
          <p:cNvSpPr/>
          <p:nvPr/>
        </p:nvSpPr>
        <p:spPr>
          <a:xfrm>
            <a:off x="7544094" y="3683992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Oval 716"/>
          <p:cNvSpPr/>
          <p:nvPr/>
        </p:nvSpPr>
        <p:spPr>
          <a:xfrm>
            <a:off x="8223128" y="3684797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Oval 717"/>
          <p:cNvSpPr/>
          <p:nvPr/>
        </p:nvSpPr>
        <p:spPr>
          <a:xfrm>
            <a:off x="7037645" y="3685334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Oval 718"/>
          <p:cNvSpPr/>
          <p:nvPr/>
        </p:nvSpPr>
        <p:spPr>
          <a:xfrm>
            <a:off x="6420788" y="3686854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Oval 719"/>
          <p:cNvSpPr/>
          <p:nvPr/>
        </p:nvSpPr>
        <p:spPr>
          <a:xfrm>
            <a:off x="6049407" y="3687481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Oval 720"/>
          <p:cNvSpPr/>
          <p:nvPr/>
        </p:nvSpPr>
        <p:spPr>
          <a:xfrm>
            <a:off x="4759629" y="3692985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Oval 721"/>
          <p:cNvSpPr/>
          <p:nvPr/>
        </p:nvSpPr>
        <p:spPr>
          <a:xfrm>
            <a:off x="4420702" y="3694308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Oval 722"/>
          <p:cNvSpPr/>
          <p:nvPr/>
        </p:nvSpPr>
        <p:spPr>
          <a:xfrm>
            <a:off x="6192975" y="3694757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Oval 723"/>
          <p:cNvSpPr/>
          <p:nvPr/>
        </p:nvSpPr>
        <p:spPr>
          <a:xfrm>
            <a:off x="5294736" y="3699388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Oval 724"/>
          <p:cNvSpPr/>
          <p:nvPr/>
        </p:nvSpPr>
        <p:spPr>
          <a:xfrm>
            <a:off x="4793325" y="3700388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Oval 725"/>
          <p:cNvSpPr/>
          <p:nvPr/>
        </p:nvSpPr>
        <p:spPr>
          <a:xfrm>
            <a:off x="3272965" y="3700998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Oval 726"/>
          <p:cNvSpPr/>
          <p:nvPr/>
        </p:nvSpPr>
        <p:spPr>
          <a:xfrm>
            <a:off x="5598578" y="3704333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Oval 727"/>
          <p:cNvSpPr/>
          <p:nvPr/>
        </p:nvSpPr>
        <p:spPr>
          <a:xfrm>
            <a:off x="4998808" y="3704725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Oval 728"/>
          <p:cNvSpPr/>
          <p:nvPr/>
        </p:nvSpPr>
        <p:spPr>
          <a:xfrm>
            <a:off x="4377891" y="3706291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Oval 729"/>
          <p:cNvSpPr/>
          <p:nvPr/>
        </p:nvSpPr>
        <p:spPr>
          <a:xfrm>
            <a:off x="5559746" y="3706688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Oval 730"/>
          <p:cNvSpPr/>
          <p:nvPr/>
        </p:nvSpPr>
        <p:spPr>
          <a:xfrm>
            <a:off x="4827893" y="3706933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Oval 731"/>
          <p:cNvSpPr/>
          <p:nvPr/>
        </p:nvSpPr>
        <p:spPr>
          <a:xfrm>
            <a:off x="6561980" y="3709969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Oval 732"/>
          <p:cNvSpPr/>
          <p:nvPr/>
        </p:nvSpPr>
        <p:spPr>
          <a:xfrm>
            <a:off x="3798620" y="3710351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Oval 733"/>
          <p:cNvSpPr/>
          <p:nvPr/>
        </p:nvSpPr>
        <p:spPr>
          <a:xfrm>
            <a:off x="6164796" y="3711370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Oval 734"/>
          <p:cNvSpPr/>
          <p:nvPr/>
        </p:nvSpPr>
        <p:spPr>
          <a:xfrm>
            <a:off x="6210054" y="3715303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Oval 735"/>
          <p:cNvSpPr/>
          <p:nvPr/>
        </p:nvSpPr>
        <p:spPr>
          <a:xfrm>
            <a:off x="5233651" y="3715705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Oval 736"/>
          <p:cNvSpPr/>
          <p:nvPr/>
        </p:nvSpPr>
        <p:spPr>
          <a:xfrm>
            <a:off x="5458347" y="3717050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Oval 737"/>
          <p:cNvSpPr/>
          <p:nvPr/>
        </p:nvSpPr>
        <p:spPr>
          <a:xfrm>
            <a:off x="6604666" y="3719843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Oval 738"/>
          <p:cNvSpPr/>
          <p:nvPr/>
        </p:nvSpPr>
        <p:spPr>
          <a:xfrm>
            <a:off x="5583496" y="3721447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Oval 739"/>
          <p:cNvSpPr/>
          <p:nvPr/>
        </p:nvSpPr>
        <p:spPr>
          <a:xfrm>
            <a:off x="6198240" y="3723111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Oval 740"/>
          <p:cNvSpPr/>
          <p:nvPr/>
        </p:nvSpPr>
        <p:spPr>
          <a:xfrm>
            <a:off x="5573270" y="3726115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Oval 741"/>
          <p:cNvSpPr/>
          <p:nvPr/>
        </p:nvSpPr>
        <p:spPr>
          <a:xfrm>
            <a:off x="5542704" y="3728519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Oval 742"/>
          <p:cNvSpPr/>
          <p:nvPr/>
        </p:nvSpPr>
        <p:spPr>
          <a:xfrm>
            <a:off x="5470654" y="3729977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Oval 743"/>
          <p:cNvSpPr/>
          <p:nvPr/>
        </p:nvSpPr>
        <p:spPr>
          <a:xfrm>
            <a:off x="8001265" y="3730916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Oval 744"/>
          <p:cNvSpPr/>
          <p:nvPr/>
        </p:nvSpPr>
        <p:spPr>
          <a:xfrm>
            <a:off x="6966999" y="3732233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Oval 745"/>
          <p:cNvSpPr/>
          <p:nvPr/>
        </p:nvSpPr>
        <p:spPr>
          <a:xfrm>
            <a:off x="5098897" y="3734767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Oval 746"/>
          <p:cNvSpPr/>
          <p:nvPr/>
        </p:nvSpPr>
        <p:spPr>
          <a:xfrm>
            <a:off x="6688079" y="3734827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Oval 747"/>
          <p:cNvSpPr/>
          <p:nvPr/>
        </p:nvSpPr>
        <p:spPr>
          <a:xfrm>
            <a:off x="9085072" y="3736122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Oval 748"/>
          <p:cNvSpPr/>
          <p:nvPr/>
        </p:nvSpPr>
        <p:spPr>
          <a:xfrm>
            <a:off x="6284211" y="3737378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Oval 749"/>
          <p:cNvSpPr/>
          <p:nvPr/>
        </p:nvSpPr>
        <p:spPr>
          <a:xfrm>
            <a:off x="4964112" y="3738856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Oval 750"/>
          <p:cNvSpPr/>
          <p:nvPr/>
        </p:nvSpPr>
        <p:spPr>
          <a:xfrm>
            <a:off x="6574930" y="3740381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Oval 751"/>
          <p:cNvSpPr/>
          <p:nvPr/>
        </p:nvSpPr>
        <p:spPr>
          <a:xfrm>
            <a:off x="5252708" y="3740610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Oval 752"/>
          <p:cNvSpPr/>
          <p:nvPr/>
        </p:nvSpPr>
        <p:spPr>
          <a:xfrm>
            <a:off x="7206513" y="3742625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Oval 753"/>
          <p:cNvSpPr/>
          <p:nvPr/>
        </p:nvSpPr>
        <p:spPr>
          <a:xfrm>
            <a:off x="5400006" y="3745111"/>
            <a:ext cx="44000" cy="44000"/>
          </a:xfrm>
          <a:prstGeom prst="ellipse">
            <a:avLst/>
          </a:prstGeom>
          <a:solidFill>
            <a:srgbClr val="6C757D"/>
          </a:solidFill>
          <a:ln w="4445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Oval 754"/>
          <p:cNvSpPr/>
          <p:nvPr/>
        </p:nvSpPr>
        <p:spPr>
          <a:xfrm>
            <a:off x="4887573" y="3026699"/>
            <a:ext cx="64000" cy="64000"/>
          </a:xfrm>
          <a:prstGeom prst="ellipse">
            <a:avLst/>
          </a:prstGeom>
          <a:solidFill>
            <a:srgbClr val="A24E78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Oval 755"/>
          <p:cNvSpPr/>
          <p:nvPr/>
        </p:nvSpPr>
        <p:spPr>
          <a:xfrm>
            <a:off x="3976979" y="3341159"/>
            <a:ext cx="64000" cy="64000"/>
          </a:xfrm>
          <a:prstGeom prst="ellipse">
            <a:avLst/>
          </a:prstGeom>
          <a:solidFill>
            <a:srgbClr val="118AB2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Oval 756"/>
          <p:cNvSpPr/>
          <p:nvPr/>
        </p:nvSpPr>
        <p:spPr>
          <a:xfrm>
            <a:off x="5538631" y="3346745"/>
            <a:ext cx="64000" cy="64000"/>
          </a:xfrm>
          <a:prstGeom prst="ellipse">
            <a:avLst/>
          </a:prstGeom>
          <a:solidFill>
            <a:srgbClr val="A24E78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Oval 757"/>
          <p:cNvSpPr/>
          <p:nvPr/>
        </p:nvSpPr>
        <p:spPr>
          <a:xfrm>
            <a:off x="4106092" y="3389467"/>
            <a:ext cx="64000" cy="64000"/>
          </a:xfrm>
          <a:prstGeom prst="ellipse">
            <a:avLst/>
          </a:prstGeom>
          <a:solidFill>
            <a:srgbClr val="5A8261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Oval 758"/>
          <p:cNvSpPr/>
          <p:nvPr/>
        </p:nvSpPr>
        <p:spPr>
          <a:xfrm>
            <a:off x="4666963" y="3416896"/>
            <a:ext cx="64000" cy="64000"/>
          </a:xfrm>
          <a:prstGeom prst="ellipse">
            <a:avLst/>
          </a:prstGeom>
          <a:solidFill>
            <a:srgbClr val="118AB2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Oval 759"/>
          <p:cNvSpPr/>
          <p:nvPr/>
        </p:nvSpPr>
        <p:spPr>
          <a:xfrm>
            <a:off x="7263028" y="3440908"/>
            <a:ext cx="64000" cy="64000"/>
          </a:xfrm>
          <a:prstGeom prst="ellipse">
            <a:avLst/>
          </a:prstGeom>
          <a:solidFill>
            <a:srgbClr val="5A8261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Oval 760"/>
          <p:cNvSpPr/>
          <p:nvPr/>
        </p:nvSpPr>
        <p:spPr>
          <a:xfrm>
            <a:off x="4769421" y="3452166"/>
            <a:ext cx="64000" cy="64000"/>
          </a:xfrm>
          <a:prstGeom prst="ellipse">
            <a:avLst/>
          </a:prstGeom>
          <a:solidFill>
            <a:srgbClr val="5A8261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Oval 761"/>
          <p:cNvSpPr/>
          <p:nvPr/>
        </p:nvSpPr>
        <p:spPr>
          <a:xfrm>
            <a:off x="4814813" y="3477559"/>
            <a:ext cx="64000" cy="64000"/>
          </a:xfrm>
          <a:prstGeom prst="ellipse">
            <a:avLst/>
          </a:prstGeom>
          <a:solidFill>
            <a:srgbClr val="5A8261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Oval 762"/>
          <p:cNvSpPr/>
          <p:nvPr/>
        </p:nvSpPr>
        <p:spPr>
          <a:xfrm>
            <a:off x="5260442" y="3544729"/>
            <a:ext cx="64000" cy="64000"/>
          </a:xfrm>
          <a:prstGeom prst="ellipse">
            <a:avLst/>
          </a:prstGeom>
          <a:solidFill>
            <a:srgbClr val="118AB2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Oval 763"/>
          <p:cNvSpPr/>
          <p:nvPr/>
        </p:nvSpPr>
        <p:spPr>
          <a:xfrm>
            <a:off x="5379415" y="3546112"/>
            <a:ext cx="64000" cy="64000"/>
          </a:xfrm>
          <a:prstGeom prst="ellipse">
            <a:avLst/>
          </a:prstGeom>
          <a:solidFill>
            <a:srgbClr val="A24E78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Oval 764"/>
          <p:cNvSpPr/>
          <p:nvPr/>
        </p:nvSpPr>
        <p:spPr>
          <a:xfrm>
            <a:off x="4928263" y="3591516"/>
            <a:ext cx="64000" cy="64000"/>
          </a:xfrm>
          <a:prstGeom prst="ellipse">
            <a:avLst/>
          </a:prstGeom>
          <a:solidFill>
            <a:srgbClr val="118AB2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4644196" y="3633621"/>
            <a:ext cx="64000" cy="64000"/>
          </a:xfrm>
          <a:prstGeom prst="ellipse">
            <a:avLst/>
          </a:prstGeom>
          <a:solidFill>
            <a:srgbClr val="5A8261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Oval 766"/>
          <p:cNvSpPr/>
          <p:nvPr/>
        </p:nvSpPr>
        <p:spPr>
          <a:xfrm>
            <a:off x="5075685" y="3650806"/>
            <a:ext cx="64000" cy="64000"/>
          </a:xfrm>
          <a:prstGeom prst="ellipse">
            <a:avLst/>
          </a:prstGeom>
          <a:solidFill>
            <a:srgbClr val="118AB2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Oval 767"/>
          <p:cNvSpPr/>
          <p:nvPr/>
        </p:nvSpPr>
        <p:spPr>
          <a:xfrm>
            <a:off x="6344033" y="3658867"/>
            <a:ext cx="64000" cy="64000"/>
          </a:xfrm>
          <a:prstGeom prst="ellipse">
            <a:avLst/>
          </a:prstGeom>
          <a:solidFill>
            <a:srgbClr val="E39A1E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6065727" y="3659436"/>
            <a:ext cx="64000" cy="64000"/>
          </a:xfrm>
          <a:prstGeom prst="ellipse">
            <a:avLst/>
          </a:prstGeom>
          <a:solidFill>
            <a:srgbClr val="A24E78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Oval 769"/>
          <p:cNvSpPr/>
          <p:nvPr/>
        </p:nvSpPr>
        <p:spPr>
          <a:xfrm>
            <a:off x="5085020" y="3667173"/>
            <a:ext cx="64000" cy="64000"/>
          </a:xfrm>
          <a:prstGeom prst="ellipse">
            <a:avLst/>
          </a:prstGeom>
          <a:solidFill>
            <a:srgbClr val="118AB2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Oval 770"/>
          <p:cNvSpPr/>
          <p:nvPr/>
        </p:nvSpPr>
        <p:spPr>
          <a:xfrm>
            <a:off x="3918079" y="3680733"/>
            <a:ext cx="64000" cy="64000"/>
          </a:xfrm>
          <a:prstGeom prst="ellipse">
            <a:avLst/>
          </a:prstGeom>
          <a:solidFill>
            <a:srgbClr val="A24E78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6242599" y="3701914"/>
            <a:ext cx="64000" cy="64000"/>
          </a:xfrm>
          <a:prstGeom prst="ellipse">
            <a:avLst/>
          </a:prstGeom>
          <a:solidFill>
            <a:srgbClr val="118AB2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Oval 772"/>
          <p:cNvSpPr/>
          <p:nvPr/>
        </p:nvSpPr>
        <p:spPr>
          <a:xfrm>
            <a:off x="5217013" y="3709444"/>
            <a:ext cx="64000" cy="64000"/>
          </a:xfrm>
          <a:prstGeom prst="ellipse">
            <a:avLst/>
          </a:prstGeom>
          <a:solidFill>
            <a:srgbClr val="118AB2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Oval 773"/>
          <p:cNvSpPr/>
          <p:nvPr/>
        </p:nvSpPr>
        <p:spPr>
          <a:xfrm>
            <a:off x="6108168" y="3719226"/>
            <a:ext cx="64000" cy="64000"/>
          </a:xfrm>
          <a:prstGeom prst="ellipse">
            <a:avLst/>
          </a:prstGeom>
          <a:solidFill>
            <a:srgbClr val="5A8261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6149086" y="3720877"/>
            <a:ext cx="64000" cy="64000"/>
          </a:xfrm>
          <a:prstGeom prst="ellipse">
            <a:avLst/>
          </a:prstGeom>
          <a:solidFill>
            <a:srgbClr val="A24E78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Oval 775"/>
          <p:cNvSpPr/>
          <p:nvPr/>
        </p:nvSpPr>
        <p:spPr>
          <a:xfrm>
            <a:off x="5563729" y="3728174"/>
            <a:ext cx="64000" cy="64000"/>
          </a:xfrm>
          <a:prstGeom prst="ellipse">
            <a:avLst/>
          </a:prstGeom>
          <a:solidFill>
            <a:srgbClr val="A24E78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TextBox 776"/>
          <p:cNvSpPr txBox="1"/>
          <p:nvPr/>
        </p:nvSpPr>
        <p:spPr>
          <a:xfrm>
            <a:off x="91440" y="695212"/>
            <a:ext cx="960120" cy="1554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A24E78"/>
                </a:solidFill>
                <a:latin typeface="Arial"/>
              </a:rPr>
              <a:t>GPX3</a:t>
            </a:r>
          </a:p>
        </p:txBody>
      </p:sp>
      <p:cxnSp>
        <p:nvCxnSpPr>
          <p:cNvPr id="778" name="Connector 777"/>
          <p:cNvCxnSpPr/>
          <p:nvPr/>
        </p:nvCxnSpPr>
        <p:spPr>
          <a:xfrm flipH="1" flipV="1">
            <a:off x="1051560" y="772936"/>
            <a:ext cx="3868013" cy="2285763"/>
          </a:xfrm>
          <a:prstGeom prst="line">
            <a:avLst/>
          </a:prstGeom>
          <a:ln w="6985">
            <a:solidFill>
              <a:srgbClr val="A24E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9" name="TextBox 778"/>
          <p:cNvSpPr txBox="1"/>
          <p:nvPr/>
        </p:nvSpPr>
        <p:spPr>
          <a:xfrm>
            <a:off x="91440" y="887989"/>
            <a:ext cx="960120" cy="1554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118AB2"/>
                </a:solidFill>
                <a:latin typeface="Arial"/>
              </a:rPr>
              <a:t>REG1A</a:t>
            </a:r>
          </a:p>
        </p:txBody>
      </p:sp>
      <p:cxnSp>
        <p:nvCxnSpPr>
          <p:cNvPr id="780" name="Connector 779"/>
          <p:cNvCxnSpPr/>
          <p:nvPr/>
        </p:nvCxnSpPr>
        <p:spPr>
          <a:xfrm flipH="1" flipV="1">
            <a:off x="1051560" y="965713"/>
            <a:ext cx="2957419" cy="2407446"/>
          </a:xfrm>
          <a:prstGeom prst="line">
            <a:avLst/>
          </a:prstGeom>
          <a:ln w="6985">
            <a:solidFill>
              <a:srgbClr val="118A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1" name="TextBox 780"/>
          <p:cNvSpPr txBox="1"/>
          <p:nvPr/>
        </p:nvSpPr>
        <p:spPr>
          <a:xfrm>
            <a:off x="91440" y="1080767"/>
            <a:ext cx="960120" cy="1554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A24E78"/>
                </a:solidFill>
                <a:latin typeface="Arial"/>
              </a:rPr>
              <a:t>MRPL40</a:t>
            </a:r>
          </a:p>
        </p:txBody>
      </p:sp>
      <p:cxnSp>
        <p:nvCxnSpPr>
          <p:cNvPr id="782" name="Connector 781"/>
          <p:cNvCxnSpPr/>
          <p:nvPr/>
        </p:nvCxnSpPr>
        <p:spPr>
          <a:xfrm flipH="1" flipV="1">
            <a:off x="1051560" y="1158491"/>
            <a:ext cx="4519071" cy="2220254"/>
          </a:xfrm>
          <a:prstGeom prst="line">
            <a:avLst/>
          </a:prstGeom>
          <a:ln w="6985">
            <a:solidFill>
              <a:srgbClr val="A24E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3" name="TextBox 782"/>
          <p:cNvSpPr txBox="1"/>
          <p:nvPr/>
        </p:nvSpPr>
        <p:spPr>
          <a:xfrm>
            <a:off x="91440" y="1273544"/>
            <a:ext cx="960120" cy="1554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5A8261"/>
                </a:solidFill>
                <a:latin typeface="Arial"/>
              </a:rPr>
              <a:t>CNTN1</a:t>
            </a:r>
          </a:p>
        </p:txBody>
      </p:sp>
      <p:cxnSp>
        <p:nvCxnSpPr>
          <p:cNvPr id="784" name="Connector 783"/>
          <p:cNvCxnSpPr/>
          <p:nvPr/>
        </p:nvCxnSpPr>
        <p:spPr>
          <a:xfrm flipH="1" flipV="1">
            <a:off x="1051560" y="1351268"/>
            <a:ext cx="3086532" cy="2070199"/>
          </a:xfrm>
          <a:prstGeom prst="line">
            <a:avLst/>
          </a:prstGeom>
          <a:ln w="6985">
            <a:solidFill>
              <a:srgbClr val="5A82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5" name="TextBox 784"/>
          <p:cNvSpPr txBox="1"/>
          <p:nvPr/>
        </p:nvSpPr>
        <p:spPr>
          <a:xfrm>
            <a:off x="91440" y="1466321"/>
            <a:ext cx="960120" cy="1554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118AB2"/>
                </a:solidFill>
                <a:latin typeface="Arial"/>
              </a:rPr>
              <a:t>CCL11</a:t>
            </a:r>
          </a:p>
        </p:txBody>
      </p:sp>
      <p:cxnSp>
        <p:nvCxnSpPr>
          <p:cNvPr id="786" name="Connector 785"/>
          <p:cNvCxnSpPr/>
          <p:nvPr/>
        </p:nvCxnSpPr>
        <p:spPr>
          <a:xfrm flipH="1" flipV="1">
            <a:off x="1051560" y="1544045"/>
            <a:ext cx="3647403" cy="1904851"/>
          </a:xfrm>
          <a:prstGeom prst="line">
            <a:avLst/>
          </a:prstGeom>
          <a:ln w="6985">
            <a:solidFill>
              <a:srgbClr val="118A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7" name="TextBox 786"/>
          <p:cNvSpPr txBox="1"/>
          <p:nvPr/>
        </p:nvSpPr>
        <p:spPr>
          <a:xfrm>
            <a:off x="91440" y="1659098"/>
            <a:ext cx="960120" cy="1554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5A8261"/>
                </a:solidFill>
                <a:latin typeface="Arial"/>
              </a:rPr>
              <a:t>CACNA1H</a:t>
            </a:r>
          </a:p>
        </p:txBody>
      </p:sp>
      <p:cxnSp>
        <p:nvCxnSpPr>
          <p:cNvPr id="788" name="Connector 787"/>
          <p:cNvCxnSpPr/>
          <p:nvPr/>
        </p:nvCxnSpPr>
        <p:spPr>
          <a:xfrm flipH="1" flipV="1">
            <a:off x="1051560" y="1736822"/>
            <a:ext cx="3749861" cy="1747344"/>
          </a:xfrm>
          <a:prstGeom prst="line">
            <a:avLst/>
          </a:prstGeom>
          <a:ln w="6985">
            <a:solidFill>
              <a:srgbClr val="5A82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9" name="TextBox 788"/>
          <p:cNvSpPr txBox="1"/>
          <p:nvPr/>
        </p:nvSpPr>
        <p:spPr>
          <a:xfrm>
            <a:off x="91440" y="1851875"/>
            <a:ext cx="960120" cy="1554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5A8261"/>
                </a:solidFill>
                <a:latin typeface="Arial"/>
              </a:rPr>
              <a:t>SLIT3</a:t>
            </a:r>
          </a:p>
        </p:txBody>
      </p:sp>
      <p:cxnSp>
        <p:nvCxnSpPr>
          <p:cNvPr id="790" name="Connector 789"/>
          <p:cNvCxnSpPr/>
          <p:nvPr/>
        </p:nvCxnSpPr>
        <p:spPr>
          <a:xfrm flipH="1" flipV="1">
            <a:off x="1051560" y="1929599"/>
            <a:ext cx="3795253" cy="1579960"/>
          </a:xfrm>
          <a:prstGeom prst="line">
            <a:avLst/>
          </a:prstGeom>
          <a:ln w="6985">
            <a:solidFill>
              <a:srgbClr val="5A82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1" name="TextBox 790"/>
          <p:cNvSpPr txBox="1"/>
          <p:nvPr/>
        </p:nvSpPr>
        <p:spPr>
          <a:xfrm>
            <a:off x="91440" y="2044652"/>
            <a:ext cx="960120" cy="1554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118AB2"/>
                </a:solidFill>
                <a:latin typeface="Arial"/>
              </a:rPr>
              <a:t>PRSS23</a:t>
            </a:r>
          </a:p>
        </p:txBody>
      </p:sp>
      <p:cxnSp>
        <p:nvCxnSpPr>
          <p:cNvPr id="792" name="Connector 791"/>
          <p:cNvCxnSpPr/>
          <p:nvPr/>
        </p:nvCxnSpPr>
        <p:spPr>
          <a:xfrm flipH="1" flipV="1">
            <a:off x="1051560" y="2122376"/>
            <a:ext cx="4240882" cy="1454353"/>
          </a:xfrm>
          <a:prstGeom prst="line">
            <a:avLst/>
          </a:prstGeom>
          <a:ln w="6985">
            <a:solidFill>
              <a:srgbClr val="118A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3" name="TextBox 792"/>
          <p:cNvSpPr txBox="1"/>
          <p:nvPr/>
        </p:nvSpPr>
        <p:spPr>
          <a:xfrm>
            <a:off x="91440" y="2237429"/>
            <a:ext cx="960120" cy="1554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A24E78"/>
                </a:solidFill>
                <a:latin typeface="Arial"/>
              </a:rPr>
              <a:t>SMAD7</a:t>
            </a:r>
          </a:p>
        </p:txBody>
      </p:sp>
      <p:cxnSp>
        <p:nvCxnSpPr>
          <p:cNvPr id="794" name="Connector 793"/>
          <p:cNvCxnSpPr/>
          <p:nvPr/>
        </p:nvCxnSpPr>
        <p:spPr>
          <a:xfrm flipH="1" flipV="1">
            <a:off x="1051560" y="2315153"/>
            <a:ext cx="4359855" cy="1262959"/>
          </a:xfrm>
          <a:prstGeom prst="line">
            <a:avLst/>
          </a:prstGeom>
          <a:ln w="6985">
            <a:solidFill>
              <a:srgbClr val="A24E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5" name="TextBox 794"/>
          <p:cNvSpPr txBox="1"/>
          <p:nvPr/>
        </p:nvSpPr>
        <p:spPr>
          <a:xfrm>
            <a:off x="91440" y="2430206"/>
            <a:ext cx="960120" cy="1554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118AB2"/>
                </a:solidFill>
                <a:latin typeface="Arial"/>
              </a:rPr>
              <a:t>PCDH7</a:t>
            </a:r>
          </a:p>
        </p:txBody>
      </p:sp>
      <p:cxnSp>
        <p:nvCxnSpPr>
          <p:cNvPr id="796" name="Connector 795"/>
          <p:cNvCxnSpPr/>
          <p:nvPr/>
        </p:nvCxnSpPr>
        <p:spPr>
          <a:xfrm flipH="1" flipV="1">
            <a:off x="1051560" y="2507930"/>
            <a:ext cx="3908703" cy="1115586"/>
          </a:xfrm>
          <a:prstGeom prst="line">
            <a:avLst/>
          </a:prstGeom>
          <a:ln w="6985">
            <a:solidFill>
              <a:srgbClr val="118A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TextBox 796"/>
          <p:cNvSpPr txBox="1"/>
          <p:nvPr/>
        </p:nvSpPr>
        <p:spPr>
          <a:xfrm>
            <a:off x="91440" y="2622983"/>
            <a:ext cx="960120" cy="1554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5A8261"/>
                </a:solidFill>
                <a:latin typeface="Arial"/>
              </a:rPr>
              <a:t>SFRP1</a:t>
            </a:r>
          </a:p>
        </p:txBody>
      </p:sp>
      <p:cxnSp>
        <p:nvCxnSpPr>
          <p:cNvPr id="798" name="Connector 797"/>
          <p:cNvCxnSpPr/>
          <p:nvPr/>
        </p:nvCxnSpPr>
        <p:spPr>
          <a:xfrm flipH="1" flipV="1">
            <a:off x="1051560" y="2700707"/>
            <a:ext cx="3624636" cy="964914"/>
          </a:xfrm>
          <a:prstGeom prst="line">
            <a:avLst/>
          </a:prstGeom>
          <a:ln w="6985">
            <a:solidFill>
              <a:srgbClr val="5A82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9" name="TextBox 798"/>
          <p:cNvSpPr txBox="1"/>
          <p:nvPr/>
        </p:nvSpPr>
        <p:spPr>
          <a:xfrm>
            <a:off x="91440" y="2815760"/>
            <a:ext cx="960120" cy="1554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118AB2"/>
                </a:solidFill>
                <a:latin typeface="Arial"/>
              </a:rPr>
              <a:t>CCL24</a:t>
            </a:r>
          </a:p>
        </p:txBody>
      </p:sp>
      <p:cxnSp>
        <p:nvCxnSpPr>
          <p:cNvPr id="800" name="Connector 799"/>
          <p:cNvCxnSpPr/>
          <p:nvPr/>
        </p:nvCxnSpPr>
        <p:spPr>
          <a:xfrm flipH="1" flipV="1">
            <a:off x="1051560" y="2893484"/>
            <a:ext cx="4056125" cy="789322"/>
          </a:xfrm>
          <a:prstGeom prst="line">
            <a:avLst/>
          </a:prstGeom>
          <a:ln w="6985">
            <a:solidFill>
              <a:srgbClr val="118A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1" name="TextBox 800"/>
          <p:cNvSpPr txBox="1"/>
          <p:nvPr/>
        </p:nvSpPr>
        <p:spPr>
          <a:xfrm>
            <a:off x="91440" y="3008537"/>
            <a:ext cx="960120" cy="1554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118AB2"/>
                </a:solidFill>
                <a:latin typeface="Arial"/>
              </a:rPr>
              <a:t>NMUR1</a:t>
            </a:r>
          </a:p>
        </p:txBody>
      </p:sp>
      <p:cxnSp>
        <p:nvCxnSpPr>
          <p:cNvPr id="802" name="Connector 801"/>
          <p:cNvCxnSpPr/>
          <p:nvPr/>
        </p:nvCxnSpPr>
        <p:spPr>
          <a:xfrm flipH="1" flipV="1">
            <a:off x="1051560" y="3086261"/>
            <a:ext cx="4065460" cy="612912"/>
          </a:xfrm>
          <a:prstGeom prst="line">
            <a:avLst/>
          </a:prstGeom>
          <a:ln w="6985">
            <a:solidFill>
              <a:srgbClr val="118A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TextBox 802"/>
          <p:cNvSpPr txBox="1"/>
          <p:nvPr/>
        </p:nvSpPr>
        <p:spPr>
          <a:xfrm>
            <a:off x="91440" y="3201314"/>
            <a:ext cx="960120" cy="1554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A24E78"/>
                </a:solidFill>
                <a:latin typeface="Arial"/>
              </a:rPr>
              <a:t>NPTX2</a:t>
            </a:r>
          </a:p>
        </p:txBody>
      </p:sp>
      <p:cxnSp>
        <p:nvCxnSpPr>
          <p:cNvPr id="804" name="Connector 803"/>
          <p:cNvCxnSpPr/>
          <p:nvPr/>
        </p:nvCxnSpPr>
        <p:spPr>
          <a:xfrm flipH="1" flipV="1">
            <a:off x="1051560" y="3279038"/>
            <a:ext cx="2898519" cy="433695"/>
          </a:xfrm>
          <a:prstGeom prst="line">
            <a:avLst/>
          </a:prstGeom>
          <a:ln w="6985">
            <a:solidFill>
              <a:srgbClr val="A24E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5" name="TextBox 804"/>
          <p:cNvSpPr txBox="1"/>
          <p:nvPr/>
        </p:nvSpPr>
        <p:spPr>
          <a:xfrm>
            <a:off x="91440" y="3394091"/>
            <a:ext cx="960120" cy="1554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118AB2"/>
                </a:solidFill>
                <a:latin typeface="Arial"/>
              </a:rPr>
              <a:t>CX3CL1</a:t>
            </a:r>
          </a:p>
        </p:txBody>
      </p:sp>
      <p:cxnSp>
        <p:nvCxnSpPr>
          <p:cNvPr id="806" name="Connector 805"/>
          <p:cNvCxnSpPr/>
          <p:nvPr/>
        </p:nvCxnSpPr>
        <p:spPr>
          <a:xfrm flipH="1" flipV="1">
            <a:off x="1051560" y="3471815"/>
            <a:ext cx="4197453" cy="269629"/>
          </a:xfrm>
          <a:prstGeom prst="line">
            <a:avLst/>
          </a:prstGeom>
          <a:ln w="6985">
            <a:solidFill>
              <a:srgbClr val="118A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7" name="TextBox 806"/>
          <p:cNvSpPr txBox="1"/>
          <p:nvPr/>
        </p:nvSpPr>
        <p:spPr>
          <a:xfrm>
            <a:off x="91440" y="3586868"/>
            <a:ext cx="960120" cy="1554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A24E78"/>
                </a:solidFill>
                <a:latin typeface="Arial"/>
              </a:rPr>
              <a:t>NME3</a:t>
            </a:r>
          </a:p>
        </p:txBody>
      </p:sp>
      <p:cxnSp>
        <p:nvCxnSpPr>
          <p:cNvPr id="808" name="Connector 807"/>
          <p:cNvCxnSpPr/>
          <p:nvPr/>
        </p:nvCxnSpPr>
        <p:spPr>
          <a:xfrm flipH="1" flipV="1">
            <a:off x="1051560" y="3664592"/>
            <a:ext cx="4544169" cy="95582"/>
          </a:xfrm>
          <a:prstGeom prst="line">
            <a:avLst/>
          </a:prstGeom>
          <a:ln w="6985">
            <a:solidFill>
              <a:srgbClr val="A24E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TextBox 808"/>
          <p:cNvSpPr txBox="1"/>
          <p:nvPr/>
        </p:nvSpPr>
        <p:spPr>
          <a:xfrm>
            <a:off x="10378440" y="695212"/>
            <a:ext cx="960120" cy="1554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5A8261"/>
                </a:solidFill>
                <a:latin typeface="Arial"/>
              </a:rPr>
              <a:t>FABP3</a:t>
            </a:r>
          </a:p>
        </p:txBody>
      </p:sp>
      <p:cxnSp>
        <p:nvCxnSpPr>
          <p:cNvPr id="810" name="Connector 809"/>
          <p:cNvCxnSpPr/>
          <p:nvPr/>
        </p:nvCxnSpPr>
        <p:spPr>
          <a:xfrm flipV="1">
            <a:off x="7295028" y="772936"/>
            <a:ext cx="3083412" cy="2699972"/>
          </a:xfrm>
          <a:prstGeom prst="line">
            <a:avLst/>
          </a:prstGeom>
          <a:ln w="6985">
            <a:solidFill>
              <a:srgbClr val="5A82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1" name="TextBox 810"/>
          <p:cNvSpPr txBox="1"/>
          <p:nvPr/>
        </p:nvSpPr>
        <p:spPr>
          <a:xfrm>
            <a:off x="10378440" y="1273544"/>
            <a:ext cx="960120" cy="1554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E39A1E"/>
                </a:solidFill>
                <a:latin typeface="Arial"/>
              </a:rPr>
              <a:t>DNMT1</a:t>
            </a:r>
          </a:p>
        </p:txBody>
      </p:sp>
      <p:cxnSp>
        <p:nvCxnSpPr>
          <p:cNvPr id="812" name="Connector 811"/>
          <p:cNvCxnSpPr/>
          <p:nvPr/>
        </p:nvCxnSpPr>
        <p:spPr>
          <a:xfrm flipV="1">
            <a:off x="6376033" y="1351268"/>
            <a:ext cx="4002407" cy="2339599"/>
          </a:xfrm>
          <a:prstGeom prst="line">
            <a:avLst/>
          </a:prstGeom>
          <a:ln w="6985">
            <a:solidFill>
              <a:srgbClr val="E39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3" name="TextBox 812"/>
          <p:cNvSpPr txBox="1"/>
          <p:nvPr/>
        </p:nvSpPr>
        <p:spPr>
          <a:xfrm>
            <a:off x="10378440" y="1851875"/>
            <a:ext cx="960120" cy="1554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A24E78"/>
                </a:solidFill>
                <a:latin typeface="Arial"/>
              </a:rPr>
              <a:t>SUPT5H</a:t>
            </a:r>
          </a:p>
        </p:txBody>
      </p:sp>
      <p:cxnSp>
        <p:nvCxnSpPr>
          <p:cNvPr id="814" name="Connector 813"/>
          <p:cNvCxnSpPr/>
          <p:nvPr/>
        </p:nvCxnSpPr>
        <p:spPr>
          <a:xfrm flipV="1">
            <a:off x="6097727" y="1929599"/>
            <a:ext cx="4280713" cy="1761837"/>
          </a:xfrm>
          <a:prstGeom prst="line">
            <a:avLst/>
          </a:prstGeom>
          <a:ln w="6985">
            <a:solidFill>
              <a:srgbClr val="A24E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5" name="TextBox 814"/>
          <p:cNvSpPr txBox="1"/>
          <p:nvPr/>
        </p:nvSpPr>
        <p:spPr>
          <a:xfrm>
            <a:off x="10378440" y="2430206"/>
            <a:ext cx="960120" cy="1554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118AB2"/>
                </a:solidFill>
                <a:latin typeface="Arial"/>
              </a:rPr>
              <a:t>PUS1</a:t>
            </a:r>
          </a:p>
        </p:txBody>
      </p:sp>
      <p:cxnSp>
        <p:nvCxnSpPr>
          <p:cNvPr id="816" name="Connector 815"/>
          <p:cNvCxnSpPr/>
          <p:nvPr/>
        </p:nvCxnSpPr>
        <p:spPr>
          <a:xfrm flipV="1">
            <a:off x="6274599" y="2507930"/>
            <a:ext cx="4103841" cy="1225984"/>
          </a:xfrm>
          <a:prstGeom prst="line">
            <a:avLst/>
          </a:prstGeom>
          <a:ln w="6985">
            <a:solidFill>
              <a:srgbClr val="118A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7" name="TextBox 816"/>
          <p:cNvSpPr txBox="1"/>
          <p:nvPr/>
        </p:nvSpPr>
        <p:spPr>
          <a:xfrm>
            <a:off x="10378440" y="3008537"/>
            <a:ext cx="960120" cy="1554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5A8261"/>
                </a:solidFill>
                <a:latin typeface="Arial"/>
              </a:rPr>
              <a:t>AKT2</a:t>
            </a:r>
          </a:p>
        </p:txBody>
      </p:sp>
      <p:cxnSp>
        <p:nvCxnSpPr>
          <p:cNvPr id="818" name="Connector 817"/>
          <p:cNvCxnSpPr/>
          <p:nvPr/>
        </p:nvCxnSpPr>
        <p:spPr>
          <a:xfrm flipV="1">
            <a:off x="6140168" y="3086261"/>
            <a:ext cx="4238272" cy="664965"/>
          </a:xfrm>
          <a:prstGeom prst="line">
            <a:avLst/>
          </a:prstGeom>
          <a:ln w="6985">
            <a:solidFill>
              <a:srgbClr val="5A82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9" name="TextBox 818"/>
          <p:cNvSpPr txBox="1"/>
          <p:nvPr/>
        </p:nvSpPr>
        <p:spPr>
          <a:xfrm>
            <a:off x="10378440" y="3586868"/>
            <a:ext cx="960120" cy="1554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A24E78"/>
                </a:solidFill>
                <a:latin typeface="Arial"/>
              </a:rPr>
              <a:t>UPF3B</a:t>
            </a:r>
          </a:p>
        </p:txBody>
      </p:sp>
      <p:cxnSp>
        <p:nvCxnSpPr>
          <p:cNvPr id="820" name="Connector 819"/>
          <p:cNvCxnSpPr/>
          <p:nvPr/>
        </p:nvCxnSpPr>
        <p:spPr>
          <a:xfrm flipV="1">
            <a:off x="6181086" y="3664592"/>
            <a:ext cx="4197354" cy="88285"/>
          </a:xfrm>
          <a:prstGeom prst="line">
            <a:avLst/>
          </a:prstGeom>
          <a:ln w="6985">
            <a:solidFill>
              <a:srgbClr val="A24E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1" name="TextBox 820"/>
          <p:cNvSpPr txBox="1"/>
          <p:nvPr/>
        </p:nvSpPr>
        <p:spPr>
          <a:xfrm>
            <a:off x="1820007" y="3015065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6C757D"/>
                </a:solidFill>
                <a:latin typeface="Arial"/>
              </a:rPr>
              <a:t>LINC01139</a:t>
            </a:r>
          </a:p>
        </p:txBody>
      </p:sp>
      <p:sp>
        <p:nvSpPr>
          <p:cNvPr id="822" name="TextBox 821"/>
          <p:cNvSpPr txBox="1"/>
          <p:nvPr/>
        </p:nvSpPr>
        <p:spPr>
          <a:xfrm>
            <a:off x="9198512" y="3335149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C757D"/>
                </a:solidFill>
                <a:latin typeface="Arial"/>
              </a:rPr>
              <a:t>LINC01087</a:t>
            </a:r>
          </a:p>
        </p:txBody>
      </p:sp>
      <p:sp>
        <p:nvSpPr>
          <p:cNvPr id="823" name="TextBox 822"/>
          <p:cNvSpPr txBox="1"/>
          <p:nvPr/>
        </p:nvSpPr>
        <p:spPr>
          <a:xfrm>
            <a:off x="9198512" y="3604176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C757D"/>
                </a:solidFill>
                <a:latin typeface="Arial"/>
              </a:rPr>
              <a:t>FOXI3</a:t>
            </a:r>
          </a:p>
        </p:txBody>
      </p:sp>
      <p:sp>
        <p:nvSpPr>
          <p:cNvPr id="824" name="TextBox 823"/>
          <p:cNvSpPr txBox="1"/>
          <p:nvPr/>
        </p:nvSpPr>
        <p:spPr>
          <a:xfrm>
            <a:off x="9198512" y="3607347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C757D"/>
                </a:solidFill>
                <a:latin typeface="Arial"/>
              </a:rPr>
              <a:t>CT83</a:t>
            </a:r>
          </a:p>
        </p:txBody>
      </p:sp>
      <p:sp>
        <p:nvSpPr>
          <p:cNvPr id="825" name="TextBox 824"/>
          <p:cNvSpPr txBox="1"/>
          <p:nvPr/>
        </p:nvSpPr>
        <p:spPr>
          <a:xfrm>
            <a:off x="8962617" y="2936949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6C757D"/>
                </a:solidFill>
                <a:latin typeface="Arial"/>
              </a:rPr>
              <a:t>SPAG17</a:t>
            </a:r>
          </a:p>
        </p:txBody>
      </p:sp>
      <p:sp>
        <p:nvSpPr>
          <p:cNvPr id="826" name="TextBox 825"/>
          <p:cNvSpPr txBox="1"/>
          <p:nvPr/>
        </p:nvSpPr>
        <p:spPr>
          <a:xfrm>
            <a:off x="2952462" y="2376618"/>
            <a:ext cx="7772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6C757D"/>
                </a:solidFill>
                <a:latin typeface="Arial"/>
              </a:rPr>
              <a:t>CPLX2</a:t>
            </a:r>
          </a:p>
        </p:txBody>
      </p:sp>
      <p:cxnSp>
        <p:nvCxnSpPr>
          <p:cNvPr id="827" name="Connector 826"/>
          <p:cNvCxnSpPr/>
          <p:nvPr/>
        </p:nvCxnSpPr>
        <p:spPr>
          <a:xfrm>
            <a:off x="6347166" y="747118"/>
            <a:ext cx="2503170" cy="0"/>
          </a:xfrm>
          <a:prstGeom prst="line">
            <a:avLst/>
          </a:prstGeom>
          <a:ln w="279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8" name="Right Triangle 827"/>
          <p:cNvSpPr/>
          <p:nvPr/>
        </p:nvSpPr>
        <p:spPr>
          <a:xfrm>
            <a:off x="8820336" y="717118"/>
            <a:ext cx="60000" cy="60000"/>
          </a:xfrm>
          <a:prstGeom prst="rtTriangl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TextBox 828"/>
          <p:cNvSpPr txBox="1"/>
          <p:nvPr/>
        </p:nvSpPr>
        <p:spPr>
          <a:xfrm>
            <a:off x="6347166" y="472798"/>
            <a:ext cx="250317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A7D6E"/>
                </a:solidFill>
                <a:latin typeface="Arial"/>
              </a:rPr>
              <a:t>Up in Good responders</a:t>
            </a:r>
          </a:p>
        </p:txBody>
      </p:sp>
      <p:cxnSp>
        <p:nvCxnSpPr>
          <p:cNvPr id="830" name="Connector 829"/>
          <p:cNvCxnSpPr/>
          <p:nvPr/>
        </p:nvCxnSpPr>
        <p:spPr>
          <a:xfrm flipH="1">
            <a:off x="2945423" y="747118"/>
            <a:ext cx="2503170" cy="0"/>
          </a:xfrm>
          <a:prstGeom prst="line">
            <a:avLst/>
          </a:prstGeom>
          <a:ln w="279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1" name="Right Triangle 830"/>
          <p:cNvSpPr/>
          <p:nvPr/>
        </p:nvSpPr>
        <p:spPr>
          <a:xfrm rot="10800000">
            <a:off x="2915423" y="717118"/>
            <a:ext cx="60000" cy="60000"/>
          </a:xfrm>
          <a:prstGeom prst="rtTriangl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TextBox 831"/>
          <p:cNvSpPr txBox="1"/>
          <p:nvPr/>
        </p:nvSpPr>
        <p:spPr>
          <a:xfrm>
            <a:off x="2945423" y="472798"/>
            <a:ext cx="250317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C53E1F"/>
                </a:solidFill>
                <a:latin typeface="Arial"/>
              </a:rPr>
              <a:t>Up in Poor responders</a:t>
            </a:r>
          </a:p>
        </p:txBody>
      </p:sp>
      <p:sp>
        <p:nvSpPr>
          <p:cNvPr id="833" name="Oval 832"/>
          <p:cNvSpPr/>
          <p:nvPr/>
        </p:nvSpPr>
        <p:spPr>
          <a:xfrm>
            <a:off x="2671480" y="5405536"/>
            <a:ext cx="52000" cy="52000"/>
          </a:xfrm>
          <a:prstGeom prst="ellipse">
            <a:avLst/>
          </a:prstGeom>
          <a:solidFill>
            <a:srgbClr val="E39A1E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TextBox 833"/>
          <p:cNvSpPr txBox="1"/>
          <p:nvPr/>
        </p:nvSpPr>
        <p:spPr>
          <a:xfrm>
            <a:off x="2834640" y="5349240"/>
            <a:ext cx="19507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Cell cycle  (n = 1)</a:t>
            </a:r>
          </a:p>
        </p:txBody>
      </p:sp>
      <p:sp>
        <p:nvSpPr>
          <p:cNvPr id="835" name="Oval 834"/>
          <p:cNvSpPr/>
          <p:nvPr/>
        </p:nvSpPr>
        <p:spPr>
          <a:xfrm>
            <a:off x="4896520" y="5405536"/>
            <a:ext cx="52000" cy="52000"/>
          </a:xfrm>
          <a:prstGeom prst="ellipse">
            <a:avLst/>
          </a:prstGeom>
          <a:solidFill>
            <a:srgbClr val="A24E78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TextBox 835"/>
          <p:cNvSpPr txBox="1"/>
          <p:nvPr/>
        </p:nvSpPr>
        <p:spPr>
          <a:xfrm>
            <a:off x="5059680" y="5349240"/>
            <a:ext cx="19507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DNA repair  (n = 7)</a:t>
            </a:r>
          </a:p>
        </p:txBody>
      </p:sp>
      <p:sp>
        <p:nvSpPr>
          <p:cNvPr id="837" name="Oval 836"/>
          <p:cNvSpPr/>
          <p:nvPr/>
        </p:nvSpPr>
        <p:spPr>
          <a:xfrm>
            <a:off x="7121560" y="5405536"/>
            <a:ext cx="52000" cy="52000"/>
          </a:xfrm>
          <a:prstGeom prst="ellipse">
            <a:avLst/>
          </a:prstGeom>
          <a:solidFill>
            <a:srgbClr val="118AB2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TextBox 837"/>
          <p:cNvSpPr txBox="1"/>
          <p:nvPr/>
        </p:nvSpPr>
        <p:spPr>
          <a:xfrm>
            <a:off x="7284720" y="5349240"/>
            <a:ext cx="19507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Immune  (n = 8)</a:t>
            </a:r>
          </a:p>
        </p:txBody>
      </p:sp>
      <p:sp>
        <p:nvSpPr>
          <p:cNvPr id="839" name="Oval 838"/>
          <p:cNvSpPr/>
          <p:nvPr/>
        </p:nvSpPr>
        <p:spPr>
          <a:xfrm>
            <a:off x="2671480" y="5652424"/>
            <a:ext cx="52000" cy="52000"/>
          </a:xfrm>
          <a:prstGeom prst="ellipse">
            <a:avLst/>
          </a:prstGeom>
          <a:solidFill>
            <a:srgbClr val="5A8261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TextBox 839"/>
          <p:cNvSpPr txBox="1"/>
          <p:nvPr/>
        </p:nvSpPr>
        <p:spPr>
          <a:xfrm>
            <a:off x="2834640" y="5596128"/>
            <a:ext cx="19507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EMT / Stromal  (n = 6)</a:t>
            </a:r>
          </a:p>
        </p:txBody>
      </p:sp>
      <p:sp>
        <p:nvSpPr>
          <p:cNvPr id="841" name="Oval 840"/>
          <p:cNvSpPr/>
          <p:nvPr/>
        </p:nvSpPr>
        <p:spPr>
          <a:xfrm>
            <a:off x="4900520" y="5656424"/>
            <a:ext cx="44000" cy="44000"/>
          </a:xfrm>
          <a:prstGeom prst="ellipse">
            <a:avLst/>
          </a:prstGeom>
          <a:solidFill>
            <a:srgbClr val="6C757D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TextBox 841"/>
          <p:cNvSpPr txBox="1"/>
          <p:nvPr/>
        </p:nvSpPr>
        <p:spPr>
          <a:xfrm>
            <a:off x="5059680" y="5596128"/>
            <a:ext cx="19507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Other (no pathway)  (n = 206)</a:t>
            </a:r>
          </a:p>
        </p:txBody>
      </p:sp>
      <p:sp>
        <p:nvSpPr>
          <p:cNvPr id="843" name="Oval 842"/>
          <p:cNvSpPr/>
          <p:nvPr/>
        </p:nvSpPr>
        <p:spPr>
          <a:xfrm>
            <a:off x="7129560" y="5660424"/>
            <a:ext cx="36000" cy="36000"/>
          </a:xfrm>
          <a:prstGeom prst="ellipse">
            <a:avLst/>
          </a:prstGeom>
          <a:solidFill>
            <a:srgbClr val="DDE2E8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TextBox 843"/>
          <p:cNvSpPr txBox="1"/>
          <p:nvPr/>
        </p:nvSpPr>
        <p:spPr>
          <a:xfrm>
            <a:off x="7284720" y="5596128"/>
            <a:ext cx="19507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Non-significant (P ≥ 0.01)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