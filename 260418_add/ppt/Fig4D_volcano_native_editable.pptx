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498079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4343400"/>
            <a:ext cx="594360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88720" y="411480"/>
            <a:ext cx="0" cy="393192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03020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20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1640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63140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34640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89020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06140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77640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32020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49140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20640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75019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92139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46519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63639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18019" y="43434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35139" y="43982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43000" y="434340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426110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3880821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3798525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43000" y="3418242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3335946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2955663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2873367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43000" y="2493084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77240" y="2410788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43000" y="2030505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1948209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43000" y="1567927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7240" y="1485631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43000" y="1105348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1023052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43000" y="642769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7240" y="560473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4599432"/>
            <a:ext cx="5943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log₂ fold change (good vs poor)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45720" y="2276856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−log₁₀(p-value)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60520" y="411480"/>
            <a:ext cx="0" cy="3931920"/>
          </a:xfrm>
          <a:prstGeom prst="line">
            <a:avLst/>
          </a:prstGeom>
          <a:ln w="7620">
            <a:solidFill>
              <a:srgbClr val="0E2A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88720" y="3418242"/>
            <a:ext cx="5943600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234440" y="3235362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777777"/>
                </a:solidFill>
                <a:latin typeface="Arial"/>
              </a:rPr>
              <a:t>P = 0.01</a:t>
            </a:r>
          </a:p>
        </p:txBody>
      </p:sp>
      <p:sp>
        <p:nvSpPr>
          <p:cNvPr id="49" name="Oval 48"/>
          <p:cNvSpPr/>
          <p:nvPr/>
        </p:nvSpPr>
        <p:spPr>
          <a:xfrm>
            <a:off x="4148207" y="43231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534385" y="39538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91409" y="42987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041444" y="41138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006656" y="42172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36197" y="431337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31478" y="41474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39994" y="42805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79886" y="428510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161973" y="43092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7711" y="42892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541358" y="41208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834915" y="40649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2802" y="40360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892610" y="402094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739545" y="41249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799445" y="41571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094247" y="42441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42643" y="42840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199302" y="42526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911911" y="40557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331407" y="37904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578240" y="40395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699637" y="361529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76221" y="43069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889964" y="40248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623551" y="39789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556047" y="38584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633926" y="41983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857416" y="38957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025939" y="421194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225756" y="41474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156332" y="43094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087740" y="42410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045525" y="418776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115757" y="43042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269758" y="40599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333262" y="42322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172296" y="431640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181913" y="42513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336912" y="42482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350439" y="374364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423188" y="37403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15788" y="42923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264266" y="41177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192089" y="43045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261710" y="40356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712482" y="39818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142406" y="43247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262170" y="428107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091336" y="42650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083661" y="43025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054820" y="41502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239782" y="39261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070988" y="42306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692858" y="39246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183629" y="42645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237912" y="41747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51908" y="40338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552675" y="41127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563606" y="40708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931102" y="39961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495817" y="425270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88590" y="41935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107955" y="427804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232216" y="40050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110237" y="42395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226116" y="42003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047782" y="42054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185979" y="42693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265721" y="41740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177170" y="42850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962226" y="42348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030419" y="41910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9423" y="42248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297172" y="42793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315776" y="40815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977396" y="41444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973614" y="41858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303815" y="39271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220501" y="413999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559283" y="41655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074167" y="423556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127300" y="429219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109436" y="428430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981671" y="41863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349616" y="38965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060247" y="35022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218431" y="42212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698050" y="42597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277846" y="39789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922037" y="411803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082705" y="42233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247756" y="39231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683742" y="39748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192601" y="42558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067665" y="42805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303729" y="410387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997792" y="425889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22840" y="43109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211088" y="41480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110977" y="42705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27621" y="42983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2932352" y="40746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112659" y="431153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595616" y="364342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4136847" y="43253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627669" y="411284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116801" y="42454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561341" y="41307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300581" y="42880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620539" y="39782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821544" y="38140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215589" y="427123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626450" y="39679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750599" y="421783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062043" y="427596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3739747" y="40079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960559" y="411947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144802" y="43269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912269" y="41193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920794" y="393662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069037" y="41405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246414" y="40345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045026" y="41533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393640" y="39142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190435" y="42542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050061" y="418164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963889" y="380957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661896" y="42399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231900" y="405355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091751" y="42732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991666" y="40815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105701" y="42573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024967" y="42273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986454" y="42497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965526" y="41438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927683" y="418636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022256" y="42433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152322" y="43138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193883" y="43004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232598" y="42387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4118129" y="43018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793485" y="417926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670628" y="39324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4235308" y="40658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4098173" y="425349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4186827" y="42397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4279745" y="40944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4929222" y="39577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4226718" y="41939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4039739" y="42054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240015" y="403115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263284" y="42195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218110" y="42927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058879" y="41794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114851" y="425171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308101" y="38451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0970" y="42393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281669" y="394119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119489" y="431316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091862" y="42204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321643" y="425090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201753" y="422253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302167" y="39162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450925" y="387872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095501" y="42993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853669" y="413272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678278" y="40412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147041" y="43262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252580" y="42374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156004" y="43108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3687319" y="40810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3921807" y="417699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579763" y="418202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052348" y="426040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5061855" y="392623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3657083" y="410149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497784" y="42273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059629" y="42733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270972" y="42373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046680" y="415349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259659" y="42563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455886" y="42755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4144417" y="43273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840316" y="41596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155265" y="431519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3659990" y="399815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486265" y="39395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3063796" y="38569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3952376" y="404659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3974518" y="393452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4431473" y="369714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804593" y="418044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5059617" y="402616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199109" y="428981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342456" y="39575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195569" y="42369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4226370" y="40835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308663" y="41044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294279" y="42348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375033" y="410777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3844918" y="38103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093486" y="430030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3994689" y="41082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4052184" y="41871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4527781" y="412661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725798" y="39305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4184031" y="42906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289132" y="41292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040683" y="424888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4212468" y="41992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4219734" y="41059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347780" y="424831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87752" y="427471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215245" y="424618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179436" y="42602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3931617" y="40126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3997313" y="42376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926455" y="412844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925867" y="42737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3496770" y="38042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154793" y="43207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4521935" y="38643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3849487" y="389323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4170124" y="424829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2964151" y="40860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4080217" y="429814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3776220" y="41775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4031871" y="41184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4322329" y="39020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57557" y="43200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482363" y="388385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3525872" y="405585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4183738" y="42835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4235884" y="40095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4138111" y="431890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4126857" y="43202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4202638" y="42384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3776865" y="39737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4505258" y="39277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4091138" y="42261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929010" y="35933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286118" y="414109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272904" y="418332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4197513" y="425183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4041159" y="415054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3923105" y="41464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3846065" y="402740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4173101" y="42816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3989327" y="41989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3835596" y="42734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4466145" y="34407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3849489" y="39649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3808684" y="40452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4163764" y="42729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4696384" y="389426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4392341" y="396756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4326264" y="390602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4494508" y="38162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4094298" y="42489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4372318" y="40535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4195499" y="42405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3767621" y="41748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4202884" y="415954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3964811" y="387832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4153616" y="43100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4134845" y="431174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4383911" y="417433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4073666" y="41930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228014" y="41279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953434" y="41927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202578" y="42978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223329" y="42653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184918" y="425134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559087" y="41037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3955439" y="41782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3720636" y="405455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4206156" y="41708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4012716" y="41939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4036462" y="42051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3830861" y="42293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4092202" y="42777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4126702" y="431058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3934512" y="41613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4100800" y="42475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4188803" y="428492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4258620" y="40412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3965345" y="429921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3851871" y="40249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3755889" y="42071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497319" y="422618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091460" y="43112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4229217" y="423413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4188509" y="41727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4198602" y="42632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4086816" y="422046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4184115" y="428217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700720" y="42015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255226" y="42086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262173" y="39430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3953189" y="42490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4974343" y="38343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4172718" y="43066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4070031" y="42484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692716" y="40354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3635622" y="38974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4449957" y="42141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4264586" y="39884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4445824" y="41530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4253441" y="406959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4142791" y="432635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3377869" y="394725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4206651" y="42561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3741730" y="400654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4186674" y="42656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3865078" y="38773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4538802" y="393522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3693283" y="41350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3801598" y="40727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4203419" y="42845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4027574" y="42171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4117959" y="43147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4293046" y="41894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4147607" y="432176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876736" y="41184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777122" y="40452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146715" y="432637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3638416" y="40613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4061166" y="42396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3860662" y="40653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3864604" y="35977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4561718" y="38903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3876505" y="39786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4105419" y="42570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3908457" y="41536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4146516" y="43220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3780141" y="423032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3268451" y="37940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4290849" y="35338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4320429" y="40141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4240777" y="40849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4068565" y="41688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4147295" y="43261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3812455" y="41427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4425770" y="378276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4334314" y="423607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4311750" y="42237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3893262" y="39693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4179140" y="431398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4228103" y="41105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4096160" y="41694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4021697" y="41416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4238063" y="415268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3544393" y="365832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209967" y="41867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175454" y="42968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4053562" y="42042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4088958" y="42877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3961699" y="41559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4069396" y="41658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3813831" y="40646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4094664" y="428530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3964571" y="42477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4091629" y="42347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4092300" y="418905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3683471" y="40509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4373318" y="42727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4077115" y="42093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4095300" y="420560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3965141" y="428358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4560685" y="40588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4198606" y="420607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4399010" y="411886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4272965" y="387302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4163866" y="430652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3751719" y="40067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4105923" y="42935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4051021" y="42378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4287233" y="40945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572675" y="372454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4138377" y="432327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396147" y="41672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3893631" y="399436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089275" y="42970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4120309" y="42841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4171729" y="42899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4409748" y="42536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4195620" y="42087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4143101" y="43267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194119" y="35837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567375" y="40129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4035668" y="41619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4254961" y="41834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943182" y="41721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4002441" y="38897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4158068" y="430599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927904" y="410267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4144984" y="43267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4218645" y="42494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4147429" y="43225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4335147" y="42357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4249134" y="427127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695901" y="382600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540810" y="39339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4352350" y="372632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901535" y="40294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4248786" y="42612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4160778" y="43154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571949" y="42434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4187777" y="42916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4373993" y="42656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4090519" y="426450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4099733" y="426039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856296" y="41880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4189244" y="42139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4242331" y="418489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4131533" y="43086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4496226" y="403656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601548" y="41420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4454358" y="403449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4083386" y="42037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4522888" y="34343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4375206" y="421133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4082165" y="41823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506316" y="35439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880569" y="38756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4275018" y="40710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4239164" y="42682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4321811" y="423827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936342" y="40491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4220348" y="42563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4592835" y="41650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3480215" y="402543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3795610" y="40853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4146749" y="43216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4198692" y="430839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4308642" y="42371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4270662" y="41396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4387604" y="41926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4157673" y="43143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4133706" y="43082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4250218" y="42680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4040705" y="42512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4037948" y="42701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4768183" y="36396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4107241" y="42635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4255655" y="423104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4177033" y="43037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4485351" y="38956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4048069" y="42813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4087163" y="42502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3649130" y="38946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4369515" y="423583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4056224" y="42498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4169840" y="42426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3695383" y="394286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3946311" y="418813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4036138" y="41187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4035687" y="42106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3897833" y="41120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4404238" y="352916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4184295" y="41972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4174624" y="42607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4196752" y="42486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4416649" y="40139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4231122" y="412650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4178659" y="42898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3163301" y="40389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3726067" y="39860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3948025" y="409268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3844387" y="40925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4084220" y="42493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895782" y="39618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4079470" y="41447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3850515" y="42202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4035420" y="43122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5945085" y="40006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4082671" y="420121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4247645" y="40519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4061554" y="41759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4215639" y="422403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4450166" y="41289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4391882" y="41538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4144335" y="43270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3899969" y="425866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4296354" y="40003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3006146" y="39735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4218455" y="41448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3711070" y="39404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479381" y="37160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3951418" y="41429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4059848" y="429873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4016528" y="428527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4141307" y="43221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4063440" y="420603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3873041" y="410858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4088313" y="43009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4252520" y="39745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851610" y="41168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4496286" y="2347642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4514037" y="250521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4957877" y="254718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4490294" y="2583822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4352766" y="269328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6779977" y="275137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5281118" y="2760412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5616944" y="276170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4843512" y="277696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4363035" y="277771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4751727" y="2781882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4710279" y="282718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4984742" y="2832802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4620634" y="286793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5811529" y="287052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5520033" y="288999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4942287" y="291087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5883295" y="296382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4676408" y="296461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4496541" y="297201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5520355" y="297760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4747734" y="299678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4347485" y="2997155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6990019" y="304054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393513" y="307568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4800033" y="308220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6923832" y="308320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5002281" y="309542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4298221" y="309638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4381318" y="309818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4340945" y="310992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5376556" y="312601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4307726" y="312812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5444727" y="312969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5317092" y="313168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5429697" y="313323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5926101" y="314518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461265" y="314802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387535" y="315923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4451562" y="315984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4374895" y="316064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4583459" y="317859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4385074" y="318227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4495954" y="318870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4676076" y="319179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4425681" y="319508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4537638" y="3199722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5003517" y="320195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4400917" y="321734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5198741" y="323130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4407823" y="323583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5752967" y="324362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6172578" y="324510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529816" y="324614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4267148" y="324684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4476634" y="324801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365456" y="325937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4448476" y="326144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5366734" y="327290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4443842" y="327817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6067384" y="328214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411903" y="328536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701679" y="328869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84006" y="328882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6013647" y="329038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6474501" y="329291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4270403" y="329685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166146" y="329787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4403861" y="329969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5709162" y="330117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179116" y="3301932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353099" y="3305055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6990019" y="330776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6990019" y="330981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4575887" y="331156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322127" y="331388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4548622" y="3314582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5807233" y="331667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4571367" y="331749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4635343" y="331931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4959895" y="332069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4558273" y="332126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4310466" y="332177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5565004" y="332529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4358046" y="332655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4522985" y="3329581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6606557" y="333007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5156740" y="3330292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6990019" y="333116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4335453" y="333472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4706956" y="333473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5617916" y="3334814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6222536" y="3335535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5166968" y="333601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617712" y="333737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4287031" y="333793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4414865" y="3344458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4743431" y="3358085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4389774" y="335934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4467954" y="335982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4430072" y="336286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4781439" y="336693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4419553" y="3369857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4348256" y="3375336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4384690" y="3376815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6024986" y="3376850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5104064" y="337802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4855711" y="338035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6990019" y="3381513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4496103" y="338263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4754962" y="338532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5317330" y="3387339"/>
            <a:ext cx="56000" cy="56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2283369" y="221989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3586460" y="242990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2010266" y="251797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3154563" y="257495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3022142" y="272016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1275020" y="275406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3261425" y="275494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3007041" y="276200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754147" y="279527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317973" y="289011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3525950" y="289553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3492147" y="291769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3083578" y="292288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2701502" y="294774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911862" y="295678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3835243" y="296570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2244530" y="296955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533087" y="298238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184112" y="298656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2750859" y="298899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3421635" y="300028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3071489" y="301204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2797057" y="301683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3041227" y="3023950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3762584" y="302828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3217013" y="303194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3106815" y="303412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450622" y="303665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3841134" y="304165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2565586" y="307992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3225288" y="308422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2438777" y="3085554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3760834" y="308789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3779134" y="309083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3220965" y="309552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3870519" y="310161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3064991" y="310449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3156221" y="313609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3993858" y="313610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1297377" y="315246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2957770" y="315746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3196639" y="315884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3837647" y="317469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3648169" y="317653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3066156" y="317677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1425728" y="317874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3764239" y="3181944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3243756" y="319152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3923633" y="319647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3075815" y="321728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2624211" y="3217990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3593431" y="321901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3699366" y="3220254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236647" y="322381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592380" y="323035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2965120" y="323098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3427303" y="323756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3659993" y="324888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3582966" y="325633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3158861" y="325734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2105285" y="325735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3297655" y="326092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3584178" y="326152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3654334" y="326157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3071624" y="326463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3232289" y="3267880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1641466" y="327538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3528620" y="327642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3887851" y="328021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2295542" y="328161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3483672" y="328648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3811332" y="328759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1851336" y="329499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3044719" y="329864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3285715" y="329985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2803832" y="330780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3869170" y="3308544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3389121" y="330991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3640890" y="331088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3621964" y="331191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3428922" y="331404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3581203" y="331534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2967927" y="3318221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3451845" y="331830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3876782" y="3319144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3451465" y="3319434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2183207" y="332349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1471946" y="332721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3458745" y="332821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3437234" y="332870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2904482" y="3330560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3930363" y="333481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2398176" y="334085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3138598" y="3342870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2836814" y="334405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3615063" y="334860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3168601" y="334950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1814856" y="335004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3885607" y="335303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3351566" y="335338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2798695" y="3354790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3851031" y="335514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3199381" y="3355365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2282905" y="335842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3560672" y="336322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3760744" y="3364428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3554762" y="336657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3872178" y="3368367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3863072" y="337254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3835857" y="337470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3771702" y="337600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3440685" y="3380299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3863482" y="3383352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3320672" y="338396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3577641" y="3385533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3708796" y="3389566"/>
            <a:ext cx="56000" cy="56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2263369" y="219989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1990266" y="249797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4937877" y="252718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3134563" y="255495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002142" y="270016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6759977" y="273137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1255020" y="273406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241425" y="273494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5261118" y="274041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5596944" y="274170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2987041" y="274200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4823512" y="275696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4731727" y="276188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4690279" y="280718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4964742" y="281280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5791529" y="285052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5500033" y="286999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3297973" y="287011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3505950" y="287553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4922287" y="289087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3472147" y="289769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3063578" y="290288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2681502" y="292774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2891862" y="293678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5863295" y="294382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2224530" y="294955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5500355" y="295760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3513087" y="296238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3164112" y="296656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2730859" y="296899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4727734" y="297678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3401635" y="298028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3051489" y="299204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2777057" y="299683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3021227" y="300395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3197013" y="301194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3086815" y="301412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2430622" y="301665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6970019" y="302054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545586" y="305992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4780033" y="306220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6903832" y="306320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3205288" y="306422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2418777" y="306555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4982281" y="307542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3200965" y="307552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3044991" y="308449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5356556" y="310601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5424727" y="310969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5297092" y="311168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5409697" y="311323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3136221" y="311609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5906101" y="312518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1277377" y="313246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937770" y="313746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3176639" y="313884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3046156" y="315677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1405728" y="315874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3223756" y="317152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4983517" y="318195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3055815" y="319728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2604211" y="319799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3216647" y="320381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2945120" y="321098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5178741" y="321130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3407303" y="321756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5732967" y="322362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6152578" y="322510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3138861" y="323734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2085285" y="323735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3277655" y="324092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3051624" y="324463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3212289" y="324788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5346734" y="325290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1621466" y="325538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3508620" y="325642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2275542" y="326161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6047384" y="326214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3463672" y="326648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5993647" y="327038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6454501" y="327291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1831336" y="327499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5146146" y="327787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3024719" y="327864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3265715" y="327985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5689162" y="328117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5159116" y="328193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5333099" y="328505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6970019" y="328776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2783832" y="328780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6970019" y="328981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3369121" y="328991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3408922" y="329404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5787233" y="329667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2947927" y="3298221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3431845" y="329830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3431465" y="329943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4939895" y="330069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2163207" y="330349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5545004" y="330529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1451946" y="330721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3438745" y="330821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3417234" y="330870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6586557" y="3310078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5136740" y="331029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2884482" y="331056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6970019" y="331116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4686956" y="331473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5597916" y="3314814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6202536" y="331553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5146968" y="3316016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2378176" y="332085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3118598" y="332287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2816814" y="332405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3148601" y="332950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1794856" y="333004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3331566" y="333338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2778695" y="333479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3179381" y="333536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4723431" y="3338085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2262905" y="3338427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3540672" y="334322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3534762" y="3346572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4761439" y="334693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6004986" y="3356850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5084064" y="335802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3420685" y="336029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4835711" y="336035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6970019" y="336151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3300672" y="3363963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4734962" y="336532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5297330" y="3367339"/>
            <a:ext cx="96000" cy="9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434340" y="272142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LINC01139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7109459" y="303511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LINC01087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7109459" y="329017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FOXI3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7109459" y="325853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CT83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899417" y="268623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SPAG17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1442689" y="221209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CPLX2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1169586" y="242335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LCN15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7109459" y="336848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BOK-AS1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7043272" y="306776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SCN2A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7109459" y="326145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DNAAF4-CCPG1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456697" y="308761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REG3G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585048" y="311143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ANKRD34B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31266" y="325754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C8orf44-SGK3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800786" y="322474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PRND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1403850" y="292486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PLAC4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725997" y="329027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LOC101927281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5930969" y="287492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LINC00659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6593941" y="327702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SHOC1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002735" y="293088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LOC107985906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1010656" y="3298740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LOC107984988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5736384" y="2688080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LOC102724830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974176" y="327091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ANGPTL7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6292018" y="321120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LOC101927436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1609942" y="294589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REG1A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1264605" y="316576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LOC105372279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6045541" y="310152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DPF1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1598097" y="303702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53E1F"/>
                </a:solidFill>
                <a:latin typeface="Arial"/>
              </a:rPr>
              <a:t>LOC100130256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6341976" y="333209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TMC2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6186824" y="324991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LY6D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5639473" y="284625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SENP3-EIF4A1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4560570" y="712156"/>
            <a:ext cx="2228850" cy="0"/>
          </a:xfrm>
          <a:prstGeom prst="line">
            <a:avLst/>
          </a:prstGeom>
          <a:ln w="279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Right Triangle 939"/>
          <p:cNvSpPr/>
          <p:nvPr/>
        </p:nvSpPr>
        <p:spPr>
          <a:xfrm>
            <a:off x="6759420" y="682156"/>
            <a:ext cx="60000" cy="60000"/>
          </a:xfrm>
          <a:prstGeom prst="rtTriangl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TextBox 940"/>
          <p:cNvSpPr txBox="1"/>
          <p:nvPr/>
        </p:nvSpPr>
        <p:spPr>
          <a:xfrm>
            <a:off x="4560570" y="437836"/>
            <a:ext cx="222885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Up in Good responders</a:t>
            </a:r>
          </a:p>
        </p:txBody>
      </p:sp>
      <p:cxnSp>
        <p:nvCxnSpPr>
          <p:cNvPr id="942" name="Connector 941"/>
          <p:cNvCxnSpPr/>
          <p:nvPr/>
        </p:nvCxnSpPr>
        <p:spPr>
          <a:xfrm flipH="1">
            <a:off x="1531620" y="712156"/>
            <a:ext cx="2228850" cy="0"/>
          </a:xfrm>
          <a:prstGeom prst="line">
            <a:avLst/>
          </a:prstGeom>
          <a:ln w="279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Right Triangle 942"/>
          <p:cNvSpPr/>
          <p:nvPr/>
        </p:nvSpPr>
        <p:spPr>
          <a:xfrm rot="10800000">
            <a:off x="1501620" y="682156"/>
            <a:ext cx="60000" cy="60000"/>
          </a:xfrm>
          <a:prstGeom prst="rtTriangl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TextBox 943"/>
          <p:cNvSpPr txBox="1"/>
          <p:nvPr/>
        </p:nvSpPr>
        <p:spPr>
          <a:xfrm>
            <a:off x="1531620" y="437836"/>
            <a:ext cx="222885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Up in Poor responders</a:t>
            </a:r>
          </a:p>
        </p:txBody>
      </p:sp>
      <p:sp>
        <p:nvSpPr>
          <p:cNvPr id="945" name="Oval 944"/>
          <p:cNvSpPr/>
          <p:nvPr/>
        </p:nvSpPr>
        <p:spPr>
          <a:xfrm>
            <a:off x="1300880" y="4967624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1463040" y="4910328"/>
            <a:ext cx="26974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Up in Good, P &lt; 0.01  (n = 112)</a:t>
            </a:r>
          </a:p>
        </p:txBody>
      </p:sp>
      <p:sp>
        <p:nvSpPr>
          <p:cNvPr id="947" name="Oval 946"/>
          <p:cNvSpPr/>
          <p:nvPr/>
        </p:nvSpPr>
        <p:spPr>
          <a:xfrm>
            <a:off x="4272680" y="4967624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TextBox 947"/>
          <p:cNvSpPr txBox="1"/>
          <p:nvPr/>
        </p:nvSpPr>
        <p:spPr>
          <a:xfrm>
            <a:off x="4434840" y="4910328"/>
            <a:ext cx="26974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Up in Poor, P &lt; 0.01  (n = 116)</a:t>
            </a:r>
          </a:p>
        </p:txBody>
      </p:sp>
      <p:sp>
        <p:nvSpPr>
          <p:cNvPr id="949" name="Oval 948"/>
          <p:cNvSpPr/>
          <p:nvPr/>
        </p:nvSpPr>
        <p:spPr>
          <a:xfrm>
            <a:off x="1295880" y="5218656"/>
            <a:ext cx="60000" cy="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TextBox 949"/>
          <p:cNvSpPr txBox="1"/>
          <p:nvPr/>
        </p:nvSpPr>
        <p:spPr>
          <a:xfrm>
            <a:off x="1463040" y="5166360"/>
            <a:ext cx="26974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|log₂ FC| ≥ 1  (n = 132)</a:t>
            </a:r>
          </a:p>
        </p:txBody>
      </p:sp>
      <p:sp>
        <p:nvSpPr>
          <p:cNvPr id="951" name="Oval 950"/>
          <p:cNvSpPr/>
          <p:nvPr/>
        </p:nvSpPr>
        <p:spPr>
          <a:xfrm>
            <a:off x="4277680" y="5228656"/>
            <a:ext cx="40000" cy="40000"/>
          </a:xfrm>
          <a:prstGeom prst="ellipse">
            <a:avLst/>
          </a:prstGeom>
          <a:solidFill>
            <a:srgbClr val="DDE2E8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4434840" y="5166360"/>
            <a:ext cx="26974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Non-significant (P ≥ 0.01)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