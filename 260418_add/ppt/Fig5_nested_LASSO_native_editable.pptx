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3168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7656" y="502920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502920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46632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120" y="50292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35608" y="502920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30096" y="502920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24584" y="502920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502920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13560" y="50292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8048" y="50292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2536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97024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1512" y="502920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50292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0488" y="502920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74976" y="502920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9464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3952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8440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52928" y="502920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416" y="502920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41904" y="502920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36392" y="502920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30880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25368" y="502920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19856" y="50292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4344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08832" y="502920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7656" y="597408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52144" y="597408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46632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41120" y="597408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35608" y="59740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30096" y="597408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4584" y="597408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19072" y="59740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13560" y="597408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048" y="59740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02536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97024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1512" y="597408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6000" y="59740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80488" y="59740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74976" y="597408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9464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63952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58440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2928" y="59740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47416" y="597408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41904" y="597408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36392" y="59740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30880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25368" y="5974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19856" y="597408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4344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08832" y="597408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8680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63168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57656" y="6918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52144" y="691896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46632" y="691896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41120" y="691896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435608" y="691896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30096" y="69189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624584" y="691896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19072" y="691896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13560" y="691896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08048" y="6918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02536" y="69189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97024" y="691896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1512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86000" y="6918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80488" y="691896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474976" y="69189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569464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63952" y="69189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58440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852928" y="691896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47416" y="69189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41904" y="691896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36392" y="691896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30880" y="691896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25368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419856" y="6918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14344" y="691896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08832" y="691896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8680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63168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7656" y="786384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52144" y="7863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6632" y="786384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41120" y="786384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435608" y="78638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530096" y="786384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24584" y="78638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19072" y="7863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813560" y="786384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908048" y="786384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002536" y="786384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97024" y="78638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191512" y="786384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86000" y="786384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380488" y="78638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74976" y="786384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69464" y="7863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63952" y="786384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58440" y="78638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52928" y="78638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947416" y="786384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041904" y="78638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6392" y="78638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230880" y="786384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325368" y="786384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419856" y="786384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514344" y="7863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08832" y="786384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8680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3168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7656" y="880872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52144" y="880872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246632" y="8808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341120" y="880872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35608" y="880872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30096" y="880872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624584" y="880872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719072" y="88087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13560" y="880872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908048" y="8808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02536" y="880872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97024" y="880872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1512" y="88087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286000" y="880872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380488" y="880872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474976" y="880872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569464" y="880872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63952" y="88087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758440" y="880872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52928" y="880872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947416" y="880872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041904" y="8808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136392" y="88087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230880" y="880872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25368" y="880872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419856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514344" y="880872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08832" y="8808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68680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63168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057656" y="975360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52144" y="975360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246632" y="975360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341120" y="97536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435608" y="975360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30096" y="975360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24584" y="975360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19072" y="97536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13560" y="97536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908048" y="975360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002536" y="975360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097024" y="97536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191512" y="975360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286000" y="97536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380488" y="975360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474976" y="97536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69464" y="975360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663952" y="975360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758440" y="97536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52928" y="975360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947416" y="975360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041904" y="975360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136392" y="975360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230880" y="97536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325368" y="975360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19856" y="97536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14344" y="97536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08832" y="975360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68680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63168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057656" y="106984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2144" y="106984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46632" y="1069848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41120" y="1069848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435608" y="106984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30096" y="1069848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624584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719072" y="1069848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813560" y="1069848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908048" y="106984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002536" y="106984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097024" y="1069848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191512" y="1069848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286000" y="1069848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380488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474976" y="1069848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569464" y="1069848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663952" y="1069848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758440" y="1069848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852928" y="106984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947416" y="1069848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041904" y="1069848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136392" y="1069848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230880" y="106984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25368" y="106984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419856" y="1069848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514344" y="1069848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08832" y="106984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68680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63168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57656" y="116433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152144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246632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341120" y="1164336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435608" y="1164336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530096" y="116433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624584" y="1164336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719072" y="1164336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813560" y="1164336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908048" y="1164336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002536" y="116433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097024" y="1164336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191512" y="1164336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286000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38048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74976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9464" y="1164336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63952" y="1164336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758440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852928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947416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041904" y="1164336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3136392" y="1164336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30880" y="1164336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32536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419856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514344" y="116433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08832" y="116433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68680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63168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057656" y="1258824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52144" y="125882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46632" y="125882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341120" y="1258824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435608" y="1258824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30096" y="1258824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624584" y="125882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19072" y="1258824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13560" y="1258824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90804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002536" y="1258824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097024" y="125882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191512" y="125882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286000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238048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2474976" y="1258824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2569464" y="125882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2663952" y="1258824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758440" y="125882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852928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947416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3041904" y="125882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3136392" y="1258824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3230880" y="1258824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325368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419856" y="1258824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514344" y="125882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08832" y="1258824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68680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63168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057656" y="1353312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152144" y="135331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246632" y="135331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341120" y="1353312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435608" y="1353312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30096" y="1353312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24584" y="1353312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719072" y="135331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813560" y="1353312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908048" y="1353312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002536" y="135331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097024" y="1353312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191512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286000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2380488" y="135331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474976" y="1353312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69464" y="1353312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663952" y="135331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58440" y="1353312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52928" y="1353312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947416" y="1353312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041904" y="1353312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136392" y="135331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30880" y="1353312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325368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419856" y="1353312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514344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08832" y="135331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68680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63168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57656" y="1447800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152144" y="144780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246632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341120" y="144780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1435608" y="1447800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1530096" y="1447800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1624584" y="1447800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1719072" y="1447800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1813560" y="144780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1908048" y="1447800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002536" y="1447800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2097024" y="1447800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191512" y="1447800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2286000" y="144780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2380488" y="144780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2474976" y="1447800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2569464" y="1447800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2663952" y="1447800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758440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852928" y="1447800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947416" y="1447800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3041904" y="1447800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3136392" y="1447800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3230880" y="144780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325368" y="144780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419856" y="1447800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514344" y="144780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08832" y="1447800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8680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63168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057656" y="154228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52144" y="1542288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246632" y="1542288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341120" y="1542288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435608" y="154228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530096" y="1542288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624584" y="154228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719072" y="154228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813560" y="1542288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908048" y="154228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002536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2097024" y="1542288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2191512" y="154228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2286000" y="154228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2380488" y="154228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2474976" y="1542288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2569464" y="154228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2663952" y="1542288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758440" y="1542288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852928" y="154228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947416" y="154228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3041904" y="1542288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3136392" y="154228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3230880" y="1542288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25368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419856" y="1542288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514344" y="1542288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08832" y="154228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68680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3168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057656" y="163677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152144" y="1636776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46632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341120" y="163677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435608" y="1636776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530096" y="163677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624584" y="1636776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719072" y="163677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813560" y="1636776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908048" y="1636776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002536" y="163677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097024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191512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286000" y="1636776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380488" y="1636776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474976" y="163677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69464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63952" y="1636776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758440" y="1636776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852928" y="1636776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947416" y="163677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3041904" y="1636776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3136392" y="1636776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3230880" y="1636776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325368" y="1636776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419856" y="163677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514344" y="1636776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08832" y="1636776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68680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963168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7656" y="1731264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152144" y="173126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246632" y="1731264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341120" y="173126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435608" y="1731264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530096" y="1731264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624584" y="173126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719072" y="1731264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813560" y="1731264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908048" y="1731264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2002536" y="1731264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2097024" y="173126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2191512" y="1731264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2286000" y="1731264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2380488" y="1731264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2474976" y="173126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2569464" y="173126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2663952" y="1731264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758440" y="1731264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52928" y="173126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947416" y="1731264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3041904" y="173126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3136392" y="1731264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3230880" y="173126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325368" y="1731264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419856" y="1731264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514344" y="173126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08832" y="1731264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8680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963168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1057656" y="1825752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1152144" y="1825752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1246632" y="182575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1341120" y="1825752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1435608" y="1825752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1530096" y="1825752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1624584" y="1825752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1719072" y="182575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1813560" y="1825752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1908048" y="1825752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2002536" y="1825752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2097024" y="1825752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2191512" y="182575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2286000" y="1825752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2380488" y="1825752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2474976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2569464" y="182575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2663952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2758440" y="1825752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2852928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2947416" y="182575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3041904" y="182575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3136392" y="182575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3230880" y="1825752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3325368" y="1825752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3419856" y="1825752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3514344" y="1825752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3608832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68680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63168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1057656" y="192024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1152144" y="1920240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1246632" y="192024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1341120" y="192024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1435608" y="192024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1530096" y="1920240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1624584" y="1920240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1719072" y="1920240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1813560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1908048" y="192024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2002536" y="1920240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2097024" y="1920240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2191512" y="1920240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2286000" y="192024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2380488" y="1920240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2474976" y="1920240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2569464" y="1920240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2663952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2758440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2852928" y="1920240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2947416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3041904" y="1920240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3136392" y="1920240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3230880" y="192024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3325368" y="1920240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3419856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3514344" y="1920240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608832" y="192024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868680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63168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1057656" y="2014728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1152144" y="2014728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1246632" y="2014728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1341120" y="2014728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35608" y="201472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530096" y="201472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624584" y="201472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1719072" y="201472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1813560" y="201472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1908048" y="201472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2002536" y="201472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2097024" y="2014728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2191512" y="2014728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2286000" y="2014728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2380488" y="201472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2474976" y="2014728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2569464" y="2014728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2663952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2758440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2852928" y="201472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2947416" y="201472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3041904" y="2014728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3136392" y="201472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3230880" y="2014728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3325368" y="201472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3419856" y="2014728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3514344" y="2014728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3608832" y="2014728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868680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963168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057656" y="210921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152144" y="2109216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1246632" y="2109216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1341120" y="2109216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1435608" y="2109216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Rectangle 519"/>
          <p:cNvSpPr/>
          <p:nvPr/>
        </p:nvSpPr>
        <p:spPr>
          <a:xfrm>
            <a:off x="1530096" y="210921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ectangle 520"/>
          <p:cNvSpPr/>
          <p:nvPr/>
        </p:nvSpPr>
        <p:spPr>
          <a:xfrm>
            <a:off x="1624584" y="2109216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1719072" y="2109216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1813560" y="2109216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1908048" y="2109216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2002536" y="210921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2097024" y="2109216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2191512" y="210921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2286000" y="2109216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2380488" y="2109216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2474976" y="210921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2569464" y="2109216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2663952" y="210921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2758440" y="2109216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2852928" y="2109216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2947416" y="210921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041904" y="2109216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3136392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3230880" y="2109216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3325368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3419856" y="210921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3514344" y="2109216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3608832" y="2109216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68680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963168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1057656" y="2203704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152144" y="220370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246632" y="220370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341120" y="2203704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435608" y="2203704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530096" y="2203704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624584" y="220370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719072" y="2203704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813560" y="2203704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908048" y="220370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2002536" y="2203704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2097024" y="220370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2191512" y="220370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2286000" y="2203704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2380488" y="2203704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2474976" y="2203704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2569464" y="220370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663952" y="2203704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758440" y="2203704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852928" y="2203704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947416" y="220370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3041904" y="220370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3136392" y="2203704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3230880" y="2203704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3325368" y="220370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3419856" y="2203704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3514344" y="220370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3608832" y="220370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68680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963168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105765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1152144" y="2298192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1246632" y="229819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341120" y="229819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435608" y="2298192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530096" y="2298192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1624584" y="2298192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1719072" y="229819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1813560" y="2298192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1908048" y="2298192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002536" y="2298192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097024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191512" y="229819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2286000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2380488" y="2298192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247497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2569464" y="2298192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2663952" y="229819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2758440" y="2298192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852928" y="2298192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2947416" y="2298192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3041904" y="2298192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3136392" y="229819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3230880" y="2298192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3325368" y="2298192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3419856" y="2298192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3514344" y="2298192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3608832" y="229819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868680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963168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1057656" y="2392680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1152144" y="2392680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1246632" y="2392680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1341120" y="239268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1435608" y="2392680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1530096" y="2392680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1624584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1719072" y="2392680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1813560" y="239268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1908048" y="2392680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2002536" y="2392680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2097024" y="239268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2191512" y="2392680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2286000" y="239268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2380488" y="2392680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2474976" y="2392680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2569464" y="2392680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2663952" y="2392680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2758440" y="239268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2852928" y="2392680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2947416" y="2392680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3041904" y="2392680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3136392" y="2392680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3230880" y="239268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3325368" y="2392680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3419856" y="239268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3514344" y="2392680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3608832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68680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963168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1057656" y="2487168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1152144" y="248716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1246632" y="2487168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1341120" y="2487168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1435608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1530096" y="2487168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1624584" y="2487168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1719072" y="2487168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ectangle 642"/>
          <p:cNvSpPr/>
          <p:nvPr/>
        </p:nvSpPr>
        <p:spPr>
          <a:xfrm>
            <a:off x="1813560" y="248716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ectangle 643"/>
          <p:cNvSpPr/>
          <p:nvPr/>
        </p:nvSpPr>
        <p:spPr>
          <a:xfrm>
            <a:off x="1908048" y="248716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ectangle 644"/>
          <p:cNvSpPr/>
          <p:nvPr/>
        </p:nvSpPr>
        <p:spPr>
          <a:xfrm>
            <a:off x="2002536" y="2487168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2097024" y="2487168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ectangle 646"/>
          <p:cNvSpPr/>
          <p:nvPr/>
        </p:nvSpPr>
        <p:spPr>
          <a:xfrm>
            <a:off x="2191512" y="248716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ectangle 647"/>
          <p:cNvSpPr/>
          <p:nvPr/>
        </p:nvSpPr>
        <p:spPr>
          <a:xfrm>
            <a:off x="2286000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ectangle 648"/>
          <p:cNvSpPr/>
          <p:nvPr/>
        </p:nvSpPr>
        <p:spPr>
          <a:xfrm>
            <a:off x="2380488" y="248716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ectangle 649"/>
          <p:cNvSpPr/>
          <p:nvPr/>
        </p:nvSpPr>
        <p:spPr>
          <a:xfrm>
            <a:off x="2474976" y="2487168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ectangle 650"/>
          <p:cNvSpPr/>
          <p:nvPr/>
        </p:nvSpPr>
        <p:spPr>
          <a:xfrm>
            <a:off x="2569464" y="2487168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ectangle 651"/>
          <p:cNvSpPr/>
          <p:nvPr/>
        </p:nvSpPr>
        <p:spPr>
          <a:xfrm>
            <a:off x="2663952" y="2487168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2758440" y="2487168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ectangle 653"/>
          <p:cNvSpPr/>
          <p:nvPr/>
        </p:nvSpPr>
        <p:spPr>
          <a:xfrm>
            <a:off x="2852928" y="248716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Rectangle 654"/>
          <p:cNvSpPr/>
          <p:nvPr/>
        </p:nvSpPr>
        <p:spPr>
          <a:xfrm>
            <a:off x="2947416" y="2487168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Rectangle 655"/>
          <p:cNvSpPr/>
          <p:nvPr/>
        </p:nvSpPr>
        <p:spPr>
          <a:xfrm>
            <a:off x="3041904" y="2487168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3136392" y="2487168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3230880" y="2487168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3325368" y="248716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3419856" y="2487168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3514344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608832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68680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963168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1057656" y="258165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1152144" y="2581656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1246632" y="2581656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341120" y="2581656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1435608" y="2581656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1530096" y="258165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1624584" y="2581656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1719072" y="2581656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1813560" y="2581656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1908048" y="2581656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2002536" y="258165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2097024" y="2581656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2191512" y="2581656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2286000" y="2581656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2380488" y="2581656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2474976" y="258165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2569464" y="2581656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2663952" y="2581656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2758440" y="2581656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2852928" y="2581656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2947416" y="258165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3041904" y="2581656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3136392" y="258165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3230880" y="2581656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3325368" y="2581656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3419856" y="258165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3514344" y="2581656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3608832" y="2581656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Rectangle 692"/>
          <p:cNvSpPr/>
          <p:nvPr/>
        </p:nvSpPr>
        <p:spPr>
          <a:xfrm>
            <a:off x="868680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Rectangle 693"/>
          <p:cNvSpPr/>
          <p:nvPr/>
        </p:nvSpPr>
        <p:spPr>
          <a:xfrm>
            <a:off x="963168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Rectangle 694"/>
          <p:cNvSpPr/>
          <p:nvPr/>
        </p:nvSpPr>
        <p:spPr>
          <a:xfrm>
            <a:off x="1057656" y="2676144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Rectangle 695"/>
          <p:cNvSpPr/>
          <p:nvPr/>
        </p:nvSpPr>
        <p:spPr>
          <a:xfrm>
            <a:off x="1152144" y="267614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Rectangle 696"/>
          <p:cNvSpPr/>
          <p:nvPr/>
        </p:nvSpPr>
        <p:spPr>
          <a:xfrm>
            <a:off x="1246632" y="2676144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Rectangle 697"/>
          <p:cNvSpPr/>
          <p:nvPr/>
        </p:nvSpPr>
        <p:spPr>
          <a:xfrm>
            <a:off x="1341120" y="2676144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Rectangle 698"/>
          <p:cNvSpPr/>
          <p:nvPr/>
        </p:nvSpPr>
        <p:spPr>
          <a:xfrm>
            <a:off x="1435608" y="267614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Rectangle 699"/>
          <p:cNvSpPr/>
          <p:nvPr/>
        </p:nvSpPr>
        <p:spPr>
          <a:xfrm>
            <a:off x="1530096" y="2676144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Rectangle 700"/>
          <p:cNvSpPr/>
          <p:nvPr/>
        </p:nvSpPr>
        <p:spPr>
          <a:xfrm>
            <a:off x="1624584" y="267614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Rectangle 701"/>
          <p:cNvSpPr/>
          <p:nvPr/>
        </p:nvSpPr>
        <p:spPr>
          <a:xfrm>
            <a:off x="1719072" y="267614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Rectangle 702"/>
          <p:cNvSpPr/>
          <p:nvPr/>
        </p:nvSpPr>
        <p:spPr>
          <a:xfrm>
            <a:off x="1813560" y="2676144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Rectangle 703"/>
          <p:cNvSpPr/>
          <p:nvPr/>
        </p:nvSpPr>
        <p:spPr>
          <a:xfrm>
            <a:off x="1908048" y="267614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Rectangle 704"/>
          <p:cNvSpPr/>
          <p:nvPr/>
        </p:nvSpPr>
        <p:spPr>
          <a:xfrm>
            <a:off x="2002536" y="2676144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Rectangle 705"/>
          <p:cNvSpPr/>
          <p:nvPr/>
        </p:nvSpPr>
        <p:spPr>
          <a:xfrm>
            <a:off x="2097024" y="267614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Rectangle 706"/>
          <p:cNvSpPr/>
          <p:nvPr/>
        </p:nvSpPr>
        <p:spPr>
          <a:xfrm>
            <a:off x="2191512" y="2676144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Rectangle 707"/>
          <p:cNvSpPr/>
          <p:nvPr/>
        </p:nvSpPr>
        <p:spPr>
          <a:xfrm>
            <a:off x="2286000" y="2676144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Rectangle 708"/>
          <p:cNvSpPr/>
          <p:nvPr/>
        </p:nvSpPr>
        <p:spPr>
          <a:xfrm>
            <a:off x="2380488" y="2676144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Rectangle 709"/>
          <p:cNvSpPr/>
          <p:nvPr/>
        </p:nvSpPr>
        <p:spPr>
          <a:xfrm>
            <a:off x="2474976" y="2676144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Rectangle 710"/>
          <p:cNvSpPr/>
          <p:nvPr/>
        </p:nvSpPr>
        <p:spPr>
          <a:xfrm>
            <a:off x="2569464" y="267614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2663952" y="267614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Rectangle 712"/>
          <p:cNvSpPr/>
          <p:nvPr/>
        </p:nvSpPr>
        <p:spPr>
          <a:xfrm>
            <a:off x="2758440" y="2676144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Rectangle 713"/>
          <p:cNvSpPr/>
          <p:nvPr/>
        </p:nvSpPr>
        <p:spPr>
          <a:xfrm>
            <a:off x="2852928" y="2676144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Rectangle 714"/>
          <p:cNvSpPr/>
          <p:nvPr/>
        </p:nvSpPr>
        <p:spPr>
          <a:xfrm>
            <a:off x="2947416" y="2676144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Rectangle 715"/>
          <p:cNvSpPr/>
          <p:nvPr/>
        </p:nvSpPr>
        <p:spPr>
          <a:xfrm>
            <a:off x="3041904" y="267614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3136392" y="2676144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3230880" y="2676144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3325368" y="2676144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3419856" y="267614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3514344" y="267614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3608832" y="2676144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868680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963168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057656" y="2770632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152144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1246632" y="277063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Rectangle 727"/>
          <p:cNvSpPr/>
          <p:nvPr/>
        </p:nvSpPr>
        <p:spPr>
          <a:xfrm>
            <a:off x="1341120" y="2770632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Rectangle 728"/>
          <p:cNvSpPr/>
          <p:nvPr/>
        </p:nvSpPr>
        <p:spPr>
          <a:xfrm>
            <a:off x="1435608" y="2770632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Rectangle 729"/>
          <p:cNvSpPr/>
          <p:nvPr/>
        </p:nvSpPr>
        <p:spPr>
          <a:xfrm>
            <a:off x="1530096" y="2770632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ectangle 730"/>
          <p:cNvSpPr/>
          <p:nvPr/>
        </p:nvSpPr>
        <p:spPr>
          <a:xfrm>
            <a:off x="1624584" y="2770632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ectangle 731"/>
          <p:cNvSpPr/>
          <p:nvPr/>
        </p:nvSpPr>
        <p:spPr>
          <a:xfrm>
            <a:off x="1719072" y="277063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ectangle 732"/>
          <p:cNvSpPr/>
          <p:nvPr/>
        </p:nvSpPr>
        <p:spPr>
          <a:xfrm>
            <a:off x="1813560" y="2770632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ectangle 733"/>
          <p:cNvSpPr/>
          <p:nvPr/>
        </p:nvSpPr>
        <p:spPr>
          <a:xfrm>
            <a:off x="1908048" y="2770632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ectangle 734"/>
          <p:cNvSpPr/>
          <p:nvPr/>
        </p:nvSpPr>
        <p:spPr>
          <a:xfrm>
            <a:off x="2002536" y="2770632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ectangle 735"/>
          <p:cNvSpPr/>
          <p:nvPr/>
        </p:nvSpPr>
        <p:spPr>
          <a:xfrm>
            <a:off x="2097024" y="2770632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ectangle 736"/>
          <p:cNvSpPr/>
          <p:nvPr/>
        </p:nvSpPr>
        <p:spPr>
          <a:xfrm>
            <a:off x="2191512" y="277063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ectangle 737"/>
          <p:cNvSpPr/>
          <p:nvPr/>
        </p:nvSpPr>
        <p:spPr>
          <a:xfrm>
            <a:off x="2286000" y="2770632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ectangle 738"/>
          <p:cNvSpPr/>
          <p:nvPr/>
        </p:nvSpPr>
        <p:spPr>
          <a:xfrm>
            <a:off x="2380488" y="2770632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ectangle 739"/>
          <p:cNvSpPr/>
          <p:nvPr/>
        </p:nvSpPr>
        <p:spPr>
          <a:xfrm>
            <a:off x="2474976" y="277063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ectangle 740"/>
          <p:cNvSpPr/>
          <p:nvPr/>
        </p:nvSpPr>
        <p:spPr>
          <a:xfrm>
            <a:off x="2569464" y="2770632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ectangle 741"/>
          <p:cNvSpPr/>
          <p:nvPr/>
        </p:nvSpPr>
        <p:spPr>
          <a:xfrm>
            <a:off x="2663952" y="277063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ectangle 742"/>
          <p:cNvSpPr/>
          <p:nvPr/>
        </p:nvSpPr>
        <p:spPr>
          <a:xfrm>
            <a:off x="2758440" y="2770632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ectangle 743"/>
          <p:cNvSpPr/>
          <p:nvPr/>
        </p:nvSpPr>
        <p:spPr>
          <a:xfrm>
            <a:off x="2852928" y="2770632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ectangle 744"/>
          <p:cNvSpPr/>
          <p:nvPr/>
        </p:nvSpPr>
        <p:spPr>
          <a:xfrm>
            <a:off x="2947416" y="2770632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ectangle 745"/>
          <p:cNvSpPr/>
          <p:nvPr/>
        </p:nvSpPr>
        <p:spPr>
          <a:xfrm>
            <a:off x="3041904" y="2770632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ectangle 746"/>
          <p:cNvSpPr/>
          <p:nvPr/>
        </p:nvSpPr>
        <p:spPr>
          <a:xfrm>
            <a:off x="3136392" y="277063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ectangle 747"/>
          <p:cNvSpPr/>
          <p:nvPr/>
        </p:nvSpPr>
        <p:spPr>
          <a:xfrm>
            <a:off x="3230880" y="2770632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ectangle 748"/>
          <p:cNvSpPr/>
          <p:nvPr/>
        </p:nvSpPr>
        <p:spPr>
          <a:xfrm>
            <a:off x="3325368" y="2770632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ectangle 749"/>
          <p:cNvSpPr/>
          <p:nvPr/>
        </p:nvSpPr>
        <p:spPr>
          <a:xfrm>
            <a:off x="3419856" y="2770632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ectangle 750"/>
          <p:cNvSpPr/>
          <p:nvPr/>
        </p:nvSpPr>
        <p:spPr>
          <a:xfrm>
            <a:off x="3514344" y="2770632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ectangle 751"/>
          <p:cNvSpPr/>
          <p:nvPr/>
        </p:nvSpPr>
        <p:spPr>
          <a:xfrm>
            <a:off x="3608832" y="277063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ectangle 752"/>
          <p:cNvSpPr/>
          <p:nvPr/>
        </p:nvSpPr>
        <p:spPr>
          <a:xfrm>
            <a:off x="868680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ectangle 753"/>
          <p:cNvSpPr/>
          <p:nvPr/>
        </p:nvSpPr>
        <p:spPr>
          <a:xfrm>
            <a:off x="963168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ectangle 754"/>
          <p:cNvSpPr/>
          <p:nvPr/>
        </p:nvSpPr>
        <p:spPr>
          <a:xfrm>
            <a:off x="1057656" y="2865120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ectangle 755"/>
          <p:cNvSpPr/>
          <p:nvPr/>
        </p:nvSpPr>
        <p:spPr>
          <a:xfrm>
            <a:off x="1152144" y="2865120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ectangle 756"/>
          <p:cNvSpPr/>
          <p:nvPr/>
        </p:nvSpPr>
        <p:spPr>
          <a:xfrm>
            <a:off x="1246632" y="2865120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ectangle 757"/>
          <p:cNvSpPr/>
          <p:nvPr/>
        </p:nvSpPr>
        <p:spPr>
          <a:xfrm>
            <a:off x="1341120" y="286512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ectangle 758"/>
          <p:cNvSpPr/>
          <p:nvPr/>
        </p:nvSpPr>
        <p:spPr>
          <a:xfrm>
            <a:off x="1435608" y="286512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ectangle 759"/>
          <p:cNvSpPr/>
          <p:nvPr/>
        </p:nvSpPr>
        <p:spPr>
          <a:xfrm>
            <a:off x="1530096" y="2865120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ectangle 760"/>
          <p:cNvSpPr/>
          <p:nvPr/>
        </p:nvSpPr>
        <p:spPr>
          <a:xfrm>
            <a:off x="1624584" y="2865120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ectangle 761"/>
          <p:cNvSpPr/>
          <p:nvPr/>
        </p:nvSpPr>
        <p:spPr>
          <a:xfrm>
            <a:off x="1719072" y="2865120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ectangle 762"/>
          <p:cNvSpPr/>
          <p:nvPr/>
        </p:nvSpPr>
        <p:spPr>
          <a:xfrm>
            <a:off x="1813560" y="286512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ectangle 763"/>
          <p:cNvSpPr/>
          <p:nvPr/>
        </p:nvSpPr>
        <p:spPr>
          <a:xfrm>
            <a:off x="1908048" y="286512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ectangle 764"/>
          <p:cNvSpPr/>
          <p:nvPr/>
        </p:nvSpPr>
        <p:spPr>
          <a:xfrm>
            <a:off x="2002536" y="2865120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ectangle 765"/>
          <p:cNvSpPr/>
          <p:nvPr/>
        </p:nvSpPr>
        <p:spPr>
          <a:xfrm>
            <a:off x="2097024" y="2865120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ectangle 766"/>
          <p:cNvSpPr/>
          <p:nvPr/>
        </p:nvSpPr>
        <p:spPr>
          <a:xfrm>
            <a:off x="2191512" y="2865120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ectangle 767"/>
          <p:cNvSpPr/>
          <p:nvPr/>
        </p:nvSpPr>
        <p:spPr>
          <a:xfrm>
            <a:off x="2286000" y="286512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ectangle 768"/>
          <p:cNvSpPr/>
          <p:nvPr/>
        </p:nvSpPr>
        <p:spPr>
          <a:xfrm>
            <a:off x="2380488" y="2865120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ectangle 769"/>
          <p:cNvSpPr/>
          <p:nvPr/>
        </p:nvSpPr>
        <p:spPr>
          <a:xfrm>
            <a:off x="2474976" y="2865120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ectangle 770"/>
          <p:cNvSpPr/>
          <p:nvPr/>
        </p:nvSpPr>
        <p:spPr>
          <a:xfrm>
            <a:off x="2569464" y="2865120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ectangle 771"/>
          <p:cNvSpPr/>
          <p:nvPr/>
        </p:nvSpPr>
        <p:spPr>
          <a:xfrm>
            <a:off x="2663952" y="2865120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ectangle 772"/>
          <p:cNvSpPr/>
          <p:nvPr/>
        </p:nvSpPr>
        <p:spPr>
          <a:xfrm>
            <a:off x="2758440" y="286512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ectangle 773"/>
          <p:cNvSpPr/>
          <p:nvPr/>
        </p:nvSpPr>
        <p:spPr>
          <a:xfrm>
            <a:off x="2852928" y="2865120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ectangle 774"/>
          <p:cNvSpPr/>
          <p:nvPr/>
        </p:nvSpPr>
        <p:spPr>
          <a:xfrm>
            <a:off x="2947416" y="2865120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ectangle 775"/>
          <p:cNvSpPr/>
          <p:nvPr/>
        </p:nvSpPr>
        <p:spPr>
          <a:xfrm>
            <a:off x="3041904" y="2865120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3136392" y="2865120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3230880" y="28651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ectangle 778"/>
          <p:cNvSpPr/>
          <p:nvPr/>
        </p:nvSpPr>
        <p:spPr>
          <a:xfrm>
            <a:off x="3325368" y="286512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ectangle 779"/>
          <p:cNvSpPr/>
          <p:nvPr/>
        </p:nvSpPr>
        <p:spPr>
          <a:xfrm>
            <a:off x="3419856" y="2865120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ectangle 780"/>
          <p:cNvSpPr/>
          <p:nvPr/>
        </p:nvSpPr>
        <p:spPr>
          <a:xfrm>
            <a:off x="3514344" y="2865120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ectangle 781"/>
          <p:cNvSpPr/>
          <p:nvPr/>
        </p:nvSpPr>
        <p:spPr>
          <a:xfrm>
            <a:off x="3608832" y="2865120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ectangle 782"/>
          <p:cNvSpPr/>
          <p:nvPr/>
        </p:nvSpPr>
        <p:spPr>
          <a:xfrm>
            <a:off x="868680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ectangle 783"/>
          <p:cNvSpPr/>
          <p:nvPr/>
        </p:nvSpPr>
        <p:spPr>
          <a:xfrm>
            <a:off x="963168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ectangle 784"/>
          <p:cNvSpPr/>
          <p:nvPr/>
        </p:nvSpPr>
        <p:spPr>
          <a:xfrm>
            <a:off x="1057656" y="2959608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ectangle 785"/>
          <p:cNvSpPr/>
          <p:nvPr/>
        </p:nvSpPr>
        <p:spPr>
          <a:xfrm>
            <a:off x="1152144" y="2959608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ectangle 786"/>
          <p:cNvSpPr/>
          <p:nvPr/>
        </p:nvSpPr>
        <p:spPr>
          <a:xfrm>
            <a:off x="1246632" y="2959608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ectangle 787"/>
          <p:cNvSpPr/>
          <p:nvPr/>
        </p:nvSpPr>
        <p:spPr>
          <a:xfrm>
            <a:off x="1341120" y="2959608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ectangle 788"/>
          <p:cNvSpPr/>
          <p:nvPr/>
        </p:nvSpPr>
        <p:spPr>
          <a:xfrm>
            <a:off x="1435608" y="295960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530096" y="295960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ectangle 790"/>
          <p:cNvSpPr/>
          <p:nvPr/>
        </p:nvSpPr>
        <p:spPr>
          <a:xfrm>
            <a:off x="1624584" y="2959608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ectangle 791"/>
          <p:cNvSpPr/>
          <p:nvPr/>
        </p:nvSpPr>
        <p:spPr>
          <a:xfrm>
            <a:off x="1719072" y="2959608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ectangle 792"/>
          <p:cNvSpPr/>
          <p:nvPr/>
        </p:nvSpPr>
        <p:spPr>
          <a:xfrm>
            <a:off x="1813560" y="295960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ectangle 793"/>
          <p:cNvSpPr/>
          <p:nvPr/>
        </p:nvSpPr>
        <p:spPr>
          <a:xfrm>
            <a:off x="1908048" y="295960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ectangle 794"/>
          <p:cNvSpPr/>
          <p:nvPr/>
        </p:nvSpPr>
        <p:spPr>
          <a:xfrm>
            <a:off x="2002536" y="2959608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ectangle 795"/>
          <p:cNvSpPr/>
          <p:nvPr/>
        </p:nvSpPr>
        <p:spPr>
          <a:xfrm>
            <a:off x="2097024" y="2959608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ectangle 796"/>
          <p:cNvSpPr/>
          <p:nvPr/>
        </p:nvSpPr>
        <p:spPr>
          <a:xfrm>
            <a:off x="2191512" y="2959608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ectangle 797"/>
          <p:cNvSpPr/>
          <p:nvPr/>
        </p:nvSpPr>
        <p:spPr>
          <a:xfrm>
            <a:off x="2286000" y="2959608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ectangle 798"/>
          <p:cNvSpPr/>
          <p:nvPr/>
        </p:nvSpPr>
        <p:spPr>
          <a:xfrm>
            <a:off x="2380488" y="295960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ectangle 799"/>
          <p:cNvSpPr/>
          <p:nvPr/>
        </p:nvSpPr>
        <p:spPr>
          <a:xfrm>
            <a:off x="2474976" y="29596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ectangle 800"/>
          <p:cNvSpPr/>
          <p:nvPr/>
        </p:nvSpPr>
        <p:spPr>
          <a:xfrm>
            <a:off x="2569464" y="2959608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ectangle 801"/>
          <p:cNvSpPr/>
          <p:nvPr/>
        </p:nvSpPr>
        <p:spPr>
          <a:xfrm>
            <a:off x="2663952" y="2959608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ectangle 802"/>
          <p:cNvSpPr/>
          <p:nvPr/>
        </p:nvSpPr>
        <p:spPr>
          <a:xfrm>
            <a:off x="2758440" y="2959608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ectangle 803"/>
          <p:cNvSpPr/>
          <p:nvPr/>
        </p:nvSpPr>
        <p:spPr>
          <a:xfrm>
            <a:off x="2852928" y="295960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ectangle 804"/>
          <p:cNvSpPr/>
          <p:nvPr/>
        </p:nvSpPr>
        <p:spPr>
          <a:xfrm>
            <a:off x="2947416" y="2959608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ectangle 805"/>
          <p:cNvSpPr/>
          <p:nvPr/>
        </p:nvSpPr>
        <p:spPr>
          <a:xfrm>
            <a:off x="3041904" y="2959608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ectangle 806"/>
          <p:cNvSpPr/>
          <p:nvPr/>
        </p:nvSpPr>
        <p:spPr>
          <a:xfrm>
            <a:off x="3136392" y="2959608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ectangle 807"/>
          <p:cNvSpPr/>
          <p:nvPr/>
        </p:nvSpPr>
        <p:spPr>
          <a:xfrm>
            <a:off x="3230880" y="295960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ectangle 808"/>
          <p:cNvSpPr/>
          <p:nvPr/>
        </p:nvSpPr>
        <p:spPr>
          <a:xfrm>
            <a:off x="3325368" y="29596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ectangle 809"/>
          <p:cNvSpPr/>
          <p:nvPr/>
        </p:nvSpPr>
        <p:spPr>
          <a:xfrm>
            <a:off x="3419856" y="2959608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ectangle 810"/>
          <p:cNvSpPr/>
          <p:nvPr/>
        </p:nvSpPr>
        <p:spPr>
          <a:xfrm>
            <a:off x="3514344" y="2959608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Rectangle 811"/>
          <p:cNvSpPr/>
          <p:nvPr/>
        </p:nvSpPr>
        <p:spPr>
          <a:xfrm>
            <a:off x="3608832" y="2959608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Rectangle 812"/>
          <p:cNvSpPr/>
          <p:nvPr/>
        </p:nvSpPr>
        <p:spPr>
          <a:xfrm>
            <a:off x="868680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Rectangle 813"/>
          <p:cNvSpPr/>
          <p:nvPr/>
        </p:nvSpPr>
        <p:spPr>
          <a:xfrm>
            <a:off x="963168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Rectangle 814"/>
          <p:cNvSpPr/>
          <p:nvPr/>
        </p:nvSpPr>
        <p:spPr>
          <a:xfrm>
            <a:off x="1057656" y="30540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Rectangle 815"/>
          <p:cNvSpPr/>
          <p:nvPr/>
        </p:nvSpPr>
        <p:spPr>
          <a:xfrm>
            <a:off x="1152144" y="3054096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Rectangle 816"/>
          <p:cNvSpPr/>
          <p:nvPr/>
        </p:nvSpPr>
        <p:spPr>
          <a:xfrm>
            <a:off x="1246632" y="305409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Rectangle 817"/>
          <p:cNvSpPr/>
          <p:nvPr/>
        </p:nvSpPr>
        <p:spPr>
          <a:xfrm>
            <a:off x="1341120" y="3054096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Rectangle 818"/>
          <p:cNvSpPr/>
          <p:nvPr/>
        </p:nvSpPr>
        <p:spPr>
          <a:xfrm>
            <a:off x="1435608" y="3054096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Rectangle 819"/>
          <p:cNvSpPr/>
          <p:nvPr/>
        </p:nvSpPr>
        <p:spPr>
          <a:xfrm>
            <a:off x="1530096" y="305409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Rectangle 820"/>
          <p:cNvSpPr/>
          <p:nvPr/>
        </p:nvSpPr>
        <p:spPr>
          <a:xfrm>
            <a:off x="1624584" y="3054096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Rectangle 821"/>
          <p:cNvSpPr/>
          <p:nvPr/>
        </p:nvSpPr>
        <p:spPr>
          <a:xfrm>
            <a:off x="1719072" y="3054096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Rectangle 822"/>
          <p:cNvSpPr/>
          <p:nvPr/>
        </p:nvSpPr>
        <p:spPr>
          <a:xfrm>
            <a:off x="1813560" y="3054096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Rectangle 823"/>
          <p:cNvSpPr/>
          <p:nvPr/>
        </p:nvSpPr>
        <p:spPr>
          <a:xfrm>
            <a:off x="1908048" y="3054096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Rectangle 824"/>
          <p:cNvSpPr/>
          <p:nvPr/>
        </p:nvSpPr>
        <p:spPr>
          <a:xfrm>
            <a:off x="2002536" y="305409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Rectangle 825"/>
          <p:cNvSpPr/>
          <p:nvPr/>
        </p:nvSpPr>
        <p:spPr>
          <a:xfrm>
            <a:off x="2097024" y="3054096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Rectangle 826"/>
          <p:cNvSpPr/>
          <p:nvPr/>
        </p:nvSpPr>
        <p:spPr>
          <a:xfrm>
            <a:off x="2191512" y="3054096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Rectangle 827"/>
          <p:cNvSpPr/>
          <p:nvPr/>
        </p:nvSpPr>
        <p:spPr>
          <a:xfrm>
            <a:off x="2286000" y="3054096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Rectangle 828"/>
          <p:cNvSpPr/>
          <p:nvPr/>
        </p:nvSpPr>
        <p:spPr>
          <a:xfrm>
            <a:off x="2380488" y="3054096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Rectangle 829"/>
          <p:cNvSpPr/>
          <p:nvPr/>
        </p:nvSpPr>
        <p:spPr>
          <a:xfrm>
            <a:off x="2474976" y="30540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Rectangle 830"/>
          <p:cNvSpPr/>
          <p:nvPr/>
        </p:nvSpPr>
        <p:spPr>
          <a:xfrm>
            <a:off x="2569464" y="3054096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Rectangle 831"/>
          <p:cNvSpPr/>
          <p:nvPr/>
        </p:nvSpPr>
        <p:spPr>
          <a:xfrm>
            <a:off x="2663952" y="3054096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Rectangle 832"/>
          <p:cNvSpPr/>
          <p:nvPr/>
        </p:nvSpPr>
        <p:spPr>
          <a:xfrm>
            <a:off x="2758440" y="30540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Rectangle 833"/>
          <p:cNvSpPr/>
          <p:nvPr/>
        </p:nvSpPr>
        <p:spPr>
          <a:xfrm>
            <a:off x="2852928" y="3054096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Rectangle 834"/>
          <p:cNvSpPr/>
          <p:nvPr/>
        </p:nvSpPr>
        <p:spPr>
          <a:xfrm>
            <a:off x="2947416" y="305409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Rectangle 835"/>
          <p:cNvSpPr/>
          <p:nvPr/>
        </p:nvSpPr>
        <p:spPr>
          <a:xfrm>
            <a:off x="3041904" y="30540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Rectangle 836"/>
          <p:cNvSpPr/>
          <p:nvPr/>
        </p:nvSpPr>
        <p:spPr>
          <a:xfrm>
            <a:off x="3136392" y="3054096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Rectangle 837"/>
          <p:cNvSpPr/>
          <p:nvPr/>
        </p:nvSpPr>
        <p:spPr>
          <a:xfrm>
            <a:off x="3230880" y="3054096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Rectangle 838"/>
          <p:cNvSpPr/>
          <p:nvPr/>
        </p:nvSpPr>
        <p:spPr>
          <a:xfrm>
            <a:off x="3325368" y="3054096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Rectangle 839"/>
          <p:cNvSpPr/>
          <p:nvPr/>
        </p:nvSpPr>
        <p:spPr>
          <a:xfrm>
            <a:off x="3419856" y="30540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Rectangle 840"/>
          <p:cNvSpPr/>
          <p:nvPr/>
        </p:nvSpPr>
        <p:spPr>
          <a:xfrm>
            <a:off x="3514344" y="3054096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Rectangle 841"/>
          <p:cNvSpPr/>
          <p:nvPr/>
        </p:nvSpPr>
        <p:spPr>
          <a:xfrm>
            <a:off x="3608832" y="305409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Rectangle 842"/>
          <p:cNvSpPr/>
          <p:nvPr/>
        </p:nvSpPr>
        <p:spPr>
          <a:xfrm>
            <a:off x="868680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Rectangle 843"/>
          <p:cNvSpPr/>
          <p:nvPr/>
        </p:nvSpPr>
        <p:spPr>
          <a:xfrm>
            <a:off x="963168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Rectangle 844"/>
          <p:cNvSpPr/>
          <p:nvPr/>
        </p:nvSpPr>
        <p:spPr>
          <a:xfrm>
            <a:off x="1057656" y="3148584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Rectangle 845"/>
          <p:cNvSpPr/>
          <p:nvPr/>
        </p:nvSpPr>
        <p:spPr>
          <a:xfrm>
            <a:off x="1152144" y="31485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Rectangle 846"/>
          <p:cNvSpPr/>
          <p:nvPr/>
        </p:nvSpPr>
        <p:spPr>
          <a:xfrm>
            <a:off x="1246632" y="3148584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Rectangle 847"/>
          <p:cNvSpPr/>
          <p:nvPr/>
        </p:nvSpPr>
        <p:spPr>
          <a:xfrm>
            <a:off x="1341120" y="314858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Rectangle 848"/>
          <p:cNvSpPr/>
          <p:nvPr/>
        </p:nvSpPr>
        <p:spPr>
          <a:xfrm>
            <a:off x="1435608" y="3148584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Rectangle 849"/>
          <p:cNvSpPr/>
          <p:nvPr/>
        </p:nvSpPr>
        <p:spPr>
          <a:xfrm>
            <a:off x="1530096" y="314858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Rectangle 850"/>
          <p:cNvSpPr/>
          <p:nvPr/>
        </p:nvSpPr>
        <p:spPr>
          <a:xfrm>
            <a:off x="1624584" y="314858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Rectangle 851"/>
          <p:cNvSpPr/>
          <p:nvPr/>
        </p:nvSpPr>
        <p:spPr>
          <a:xfrm>
            <a:off x="1719072" y="314858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Rectangle 852"/>
          <p:cNvSpPr/>
          <p:nvPr/>
        </p:nvSpPr>
        <p:spPr>
          <a:xfrm>
            <a:off x="1813560" y="3148584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Rectangle 853"/>
          <p:cNvSpPr/>
          <p:nvPr/>
        </p:nvSpPr>
        <p:spPr>
          <a:xfrm>
            <a:off x="1908048" y="3148584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Rectangle 854"/>
          <p:cNvSpPr/>
          <p:nvPr/>
        </p:nvSpPr>
        <p:spPr>
          <a:xfrm>
            <a:off x="2002536" y="3148584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Rectangle 855"/>
          <p:cNvSpPr/>
          <p:nvPr/>
        </p:nvSpPr>
        <p:spPr>
          <a:xfrm>
            <a:off x="2097024" y="314858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Rectangle 856"/>
          <p:cNvSpPr/>
          <p:nvPr/>
        </p:nvSpPr>
        <p:spPr>
          <a:xfrm>
            <a:off x="2191512" y="3148584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Rectangle 857"/>
          <p:cNvSpPr/>
          <p:nvPr/>
        </p:nvSpPr>
        <p:spPr>
          <a:xfrm>
            <a:off x="2286000" y="31485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Rectangle 858"/>
          <p:cNvSpPr/>
          <p:nvPr/>
        </p:nvSpPr>
        <p:spPr>
          <a:xfrm>
            <a:off x="2380488" y="3148584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Rectangle 859"/>
          <p:cNvSpPr/>
          <p:nvPr/>
        </p:nvSpPr>
        <p:spPr>
          <a:xfrm>
            <a:off x="2474976" y="314858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Rectangle 860"/>
          <p:cNvSpPr/>
          <p:nvPr/>
        </p:nvSpPr>
        <p:spPr>
          <a:xfrm>
            <a:off x="2569464" y="314858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Rectangle 861"/>
          <p:cNvSpPr/>
          <p:nvPr/>
        </p:nvSpPr>
        <p:spPr>
          <a:xfrm>
            <a:off x="2663952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Rectangle 862"/>
          <p:cNvSpPr/>
          <p:nvPr/>
        </p:nvSpPr>
        <p:spPr>
          <a:xfrm>
            <a:off x="2758440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Rectangle 863"/>
          <p:cNvSpPr/>
          <p:nvPr/>
        </p:nvSpPr>
        <p:spPr>
          <a:xfrm>
            <a:off x="2852928" y="31485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Rectangle 864"/>
          <p:cNvSpPr/>
          <p:nvPr/>
        </p:nvSpPr>
        <p:spPr>
          <a:xfrm>
            <a:off x="2947416" y="314858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Rectangle 865"/>
          <p:cNvSpPr/>
          <p:nvPr/>
        </p:nvSpPr>
        <p:spPr>
          <a:xfrm>
            <a:off x="3041904" y="314858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Rectangle 866"/>
          <p:cNvSpPr/>
          <p:nvPr/>
        </p:nvSpPr>
        <p:spPr>
          <a:xfrm>
            <a:off x="3136392" y="3148584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Rectangle 867"/>
          <p:cNvSpPr/>
          <p:nvPr/>
        </p:nvSpPr>
        <p:spPr>
          <a:xfrm>
            <a:off x="3230880" y="314858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Rectangle 868"/>
          <p:cNvSpPr/>
          <p:nvPr/>
        </p:nvSpPr>
        <p:spPr>
          <a:xfrm>
            <a:off x="3325368" y="3148584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Rectangle 869"/>
          <p:cNvSpPr/>
          <p:nvPr/>
        </p:nvSpPr>
        <p:spPr>
          <a:xfrm>
            <a:off x="3419856" y="3148584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3514344" y="31485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3608832" y="3148584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868680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963168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57656" y="3243072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Rectangle 875"/>
          <p:cNvSpPr/>
          <p:nvPr/>
        </p:nvSpPr>
        <p:spPr>
          <a:xfrm>
            <a:off x="1152144" y="3243072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Rectangle 876"/>
          <p:cNvSpPr/>
          <p:nvPr/>
        </p:nvSpPr>
        <p:spPr>
          <a:xfrm>
            <a:off x="1246632" y="32430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Rectangle 877"/>
          <p:cNvSpPr/>
          <p:nvPr/>
        </p:nvSpPr>
        <p:spPr>
          <a:xfrm>
            <a:off x="1341120" y="3243072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Rectangle 878"/>
          <p:cNvSpPr/>
          <p:nvPr/>
        </p:nvSpPr>
        <p:spPr>
          <a:xfrm>
            <a:off x="1435608" y="3243072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Rectangle 879"/>
          <p:cNvSpPr/>
          <p:nvPr/>
        </p:nvSpPr>
        <p:spPr>
          <a:xfrm>
            <a:off x="1530096" y="3243072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Rectangle 880"/>
          <p:cNvSpPr/>
          <p:nvPr/>
        </p:nvSpPr>
        <p:spPr>
          <a:xfrm>
            <a:off x="1624584" y="3243072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Rectangle 881"/>
          <p:cNvSpPr/>
          <p:nvPr/>
        </p:nvSpPr>
        <p:spPr>
          <a:xfrm>
            <a:off x="1719072" y="324307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Rectangle 882"/>
          <p:cNvSpPr/>
          <p:nvPr/>
        </p:nvSpPr>
        <p:spPr>
          <a:xfrm>
            <a:off x="1813560" y="3243072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Rectangle 883"/>
          <p:cNvSpPr/>
          <p:nvPr/>
        </p:nvSpPr>
        <p:spPr>
          <a:xfrm>
            <a:off x="1908048" y="324307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Rectangle 884"/>
          <p:cNvSpPr/>
          <p:nvPr/>
        </p:nvSpPr>
        <p:spPr>
          <a:xfrm>
            <a:off x="2002536" y="3243072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Rectangle 885"/>
          <p:cNvSpPr/>
          <p:nvPr/>
        </p:nvSpPr>
        <p:spPr>
          <a:xfrm>
            <a:off x="2097024" y="3243072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Rectangle 886"/>
          <p:cNvSpPr/>
          <p:nvPr/>
        </p:nvSpPr>
        <p:spPr>
          <a:xfrm>
            <a:off x="2191512" y="324307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Rectangle 887"/>
          <p:cNvSpPr/>
          <p:nvPr/>
        </p:nvSpPr>
        <p:spPr>
          <a:xfrm>
            <a:off x="2286000" y="3243072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Rectangle 888"/>
          <p:cNvSpPr/>
          <p:nvPr/>
        </p:nvSpPr>
        <p:spPr>
          <a:xfrm>
            <a:off x="2380488" y="3243072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Rectangle 889"/>
          <p:cNvSpPr/>
          <p:nvPr/>
        </p:nvSpPr>
        <p:spPr>
          <a:xfrm>
            <a:off x="2474976" y="324307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Rectangle 890"/>
          <p:cNvSpPr/>
          <p:nvPr/>
        </p:nvSpPr>
        <p:spPr>
          <a:xfrm>
            <a:off x="2569464" y="3243072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Rectangle 891"/>
          <p:cNvSpPr/>
          <p:nvPr/>
        </p:nvSpPr>
        <p:spPr>
          <a:xfrm>
            <a:off x="2663952" y="324307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Rectangle 892"/>
          <p:cNvSpPr/>
          <p:nvPr/>
        </p:nvSpPr>
        <p:spPr>
          <a:xfrm>
            <a:off x="2758440" y="3243072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Rectangle 893"/>
          <p:cNvSpPr/>
          <p:nvPr/>
        </p:nvSpPr>
        <p:spPr>
          <a:xfrm>
            <a:off x="2852928" y="3243072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Rectangle 894"/>
          <p:cNvSpPr/>
          <p:nvPr/>
        </p:nvSpPr>
        <p:spPr>
          <a:xfrm>
            <a:off x="2947416" y="3243072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Rectangle 895"/>
          <p:cNvSpPr/>
          <p:nvPr/>
        </p:nvSpPr>
        <p:spPr>
          <a:xfrm>
            <a:off x="3041904" y="3243072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Rectangle 896"/>
          <p:cNvSpPr/>
          <p:nvPr/>
        </p:nvSpPr>
        <p:spPr>
          <a:xfrm>
            <a:off x="3136392" y="32430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Rectangle 897"/>
          <p:cNvSpPr/>
          <p:nvPr/>
        </p:nvSpPr>
        <p:spPr>
          <a:xfrm>
            <a:off x="3230880" y="32430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Rectangle 898"/>
          <p:cNvSpPr/>
          <p:nvPr/>
        </p:nvSpPr>
        <p:spPr>
          <a:xfrm>
            <a:off x="3325368" y="3243072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Rectangle 899"/>
          <p:cNvSpPr/>
          <p:nvPr/>
        </p:nvSpPr>
        <p:spPr>
          <a:xfrm>
            <a:off x="3419856" y="324307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Rectangle 900"/>
          <p:cNvSpPr/>
          <p:nvPr/>
        </p:nvSpPr>
        <p:spPr>
          <a:xfrm>
            <a:off x="3514344" y="3243072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Rectangle 901"/>
          <p:cNvSpPr/>
          <p:nvPr/>
        </p:nvSpPr>
        <p:spPr>
          <a:xfrm>
            <a:off x="3608832" y="32430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Rectangle 902"/>
          <p:cNvSpPr/>
          <p:nvPr/>
        </p:nvSpPr>
        <p:spPr>
          <a:xfrm>
            <a:off x="868680" y="502920"/>
            <a:ext cx="2834640" cy="2834640"/>
          </a:xfrm>
          <a:prstGeom prst="rect">
            <a:avLst/>
          </a:prstGeom>
          <a:noFill/>
          <a:ln w="76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Rectangle 903"/>
          <p:cNvSpPr/>
          <p:nvPr/>
        </p:nvSpPr>
        <p:spPr>
          <a:xfrm>
            <a:off x="86868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Rectangle 904"/>
          <p:cNvSpPr/>
          <p:nvPr/>
        </p:nvSpPr>
        <p:spPr>
          <a:xfrm>
            <a:off x="777240" y="50292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Rectangle 905"/>
          <p:cNvSpPr/>
          <p:nvPr/>
        </p:nvSpPr>
        <p:spPr>
          <a:xfrm>
            <a:off x="96316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Rectangle 906"/>
          <p:cNvSpPr/>
          <p:nvPr/>
        </p:nvSpPr>
        <p:spPr>
          <a:xfrm>
            <a:off x="777240" y="59740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Rectangle 907"/>
          <p:cNvSpPr/>
          <p:nvPr/>
        </p:nvSpPr>
        <p:spPr>
          <a:xfrm>
            <a:off x="105765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Rectangle 908"/>
          <p:cNvSpPr/>
          <p:nvPr/>
        </p:nvSpPr>
        <p:spPr>
          <a:xfrm>
            <a:off x="777240" y="69189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Rectangle 909"/>
          <p:cNvSpPr/>
          <p:nvPr/>
        </p:nvSpPr>
        <p:spPr>
          <a:xfrm>
            <a:off x="1152144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Rectangle 910"/>
          <p:cNvSpPr/>
          <p:nvPr/>
        </p:nvSpPr>
        <p:spPr>
          <a:xfrm>
            <a:off x="777240" y="786384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Rectangle 911"/>
          <p:cNvSpPr/>
          <p:nvPr/>
        </p:nvSpPr>
        <p:spPr>
          <a:xfrm>
            <a:off x="1246632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Rectangle 912"/>
          <p:cNvSpPr/>
          <p:nvPr/>
        </p:nvSpPr>
        <p:spPr>
          <a:xfrm>
            <a:off x="777240" y="880872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Rectangle 913"/>
          <p:cNvSpPr/>
          <p:nvPr/>
        </p:nvSpPr>
        <p:spPr>
          <a:xfrm>
            <a:off x="134112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Rectangle 914"/>
          <p:cNvSpPr/>
          <p:nvPr/>
        </p:nvSpPr>
        <p:spPr>
          <a:xfrm>
            <a:off x="777240" y="97536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Rectangle 915"/>
          <p:cNvSpPr/>
          <p:nvPr/>
        </p:nvSpPr>
        <p:spPr>
          <a:xfrm>
            <a:off x="143560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Rectangle 916"/>
          <p:cNvSpPr/>
          <p:nvPr/>
        </p:nvSpPr>
        <p:spPr>
          <a:xfrm>
            <a:off x="777240" y="106984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Rectangle 917"/>
          <p:cNvSpPr/>
          <p:nvPr/>
        </p:nvSpPr>
        <p:spPr>
          <a:xfrm>
            <a:off x="153009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Rectangle 918"/>
          <p:cNvSpPr/>
          <p:nvPr/>
        </p:nvSpPr>
        <p:spPr>
          <a:xfrm>
            <a:off x="777240" y="116433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Rectangle 919"/>
          <p:cNvSpPr/>
          <p:nvPr/>
        </p:nvSpPr>
        <p:spPr>
          <a:xfrm>
            <a:off x="162458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Rectangle 920"/>
          <p:cNvSpPr/>
          <p:nvPr/>
        </p:nvSpPr>
        <p:spPr>
          <a:xfrm>
            <a:off x="777240" y="125882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Rectangle 921"/>
          <p:cNvSpPr/>
          <p:nvPr/>
        </p:nvSpPr>
        <p:spPr>
          <a:xfrm>
            <a:off x="171907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Rectangle 922"/>
          <p:cNvSpPr/>
          <p:nvPr/>
        </p:nvSpPr>
        <p:spPr>
          <a:xfrm>
            <a:off x="777240" y="135331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Rectangle 923"/>
          <p:cNvSpPr/>
          <p:nvPr/>
        </p:nvSpPr>
        <p:spPr>
          <a:xfrm>
            <a:off x="181356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Rectangle 924"/>
          <p:cNvSpPr/>
          <p:nvPr/>
        </p:nvSpPr>
        <p:spPr>
          <a:xfrm>
            <a:off x="777240" y="144780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Rectangle 925"/>
          <p:cNvSpPr/>
          <p:nvPr/>
        </p:nvSpPr>
        <p:spPr>
          <a:xfrm>
            <a:off x="1908048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Rectangle 926"/>
          <p:cNvSpPr/>
          <p:nvPr/>
        </p:nvSpPr>
        <p:spPr>
          <a:xfrm>
            <a:off x="777240" y="1542288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Rectangle 927"/>
          <p:cNvSpPr/>
          <p:nvPr/>
        </p:nvSpPr>
        <p:spPr>
          <a:xfrm>
            <a:off x="200253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Rectangle 928"/>
          <p:cNvSpPr/>
          <p:nvPr/>
        </p:nvSpPr>
        <p:spPr>
          <a:xfrm>
            <a:off x="777240" y="163677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Rectangle 929"/>
          <p:cNvSpPr/>
          <p:nvPr/>
        </p:nvSpPr>
        <p:spPr>
          <a:xfrm>
            <a:off x="209702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777240" y="173126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Rectangle 931"/>
          <p:cNvSpPr/>
          <p:nvPr/>
        </p:nvSpPr>
        <p:spPr>
          <a:xfrm>
            <a:off x="219151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Rectangle 932"/>
          <p:cNvSpPr/>
          <p:nvPr/>
        </p:nvSpPr>
        <p:spPr>
          <a:xfrm>
            <a:off x="777240" y="182575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Rectangle 933"/>
          <p:cNvSpPr/>
          <p:nvPr/>
        </p:nvSpPr>
        <p:spPr>
          <a:xfrm>
            <a:off x="2286000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Rectangle 934"/>
          <p:cNvSpPr/>
          <p:nvPr/>
        </p:nvSpPr>
        <p:spPr>
          <a:xfrm>
            <a:off x="777240" y="1920240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Rectangle 935"/>
          <p:cNvSpPr/>
          <p:nvPr/>
        </p:nvSpPr>
        <p:spPr>
          <a:xfrm>
            <a:off x="238048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Rectangle 936"/>
          <p:cNvSpPr/>
          <p:nvPr/>
        </p:nvSpPr>
        <p:spPr>
          <a:xfrm>
            <a:off x="777240" y="201472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Rectangle 937"/>
          <p:cNvSpPr/>
          <p:nvPr/>
        </p:nvSpPr>
        <p:spPr>
          <a:xfrm>
            <a:off x="247497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Rectangle 938"/>
          <p:cNvSpPr/>
          <p:nvPr/>
        </p:nvSpPr>
        <p:spPr>
          <a:xfrm>
            <a:off x="777240" y="210921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Rectangle 939"/>
          <p:cNvSpPr/>
          <p:nvPr/>
        </p:nvSpPr>
        <p:spPr>
          <a:xfrm>
            <a:off x="2569464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Rectangle 940"/>
          <p:cNvSpPr/>
          <p:nvPr/>
        </p:nvSpPr>
        <p:spPr>
          <a:xfrm>
            <a:off x="777240" y="2203704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Rectangle 941"/>
          <p:cNvSpPr/>
          <p:nvPr/>
        </p:nvSpPr>
        <p:spPr>
          <a:xfrm>
            <a:off x="2663952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Rectangle 942"/>
          <p:cNvSpPr/>
          <p:nvPr/>
        </p:nvSpPr>
        <p:spPr>
          <a:xfrm>
            <a:off x="777240" y="2298192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Rectangle 943"/>
          <p:cNvSpPr/>
          <p:nvPr/>
        </p:nvSpPr>
        <p:spPr>
          <a:xfrm>
            <a:off x="2758440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777240" y="2392680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Rectangle 945"/>
          <p:cNvSpPr/>
          <p:nvPr/>
        </p:nvSpPr>
        <p:spPr>
          <a:xfrm>
            <a:off x="2852928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Rectangle 946"/>
          <p:cNvSpPr/>
          <p:nvPr/>
        </p:nvSpPr>
        <p:spPr>
          <a:xfrm>
            <a:off x="777240" y="2487168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Rectangle 947"/>
          <p:cNvSpPr/>
          <p:nvPr/>
        </p:nvSpPr>
        <p:spPr>
          <a:xfrm>
            <a:off x="2947416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Rectangle 948"/>
          <p:cNvSpPr/>
          <p:nvPr/>
        </p:nvSpPr>
        <p:spPr>
          <a:xfrm>
            <a:off x="777240" y="2581656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Rectangle 949"/>
          <p:cNvSpPr/>
          <p:nvPr/>
        </p:nvSpPr>
        <p:spPr>
          <a:xfrm>
            <a:off x="3041904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Rectangle 950"/>
          <p:cNvSpPr/>
          <p:nvPr/>
        </p:nvSpPr>
        <p:spPr>
          <a:xfrm>
            <a:off x="777240" y="2676144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Rectangle 951"/>
          <p:cNvSpPr/>
          <p:nvPr/>
        </p:nvSpPr>
        <p:spPr>
          <a:xfrm>
            <a:off x="3136392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Rectangle 952"/>
          <p:cNvSpPr/>
          <p:nvPr/>
        </p:nvSpPr>
        <p:spPr>
          <a:xfrm>
            <a:off x="777240" y="2770632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Rectangle 953"/>
          <p:cNvSpPr/>
          <p:nvPr/>
        </p:nvSpPr>
        <p:spPr>
          <a:xfrm>
            <a:off x="323088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Rectangle 954"/>
          <p:cNvSpPr/>
          <p:nvPr/>
        </p:nvSpPr>
        <p:spPr>
          <a:xfrm>
            <a:off x="777240" y="286512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Rectangle 955"/>
          <p:cNvSpPr/>
          <p:nvPr/>
        </p:nvSpPr>
        <p:spPr>
          <a:xfrm>
            <a:off x="332536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Rectangle 956"/>
          <p:cNvSpPr/>
          <p:nvPr/>
        </p:nvSpPr>
        <p:spPr>
          <a:xfrm>
            <a:off x="777240" y="295960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Rectangle 957"/>
          <p:cNvSpPr/>
          <p:nvPr/>
        </p:nvSpPr>
        <p:spPr>
          <a:xfrm>
            <a:off x="341985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777240" y="305409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Rectangle 959"/>
          <p:cNvSpPr/>
          <p:nvPr/>
        </p:nvSpPr>
        <p:spPr>
          <a:xfrm>
            <a:off x="351434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Rectangle 960"/>
          <p:cNvSpPr/>
          <p:nvPr/>
        </p:nvSpPr>
        <p:spPr>
          <a:xfrm>
            <a:off x="777240" y="314858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Rectangle 961"/>
          <p:cNvSpPr/>
          <p:nvPr/>
        </p:nvSpPr>
        <p:spPr>
          <a:xfrm>
            <a:off x="360883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Rectangle 962"/>
          <p:cNvSpPr/>
          <p:nvPr/>
        </p:nvSpPr>
        <p:spPr>
          <a:xfrm>
            <a:off x="777240" y="324307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4" name="Connector 963"/>
          <p:cNvCxnSpPr/>
          <p:nvPr/>
        </p:nvCxnSpPr>
        <p:spPr>
          <a:xfrm>
            <a:off x="915924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806196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66" name="Connector 965"/>
          <p:cNvCxnSpPr/>
          <p:nvPr/>
        </p:nvCxnSpPr>
        <p:spPr>
          <a:xfrm>
            <a:off x="12938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7" name="TextBox 966"/>
          <p:cNvSpPr txBox="1"/>
          <p:nvPr/>
        </p:nvSpPr>
        <p:spPr>
          <a:xfrm>
            <a:off x="11841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68" name="Connector 967"/>
          <p:cNvCxnSpPr/>
          <p:nvPr/>
        </p:nvCxnSpPr>
        <p:spPr>
          <a:xfrm>
            <a:off x="176631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TextBox 968"/>
          <p:cNvSpPr txBox="1"/>
          <p:nvPr/>
        </p:nvSpPr>
        <p:spPr>
          <a:xfrm>
            <a:off x="165658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70" name="Connector 969"/>
          <p:cNvCxnSpPr/>
          <p:nvPr/>
        </p:nvCxnSpPr>
        <p:spPr>
          <a:xfrm>
            <a:off x="223875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1" name="TextBox 970"/>
          <p:cNvSpPr txBox="1"/>
          <p:nvPr/>
        </p:nvSpPr>
        <p:spPr>
          <a:xfrm>
            <a:off x="212902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72" name="Connector 971"/>
          <p:cNvCxnSpPr/>
          <p:nvPr/>
        </p:nvCxnSpPr>
        <p:spPr>
          <a:xfrm>
            <a:off x="271119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3" name="TextBox 972"/>
          <p:cNvSpPr txBox="1"/>
          <p:nvPr/>
        </p:nvSpPr>
        <p:spPr>
          <a:xfrm>
            <a:off x="260146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74" name="Connector 973"/>
          <p:cNvCxnSpPr/>
          <p:nvPr/>
        </p:nvCxnSpPr>
        <p:spPr>
          <a:xfrm>
            <a:off x="318363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5" name="TextBox 974"/>
          <p:cNvSpPr txBox="1"/>
          <p:nvPr/>
        </p:nvSpPr>
        <p:spPr>
          <a:xfrm>
            <a:off x="307390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76" name="Connector 975"/>
          <p:cNvCxnSpPr/>
          <p:nvPr/>
        </p:nvCxnSpPr>
        <p:spPr>
          <a:xfrm>
            <a:off x="36560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TextBox 976"/>
          <p:cNvSpPr txBox="1"/>
          <p:nvPr/>
        </p:nvSpPr>
        <p:spPr>
          <a:xfrm>
            <a:off x="35463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868680" y="3557016"/>
            <a:ext cx="2834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79" name="Connector 978"/>
          <p:cNvCxnSpPr/>
          <p:nvPr/>
        </p:nvCxnSpPr>
        <p:spPr>
          <a:xfrm>
            <a:off x="822960" y="55016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640080" y="486156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81" name="Connector 980"/>
          <p:cNvCxnSpPr/>
          <p:nvPr/>
        </p:nvCxnSpPr>
        <p:spPr>
          <a:xfrm>
            <a:off x="822960" y="9281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2" name="TextBox 981"/>
          <p:cNvSpPr txBox="1"/>
          <p:nvPr/>
        </p:nvSpPr>
        <p:spPr>
          <a:xfrm>
            <a:off x="640080" y="8641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83" name="Connector 982"/>
          <p:cNvCxnSpPr/>
          <p:nvPr/>
        </p:nvCxnSpPr>
        <p:spPr>
          <a:xfrm>
            <a:off x="822960" y="140055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4" name="TextBox 983"/>
          <p:cNvSpPr txBox="1"/>
          <p:nvPr/>
        </p:nvSpPr>
        <p:spPr>
          <a:xfrm>
            <a:off x="640080" y="133654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85" name="Connector 984"/>
          <p:cNvCxnSpPr/>
          <p:nvPr/>
        </p:nvCxnSpPr>
        <p:spPr>
          <a:xfrm>
            <a:off x="822960" y="187299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6" name="TextBox 985"/>
          <p:cNvSpPr txBox="1"/>
          <p:nvPr/>
        </p:nvSpPr>
        <p:spPr>
          <a:xfrm>
            <a:off x="640080" y="180898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87" name="Connector 986"/>
          <p:cNvCxnSpPr/>
          <p:nvPr/>
        </p:nvCxnSpPr>
        <p:spPr>
          <a:xfrm>
            <a:off x="822960" y="234543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8" name="TextBox 987"/>
          <p:cNvSpPr txBox="1"/>
          <p:nvPr/>
        </p:nvSpPr>
        <p:spPr>
          <a:xfrm>
            <a:off x="640080" y="228142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89" name="Connector 988"/>
          <p:cNvCxnSpPr/>
          <p:nvPr/>
        </p:nvCxnSpPr>
        <p:spPr>
          <a:xfrm>
            <a:off x="822960" y="281787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0" name="TextBox 989"/>
          <p:cNvSpPr txBox="1"/>
          <p:nvPr/>
        </p:nvSpPr>
        <p:spPr>
          <a:xfrm>
            <a:off x="640080" y="275386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91" name="Connector 990"/>
          <p:cNvCxnSpPr/>
          <p:nvPr/>
        </p:nvCxnSpPr>
        <p:spPr>
          <a:xfrm>
            <a:off x="822960" y="32903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2" name="TextBox 991"/>
          <p:cNvSpPr txBox="1"/>
          <p:nvPr/>
        </p:nvSpPr>
        <p:spPr>
          <a:xfrm>
            <a:off x="640080" y="32263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93" name="TextBox 992"/>
          <p:cNvSpPr txBox="1"/>
          <p:nvPr/>
        </p:nvSpPr>
        <p:spPr>
          <a:xfrm rot="16200000">
            <a:off x="91440" y="1371600"/>
            <a:ext cx="5943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94" name="Connector 993"/>
          <p:cNvCxnSpPr/>
          <p:nvPr/>
        </p:nvCxnSpPr>
        <p:spPr>
          <a:xfrm>
            <a:off x="261670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19938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1766316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1388364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8" name="TextBox 997"/>
          <p:cNvSpPr txBox="1"/>
          <p:nvPr/>
        </p:nvSpPr>
        <p:spPr>
          <a:xfrm>
            <a:off x="868680" y="228600"/>
            <a:ext cx="28346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★ 4 LASSO-selected features annotated above</a:t>
            </a:r>
          </a:p>
        </p:txBody>
      </p:sp>
      <p:sp>
        <p:nvSpPr>
          <p:cNvPr id="999" name="Rectangle 998"/>
          <p:cNvSpPr/>
          <p:nvPr/>
        </p:nvSpPr>
        <p:spPr>
          <a:xfrm>
            <a:off x="3931920" y="548640"/>
            <a:ext cx="182880" cy="3171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Rectangle 999"/>
          <p:cNvSpPr/>
          <p:nvPr/>
        </p:nvSpPr>
        <p:spPr>
          <a:xfrm>
            <a:off x="3931920" y="578358"/>
            <a:ext cx="182880" cy="3171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3931920" y="608076"/>
            <a:ext cx="182880" cy="3171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Rectangle 1001"/>
          <p:cNvSpPr/>
          <p:nvPr/>
        </p:nvSpPr>
        <p:spPr>
          <a:xfrm>
            <a:off x="3931920" y="637794"/>
            <a:ext cx="182880" cy="3171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Rectangle 1002"/>
          <p:cNvSpPr/>
          <p:nvPr/>
        </p:nvSpPr>
        <p:spPr>
          <a:xfrm>
            <a:off x="3931920" y="667512"/>
            <a:ext cx="182880" cy="31718"/>
          </a:xfrm>
          <a:prstGeom prst="rect">
            <a:avLst/>
          </a:prstGeom>
          <a:solidFill>
            <a:srgbClr val="D06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Rectangle 1003"/>
          <p:cNvSpPr/>
          <p:nvPr/>
        </p:nvSpPr>
        <p:spPr>
          <a:xfrm>
            <a:off x="3931920" y="697230"/>
            <a:ext cx="182880" cy="31718"/>
          </a:xfrm>
          <a:prstGeom prst="rect">
            <a:avLst/>
          </a:prstGeom>
          <a:solidFill>
            <a:srgbClr val="D36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Rectangle 1004"/>
          <p:cNvSpPr/>
          <p:nvPr/>
        </p:nvSpPr>
        <p:spPr>
          <a:xfrm>
            <a:off x="3931920" y="726948"/>
            <a:ext cx="182880" cy="31718"/>
          </a:xfrm>
          <a:prstGeom prst="rect">
            <a:avLst/>
          </a:prstGeom>
          <a:solidFill>
            <a:srgbClr val="D6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Rectangle 1005"/>
          <p:cNvSpPr/>
          <p:nvPr/>
        </p:nvSpPr>
        <p:spPr>
          <a:xfrm>
            <a:off x="3931920" y="756666"/>
            <a:ext cx="182880" cy="3171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Rectangle 1006"/>
          <p:cNvSpPr/>
          <p:nvPr/>
        </p:nvSpPr>
        <p:spPr>
          <a:xfrm>
            <a:off x="3931920" y="786384"/>
            <a:ext cx="182880" cy="31718"/>
          </a:xfrm>
          <a:prstGeom prst="rect">
            <a:avLst/>
          </a:prstGeom>
          <a:solidFill>
            <a:srgbClr val="DC8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Rectangle 1007"/>
          <p:cNvSpPr/>
          <p:nvPr/>
        </p:nvSpPr>
        <p:spPr>
          <a:xfrm>
            <a:off x="3931920" y="816102"/>
            <a:ext cx="182880" cy="31718"/>
          </a:xfrm>
          <a:prstGeom prst="rect">
            <a:avLst/>
          </a:prstGeom>
          <a:solidFill>
            <a:srgbClr val="DF9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Rectangle 1008"/>
          <p:cNvSpPr/>
          <p:nvPr/>
        </p:nvSpPr>
        <p:spPr>
          <a:xfrm>
            <a:off x="3931920" y="845820"/>
            <a:ext cx="182880" cy="31718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Rectangle 1009"/>
          <p:cNvSpPr/>
          <p:nvPr/>
        </p:nvSpPr>
        <p:spPr>
          <a:xfrm>
            <a:off x="3931920" y="875538"/>
            <a:ext cx="182880" cy="3171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Rectangle 1010"/>
          <p:cNvSpPr/>
          <p:nvPr/>
        </p:nvSpPr>
        <p:spPr>
          <a:xfrm>
            <a:off x="3931920" y="905256"/>
            <a:ext cx="182880" cy="3171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Rectangle 1011"/>
          <p:cNvSpPr/>
          <p:nvPr/>
        </p:nvSpPr>
        <p:spPr>
          <a:xfrm>
            <a:off x="3931920" y="934974"/>
            <a:ext cx="182880" cy="3171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Rectangle 1012"/>
          <p:cNvSpPr/>
          <p:nvPr/>
        </p:nvSpPr>
        <p:spPr>
          <a:xfrm>
            <a:off x="3931920" y="964692"/>
            <a:ext cx="182880" cy="31718"/>
          </a:xfrm>
          <a:prstGeom prst="rect">
            <a:avLst/>
          </a:prstGeom>
          <a:solidFill>
            <a:srgbClr val="EEC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Rectangle 1013"/>
          <p:cNvSpPr/>
          <p:nvPr/>
        </p:nvSpPr>
        <p:spPr>
          <a:xfrm>
            <a:off x="3931920" y="994410"/>
            <a:ext cx="182880" cy="31718"/>
          </a:xfrm>
          <a:prstGeom prst="rect">
            <a:avLst/>
          </a:prstGeom>
          <a:solidFill>
            <a:srgbClr val="F1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Rectangle 1014"/>
          <p:cNvSpPr/>
          <p:nvPr/>
        </p:nvSpPr>
        <p:spPr>
          <a:xfrm>
            <a:off x="3931920" y="1024128"/>
            <a:ext cx="182880" cy="31718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Rectangle 1015"/>
          <p:cNvSpPr/>
          <p:nvPr/>
        </p:nvSpPr>
        <p:spPr>
          <a:xfrm>
            <a:off x="3931920" y="1053846"/>
            <a:ext cx="182880" cy="3171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Rectangle 1016"/>
          <p:cNvSpPr/>
          <p:nvPr/>
        </p:nvSpPr>
        <p:spPr>
          <a:xfrm>
            <a:off x="3931920" y="1083564"/>
            <a:ext cx="182880" cy="31718"/>
          </a:xfrm>
          <a:prstGeom prst="rect">
            <a:avLst/>
          </a:prstGeom>
          <a:solidFill>
            <a:srgbClr val="FA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Rectangle 1017"/>
          <p:cNvSpPr/>
          <p:nvPr/>
        </p:nvSpPr>
        <p:spPr>
          <a:xfrm>
            <a:off x="3931920" y="1113282"/>
            <a:ext cx="182880" cy="3171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ectangle 1018"/>
          <p:cNvSpPr/>
          <p:nvPr/>
        </p:nvSpPr>
        <p:spPr>
          <a:xfrm>
            <a:off x="3931920" y="1143000"/>
            <a:ext cx="182880" cy="3171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ectangle 1019"/>
          <p:cNvSpPr/>
          <p:nvPr/>
        </p:nvSpPr>
        <p:spPr>
          <a:xfrm>
            <a:off x="3931920" y="1172718"/>
            <a:ext cx="182880" cy="31718"/>
          </a:xfrm>
          <a:prstGeom prst="rect">
            <a:avLst/>
          </a:prstGeom>
          <a:solidFill>
            <a:srgbClr val="EC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ectangle 1020"/>
          <p:cNvSpPr/>
          <p:nvPr/>
        </p:nvSpPr>
        <p:spPr>
          <a:xfrm>
            <a:off x="3931920" y="1202436"/>
            <a:ext cx="182880" cy="3171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Rectangle 1021"/>
          <p:cNvSpPr/>
          <p:nvPr/>
        </p:nvSpPr>
        <p:spPr>
          <a:xfrm>
            <a:off x="3931920" y="1232154"/>
            <a:ext cx="182880" cy="31718"/>
          </a:xfrm>
          <a:prstGeom prst="rect">
            <a:avLst/>
          </a:prstGeom>
          <a:solidFill>
            <a:srgbClr val="D3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ectangle 1022"/>
          <p:cNvSpPr/>
          <p:nvPr/>
        </p:nvSpPr>
        <p:spPr>
          <a:xfrm>
            <a:off x="3931920" y="1261872"/>
            <a:ext cx="182880" cy="3171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ectangle 1023"/>
          <p:cNvSpPr/>
          <p:nvPr/>
        </p:nvSpPr>
        <p:spPr>
          <a:xfrm>
            <a:off x="3931920" y="1291590"/>
            <a:ext cx="182880" cy="31718"/>
          </a:xfrm>
          <a:prstGeom prst="rect">
            <a:avLst/>
          </a:prstGeom>
          <a:solidFill>
            <a:srgbClr val="B9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ectangle 1024"/>
          <p:cNvSpPr/>
          <p:nvPr/>
        </p:nvSpPr>
        <p:spPr>
          <a:xfrm>
            <a:off x="3931920" y="1321308"/>
            <a:ext cx="182880" cy="3171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Rectangle 1025"/>
          <p:cNvSpPr/>
          <p:nvPr/>
        </p:nvSpPr>
        <p:spPr>
          <a:xfrm>
            <a:off x="3931920" y="1351026"/>
            <a:ext cx="182880" cy="31718"/>
          </a:xfrm>
          <a:prstGeom prst="rect">
            <a:avLst/>
          </a:prstGeom>
          <a:solidFill>
            <a:srgbClr val="A0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ectangle 1026"/>
          <p:cNvSpPr/>
          <p:nvPr/>
        </p:nvSpPr>
        <p:spPr>
          <a:xfrm>
            <a:off x="3931920" y="1380744"/>
            <a:ext cx="182880" cy="31718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Rectangle 1027"/>
          <p:cNvSpPr/>
          <p:nvPr/>
        </p:nvSpPr>
        <p:spPr>
          <a:xfrm>
            <a:off x="3931920" y="1410462"/>
            <a:ext cx="182880" cy="3171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Rectangle 1028"/>
          <p:cNvSpPr/>
          <p:nvPr/>
        </p:nvSpPr>
        <p:spPr>
          <a:xfrm>
            <a:off x="3931920" y="1440180"/>
            <a:ext cx="182880" cy="31718"/>
          </a:xfrm>
          <a:prstGeom prst="rect">
            <a:avLst/>
          </a:prstGeom>
          <a:solidFill>
            <a:srgbClr val="7BB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Rectangle 1029"/>
          <p:cNvSpPr/>
          <p:nvPr/>
        </p:nvSpPr>
        <p:spPr>
          <a:xfrm>
            <a:off x="3931920" y="1469898"/>
            <a:ext cx="182880" cy="31718"/>
          </a:xfrm>
          <a:prstGeom prst="rect">
            <a:avLst/>
          </a:prstGeom>
          <a:solidFill>
            <a:srgbClr val="6E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Rectangle 1030"/>
          <p:cNvSpPr/>
          <p:nvPr/>
        </p:nvSpPr>
        <p:spPr>
          <a:xfrm>
            <a:off x="3931920" y="1499616"/>
            <a:ext cx="182880" cy="31718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Rectangle 1031"/>
          <p:cNvSpPr/>
          <p:nvPr/>
        </p:nvSpPr>
        <p:spPr>
          <a:xfrm>
            <a:off x="3931920" y="1529334"/>
            <a:ext cx="182880" cy="31718"/>
          </a:xfrm>
          <a:prstGeom prst="rect">
            <a:avLst/>
          </a:prstGeom>
          <a:solidFill>
            <a:srgbClr val="55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Rectangle 1032"/>
          <p:cNvSpPr/>
          <p:nvPr/>
        </p:nvSpPr>
        <p:spPr>
          <a:xfrm>
            <a:off x="3931920" y="1559052"/>
            <a:ext cx="182880" cy="31718"/>
          </a:xfrm>
          <a:prstGeom prst="rect">
            <a:avLst/>
          </a:prstGeom>
          <a:solidFill>
            <a:srgbClr val="48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Rectangle 1033"/>
          <p:cNvSpPr/>
          <p:nvPr/>
        </p:nvSpPr>
        <p:spPr>
          <a:xfrm>
            <a:off x="3931920" y="1588770"/>
            <a:ext cx="182880" cy="31718"/>
          </a:xfrm>
          <a:prstGeom prst="rect">
            <a:avLst/>
          </a:prstGeom>
          <a:solidFill>
            <a:srgbClr val="3C9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Rectangle 1034"/>
          <p:cNvSpPr/>
          <p:nvPr/>
        </p:nvSpPr>
        <p:spPr>
          <a:xfrm>
            <a:off x="3931920" y="1618488"/>
            <a:ext cx="182880" cy="31718"/>
          </a:xfrm>
          <a:prstGeom prst="rect">
            <a:avLst/>
          </a:prstGeom>
          <a:solidFill>
            <a:srgbClr val="2F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Rectangle 1035"/>
          <p:cNvSpPr/>
          <p:nvPr/>
        </p:nvSpPr>
        <p:spPr>
          <a:xfrm>
            <a:off x="3931920" y="1648206"/>
            <a:ext cx="182880" cy="31718"/>
          </a:xfrm>
          <a:prstGeom prst="rect">
            <a:avLst/>
          </a:prstGeom>
          <a:solidFill>
            <a:srgbClr val="23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Rectangle 1036"/>
          <p:cNvSpPr/>
          <p:nvPr/>
        </p:nvSpPr>
        <p:spPr>
          <a:xfrm>
            <a:off x="3931920" y="1677924"/>
            <a:ext cx="182880" cy="31718"/>
          </a:xfrm>
          <a:prstGeom prst="rect">
            <a:avLst/>
          </a:prstGeom>
          <a:solidFill>
            <a:srgbClr val="16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Rectangle 1037"/>
          <p:cNvSpPr/>
          <p:nvPr/>
        </p:nvSpPr>
        <p:spPr>
          <a:xfrm>
            <a:off x="3931920" y="1707642"/>
            <a:ext cx="182880" cy="3171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Rectangle 1038"/>
          <p:cNvSpPr/>
          <p:nvPr/>
        </p:nvSpPr>
        <p:spPr>
          <a:xfrm>
            <a:off x="3931920" y="548640"/>
            <a:ext cx="182880" cy="1188720"/>
          </a:xfrm>
          <a:prstGeom prst="rect">
            <a:avLst/>
          </a:prstGeom>
          <a:noFill/>
          <a:ln w="50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4114800" y="5486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TextBox 1040"/>
          <p:cNvSpPr txBox="1"/>
          <p:nvPr/>
        </p:nvSpPr>
        <p:spPr>
          <a:xfrm>
            <a:off x="4160520" y="48463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042" name="Connector 1041"/>
          <p:cNvCxnSpPr/>
          <p:nvPr/>
        </p:nvCxnSpPr>
        <p:spPr>
          <a:xfrm>
            <a:off x="4114800" y="8458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/>
          <p:cNvSpPr txBox="1"/>
          <p:nvPr/>
        </p:nvSpPr>
        <p:spPr>
          <a:xfrm>
            <a:off x="4160520" y="78181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4114800" y="11430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TextBox 1044"/>
          <p:cNvSpPr txBox="1"/>
          <p:nvPr/>
        </p:nvSpPr>
        <p:spPr>
          <a:xfrm>
            <a:off x="41605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4114800" y="14401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/>
          <p:cNvSpPr txBox="1"/>
          <p:nvPr/>
        </p:nvSpPr>
        <p:spPr>
          <a:xfrm>
            <a:off x="4160520" y="137617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1048" name="Connector 1047"/>
          <p:cNvCxnSpPr/>
          <p:nvPr/>
        </p:nvCxnSpPr>
        <p:spPr>
          <a:xfrm>
            <a:off x="4114800" y="17373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TextBox 1048"/>
          <p:cNvSpPr txBox="1"/>
          <p:nvPr/>
        </p:nvSpPr>
        <p:spPr>
          <a:xfrm>
            <a:off x="4160520" y="167335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−1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3840480" y="365760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Spearman ρ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3840480" y="475488"/>
            <a:ext cx="82296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teal = good-aligned, coral = bad-aligned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931920" y="1819656"/>
            <a:ext cx="11887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Feature group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3931920" y="1965960"/>
            <a:ext cx="12801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4096512" y="195596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1055" name="Rectangle 1054"/>
          <p:cNvSpPr/>
          <p:nvPr/>
        </p:nvSpPr>
        <p:spPr>
          <a:xfrm>
            <a:off x="3931920" y="2112264"/>
            <a:ext cx="12801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096512" y="210226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Cell cycle</a:t>
            </a:r>
          </a:p>
        </p:txBody>
      </p:sp>
      <p:sp>
        <p:nvSpPr>
          <p:cNvPr id="1057" name="Rectangle 1056"/>
          <p:cNvSpPr/>
          <p:nvPr/>
        </p:nvSpPr>
        <p:spPr>
          <a:xfrm>
            <a:off x="3931920" y="2258568"/>
            <a:ext cx="128016" cy="91440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096512" y="2248568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EMT / hypoxia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931920" y="2404872"/>
            <a:ext cx="12801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4096512" y="2394872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1061" name="Rectangle 1060"/>
          <p:cNvSpPr/>
          <p:nvPr/>
        </p:nvSpPr>
        <p:spPr>
          <a:xfrm>
            <a:off x="3931920" y="2551176"/>
            <a:ext cx="12801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4096512" y="2541176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1063" name="Rectangle 1062"/>
          <p:cNvSpPr/>
          <p:nvPr/>
        </p:nvSpPr>
        <p:spPr>
          <a:xfrm>
            <a:off x="3931920" y="2697480"/>
            <a:ext cx="128016" cy="91440"/>
          </a:xfrm>
          <a:prstGeom prst="rect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4096512" y="268748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Other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868680" y="220370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Rectangle 1065"/>
          <p:cNvSpPr/>
          <p:nvPr/>
        </p:nvSpPr>
        <p:spPr>
          <a:xfrm>
            <a:off x="256946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Diamond 1066"/>
          <p:cNvSpPr/>
          <p:nvPr/>
        </p:nvSpPr>
        <p:spPr>
          <a:xfrm>
            <a:off x="259870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TextBox 1067"/>
          <p:cNvSpPr txBox="1"/>
          <p:nvPr/>
        </p:nvSpPr>
        <p:spPr>
          <a:xfrm>
            <a:off x="234238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DSB repair</a:t>
            </a:r>
          </a:p>
        </p:txBody>
      </p:sp>
      <p:sp>
        <p:nvSpPr>
          <p:cNvPr id="1069" name="Rectangle 1068"/>
          <p:cNvSpPr/>
          <p:nvPr/>
        </p:nvSpPr>
        <p:spPr>
          <a:xfrm>
            <a:off x="868680" y="78638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Rectangle 1069"/>
          <p:cNvSpPr/>
          <p:nvPr/>
        </p:nvSpPr>
        <p:spPr>
          <a:xfrm>
            <a:off x="115214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Diamond 1070"/>
          <p:cNvSpPr/>
          <p:nvPr/>
        </p:nvSpPr>
        <p:spPr>
          <a:xfrm>
            <a:off x="118138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2506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Del. fraction</a:t>
            </a:r>
          </a:p>
        </p:txBody>
      </p:sp>
      <p:sp>
        <p:nvSpPr>
          <p:cNvPr id="1073" name="Rectangle 1072"/>
          <p:cNvSpPr/>
          <p:nvPr/>
        </p:nvSpPr>
        <p:spPr>
          <a:xfrm>
            <a:off x="868680" y="1353312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Rectangle 1073"/>
          <p:cNvSpPr/>
          <p:nvPr/>
        </p:nvSpPr>
        <p:spPr>
          <a:xfrm>
            <a:off x="1719072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Diamond 1074"/>
          <p:cNvSpPr/>
          <p:nvPr/>
        </p:nvSpPr>
        <p:spPr>
          <a:xfrm>
            <a:off x="1748316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491996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MHC II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868680" y="975360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Rectangle 1077"/>
          <p:cNvSpPr/>
          <p:nvPr/>
        </p:nvSpPr>
        <p:spPr>
          <a:xfrm>
            <a:off x="1341120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Diamond 1078"/>
          <p:cNvSpPr/>
          <p:nvPr/>
        </p:nvSpPr>
        <p:spPr>
          <a:xfrm>
            <a:off x="1370364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1114044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MSI %</a:t>
            </a:r>
          </a:p>
        </p:txBody>
      </p:sp>
      <p:sp>
        <p:nvSpPr>
          <p:cNvPr id="1081" name="Diamond 1080"/>
          <p:cNvSpPr/>
          <p:nvPr/>
        </p:nvSpPr>
        <p:spPr>
          <a:xfrm>
            <a:off x="3981072" y="3002664"/>
            <a:ext cx="48000" cy="48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114800" y="2975944"/>
            <a:ext cx="1097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LASSO-selected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82880" y="4023360"/>
            <a:ext cx="5577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30 integrated numeric features (cell-cycle-contaminated CD8-proliferation removed); top / left strips mark feature group; gold borders mark the 4 LASSO-selected features.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False-positive rate (1 − specificity)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True-positive rate (sensitivity)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14400" y="1402080"/>
            <a:ext cx="247425" cy="2072640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61825" y="1174496"/>
            <a:ext cx="247426" cy="2145792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09251" y="946912"/>
            <a:ext cx="494852" cy="1365504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103" y="890016"/>
            <a:ext cx="494852" cy="1170432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98955" y="833120"/>
            <a:ext cx="989703" cy="975360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8658" y="662432"/>
            <a:ext cx="494852" cy="390144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3510" y="605536"/>
            <a:ext cx="494852" cy="195072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2987040"/>
            <a:ext cx="247425" cy="487680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61825" y="2336800"/>
            <a:ext cx="247426" cy="965797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09251" y="1686559"/>
            <a:ext cx="494852" cy="1443916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4103" y="1524000"/>
            <a:ext cx="494852" cy="1262230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98955" y="1361440"/>
            <a:ext cx="989703" cy="1080545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8658" y="873760"/>
            <a:ext cx="494852" cy="879736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83510" y="711200"/>
            <a:ext cx="494852" cy="698051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78362" y="548640"/>
            <a:ext cx="742278" cy="516367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89400" y="344972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89400" y="29620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36825" y="23118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384251" y="1661559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79103" y="14990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73955" y="13364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63658" y="84876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858510" y="6862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353362" y="5236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1354251" y="1631559"/>
            <a:ext cx="110000" cy="110000"/>
          </a:xfrm>
          <a:prstGeom prst="diamond">
            <a:avLst/>
          </a:prstGeom>
          <a:solidFill>
            <a:srgbClr val="D4A300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8043" y="1823719"/>
            <a:ext cx="10058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1">
                <a:solidFill>
                  <a:srgbClr val="D4A300"/>
                </a:solidFill>
                <a:latin typeface="Arial"/>
              </a:rPr>
              <a:t>Youden J max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8043" y="1942591"/>
            <a:ext cx="10058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sens 0.61 / spec 0.88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27832" y="2596896"/>
            <a:ext cx="164592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984" y="2616896"/>
            <a:ext cx="1508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ElasticNet, nested outer-LOOCV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00984" y="2798064"/>
            <a:ext cx="1508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AUC = 0.745  (95 % CI 0.56–0.89)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05840" y="7315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325880" y="658368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Observed ROC curve (mean over 35 LOOCV folds)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" y="859536"/>
            <a:ext cx="274320" cy="91440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25880" y="822960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95 % bootstrap CI ribbon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987552"/>
            <a:ext cx="274320" cy="91440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25880" y="950976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area under ROC (above diagonal)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87568" y="1115000"/>
            <a:ext cx="56000" cy="56000"/>
          </a:xfrm>
          <a:prstGeom prst="diamond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25880" y="1078992"/>
            <a:ext cx="2743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Youden J optimal operating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67669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4809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58589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29989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2237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9377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4261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5661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ElasticNet coefficient (standardised scale)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60120" y="3054096"/>
            <a:ext cx="82296" cy="10972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Genomic deletion fraction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960583" y="3108960"/>
            <a:ext cx="879897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910583" y="305896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3735" y="302666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3503" y="303580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2322576"/>
            <a:ext cx="82296" cy="10972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227685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 signature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571787" y="2377440"/>
            <a:ext cx="268693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521787" y="232744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4939" y="229514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707" y="230428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591056"/>
            <a:ext cx="82296" cy="10972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154533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40480" y="1645920"/>
            <a:ext cx="140242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930722" y="159592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3874" y="156362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642" y="157276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859536"/>
            <a:ext cx="82296" cy="10972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2" y="81381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 (R-HSA-5693532)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0" y="914400"/>
            <a:ext cx="1034279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824759" y="86440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47911" y="83210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7679" y="84124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" y="362102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Feature group: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" y="3639312"/>
            <a:ext cx="8229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65960" y="3639312"/>
            <a:ext cx="8229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6654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3639312"/>
            <a:ext cx="8229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2666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86200" y="3639312"/>
            <a:ext cx="8229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8678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MSI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" y="3858768"/>
            <a:ext cx="56692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 non-zero features selected by nested inner-CV; teal lollipop → predicts good (positive coef), coral → predicts bad (negative coef).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425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7139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6.2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8892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8.5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24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638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277246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26901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9.2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10.5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1250899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1168603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11.8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1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2</a:t>
            </a:r>
          </a:p>
        </p:txBody>
      </p:sp>
      <p:sp>
        <p:nvSpPr>
          <p:cNvPr id="27" name="Oval 26"/>
          <p:cNvSpPr/>
          <p:nvPr/>
        </p:nvSpPr>
        <p:spPr>
          <a:xfrm rot="10048138">
            <a:off x="1853954" y="1067598"/>
            <a:ext cx="2557789" cy="1713355"/>
          </a:xfrm>
          <a:prstGeom prst="ellipse">
            <a:avLst/>
          </a:prstGeom>
          <a:noFill/>
          <a:ln w="1524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100849" y="1892276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1408180">
            <a:off x="1361535" y="1551009"/>
            <a:ext cx="2846723" cy="1146772"/>
          </a:xfrm>
          <a:prstGeom prst="ellipse">
            <a:avLst/>
          </a:prstGeom>
          <a:noFill/>
          <a:ln w="1524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2752897" y="2092395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62426" y="189700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90578" y="187885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2815834" y="1047367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81992" y="2058151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66610" y="138499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08875" y="1395218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7027" y="137706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4328742" y="224234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608558" y="273810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36710" y="271994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7</a:t>
            </a:r>
          </a:p>
        </p:txBody>
      </p:sp>
      <p:sp>
        <p:nvSpPr>
          <p:cNvPr id="41" name="Oval 40"/>
          <p:cNvSpPr/>
          <p:nvPr/>
        </p:nvSpPr>
        <p:spPr>
          <a:xfrm>
            <a:off x="3806775" y="270916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4927" y="26910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8</a:t>
            </a:r>
          </a:p>
        </p:txBody>
      </p:sp>
      <p:sp>
        <p:nvSpPr>
          <p:cNvPr id="43" name="Oval 42"/>
          <p:cNvSpPr/>
          <p:nvPr/>
        </p:nvSpPr>
        <p:spPr>
          <a:xfrm>
            <a:off x="3074649" y="140437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7810" y="167009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25962" y="165193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10</a:t>
            </a:r>
          </a:p>
        </p:txBody>
      </p:sp>
      <p:sp>
        <p:nvSpPr>
          <p:cNvPr id="46" name="Oval 45"/>
          <p:cNvSpPr/>
          <p:nvPr/>
        </p:nvSpPr>
        <p:spPr>
          <a:xfrm>
            <a:off x="3243288" y="231718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71440" y="229902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11</a:t>
            </a:r>
          </a:p>
        </p:txBody>
      </p:sp>
      <p:sp>
        <p:nvSpPr>
          <p:cNvPr id="48" name="Oval 47"/>
          <p:cNvSpPr/>
          <p:nvPr/>
        </p:nvSpPr>
        <p:spPr>
          <a:xfrm>
            <a:off x="2563071" y="152167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1223" y="150352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12</a:t>
            </a:r>
          </a:p>
        </p:txBody>
      </p:sp>
      <p:sp>
        <p:nvSpPr>
          <p:cNvPr id="50" name="Oval 49"/>
          <p:cNvSpPr/>
          <p:nvPr/>
        </p:nvSpPr>
        <p:spPr>
          <a:xfrm>
            <a:off x="2016297" y="280878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26816" y="173028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914570" y="188981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90659" y="2219278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18811" y="220112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16</a:t>
            </a:r>
          </a:p>
        </p:txBody>
      </p:sp>
      <p:sp>
        <p:nvSpPr>
          <p:cNvPr id="55" name="Oval 54"/>
          <p:cNvSpPr/>
          <p:nvPr/>
        </p:nvSpPr>
        <p:spPr>
          <a:xfrm>
            <a:off x="1851090" y="2377304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79242" y="2359152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17</a:t>
            </a:r>
          </a:p>
        </p:txBody>
      </p:sp>
      <p:sp>
        <p:nvSpPr>
          <p:cNvPr id="57" name="Oval 56"/>
          <p:cNvSpPr/>
          <p:nvPr/>
        </p:nvSpPr>
        <p:spPr>
          <a:xfrm>
            <a:off x="1565377" y="197598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49732" y="21394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697557" y="2336722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924510" y="147733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52662" y="145917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21</a:t>
            </a:r>
          </a:p>
        </p:txBody>
      </p:sp>
      <p:sp>
        <p:nvSpPr>
          <p:cNvPr id="62" name="Oval 61"/>
          <p:cNvSpPr/>
          <p:nvPr/>
        </p:nvSpPr>
        <p:spPr>
          <a:xfrm>
            <a:off x="2939848" y="2271502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19550" y="268242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47702" y="266426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23</a:t>
            </a:r>
          </a:p>
        </p:txBody>
      </p:sp>
      <p:sp>
        <p:nvSpPr>
          <p:cNvPr id="65" name="Oval 64"/>
          <p:cNvSpPr/>
          <p:nvPr/>
        </p:nvSpPr>
        <p:spPr>
          <a:xfrm>
            <a:off x="4547168" y="1828470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465170" y="1254071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93322" y="123591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25</a:t>
            </a:r>
          </a:p>
        </p:txBody>
      </p:sp>
      <p:sp>
        <p:nvSpPr>
          <p:cNvPr id="68" name="Oval 67"/>
          <p:cNvSpPr/>
          <p:nvPr/>
        </p:nvSpPr>
        <p:spPr>
          <a:xfrm>
            <a:off x="3398588" y="2313750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26740" y="229559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26</a:t>
            </a:r>
          </a:p>
        </p:txBody>
      </p:sp>
      <p:sp>
        <p:nvSpPr>
          <p:cNvPr id="70" name="Oval 69"/>
          <p:cNvSpPr/>
          <p:nvPr/>
        </p:nvSpPr>
        <p:spPr>
          <a:xfrm>
            <a:off x="2344071" y="98895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621508" y="248972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22151" y="195280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7134" y="227222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578801" y="86331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30304" y="2003970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239486" y="1851487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67638" y="1833335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33</a:t>
            </a:r>
          </a:p>
        </p:txBody>
      </p:sp>
      <p:sp>
        <p:nvSpPr>
          <p:cNvPr id="78" name="Oval 77"/>
          <p:cNvSpPr/>
          <p:nvPr/>
        </p:nvSpPr>
        <p:spPr>
          <a:xfrm>
            <a:off x="2085193" y="25491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80306" y="247916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78632" y="650800"/>
            <a:ext cx="70000" cy="7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023360" y="594360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good (n=18)</a:t>
            </a:r>
          </a:p>
        </p:txBody>
      </p:sp>
      <p:sp>
        <p:nvSpPr>
          <p:cNvPr id="82" name="Oval 81"/>
          <p:cNvSpPr/>
          <p:nvPr/>
        </p:nvSpPr>
        <p:spPr>
          <a:xfrm>
            <a:off x="3878632" y="815392"/>
            <a:ext cx="70000" cy="70000"/>
          </a:xfrm>
          <a:prstGeom prst="ellipse">
            <a:avLst/>
          </a:prstGeom>
          <a:solidFill>
            <a:srgbClr val="C53E1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0" y="758952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bad (n=17)</a:t>
            </a:r>
          </a:p>
        </p:txBody>
      </p:sp>
      <p:sp>
        <p:nvSpPr>
          <p:cNvPr id="84" name="Oval 83"/>
          <p:cNvSpPr/>
          <p:nvPr/>
        </p:nvSpPr>
        <p:spPr>
          <a:xfrm>
            <a:off x="3868632" y="988272"/>
            <a:ext cx="90000" cy="9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0" y="941832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misclassified  (gold ring, subject ID)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0" y="1188720"/>
            <a:ext cx="15544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solid ellipse: 68 % 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732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6872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6890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34030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-0.75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205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8345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8363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5503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SHAP value (log-odds contribution)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00837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sp>
        <p:nvSpPr>
          <p:cNvPr id="18" name="Oval 17"/>
          <p:cNvSpPr/>
          <p:nvPr/>
        </p:nvSpPr>
        <p:spPr>
          <a:xfrm>
            <a:off x="3790160" y="307844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60" y="308975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1419" y="3055851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19699" y="3079355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0160" y="310747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90160" y="306808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0160" y="302672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90160" y="30423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9699" y="3114847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790160" y="31395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90160" y="311131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90160" y="308214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90160" y="318600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90160" y="309356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0160" y="313864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90160" y="3116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90160" y="31078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90160" y="309784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90160" y="30658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90160" y="303820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19699" y="3089601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0160" y="302398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9699" y="3113156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0160" y="30685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90160" y="304430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90160" y="307983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0160" y="31165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90160" y="312441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996939" y="3104050"/>
            <a:ext cx="50000" cy="50000"/>
          </a:xfrm>
          <a:prstGeom prst="ellipse">
            <a:avLst/>
          </a:prstGeom>
          <a:solidFill>
            <a:srgbClr val="80553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90160" y="307429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0160" y="312827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790160" y="30931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90160" y="30909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90160" y="306022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90160" y="307453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27685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</a:t>
            </a:r>
          </a:p>
        </p:txBody>
      </p:sp>
      <p:sp>
        <p:nvSpPr>
          <p:cNvPr id="54" name="Oval 53"/>
          <p:cNvSpPr/>
          <p:nvPr/>
        </p:nvSpPr>
        <p:spPr>
          <a:xfrm>
            <a:off x="3827834" y="2336842"/>
            <a:ext cx="50000" cy="50000"/>
          </a:xfrm>
          <a:prstGeom prst="ellipse">
            <a:avLst/>
          </a:prstGeom>
          <a:solidFill>
            <a:srgbClr val="6A5C4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6196" y="2381137"/>
            <a:ext cx="50000" cy="50000"/>
          </a:xfrm>
          <a:prstGeom prst="ellipse">
            <a:avLst/>
          </a:prstGeom>
          <a:solidFill>
            <a:srgbClr val="65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90097" y="2358128"/>
            <a:ext cx="50000" cy="50000"/>
          </a:xfrm>
          <a:prstGeom prst="ellipse">
            <a:avLst/>
          </a:prstGeom>
          <a:solidFill>
            <a:srgbClr val="AB462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839020" y="2318030"/>
            <a:ext cx="50000" cy="50000"/>
          </a:xfrm>
          <a:prstGeom prst="ellipse">
            <a:avLst/>
          </a:prstGeom>
          <a:solidFill>
            <a:srgbClr val="6E5B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800094" y="2286891"/>
            <a:ext cx="50000" cy="50000"/>
          </a:xfrm>
          <a:prstGeom prst="ellipse">
            <a:avLst/>
          </a:prstGeom>
          <a:solidFill>
            <a:srgbClr val="5F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934159" y="2407701"/>
            <a:ext cx="50000" cy="50000"/>
          </a:xfrm>
          <a:prstGeom prst="ellipse">
            <a:avLst/>
          </a:prstGeom>
          <a:solidFill>
            <a:srgbClr val="954E3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95337" y="228599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053431" y="229336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56043" y="2318147"/>
            <a:ext cx="50000" cy="50000"/>
          </a:xfrm>
          <a:prstGeom prst="ellipse">
            <a:avLst/>
          </a:prstGeom>
          <a:solidFill>
            <a:srgbClr val="75584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910273" y="2340832"/>
            <a:ext cx="50000" cy="50000"/>
          </a:xfrm>
          <a:prstGeom prst="ellipse">
            <a:avLst/>
          </a:prstGeom>
          <a:solidFill>
            <a:srgbClr val="8B513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823421" y="2366218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851510" y="2288445"/>
            <a:ext cx="50000" cy="50000"/>
          </a:xfrm>
          <a:prstGeom prst="ellipse">
            <a:avLst/>
          </a:prstGeom>
          <a:solidFill>
            <a:srgbClr val="73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845973" y="2266401"/>
            <a:ext cx="50000" cy="50000"/>
          </a:xfrm>
          <a:prstGeom prst="ellipse">
            <a:avLst/>
          </a:prstGeom>
          <a:solidFill>
            <a:srgbClr val="715A4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23421" y="2273364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751414" y="2294718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88275" y="2336754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783496" y="2405474"/>
            <a:ext cx="50000" cy="50000"/>
          </a:xfrm>
          <a:prstGeom prst="ellipse">
            <a:avLst/>
          </a:prstGeom>
          <a:solidFill>
            <a:srgbClr val="5862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798954" y="2352635"/>
            <a:ext cx="50000" cy="50000"/>
          </a:xfrm>
          <a:prstGeom prst="ellipse">
            <a:avLst/>
          </a:prstGeom>
          <a:solidFill>
            <a:srgbClr val="5E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83597" y="2323626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823421" y="2408987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9810" y="2335097"/>
            <a:ext cx="50000" cy="50000"/>
          </a:xfrm>
          <a:prstGeom prst="ellipse">
            <a:avLst/>
          </a:prstGeom>
          <a:solidFill>
            <a:srgbClr val="366D5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44930" y="2333572"/>
            <a:ext cx="50000" cy="50000"/>
          </a:xfrm>
          <a:prstGeom prst="ellipse">
            <a:avLst/>
          </a:prstGeom>
          <a:solidFill>
            <a:srgbClr val="20756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88254" y="2321889"/>
            <a:ext cx="50000" cy="50000"/>
          </a:xfrm>
          <a:prstGeom prst="ellipse">
            <a:avLst/>
          </a:prstGeom>
          <a:solidFill>
            <a:srgbClr val="82543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66712" y="2404412"/>
            <a:ext cx="50000" cy="50000"/>
          </a:xfrm>
          <a:prstGeom prst="ellipse">
            <a:avLst/>
          </a:prstGeom>
          <a:solidFill>
            <a:srgbClr val="A2492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819796" y="2381482"/>
            <a:ext cx="50000" cy="50000"/>
          </a:xfrm>
          <a:prstGeom prst="ellipse">
            <a:avLst/>
          </a:prstGeom>
          <a:solidFill>
            <a:srgbClr val="67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52115" y="2371595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665961" y="2403784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899778" y="2276097"/>
            <a:ext cx="50000" cy="50000"/>
          </a:xfrm>
          <a:prstGeom prst="ellipse">
            <a:avLst/>
          </a:prstGeom>
          <a:solidFill>
            <a:srgbClr val="8752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59371" y="2374206"/>
            <a:ext cx="50000" cy="50000"/>
          </a:xfrm>
          <a:prstGeom prst="ellipse">
            <a:avLst/>
          </a:prstGeom>
          <a:solidFill>
            <a:srgbClr val="7658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19723" y="2338001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707470" y="2363789"/>
            <a:ext cx="50000" cy="50000"/>
          </a:xfrm>
          <a:prstGeom prst="ellipse">
            <a:avLst/>
          </a:prstGeom>
          <a:solidFill>
            <a:srgbClr val="396C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77595" y="2282939"/>
            <a:ext cx="50000" cy="50000"/>
          </a:xfrm>
          <a:prstGeom prst="ellipse">
            <a:avLst/>
          </a:prstGeom>
          <a:solidFill>
            <a:srgbClr val="A648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71276" y="2294487"/>
            <a:ext cx="50000" cy="50000"/>
          </a:xfrm>
          <a:prstGeom prst="ellipse">
            <a:avLst/>
          </a:prstGeom>
          <a:solidFill>
            <a:srgbClr val="2B71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777959" y="2324641"/>
            <a:ext cx="50000" cy="50000"/>
          </a:xfrm>
          <a:prstGeom prst="ellipse">
            <a:avLst/>
          </a:prstGeom>
          <a:solidFill>
            <a:srgbClr val="56634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595069" y="2449154"/>
            <a:ext cx="50000" cy="50000"/>
          </a:xfrm>
          <a:prstGeom prst="ellipse">
            <a:avLst/>
          </a:prstGeom>
          <a:solidFill>
            <a:srgbClr val="0C7C6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" y="154533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Deletion fraction</a:t>
            </a:r>
          </a:p>
        </p:txBody>
      </p:sp>
      <p:sp>
        <p:nvSpPr>
          <p:cNvPr id="90" name="Oval 89"/>
          <p:cNvSpPr/>
          <p:nvPr/>
        </p:nvSpPr>
        <p:spPr>
          <a:xfrm>
            <a:off x="3981848" y="161863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981848" y="159091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97455" y="1576854"/>
            <a:ext cx="50000" cy="50000"/>
          </a:xfrm>
          <a:prstGeom prst="ellipse">
            <a:avLst/>
          </a:prstGeom>
          <a:solidFill>
            <a:srgbClr val="914F3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981848" y="1648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026631" y="1540949"/>
            <a:ext cx="50000" cy="50000"/>
          </a:xfrm>
          <a:prstGeom prst="ellipse">
            <a:avLst/>
          </a:prstGeom>
          <a:solidFill>
            <a:srgbClr val="44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595701" y="167887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981848" y="164995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1848" y="157987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1848" y="161876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596280" y="153303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81848" y="161264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769164" y="1648711"/>
            <a:ext cx="50000" cy="50000"/>
          </a:xfrm>
          <a:prstGeom prst="ellipse">
            <a:avLst/>
          </a:prstGeom>
          <a:solidFill>
            <a:srgbClr val="A847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981848" y="16374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81848" y="16688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974574" y="1676998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981848" y="159325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1848" y="15954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981848" y="1564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981848" y="1654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981848" y="154678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30914" y="1633533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981848" y="155181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95307" y="163991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981848" y="16532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75099" y="1609956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981848" y="15756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81848" y="161385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981848" y="164661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981848" y="167978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981848" y="168243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981848" y="159885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034464" y="1577480"/>
            <a:ext cx="50000" cy="50000"/>
          </a:xfrm>
          <a:prstGeom prst="ellipse">
            <a:avLst/>
          </a:prstGeom>
          <a:solidFill>
            <a:srgbClr val="45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1848" y="16281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981848" y="166807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981848" y="15826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4400" y="81381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</a:t>
            </a:r>
          </a:p>
        </p:txBody>
      </p:sp>
      <p:sp>
        <p:nvSpPr>
          <p:cNvPr id="126" name="Oval 125"/>
          <p:cNvSpPr/>
          <p:nvPr/>
        </p:nvSpPr>
        <p:spPr>
          <a:xfrm>
            <a:off x="3732790" y="945598"/>
            <a:ext cx="50000" cy="50000"/>
          </a:xfrm>
          <a:prstGeom prst="ellipse">
            <a:avLst/>
          </a:prstGeom>
          <a:solidFill>
            <a:srgbClr val="6F5A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57635" y="920697"/>
            <a:ext cx="50000" cy="50000"/>
          </a:xfrm>
          <a:prstGeom prst="ellipse">
            <a:avLst/>
          </a:prstGeom>
          <a:solidFill>
            <a:srgbClr val="45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516456" y="86214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116775" y="988161"/>
            <a:ext cx="50000" cy="50000"/>
          </a:xfrm>
          <a:prstGeom prst="ellipse">
            <a:avLst/>
          </a:prstGeom>
          <a:solidFill>
            <a:srgbClr val="3D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973847" y="872441"/>
            <a:ext cx="50000" cy="50000"/>
          </a:xfrm>
          <a:prstGeom prst="ellipse">
            <a:avLst/>
          </a:prstGeom>
          <a:solidFill>
            <a:srgbClr val="50655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219141" y="914928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9182" y="884603"/>
            <a:ext cx="50000" cy="50000"/>
          </a:xfrm>
          <a:prstGeom prst="ellipse">
            <a:avLst/>
          </a:prstGeom>
          <a:solidFill>
            <a:srgbClr val="72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564182" y="89272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123516" y="880528"/>
            <a:ext cx="50000" cy="50000"/>
          </a:xfrm>
          <a:prstGeom prst="ellipse">
            <a:avLst/>
          </a:prstGeom>
          <a:solidFill>
            <a:srgbClr val="3C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898661" y="858931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898661" y="922685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819158" y="827031"/>
            <a:ext cx="50000" cy="50000"/>
          </a:xfrm>
          <a:prstGeom prst="ellipse">
            <a:avLst/>
          </a:prstGeom>
          <a:solidFill>
            <a:srgbClr val="64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245767" y="857530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8104" y="852367"/>
            <a:ext cx="50000" cy="50000"/>
          </a:xfrm>
          <a:prstGeom prst="ellipse">
            <a:avLst/>
          </a:prstGeom>
          <a:solidFill>
            <a:srgbClr val="4A67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354353" y="838272"/>
            <a:ext cx="50000" cy="50000"/>
          </a:xfrm>
          <a:prstGeom prst="ellipse">
            <a:avLst/>
          </a:prstGeom>
          <a:solidFill>
            <a:srgbClr val="A0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61416" y="854831"/>
            <a:ext cx="50000" cy="50000"/>
          </a:xfrm>
          <a:prstGeom prst="ellipse">
            <a:avLst/>
          </a:prstGeom>
          <a:solidFill>
            <a:srgbClr val="9F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487101" y="852352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51414" y="886082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075172" y="95202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898661" y="895327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159859" y="923174"/>
            <a:ext cx="50000" cy="50000"/>
          </a:xfrm>
          <a:prstGeom prst="ellipse">
            <a:avLst/>
          </a:prstGeom>
          <a:solidFill>
            <a:srgbClr val="38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285045" y="951845"/>
            <a:ext cx="50000" cy="50000"/>
          </a:xfrm>
          <a:prstGeom prst="ellipse">
            <a:avLst/>
          </a:prstGeom>
          <a:solidFill>
            <a:srgbClr val="A9472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654772" y="878056"/>
            <a:ext cx="50000" cy="50000"/>
          </a:xfrm>
          <a:prstGeom prst="ellipse">
            <a:avLst/>
          </a:prstGeom>
          <a:solidFill>
            <a:srgbClr val="79573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291619" y="914354"/>
            <a:ext cx="50000" cy="50000"/>
          </a:xfrm>
          <a:prstGeom prst="ellipse">
            <a:avLst/>
          </a:prstGeom>
          <a:solidFill>
            <a:srgbClr val="2773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60733" y="934599"/>
            <a:ext cx="50000" cy="50000"/>
          </a:xfrm>
          <a:prstGeom prst="ellipse">
            <a:avLst/>
          </a:prstGeom>
          <a:solidFill>
            <a:srgbClr val="7957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97643" y="935178"/>
            <a:ext cx="50000" cy="50000"/>
          </a:xfrm>
          <a:prstGeom prst="ellipse">
            <a:avLst/>
          </a:prstGeom>
          <a:solidFill>
            <a:srgbClr val="406A5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189300" y="877618"/>
            <a:ext cx="50000" cy="50000"/>
          </a:xfrm>
          <a:prstGeom prst="ellipse">
            <a:avLst/>
          </a:prstGeom>
          <a:solidFill>
            <a:srgbClr val="346E5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084320" y="873657"/>
            <a:ext cx="50000" cy="50000"/>
          </a:xfrm>
          <a:prstGeom prst="ellipse">
            <a:avLst/>
          </a:prstGeom>
          <a:solidFill>
            <a:srgbClr val="426A5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279365" y="831355"/>
            <a:ext cx="50000" cy="50000"/>
          </a:xfrm>
          <a:prstGeom prst="ellipse">
            <a:avLst/>
          </a:prstGeom>
          <a:solidFill>
            <a:srgbClr val="2872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240181" y="890010"/>
            <a:ext cx="50000" cy="50000"/>
          </a:xfrm>
          <a:prstGeom prst="ellipse">
            <a:avLst/>
          </a:prstGeom>
          <a:solidFill>
            <a:srgbClr val="2D705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52679" y="843672"/>
            <a:ext cx="50000" cy="50000"/>
          </a:xfrm>
          <a:prstGeom prst="ellipse">
            <a:avLst/>
          </a:prstGeom>
          <a:solidFill>
            <a:srgbClr val="46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152627" y="827852"/>
            <a:ext cx="50000" cy="50000"/>
          </a:xfrm>
          <a:prstGeom prst="ellipse">
            <a:avLst/>
          </a:prstGeom>
          <a:solidFill>
            <a:srgbClr val="39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764250" y="838917"/>
            <a:ext cx="50000" cy="50000"/>
          </a:xfrm>
          <a:prstGeom prst="ellipse">
            <a:avLst/>
          </a:prstGeom>
          <a:solidFill>
            <a:srgbClr val="6B5C4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165107" y="993216"/>
            <a:ext cx="50000" cy="50000"/>
          </a:xfrm>
          <a:prstGeom prst="ellipse">
            <a:avLst/>
          </a:prstGeom>
          <a:solidFill>
            <a:srgbClr val="B9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142291" y="835471"/>
            <a:ext cx="50000" cy="50000"/>
          </a:xfrm>
          <a:prstGeom prst="ellipse">
            <a:avLst/>
          </a:prstGeom>
          <a:solidFill>
            <a:srgbClr val="BC402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193792" y="3054096"/>
            <a:ext cx="75524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296748" y="303580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0.12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193792" y="2322576"/>
            <a:ext cx="153901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375125" y="230428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0.24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193792" y="1591056"/>
            <a:ext cx="460576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681800" y="15727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0.71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93792" y="859536"/>
            <a:ext cx="594360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815584" y="84124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0.91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93792" y="402336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mean |SHAP|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108960" y="3822192"/>
            <a:ext cx="42005" cy="9144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48965" y="3822192"/>
            <a:ext cx="42005" cy="91440"/>
          </a:xfrm>
          <a:prstGeom prst="rect">
            <a:avLst/>
          </a:prstGeom>
          <a:solidFill>
            <a:srgbClr val="BE4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188970" y="3822192"/>
            <a:ext cx="42005" cy="91440"/>
          </a:xfrm>
          <a:prstGeom prst="rect">
            <a:avLst/>
          </a:prstGeom>
          <a:solidFill>
            <a:srgbClr val="B84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28975" y="3822192"/>
            <a:ext cx="42005" cy="91440"/>
          </a:xfrm>
          <a:prstGeom prst="rect">
            <a:avLst/>
          </a:prstGeom>
          <a:solidFill>
            <a:srgbClr val="B24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68980" y="3822192"/>
            <a:ext cx="42005" cy="91440"/>
          </a:xfrm>
          <a:prstGeom prst="rect">
            <a:avLst/>
          </a:prstGeom>
          <a:solidFill>
            <a:srgbClr val="AC4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308985" y="3822192"/>
            <a:ext cx="42005" cy="91440"/>
          </a:xfrm>
          <a:prstGeom prst="rect">
            <a:avLst/>
          </a:prstGeom>
          <a:solidFill>
            <a:srgbClr val="A6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348990" y="3822192"/>
            <a:ext cx="42005" cy="91440"/>
          </a:xfrm>
          <a:prstGeom prst="rect">
            <a:avLst/>
          </a:prstGeom>
          <a:solidFill>
            <a:srgbClr val="A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388995" y="3822192"/>
            <a:ext cx="42005" cy="91440"/>
          </a:xfrm>
          <a:prstGeom prst="rect">
            <a:avLst/>
          </a:prstGeom>
          <a:solidFill>
            <a:srgbClr val="9A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429000" y="3822192"/>
            <a:ext cx="42005" cy="91440"/>
          </a:xfrm>
          <a:prstGeom prst="rect">
            <a:avLst/>
          </a:prstGeom>
          <a:solidFill>
            <a:srgbClr val="944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469005" y="3822192"/>
            <a:ext cx="42005" cy="91440"/>
          </a:xfrm>
          <a:prstGeom prst="rect">
            <a:avLst/>
          </a:prstGeom>
          <a:solidFill>
            <a:srgbClr val="8E5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509010" y="3822192"/>
            <a:ext cx="42005" cy="91440"/>
          </a:xfrm>
          <a:prstGeom prst="rect">
            <a:avLst/>
          </a:prstGeom>
          <a:solidFill>
            <a:srgbClr val="885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49015" y="3822192"/>
            <a:ext cx="42005" cy="91440"/>
          </a:xfrm>
          <a:prstGeom prst="rect">
            <a:avLst/>
          </a:prstGeom>
          <a:solidFill>
            <a:srgbClr val="825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589020" y="3822192"/>
            <a:ext cx="42005" cy="91440"/>
          </a:xfrm>
          <a:prstGeom prst="rect">
            <a:avLst/>
          </a:prstGeom>
          <a:solidFill>
            <a:srgbClr val="7C5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629025" y="3822192"/>
            <a:ext cx="42005" cy="91440"/>
          </a:xfrm>
          <a:prstGeom prst="rect">
            <a:avLst/>
          </a:prstGeom>
          <a:solidFill>
            <a:srgbClr val="765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69030" y="3822192"/>
            <a:ext cx="42005" cy="91440"/>
          </a:xfrm>
          <a:prstGeom prst="rect">
            <a:avLst/>
          </a:prstGeom>
          <a:solidFill>
            <a:srgbClr val="705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35" y="3822192"/>
            <a:ext cx="42005" cy="91440"/>
          </a:xfrm>
          <a:prstGeom prst="rect">
            <a:avLst/>
          </a:prstGeom>
          <a:solidFill>
            <a:srgbClr val="6A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49040" y="3822192"/>
            <a:ext cx="42005" cy="91440"/>
          </a:xfrm>
          <a:prstGeom prst="rect">
            <a:avLst/>
          </a:prstGeom>
          <a:solidFill>
            <a:srgbClr val="645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789045" y="3822192"/>
            <a:ext cx="42005" cy="91440"/>
          </a:xfrm>
          <a:prstGeom prst="rect">
            <a:avLst/>
          </a:prstGeom>
          <a:solidFill>
            <a:srgbClr val="5E6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829050" y="3822192"/>
            <a:ext cx="42005" cy="91440"/>
          </a:xfrm>
          <a:prstGeom prst="rect">
            <a:avLst/>
          </a:prstGeom>
          <a:solidFill>
            <a:srgbClr val="58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869055" y="3822192"/>
            <a:ext cx="42005" cy="91440"/>
          </a:xfrm>
          <a:prstGeom prst="rect">
            <a:avLst/>
          </a:prstGeom>
          <a:solidFill>
            <a:srgbClr val="526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909060" y="3822192"/>
            <a:ext cx="42005" cy="91440"/>
          </a:xfrm>
          <a:prstGeom prst="rect">
            <a:avLst/>
          </a:prstGeom>
          <a:solidFill>
            <a:srgbClr val="4C6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949065" y="3822192"/>
            <a:ext cx="42005" cy="91440"/>
          </a:xfrm>
          <a:prstGeom prst="rect">
            <a:avLst/>
          </a:prstGeom>
          <a:solidFill>
            <a:srgbClr val="466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989070" y="3822192"/>
            <a:ext cx="42005" cy="91440"/>
          </a:xfrm>
          <a:prstGeom prst="rect">
            <a:avLst/>
          </a:prstGeom>
          <a:solidFill>
            <a:srgbClr val="406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29075" y="3822192"/>
            <a:ext cx="42005" cy="91440"/>
          </a:xfrm>
          <a:prstGeom prst="rect">
            <a:avLst/>
          </a:prstGeom>
          <a:solidFill>
            <a:srgbClr val="3A6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069080" y="3822192"/>
            <a:ext cx="42005" cy="91440"/>
          </a:xfrm>
          <a:prstGeom prst="rect">
            <a:avLst/>
          </a:prstGeom>
          <a:solidFill>
            <a:srgbClr val="34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09085" y="3822192"/>
            <a:ext cx="42005" cy="91440"/>
          </a:xfrm>
          <a:prstGeom prst="rect">
            <a:avLst/>
          </a:prstGeom>
          <a:solidFill>
            <a:srgbClr val="2E70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49090" y="3822192"/>
            <a:ext cx="42005" cy="91440"/>
          </a:xfrm>
          <a:prstGeom prst="rect">
            <a:avLst/>
          </a:prstGeom>
          <a:solidFill>
            <a:srgbClr val="287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89095" y="3822192"/>
            <a:ext cx="42005" cy="91440"/>
          </a:xfrm>
          <a:prstGeom prst="rect">
            <a:avLst/>
          </a:prstGeom>
          <a:solidFill>
            <a:srgbClr val="227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229100" y="3822192"/>
            <a:ext cx="42005" cy="91440"/>
          </a:xfrm>
          <a:prstGeom prst="rect">
            <a:avLst/>
          </a:prstGeom>
          <a:solidFill>
            <a:srgbClr val="1C7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269105" y="3822192"/>
            <a:ext cx="42005" cy="91440"/>
          </a:xfrm>
          <a:prstGeom prst="rect">
            <a:avLst/>
          </a:prstGeom>
          <a:solidFill>
            <a:srgbClr val="1678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309110" y="3822192"/>
            <a:ext cx="42005" cy="91440"/>
          </a:xfrm>
          <a:prstGeom prst="rect">
            <a:avLst/>
          </a:prstGeom>
          <a:solidFill>
            <a:srgbClr val="10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349115" y="3822192"/>
            <a:ext cx="42005" cy="9144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788920" y="3802192"/>
            <a:ext cx="320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low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34840" y="380219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286000" y="3931920"/>
            <a:ext cx="24688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feature 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Subjects, ordered by predicted probability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Predicted P(good)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2011680"/>
            <a:ext cx="420624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40640" y="1920240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0.5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216" y="2758576"/>
            <a:ext cx="98546" cy="716144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7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5394" y="2753829"/>
            <a:ext cx="98546" cy="72089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93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5572" y="2621041"/>
            <a:ext cx="98546" cy="853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511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61872" y="245575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5929" y="2588353"/>
            <a:ext cx="98546" cy="886367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54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6107" y="2553215"/>
            <a:ext cx="98546" cy="92150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565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2406" y="237923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8583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66464" y="2475021"/>
            <a:ext cx="98546" cy="99969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060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86642" y="2417458"/>
            <a:ext cx="98546" cy="105726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618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82941" y="212728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636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03120" y="212668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665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23298" y="200073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67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67355" y="2077451"/>
            <a:ext cx="98546" cy="139726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690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3654" y="181331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707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83833" y="179624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4725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4011" y="177852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6743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848068" y="1904546"/>
            <a:ext cx="98546" cy="157017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761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944368" y="172373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64546" y="170322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2797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8603" y="1848709"/>
            <a:ext cx="98546" cy="162601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814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04902" y="159877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6832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25081" y="1594351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8850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69138" y="1720764"/>
            <a:ext cx="98546" cy="175395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0868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89316" y="1702302"/>
            <a:ext cx="98546" cy="177241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288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09495" y="1693599"/>
            <a:ext cx="98546" cy="178112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74904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29673" y="1637866"/>
            <a:ext cx="98546" cy="183685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86921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025972" y="142976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893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170029" y="1573876"/>
            <a:ext cx="98546" cy="190084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095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90208" y="1527756"/>
            <a:ext cx="98546" cy="194696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2975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10386" y="1442514"/>
            <a:ext cx="98546" cy="203220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4993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30564" y="1412949"/>
            <a:ext cx="98546" cy="206177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4701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626864" y="117478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9028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770921" y="1233174"/>
            <a:ext cx="98546" cy="224154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71046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91099" y="1217942"/>
            <a:ext cx="98546" cy="22567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306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11277" y="1161735"/>
            <a:ext cx="98546" cy="2312985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508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24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49040" y="603504"/>
            <a:ext cx="1325880" cy="365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49040" y="630936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21/35 correct @ 0.5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49040" y="786384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accuracy = 0.60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4128" y="594360"/>
            <a:ext cx="146304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207008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good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487168" y="594360"/>
            <a:ext cx="146304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651760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bad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50208" y="584360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✗ / gold border = misclassified at P = 0.5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