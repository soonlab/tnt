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320040"/>
            <a:ext cx="777240" cy="411480"/>
          </a:xfrm>
          <a:prstGeom prst="rect">
            <a:avLst/>
          </a:prstGeom>
          <a:solidFill>
            <a:srgbClr val="F0F0F0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320040"/>
            <a:ext cx="77724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pre-RT
biopsy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320040"/>
            <a:ext cx="777240" cy="411480"/>
          </a:xfrm>
          <a:prstGeom prst="rect">
            <a:avLst/>
          </a:prstGeom>
          <a:solidFill>
            <a:srgbClr val="F0F0F0"/>
          </a:solidFill>
          <a:ln w="762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320040"/>
            <a:ext cx="77724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post-RT
biopsy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525780"/>
            <a:ext cx="2697480" cy="0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ight Triangle 7"/>
          <p:cNvSpPr/>
          <p:nvPr/>
        </p:nvSpPr>
        <p:spPr>
          <a:xfrm>
            <a:off x="4481280" y="503280"/>
            <a:ext cx="45000" cy="45000"/>
          </a:xfrm>
          <a:prstGeom prst="rtTriangle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83464"/>
            <a:ext cx="2514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Radiation phase (short-course RT 25 Gy / 5 Fx, RT-only biopsy window)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417320" cy="1828800"/>
          </a:xfrm>
          <a:prstGeom prst="rect">
            <a:avLst/>
          </a:prstGeom>
          <a:solidFill>
            <a:srgbClr val="9FC9BE"/>
          </a:solidFill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261872"/>
            <a:ext cx="1271016" cy="16824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7D6E"/>
                </a:solidFill>
                <a:latin typeface="Arial"/>
              </a:rPr>
              <a:t>Static baseline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7D6E"/>
                </a:solidFill>
                <a:latin typeface="Arial"/>
              </a:rPr>
              <a:t>predictor (Fig 5)</a:t>
            </a:r>
          </a:p>
          <a:p>
            <a:pPr algn="ctr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4-feature ElasticNet</a:t>
            </a:r>
          </a:p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DSB repair · frac_amp</a:t>
            </a:r>
          </a:p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MHC-II · MSI %</a:t>
            </a:r>
          </a:p>
          <a:p>
            <a:pPr algn="ctr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Nested AUC 0.745</a:t>
            </a:r>
          </a:p>
          <a:p>
            <a:pPr algn="ctr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95 % CI 0.56–0.90</a:t>
            </a:r>
          </a:p>
          <a:p>
            <a:pPr algn="ctr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700" b="0" i="1">
                <a:solidFill>
                  <a:srgbClr val="555555"/>
                </a:solidFill>
                <a:latin typeface="Arial"/>
              </a:rPr>
              <a:t>single pre-CRT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188720"/>
            <a:ext cx="128016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3" y="1243584"/>
            <a:ext cx="1170432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§3.9  Target</a:t>
            </a:r>
          </a:p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1" y="1645920"/>
            <a:ext cx="1133856" cy="1325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Do the baseline predictor axes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themselves move post-RT in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biologically predicted direction?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222222"/>
                </a:solidFill>
                <a:latin typeface="Arial"/>
              </a:rPr>
              <a:t>RNA-paired  n = 12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555555"/>
                </a:solidFill>
                <a:latin typeface="Arial"/>
              </a:rPr>
              <a:t>oriented-Δ composites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D4A300"/>
                </a:solidFill>
                <a:latin typeface="Arial"/>
              </a:rPr>
              <a:t>EMT  good 6/6  P = 0.016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40 / 48 concordant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188720"/>
            <a:ext cx="128016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1243584"/>
            <a:ext cx="1170432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§3.10  IGH repertoire</a:t>
            </a:r>
          </a:p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directional coherence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645920"/>
            <a:ext cx="1133856" cy="1325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Does IGH V-gene response to RT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show reproducible direction per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group, even with noisy magnitudes?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222222"/>
                </a:solidFill>
                <a:latin typeface="Arial"/>
              </a:rPr>
              <a:t>RNA-paired  n = 12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555555"/>
                </a:solidFill>
                <a:latin typeface="Arial"/>
              </a:rPr>
              <a:t>53 V-genes, LOO coherence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D4A300"/>
                </a:solidFill>
                <a:latin typeface="Arial"/>
              </a:rPr>
              <a:t>3 aggregate P &lt; 0.05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good coherent / bad stochastic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188720"/>
            <a:ext cx="128016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1243584"/>
            <a:ext cx="1170432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§3.11  Cascade</a:t>
            </a:r>
          </a:p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222222"/>
                </a:solidFill>
                <a:latin typeface="Arial"/>
              </a:rPr>
              <a:t>phenomenology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1645920"/>
            <a:ext cx="1133856" cy="1325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Do mutation, neoantigen, HLA-LOH,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Treg, MHC-II, B-cell features show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coherent pre→post Δ in good?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222222"/>
                </a:solidFill>
                <a:latin typeface="Arial"/>
              </a:rPr>
              <a:t>mixed  n = 11 / 12 / 14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555555"/>
                </a:solidFill>
                <a:latin typeface="Arial"/>
              </a:rPr>
              <a:t>BCa 95 % CI, exploratory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700" b="1" i="0">
                <a:solidFill>
                  <a:srgbClr val="D4A300"/>
                </a:solidFill>
                <a:latin typeface="Arial"/>
              </a:rPr>
              <a:t>Treg Δ only robust between-group</a:t>
            </a: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others within-good significant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691640" y="1183720"/>
            <a:ext cx="822959" cy="919400"/>
          </a:xfrm>
          <a:prstGeom prst="line">
            <a:avLst/>
          </a:prstGeom>
          <a:ln w="1016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ight Triangle 21"/>
          <p:cNvSpPr/>
          <p:nvPr/>
        </p:nvSpPr>
        <p:spPr>
          <a:xfrm rot="18709912">
            <a:off x="2469599" y="1161220"/>
            <a:ext cx="45000" cy="45000"/>
          </a:xfrm>
          <a:prstGeom prst="rtTriangl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691640" y="1183720"/>
            <a:ext cx="2194560" cy="919400"/>
          </a:xfrm>
          <a:prstGeom prst="line">
            <a:avLst/>
          </a:prstGeom>
          <a:ln w="1016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ight Triangle 23"/>
          <p:cNvSpPr/>
          <p:nvPr/>
        </p:nvSpPr>
        <p:spPr>
          <a:xfrm rot="20236140">
            <a:off x="3841200" y="1161220"/>
            <a:ext cx="45000" cy="45000"/>
          </a:xfrm>
          <a:prstGeom prst="rtTriangl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1691640" y="1183720"/>
            <a:ext cx="3566160" cy="919400"/>
          </a:xfrm>
          <a:prstGeom prst="line">
            <a:avLst/>
          </a:prstGeom>
          <a:ln w="1016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ight Triangle 25"/>
          <p:cNvSpPr/>
          <p:nvPr/>
        </p:nvSpPr>
        <p:spPr>
          <a:xfrm rot="20732595">
            <a:off x="5212800" y="1161220"/>
            <a:ext cx="45000" cy="45000"/>
          </a:xfrm>
          <a:prstGeom prst="rtTriangle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5" y="1536192"/>
            <a:ext cx="201168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4A300"/>
                </a:solidFill>
                <a:latin typeface="Arial"/>
              </a:rPr>
              <a:t>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1536192"/>
            <a:ext cx="201168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4A300"/>
                </a:solidFill>
                <a:latin typeface="Arial"/>
              </a:rPr>
              <a:t>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1536192"/>
            <a:ext cx="201168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4A300"/>
                </a:solidFill>
                <a:latin typeface="Arial"/>
              </a:rPr>
              <a:t>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46120"/>
            <a:ext cx="5394960" cy="502920"/>
          </a:xfrm>
          <a:prstGeom prst="rect">
            <a:avLst/>
          </a:prstGeom>
          <a:solidFill>
            <a:srgbClr val="FBF4E0"/>
          </a:solidFill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91840"/>
            <a:ext cx="52120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D4A300"/>
                </a:solidFill>
                <a:latin typeface="Arial"/>
              </a:rPr>
              <a:t>Convergence null (§3.8)</a:t>
            </a:r>
          </a:p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Static baseline axis ⊥ dynamic pharmacodynamic axes — 0 / 36 targeted pairs P &lt; 0.05 (1.8 expected by chance); see Panel B and Panel C for the test and headline pair.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0200" y="594360"/>
            <a:ext cx="640080" cy="284480"/>
          </a:xfrm>
          <a:prstGeom prst="rect">
            <a:avLst/>
          </a:prstGeom>
          <a:solidFill>
            <a:srgbClr val="C3CCD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00200" y="5943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-0.17</a:t>
            </a:r>
          </a:p>
        </p:txBody>
      </p:sp>
      <p:sp>
        <p:nvSpPr>
          <p:cNvPr id="5" name="Rectangle 4"/>
          <p:cNvSpPr/>
          <p:nvPr/>
        </p:nvSpPr>
        <p:spPr>
          <a:xfrm>
            <a:off x="2240280" y="594360"/>
            <a:ext cx="640080" cy="284480"/>
          </a:xfrm>
          <a:prstGeom prst="rect">
            <a:avLst/>
          </a:prstGeom>
          <a:solidFill>
            <a:srgbClr val="EAEDF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80" y="5943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-0.06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594360"/>
            <a:ext cx="640080" cy="284480"/>
          </a:xfrm>
          <a:prstGeom prst="rect">
            <a:avLst/>
          </a:prstGeom>
          <a:solidFill>
            <a:srgbClr val="D7DDE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5943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594360"/>
            <a:ext cx="640080" cy="284480"/>
          </a:xfrm>
          <a:prstGeom prst="rect">
            <a:avLst/>
          </a:prstGeom>
          <a:solidFill>
            <a:srgbClr val="D1606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5943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Arial"/>
              </a:rPr>
              <a:t>+0.42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878840"/>
            <a:ext cx="640080" cy="284480"/>
          </a:xfrm>
          <a:prstGeom prst="rect">
            <a:avLst/>
          </a:prstGeom>
          <a:solidFill>
            <a:srgbClr val="F4DBD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8788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878840"/>
            <a:ext cx="640080" cy="284480"/>
          </a:xfrm>
          <a:prstGeom prst="rect">
            <a:avLst/>
          </a:prstGeom>
          <a:solidFill>
            <a:srgbClr val="C6CFE0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8788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878840"/>
            <a:ext cx="640080" cy="284480"/>
          </a:xfrm>
          <a:prstGeom prst="rect">
            <a:avLst/>
          </a:prstGeom>
          <a:solidFill>
            <a:srgbClr val="B0BCD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8788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878840"/>
            <a:ext cx="640080" cy="284480"/>
          </a:xfrm>
          <a:prstGeom prst="rect">
            <a:avLst/>
          </a:prstGeom>
          <a:solidFill>
            <a:srgbClr val="ECBCC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8788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163320"/>
            <a:ext cx="640080" cy="284480"/>
          </a:xfrm>
          <a:prstGeom prst="rect">
            <a:avLst/>
          </a:prstGeom>
          <a:solidFill>
            <a:srgbClr val="E6EAF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11633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1163320"/>
            <a:ext cx="640080" cy="284480"/>
          </a:xfrm>
          <a:prstGeom prst="rect">
            <a:avLst/>
          </a:prstGeom>
          <a:solidFill>
            <a:srgbClr val="F9FAF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11633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1163320"/>
            <a:ext cx="640080" cy="284480"/>
          </a:xfrm>
          <a:prstGeom prst="rect">
            <a:avLst/>
          </a:prstGeom>
          <a:solidFill>
            <a:srgbClr val="F4F5F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11633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1163320"/>
            <a:ext cx="640080" cy="284480"/>
          </a:xfrm>
          <a:prstGeom prst="rect">
            <a:avLst/>
          </a:prstGeom>
          <a:solidFill>
            <a:srgbClr val="D15F6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11633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Arial"/>
              </a:rPr>
              <a:t>+0.43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447800"/>
            <a:ext cx="640080" cy="284480"/>
          </a:xfrm>
          <a:prstGeom prst="rect">
            <a:avLst/>
          </a:prstGeom>
          <a:solidFill>
            <a:srgbClr val="F4D9D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14478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1447800"/>
            <a:ext cx="640080" cy="284480"/>
          </a:xfrm>
          <a:prstGeom prst="rect">
            <a:avLst/>
          </a:prstGeom>
          <a:solidFill>
            <a:srgbClr val="D8DE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14478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447800"/>
            <a:ext cx="640080" cy="284480"/>
          </a:xfrm>
          <a:prstGeom prst="rect">
            <a:avLst/>
          </a:prstGeom>
          <a:solidFill>
            <a:srgbClr val="ADBAD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14478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1447800"/>
            <a:ext cx="640080" cy="284480"/>
          </a:xfrm>
          <a:prstGeom prst="rect">
            <a:avLst/>
          </a:prstGeom>
          <a:solidFill>
            <a:srgbClr val="E9B2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14478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0200" y="1732280"/>
            <a:ext cx="640080" cy="284480"/>
          </a:xfrm>
          <a:prstGeom prst="rect">
            <a:avLst/>
          </a:prstGeom>
          <a:solidFill>
            <a:srgbClr val="F4D9D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0200" y="173228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1732280"/>
            <a:ext cx="640080" cy="284480"/>
          </a:xfrm>
          <a:prstGeom prst="rect">
            <a:avLst/>
          </a:prstGeom>
          <a:solidFill>
            <a:srgbClr val="D8DEE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80" y="173228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1732280"/>
            <a:ext cx="640080" cy="284480"/>
          </a:xfrm>
          <a:prstGeom prst="rect">
            <a:avLst/>
          </a:prstGeom>
          <a:solidFill>
            <a:srgbClr val="ADBAD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173228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1732280"/>
            <a:ext cx="640080" cy="284480"/>
          </a:xfrm>
          <a:prstGeom prst="rect">
            <a:avLst/>
          </a:prstGeom>
          <a:solidFill>
            <a:srgbClr val="E9B2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173228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00200" y="2016760"/>
            <a:ext cx="640080" cy="284480"/>
          </a:xfrm>
          <a:prstGeom prst="rect">
            <a:avLst/>
          </a:prstGeom>
          <a:solidFill>
            <a:srgbClr val="F7F8F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20167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80" y="2016760"/>
            <a:ext cx="640080" cy="284480"/>
          </a:xfrm>
          <a:prstGeom prst="rect">
            <a:avLst/>
          </a:prstGeom>
          <a:solidFill>
            <a:srgbClr val="FCFCF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0280" y="20167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2016760"/>
            <a:ext cx="640080" cy="284480"/>
          </a:xfrm>
          <a:prstGeom prst="rect">
            <a:avLst/>
          </a:prstGeom>
          <a:solidFill>
            <a:srgbClr val="EDF0F5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80360" y="20167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2016760"/>
            <a:ext cx="640080" cy="284480"/>
          </a:xfrm>
          <a:prstGeom prst="rect">
            <a:avLst/>
          </a:prstGeom>
          <a:solidFill>
            <a:srgbClr val="CD515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201676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Arial"/>
              </a:rPr>
              <a:t>+0.46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00200" y="2301240"/>
            <a:ext cx="640080" cy="284480"/>
          </a:xfrm>
          <a:prstGeom prst="rect">
            <a:avLst/>
          </a:prstGeom>
          <a:solidFill>
            <a:srgbClr val="E6A9A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00200" y="23012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40280" y="2301240"/>
            <a:ext cx="640080" cy="284480"/>
          </a:xfrm>
          <a:prstGeom prst="rect">
            <a:avLst/>
          </a:prstGeom>
          <a:solidFill>
            <a:srgbClr val="8093B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23012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-0.35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301240"/>
            <a:ext cx="640080" cy="284480"/>
          </a:xfrm>
          <a:prstGeom prst="rect">
            <a:avLst/>
          </a:prstGeom>
          <a:solidFill>
            <a:srgbClr val="FAEEE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80360" y="23012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20440" y="2301240"/>
            <a:ext cx="640080" cy="284480"/>
          </a:xfrm>
          <a:prstGeom prst="rect">
            <a:avLst/>
          </a:prstGeom>
          <a:solidFill>
            <a:srgbClr val="F6E2E4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0440" y="230124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+0.08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585720"/>
            <a:ext cx="640080" cy="284480"/>
          </a:xfrm>
          <a:prstGeom prst="rect">
            <a:avLst/>
          </a:prstGeom>
          <a:solidFill>
            <a:srgbClr val="546EA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0200" y="25857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Arial"/>
              </a:rPr>
              <a:t>-0.48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40280" y="2585720"/>
            <a:ext cx="640080" cy="284480"/>
          </a:xfrm>
          <a:prstGeom prst="rect">
            <a:avLst/>
          </a:prstGeom>
          <a:solidFill>
            <a:srgbClr val="F2F4F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0280" y="25857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-0.04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80360" y="2585720"/>
            <a:ext cx="640080" cy="284480"/>
          </a:xfrm>
          <a:prstGeom prst="rect">
            <a:avLst/>
          </a:prstGeom>
          <a:solidFill>
            <a:srgbClr val="778CB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0360" y="25857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-0.38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40" y="2585720"/>
            <a:ext cx="640080" cy="284480"/>
          </a:xfrm>
          <a:prstGeom prst="rect">
            <a:avLst/>
          </a:prstGeom>
          <a:solidFill>
            <a:srgbClr val="E6A8A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20440" y="258572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00200" y="2870200"/>
            <a:ext cx="640080" cy="284480"/>
          </a:xfrm>
          <a:prstGeom prst="rect">
            <a:avLst/>
          </a:prstGeom>
          <a:solidFill>
            <a:srgbClr val="6B82A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00200" y="28702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Arial"/>
              </a:rPr>
              <a:t>-0.41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40280" y="2870200"/>
            <a:ext cx="640080" cy="284480"/>
          </a:xfrm>
          <a:prstGeom prst="rect">
            <a:avLst/>
          </a:prstGeom>
          <a:solidFill>
            <a:srgbClr val="E4A1A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40280" y="28702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+0.25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80360" y="2870200"/>
            <a:ext cx="640080" cy="284480"/>
          </a:xfrm>
          <a:prstGeom prst="rect">
            <a:avLst/>
          </a:prstGeom>
          <a:solidFill>
            <a:srgbClr val="DCE1E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80360" y="28702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-0.10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20440" y="2870200"/>
            <a:ext cx="640080" cy="284480"/>
          </a:xfrm>
          <a:prstGeom prst="rect">
            <a:avLst/>
          </a:prstGeom>
          <a:solidFill>
            <a:srgbClr val="F2D3D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40" y="2870200"/>
            <a:ext cx="640080" cy="284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+0.12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63040" y="3184680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Δ CD8 cyt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0" y="3184680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Δ Treg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0" y="3184680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Δ MHC-II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80" y="3184680"/>
            <a:ext cx="914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Δ IGH count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8600" y="65430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DSB Repair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" y="93878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HDR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8600" y="122326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DNA Repair (all)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" y="150774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E2F Targets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8600" y="179222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G2-M Checkpoint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8600" y="207670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Myc V2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00" y="236118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frac_amp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8600" y="264566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MHC_II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8600" y="2930144"/>
            <a:ext cx="13258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MSI 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0200" y="3538728"/>
            <a:ext cx="25603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Cascade Δ (post − pre, §3.11 axis)</a:t>
            </a:r>
          </a:p>
        </p:txBody>
      </p:sp>
      <p:sp>
        <p:nvSpPr>
          <p:cNvPr id="89" name="TextBox 88"/>
          <p:cNvSpPr txBox="1"/>
          <p:nvPr/>
        </p:nvSpPr>
        <p:spPr>
          <a:xfrm rot="16200000">
            <a:off x="-228600" y="1371600"/>
            <a:ext cx="137160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Baseline feature (pre-CRT)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89120" y="3074670"/>
            <a:ext cx="164592" cy="80010"/>
          </a:xfrm>
          <a:prstGeom prst="rect">
            <a:avLst/>
          </a:prstGeom>
          <a:solidFill>
            <a:srgbClr val="29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89120" y="2994660"/>
            <a:ext cx="164592" cy="80010"/>
          </a:xfrm>
          <a:prstGeom prst="rect">
            <a:avLst/>
          </a:prstGeom>
          <a:solidFill>
            <a:srgbClr val="365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89120" y="2914650"/>
            <a:ext cx="164592" cy="80010"/>
          </a:xfrm>
          <a:prstGeom prst="rect">
            <a:avLst/>
          </a:prstGeom>
          <a:solidFill>
            <a:srgbClr val="446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89120" y="2834640"/>
            <a:ext cx="164592" cy="80010"/>
          </a:xfrm>
          <a:prstGeom prst="rect">
            <a:avLst/>
          </a:prstGeom>
          <a:solidFill>
            <a:srgbClr val="526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389120" y="2754630"/>
            <a:ext cx="164592" cy="80010"/>
          </a:xfrm>
          <a:prstGeom prst="rect">
            <a:avLst/>
          </a:prstGeom>
          <a:solidFill>
            <a:srgbClr val="607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389120" y="2674620"/>
            <a:ext cx="164592" cy="80010"/>
          </a:xfrm>
          <a:prstGeom prst="rect">
            <a:avLst/>
          </a:prstGeom>
          <a:solidFill>
            <a:srgbClr val="6E8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89120" y="2594610"/>
            <a:ext cx="164592" cy="80010"/>
          </a:xfrm>
          <a:prstGeom prst="rect">
            <a:avLst/>
          </a:prstGeom>
          <a:solidFill>
            <a:srgbClr val="7B9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389120" y="2514600"/>
            <a:ext cx="164592" cy="80010"/>
          </a:xfrm>
          <a:prstGeom prst="rect">
            <a:avLst/>
          </a:prstGeom>
          <a:solidFill>
            <a:srgbClr val="899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89120" y="2434590"/>
            <a:ext cx="164592" cy="80010"/>
          </a:xfrm>
          <a:prstGeom prst="rect">
            <a:avLst/>
          </a:prstGeom>
          <a:solidFill>
            <a:srgbClr val="97A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389120" y="2354580"/>
            <a:ext cx="164592" cy="80010"/>
          </a:xfrm>
          <a:prstGeom prst="rect">
            <a:avLst/>
          </a:prstGeom>
          <a:solidFill>
            <a:srgbClr val="A5B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89120" y="2274570"/>
            <a:ext cx="164592" cy="80010"/>
          </a:xfrm>
          <a:prstGeom prst="rect">
            <a:avLst/>
          </a:prstGeom>
          <a:solidFill>
            <a:srgbClr val="B3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89120" y="2194560"/>
            <a:ext cx="164592" cy="80010"/>
          </a:xfrm>
          <a:prstGeom prst="rect">
            <a:avLst/>
          </a:prstGeom>
          <a:solidFill>
            <a:srgbClr val="C0C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389120" y="2114550"/>
            <a:ext cx="164592" cy="80010"/>
          </a:xfrm>
          <a:prstGeom prst="rect">
            <a:avLst/>
          </a:prstGeom>
          <a:solidFill>
            <a:srgbClr val="CED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89120" y="2034540"/>
            <a:ext cx="164592" cy="80010"/>
          </a:xfrm>
          <a:prstGeom prst="rect">
            <a:avLst/>
          </a:prstGeom>
          <a:solidFill>
            <a:srgbClr val="DC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389120" y="1954530"/>
            <a:ext cx="164592" cy="80010"/>
          </a:xfrm>
          <a:prstGeom prst="rect">
            <a:avLst/>
          </a:prstGeom>
          <a:solidFill>
            <a:srgbClr val="EA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389120" y="1874520"/>
            <a:ext cx="164592" cy="8001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89120" y="1794510"/>
            <a:ext cx="164592" cy="80010"/>
          </a:xfrm>
          <a:prstGeom prst="rect">
            <a:avLst/>
          </a:prstGeom>
          <a:solidFill>
            <a:srgbClr val="FC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89120" y="1714500"/>
            <a:ext cx="164592" cy="80010"/>
          </a:xfrm>
          <a:prstGeom prst="rect">
            <a:avLst/>
          </a:prstGeom>
          <a:solidFill>
            <a:srgbClr val="F8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89120" y="1634490"/>
            <a:ext cx="164592" cy="80010"/>
          </a:xfrm>
          <a:prstGeom prst="rect">
            <a:avLst/>
          </a:prstGeom>
          <a:solidFill>
            <a:srgbClr val="F4D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89120" y="1554480"/>
            <a:ext cx="164592" cy="80010"/>
          </a:xfrm>
          <a:prstGeom prst="rect">
            <a:avLst/>
          </a:prstGeom>
          <a:solidFill>
            <a:srgbClr val="F0C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89120" y="1474470"/>
            <a:ext cx="164592" cy="80010"/>
          </a:xfrm>
          <a:prstGeom prst="rect">
            <a:avLst/>
          </a:prstGeom>
          <a:solidFill>
            <a:srgbClr val="ECB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389120" y="1394460"/>
            <a:ext cx="164592" cy="80010"/>
          </a:xfrm>
          <a:prstGeom prst="rect">
            <a:avLst/>
          </a:prstGeom>
          <a:solidFill>
            <a:srgbClr val="E8A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89120" y="1314450"/>
            <a:ext cx="164592" cy="80010"/>
          </a:xfrm>
          <a:prstGeom prst="rect">
            <a:avLst/>
          </a:prstGeom>
          <a:solidFill>
            <a:srgbClr val="E4A0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389120" y="1234440"/>
            <a:ext cx="164592" cy="80010"/>
          </a:xfrm>
          <a:prstGeom prst="rect">
            <a:avLst/>
          </a:prstGeom>
          <a:solidFill>
            <a:srgbClr val="E09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389120" y="1154430"/>
            <a:ext cx="164592" cy="80010"/>
          </a:xfrm>
          <a:prstGeom prst="rect">
            <a:avLst/>
          </a:prstGeom>
          <a:solidFill>
            <a:srgbClr val="DB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89120" y="1074420"/>
            <a:ext cx="164592" cy="80010"/>
          </a:xfrm>
          <a:prstGeom prst="rect">
            <a:avLst/>
          </a:prstGeom>
          <a:solidFill>
            <a:srgbClr val="D77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389120" y="994410"/>
            <a:ext cx="164592" cy="80010"/>
          </a:xfrm>
          <a:prstGeom prst="rect">
            <a:avLst/>
          </a:prstGeom>
          <a:solidFill>
            <a:srgbClr val="D36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389120" y="914400"/>
            <a:ext cx="164592" cy="80010"/>
          </a:xfrm>
          <a:prstGeom prst="rect">
            <a:avLst/>
          </a:prstGeom>
          <a:solidFill>
            <a:srgbClr val="CF5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89120" y="834390"/>
            <a:ext cx="164592" cy="80010"/>
          </a:xfrm>
          <a:prstGeom prst="rect">
            <a:avLst/>
          </a:prstGeom>
          <a:solidFill>
            <a:srgbClr val="CB4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389120" y="754380"/>
            <a:ext cx="164592" cy="80010"/>
          </a:xfrm>
          <a:prstGeom prst="rect">
            <a:avLst/>
          </a:prstGeom>
          <a:solidFill>
            <a:srgbClr val="C73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389120" y="674370"/>
            <a:ext cx="164592" cy="80010"/>
          </a:xfrm>
          <a:prstGeom prst="rect">
            <a:avLst/>
          </a:prstGeom>
          <a:solidFill>
            <a:srgbClr val="C3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389120" y="594360"/>
            <a:ext cx="164592" cy="80010"/>
          </a:xfrm>
          <a:prstGeom prst="rect">
            <a:avLst/>
          </a:prstGeom>
          <a:solidFill>
            <a:srgbClr val="BF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389120" y="594360"/>
            <a:ext cx="164592" cy="2560320"/>
          </a:xfrm>
          <a:prstGeom prst="rect">
            <a:avLst/>
          </a:prstGeom>
          <a:noFill/>
          <a:ln w="508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4553712" y="3154680"/>
            <a:ext cx="2500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583712" y="307238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-0.6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4553712" y="1874520"/>
            <a:ext cx="2500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4583712" y="179222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+0.0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53712" y="594360"/>
            <a:ext cx="2500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83712" y="51206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+0.6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62272" y="393192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partial 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06240" y="3200400"/>
            <a:ext cx="10972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(response-adj)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5760" y="3429000"/>
            <a:ext cx="5212080" cy="502920"/>
          </a:xfrm>
          <a:prstGeom prst="rect">
            <a:avLst/>
          </a:prstGeom>
          <a:solidFill>
            <a:srgbClr val="FBF4E0"/>
          </a:solidFill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2920" y="3483864"/>
            <a:ext cx="4937760" cy="3931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D4A300"/>
                </a:solidFill>
                <a:latin typeface="Arial"/>
              </a:rPr>
              <a:t>0 / 36 pairs significant at P &lt; 0.05   ·   0 / 36 at BH q &lt; 0.10   ·   1.8 expected by chance</a:t>
            </a:r>
          </a:p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222222"/>
                </a:solidFill>
                <a:latin typeface="Arial"/>
              </a:rPr>
              <a:t>The baseline Thread-1 predictor axes do not forecast the magnitude of the paired radiation-phase 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154680"/>
            <a:ext cx="3749039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548640"/>
            <a:ext cx="0" cy="260604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72954" y="315468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8634" y="321468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19340" y="315468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45020" y="321468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12112" y="315468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37792" y="321468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58498" y="315468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84178" y="321468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04884" y="3154680"/>
            <a:ext cx="0" cy="40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30564" y="3214680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4400" y="3143447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0040" y="3061151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-1.3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400" y="2525635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" y="2443339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-0.2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4400" y="1851659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0040" y="1769363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4400" y="1177684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0040" y="1095388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2.2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400" y="559872"/>
            <a:ext cx="4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" y="477576"/>
            <a:ext cx="5486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3.3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65576"/>
            <a:ext cx="3749039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DSB repair ssGSEA (pre-CRT baseline, z-score)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45720" y="1303020"/>
            <a:ext cx="77724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Δ CD8-cytotoxic (post − pre, z-score units)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2413306"/>
            <a:ext cx="3749039" cy="0"/>
          </a:xfrm>
          <a:prstGeom prst="line">
            <a:avLst/>
          </a:prstGeom>
          <a:ln w="508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" y="1014518"/>
            <a:ext cx="3749039" cy="1558504"/>
          </a:xfrm>
          <a:prstGeom prst="line">
            <a:avLst/>
          </a:prstGeom>
          <a:ln w="1524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14400" y="-1688565"/>
            <a:ext cx="3749039" cy="9441038"/>
          </a:xfrm>
          <a:prstGeom prst="line">
            <a:avLst/>
          </a:prstGeom>
          <a:ln w="8890">
            <a:solidFill>
              <a:srgbClr val="9999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83439" y="-1761717"/>
            <a:ext cx="5486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|r|=+0.55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-3814060"/>
            <a:ext cx="3749039" cy="9441037"/>
          </a:xfrm>
          <a:prstGeom prst="line">
            <a:avLst/>
          </a:prstGeom>
          <a:ln w="8890">
            <a:solidFill>
              <a:srgbClr val="9999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83439" y="5553825"/>
            <a:ext cx="5486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BBBBBB"/>
                </a:solidFill>
                <a:latin typeface="Arial"/>
              </a:rPr>
              <a:t>|r|=−0.55</a:t>
            </a:r>
          </a:p>
        </p:txBody>
      </p:sp>
      <p:sp>
        <p:nvSpPr>
          <p:cNvPr id="33" name="Oval 32"/>
          <p:cNvSpPr/>
          <p:nvPr/>
        </p:nvSpPr>
        <p:spPr>
          <a:xfrm>
            <a:off x="3082032" y="2835580"/>
            <a:ext cx="110000" cy="11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97032" y="2826572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3169319" y="2063401"/>
            <a:ext cx="110000" cy="11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84319" y="2054393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37" name="Oval 36"/>
          <p:cNvSpPr/>
          <p:nvPr/>
        </p:nvSpPr>
        <p:spPr>
          <a:xfrm>
            <a:off x="3127482" y="2040268"/>
            <a:ext cx="110000" cy="11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2482" y="2031260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sp>
        <p:nvSpPr>
          <p:cNvPr id="39" name="Oval 38"/>
          <p:cNvSpPr/>
          <p:nvPr/>
        </p:nvSpPr>
        <p:spPr>
          <a:xfrm>
            <a:off x="2825742" y="2326749"/>
            <a:ext cx="110000" cy="11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40742" y="2317741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13</a:t>
            </a:r>
          </a:p>
        </p:txBody>
      </p:sp>
      <p:sp>
        <p:nvSpPr>
          <p:cNvPr id="41" name="Oval 40"/>
          <p:cNvSpPr/>
          <p:nvPr/>
        </p:nvSpPr>
        <p:spPr>
          <a:xfrm>
            <a:off x="3232174" y="2627084"/>
            <a:ext cx="110000" cy="11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7174" y="2618076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14</a:t>
            </a:r>
          </a:p>
        </p:txBody>
      </p:sp>
      <p:sp>
        <p:nvSpPr>
          <p:cNvPr id="43" name="Oval 42"/>
          <p:cNvSpPr/>
          <p:nvPr/>
        </p:nvSpPr>
        <p:spPr>
          <a:xfrm>
            <a:off x="3252977" y="1031785"/>
            <a:ext cx="110000" cy="11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67977" y="1022777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45" name="Oval 44"/>
          <p:cNvSpPr/>
          <p:nvPr/>
        </p:nvSpPr>
        <p:spPr>
          <a:xfrm>
            <a:off x="3284099" y="2235740"/>
            <a:ext cx="110000" cy="11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99099" y="2226732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3208885" y="2070533"/>
            <a:ext cx="110000" cy="11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23885" y="2061525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49" name="Oval 48"/>
          <p:cNvSpPr/>
          <p:nvPr/>
        </p:nvSpPr>
        <p:spPr>
          <a:xfrm>
            <a:off x="3337968" y="1777875"/>
            <a:ext cx="110000" cy="11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2968" y="1768867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51" name="Oval 50"/>
          <p:cNvSpPr/>
          <p:nvPr/>
        </p:nvSpPr>
        <p:spPr>
          <a:xfrm>
            <a:off x="3069608" y="797107"/>
            <a:ext cx="110000" cy="11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84608" y="788099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53" name="Oval 52"/>
          <p:cNvSpPr/>
          <p:nvPr/>
        </p:nvSpPr>
        <p:spPr>
          <a:xfrm>
            <a:off x="2993304" y="891748"/>
            <a:ext cx="110000" cy="11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304" y="882740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8</a:t>
            </a:r>
          </a:p>
        </p:txBody>
      </p:sp>
      <p:sp>
        <p:nvSpPr>
          <p:cNvPr id="55" name="Oval 54"/>
          <p:cNvSpPr/>
          <p:nvPr/>
        </p:nvSpPr>
        <p:spPr>
          <a:xfrm>
            <a:off x="3287646" y="2272602"/>
            <a:ext cx="110000" cy="11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02646" y="2263594"/>
            <a:ext cx="274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" y="640080"/>
            <a:ext cx="169164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" y="676656"/>
            <a:ext cx="1581912" cy="5212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22222"/>
                </a:solidFill>
                <a:latin typeface="Arial"/>
              </a:rPr>
              <a:t>Spearman r = -0.07</a:t>
            </a:r>
          </a:p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222222"/>
                </a:solidFill>
                <a:latin typeface="Arial"/>
              </a:rPr>
              <a:t>P = 0.83   (n = 12)</a:t>
            </a:r>
          </a:p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D4A300"/>
                </a:solidFill>
                <a:latin typeface="Arial"/>
              </a:rPr>
              <a:t>power to detect |r| ≥ 0.55 retained</a:t>
            </a:r>
          </a:p>
        </p:txBody>
      </p:sp>
      <p:sp>
        <p:nvSpPr>
          <p:cNvPr id="59" name="Oval 58"/>
          <p:cNvSpPr/>
          <p:nvPr/>
        </p:nvSpPr>
        <p:spPr>
          <a:xfrm>
            <a:off x="3612599" y="686520"/>
            <a:ext cx="90000" cy="90000"/>
          </a:xfrm>
          <a:prstGeom prst="ellipse">
            <a:avLst/>
          </a:prstGeom>
          <a:solidFill>
            <a:srgbClr val="0A7D6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67327" y="645080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good (n = 6)</a:t>
            </a:r>
          </a:p>
        </p:txBody>
      </p:sp>
      <p:sp>
        <p:nvSpPr>
          <p:cNvPr id="61" name="Oval 60"/>
          <p:cNvSpPr/>
          <p:nvPr/>
        </p:nvSpPr>
        <p:spPr>
          <a:xfrm>
            <a:off x="3612599" y="851112"/>
            <a:ext cx="90000" cy="90000"/>
          </a:xfrm>
          <a:prstGeom prst="ellipse">
            <a:avLst/>
          </a:prstGeom>
          <a:solidFill>
            <a:srgbClr val="C53E1F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67327" y="804672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bad (n = 6)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3429000"/>
            <a:ext cx="5303520" cy="502920"/>
          </a:xfrm>
          <a:prstGeom prst="rect">
            <a:avLst/>
          </a:prstGeom>
          <a:solidFill>
            <a:srgbClr val="FBF4E0"/>
          </a:solidFill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474720"/>
            <a:ext cx="50292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D4A300"/>
                </a:solidFill>
                <a:latin typeface="Arial"/>
              </a:rPr>
              <a:t>Headline pair — DSB repair baseline does not forecast the post-RT CD8-cytotoxic Δ</a:t>
            </a:r>
          </a:p>
          <a:p>
            <a:pPr algn="l">
              <a:lnSpc>
                <a:spcPct val="120000"/>
              </a:lnSpc>
            </a:pPr>
            <a:r>
              <a:rPr sz="700" b="0" i="1">
                <a:solidFill>
                  <a:srgbClr val="222222"/>
                </a:solidFill>
                <a:latin typeface="Arial"/>
              </a:rPr>
              <a:t>Static baseline ⊥ dynamic pharmacodynamic axes; the cascade in §3.11 is phenomenology, not a causal downstream.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