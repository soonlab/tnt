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69848" y="530352"/>
            <a:ext cx="0" cy="10058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" y="1536192"/>
            <a:ext cx="1856232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3272" y="15361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0664" y="147218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33272" y="128473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0664" y="122072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33272" y="103327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96926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33272" y="7818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0664" y="71780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33272" y="53035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0664" y="46634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848" y="15361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6968" y="1581912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15361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43200" y="1581912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9848" y="1033272"/>
            <a:ext cx="1856232" cy="0"/>
          </a:xfrm>
          <a:prstGeom prst="line">
            <a:avLst/>
          </a:prstGeom>
          <a:ln w="508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1673352"/>
            <a:ext cx="2331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DSB / HDR repair   (pred: down)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69848" y="974002"/>
            <a:ext cx="1856232" cy="20803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9848" y="891308"/>
            <a:ext cx="1856232" cy="135173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9848" y="1016612"/>
            <a:ext cx="1856232" cy="16705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69848" y="905805"/>
            <a:ext cx="1856232" cy="395486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9848" y="937923"/>
            <a:ext cx="1856232" cy="279747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69848" y="1130063"/>
            <a:ext cx="1856232" cy="88270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69848" y="842850"/>
            <a:ext cx="1856232" cy="32224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69848" y="863907"/>
            <a:ext cx="1856232" cy="192736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9848" y="769437"/>
            <a:ext cx="1856232" cy="43966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69848" y="942253"/>
            <a:ext cx="1856232" cy="14978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9848" y="855416"/>
            <a:ext cx="1856232" cy="512453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69848" y="884734"/>
            <a:ext cx="1856232" cy="2276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932688" y="845991"/>
            <a:ext cx="91440" cy="33536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8920" y="970850"/>
            <a:ext cx="91440" cy="227251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5568" y="913835"/>
            <a:ext cx="91440" cy="92125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71800" y="1143056"/>
            <a:ext cx="91440" cy="66113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7848" y="95200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04080" y="116003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47848" y="86930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04080" y="100448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47848" y="99461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04080" y="116166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7848" y="88380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04080" y="127929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7848" y="91592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04080" y="119567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47848" y="119633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904080" y="110806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47848" y="82085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04080" y="114309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47848" y="84190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904080" y="103464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47848" y="74743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904080" y="118710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47848" y="107004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904080" y="92025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47848" y="83341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904080" y="13458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7848" y="86273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904080" y="86501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78408" y="859661"/>
            <a:ext cx="1856232" cy="251206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Diamond 61"/>
          <p:cNvSpPr/>
          <p:nvPr/>
        </p:nvSpPr>
        <p:spPr>
          <a:xfrm>
            <a:off x="936408" y="817661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2792640" y="1068867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61288" y="955963"/>
            <a:ext cx="1856232" cy="226886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Diamond 64"/>
          <p:cNvSpPr/>
          <p:nvPr/>
        </p:nvSpPr>
        <p:spPr>
          <a:xfrm>
            <a:off x="1119288" y="913963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iamond 65"/>
          <p:cNvSpPr/>
          <p:nvPr/>
        </p:nvSpPr>
        <p:spPr>
          <a:xfrm>
            <a:off x="2975520" y="1140849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15568" y="557784"/>
            <a:ext cx="123444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52144" y="565784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0A7D6E"/>
                </a:solidFill>
                <a:latin typeface="Arial"/>
              </a:rPr>
              <a:t>good ↓ : 5/6  (P = 0.109)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144" y="722376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C53E1F"/>
                </a:solidFill>
                <a:latin typeface="Arial"/>
              </a:rPr>
              <a:t>bad  ↓ : 5/6  (P = 0.109)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886968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MW Δ (good vs bad) P = 0.70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70048" y="576072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666666"/>
                </a:solidFill>
                <a:latin typeface="Arial"/>
              </a:rPr>
              <a:t>pred ↓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813048" y="530352"/>
            <a:ext cx="0" cy="10058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813048" y="1536192"/>
            <a:ext cx="1856232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776472" y="15361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3483864" y="147218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776472" y="128473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483864" y="122072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776472" y="103327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483864" y="96926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776472" y="7818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83864" y="71780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76472" y="53035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483864" y="466344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813048" y="15361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630168" y="1581912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669280" y="1536192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0" y="1581912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813048" y="1033272"/>
            <a:ext cx="1856232" cy="0"/>
          </a:xfrm>
          <a:prstGeom prst="line">
            <a:avLst/>
          </a:prstGeom>
          <a:ln w="508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429000" y="1673352"/>
            <a:ext cx="2331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Tumor cell-cycle   (pred: down)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3813048" y="925170"/>
            <a:ext cx="1856232" cy="28721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813048" y="845089"/>
            <a:ext cx="1856232" cy="18886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13048" y="983443"/>
            <a:ext cx="1856232" cy="13431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813048" y="893744"/>
            <a:ext cx="1856232" cy="46842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813048" y="918154"/>
            <a:ext cx="1856232" cy="327849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813048" y="1084965"/>
            <a:ext cx="1856232" cy="130655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813048" y="813628"/>
            <a:ext cx="1856232" cy="280552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813048" y="799425"/>
            <a:ext cx="1856232" cy="226052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813048" y="793867"/>
            <a:ext cx="1856232" cy="437009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13048" y="998772"/>
            <a:ext cx="1856232" cy="80994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13048" y="874620"/>
            <a:ext cx="1856232" cy="453095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813048" y="907265"/>
            <a:ext cx="1856232" cy="11556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3675888" y="802976"/>
            <a:ext cx="91440" cy="104795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532120" y="1005448"/>
            <a:ext cx="91440" cy="191254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858768" y="899847"/>
            <a:ext cx="91440" cy="69028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715000" y="1093162"/>
            <a:ext cx="91440" cy="144435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791048" y="90317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647280" y="119038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791048" y="82308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647280" y="101195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791048" y="96144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647280" y="109575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791048" y="87174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647280" y="134016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91048" y="89615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647280" y="122400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791048" y="119362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647280" y="106296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791048" y="79162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647280" y="107218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791048" y="77742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647280" y="100347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791048" y="77186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647280" y="120887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791048" y="105776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647280" y="97677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791048" y="85262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647280" y="130571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791048" y="89682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647280" y="88526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721608" y="844124"/>
            <a:ext cx="1856232" cy="215704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Diamond 130"/>
          <p:cNvSpPr/>
          <p:nvPr/>
        </p:nvSpPr>
        <p:spPr>
          <a:xfrm>
            <a:off x="3679608" y="802124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Diamond 131"/>
          <p:cNvSpPr/>
          <p:nvPr/>
        </p:nvSpPr>
        <p:spPr>
          <a:xfrm>
            <a:off x="5535840" y="1017828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3904488" y="921662"/>
            <a:ext cx="1856232" cy="243405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Diamond 133"/>
          <p:cNvSpPr/>
          <p:nvPr/>
        </p:nvSpPr>
        <p:spPr>
          <a:xfrm>
            <a:off x="3862488" y="879662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Diamond 134"/>
          <p:cNvSpPr/>
          <p:nvPr/>
        </p:nvSpPr>
        <p:spPr>
          <a:xfrm>
            <a:off x="5718720" y="1123067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858768" y="557784"/>
            <a:ext cx="123444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895344" y="565784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0A7D6E"/>
                </a:solidFill>
                <a:latin typeface="Arial"/>
              </a:rPr>
              <a:t>good ↓ : 4/6  (P = 0.344)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95344" y="722376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C53E1F"/>
                </a:solidFill>
                <a:latin typeface="Arial"/>
              </a:rPr>
              <a:t>bad  ↓ : 5/6  (P = 0.109)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95344" y="886968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MW Δ (good vs bad) P = 1.00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13248" y="576072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666666"/>
                </a:solidFill>
                <a:latin typeface="Arial"/>
              </a:rPr>
              <a:t>pred ↓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069848" y="2423160"/>
            <a:ext cx="0" cy="10058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069848" y="3429000"/>
            <a:ext cx="1856232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033272" y="3429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740664" y="3364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1033272" y="31775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740664" y="31135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1033272" y="29260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740664" y="28620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033272" y="26746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740664" y="26106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033272" y="24231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740664" y="23591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1069848" y="342900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886968" y="347472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2926080" y="342900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2743200" y="347472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069848" y="2926080"/>
            <a:ext cx="1856232" cy="0"/>
          </a:xfrm>
          <a:prstGeom prst="line">
            <a:avLst/>
          </a:prstGeom>
          <a:ln w="508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685800" y="3566160"/>
            <a:ext cx="2331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E2F / MYC   (pred: down)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1069848" y="2799061"/>
            <a:ext cx="1856232" cy="152567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069848" y="2770627"/>
            <a:ext cx="1856232" cy="15164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069848" y="2898610"/>
            <a:ext cx="1856232" cy="8916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69848" y="2770706"/>
            <a:ext cx="1856232" cy="58227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69848" y="2805566"/>
            <a:ext cx="1856232" cy="368125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069848" y="2959413"/>
            <a:ext cx="1856232" cy="17290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069848" y="2695182"/>
            <a:ext cx="1856232" cy="32154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69848" y="2720796"/>
            <a:ext cx="1856232" cy="191743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69848" y="2715881"/>
            <a:ext cx="1856232" cy="386588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069848" y="2957836"/>
            <a:ext cx="1856232" cy="763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069848" y="2756458"/>
            <a:ext cx="1856232" cy="374629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69848" y="2796134"/>
            <a:ext cx="1856232" cy="7475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932688" y="2717110"/>
            <a:ext cx="91440" cy="74711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788920" y="2925771"/>
            <a:ext cx="91440" cy="155262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15568" y="2777795"/>
            <a:ext cx="91440" cy="97554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971800" y="2953574"/>
            <a:ext cx="91440" cy="173639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047848" y="277706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904080" y="292962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47848" y="274862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904080" y="29002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47848" y="287661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2904080" y="296577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47848" y="274870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904080" y="333097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047848" y="278356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04080" y="315169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047848" y="311031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904080" y="293741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47848" y="26731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904080" y="299472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47848" y="269879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904080" y="289053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47848" y="269388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904080" y="30804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47848" y="293583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904080" y="294346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47848" y="273445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904080" y="310908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47848" y="278160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904080" y="277413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9" name="Connector 198"/>
          <p:cNvCxnSpPr/>
          <p:nvPr/>
        </p:nvCxnSpPr>
        <p:spPr>
          <a:xfrm>
            <a:off x="978408" y="2738627"/>
            <a:ext cx="1856232" cy="252468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Diamond 199"/>
          <p:cNvSpPr/>
          <p:nvPr/>
        </p:nvSpPr>
        <p:spPr>
          <a:xfrm>
            <a:off x="936408" y="2696627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iamond 200"/>
          <p:cNvSpPr/>
          <p:nvPr/>
        </p:nvSpPr>
        <p:spPr>
          <a:xfrm>
            <a:off x="2792640" y="2949095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2" name="Connector 201"/>
          <p:cNvCxnSpPr/>
          <p:nvPr/>
        </p:nvCxnSpPr>
        <p:spPr>
          <a:xfrm>
            <a:off x="1161288" y="2802314"/>
            <a:ext cx="1856232" cy="171282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Diamond 202"/>
          <p:cNvSpPr/>
          <p:nvPr/>
        </p:nvSpPr>
        <p:spPr>
          <a:xfrm>
            <a:off x="1119288" y="2760314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Diamond 203"/>
          <p:cNvSpPr/>
          <p:nvPr/>
        </p:nvSpPr>
        <p:spPr>
          <a:xfrm>
            <a:off x="2975520" y="2931596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115568" y="2450592"/>
            <a:ext cx="123444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52144" y="2458592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0A7D6E"/>
                </a:solidFill>
                <a:latin typeface="Arial"/>
              </a:rPr>
              <a:t>good ↓ : 5/6  (P = 0.109)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52144" y="2615184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C53E1F"/>
                </a:solidFill>
                <a:latin typeface="Arial"/>
              </a:rPr>
              <a:t>bad  ↓ : 5/6  (P = 0.109)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52144" y="2779776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MW Δ (good vs bad) P = 0.82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670048" y="2468880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666666"/>
                </a:solidFill>
                <a:latin typeface="Arial"/>
              </a:rPr>
              <a:t>pred ↓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3813048" y="2423160"/>
            <a:ext cx="0" cy="10058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3813048" y="3429000"/>
            <a:ext cx="1856232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3776472" y="3429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483864" y="3364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214" name="Connector 213"/>
          <p:cNvCxnSpPr/>
          <p:nvPr/>
        </p:nvCxnSpPr>
        <p:spPr>
          <a:xfrm>
            <a:off x="3776472" y="31775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3483864" y="31135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3776472" y="29260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3483864" y="28620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218" name="Connector 217"/>
          <p:cNvCxnSpPr/>
          <p:nvPr/>
        </p:nvCxnSpPr>
        <p:spPr>
          <a:xfrm>
            <a:off x="3776472" y="26746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/>
          <p:cNvSpPr txBox="1"/>
          <p:nvPr/>
        </p:nvSpPr>
        <p:spPr>
          <a:xfrm>
            <a:off x="3483864" y="26106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220" name="Connector 219"/>
          <p:cNvCxnSpPr/>
          <p:nvPr/>
        </p:nvCxnSpPr>
        <p:spPr>
          <a:xfrm>
            <a:off x="3776472" y="24231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3483864" y="23591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cxnSp>
        <p:nvCxnSpPr>
          <p:cNvPr id="222" name="Connector 221"/>
          <p:cNvCxnSpPr/>
          <p:nvPr/>
        </p:nvCxnSpPr>
        <p:spPr>
          <a:xfrm>
            <a:off x="3813048" y="342900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TextBox 222"/>
          <p:cNvSpPr txBox="1"/>
          <p:nvPr/>
        </p:nvSpPr>
        <p:spPr>
          <a:xfrm>
            <a:off x="3630168" y="347472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5669280" y="342900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TextBox 224"/>
          <p:cNvSpPr txBox="1"/>
          <p:nvPr/>
        </p:nvSpPr>
        <p:spPr>
          <a:xfrm>
            <a:off x="5486400" y="347472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813048" y="2926080"/>
            <a:ext cx="1856232" cy="0"/>
          </a:xfrm>
          <a:prstGeom prst="line">
            <a:avLst/>
          </a:prstGeom>
          <a:ln w="508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429000" y="3566160"/>
            <a:ext cx="2331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EMT   (pred: up)</a:t>
            </a:r>
          </a:p>
        </p:txBody>
      </p:sp>
      <p:cxnSp>
        <p:nvCxnSpPr>
          <p:cNvPr id="228" name="Connector 227"/>
          <p:cNvCxnSpPr/>
          <p:nvPr/>
        </p:nvCxnSpPr>
        <p:spPr>
          <a:xfrm flipV="1">
            <a:off x="3813048" y="2986008"/>
            <a:ext cx="1856232" cy="13899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813048" y="2859304"/>
            <a:ext cx="1856232" cy="127343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813048" y="2561934"/>
            <a:ext cx="1856232" cy="34521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813048" y="2846654"/>
            <a:ext cx="1856232" cy="199397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813048" y="2869772"/>
            <a:ext cx="1856232" cy="114713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813048" y="2548795"/>
            <a:ext cx="1856232" cy="46517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813048" y="2617271"/>
            <a:ext cx="1856232" cy="31189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813048" y="2948589"/>
            <a:ext cx="1856232" cy="104646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813048" y="2976421"/>
            <a:ext cx="1856232" cy="93078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813048" y="2612869"/>
            <a:ext cx="1856232" cy="635763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813048" y="2537678"/>
            <a:ext cx="1856232" cy="429949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813048" y="2886274"/>
            <a:ext cx="1856232" cy="14633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/>
          <p:cNvSpPr/>
          <p:nvPr/>
        </p:nvSpPr>
        <p:spPr>
          <a:xfrm>
            <a:off x="3675888" y="2983871"/>
            <a:ext cx="91440" cy="81562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532120" y="2613969"/>
            <a:ext cx="91440" cy="319041"/>
          </a:xfrm>
          <a:prstGeom prst="rect">
            <a:avLst/>
          </a:prstGeom>
          <a:solidFill>
            <a:srgbClr val="A1CDC7"/>
          </a:solidFill>
          <a:ln w="762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858768" y="2926486"/>
            <a:ext cx="91440" cy="80651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715000" y="2636276"/>
            <a:ext cx="91440" cy="320673"/>
          </a:xfrm>
          <a:prstGeom prst="rect">
            <a:avLst/>
          </a:prstGeom>
          <a:solidFill>
            <a:srgbClr val="E8B5A9"/>
          </a:solidFill>
          <a:ln w="762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3791048" y="310300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647280" y="296400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3791048" y="296464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647280" y="283730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791048" y="288515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647280" y="253993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791048" y="282465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647280" y="302405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3791048" y="296248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647280" y="284777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791048" y="299196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47280" y="252679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3791048" y="290716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647280" y="259527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3791048" y="303123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647280" y="292658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3791048" y="304749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647280" y="295442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791048" y="322663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47280" y="25908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3791048" y="294562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5647280" y="251567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3791048" y="301060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647280" y="286427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8" name="Connector 267"/>
          <p:cNvCxnSpPr/>
          <p:nvPr/>
        </p:nvCxnSpPr>
        <p:spPr>
          <a:xfrm flipV="1">
            <a:off x="3721608" y="2751772"/>
            <a:ext cx="1856232" cy="291148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Diamond 268"/>
          <p:cNvSpPr/>
          <p:nvPr/>
        </p:nvSpPr>
        <p:spPr>
          <a:xfrm>
            <a:off x="3679608" y="3000920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Diamond 269"/>
          <p:cNvSpPr/>
          <p:nvPr/>
        </p:nvSpPr>
        <p:spPr>
          <a:xfrm>
            <a:off x="5535840" y="2709772"/>
            <a:ext cx="84000" cy="84000"/>
          </a:xfrm>
          <a:prstGeom prst="diamond">
            <a:avLst/>
          </a:prstGeom>
          <a:solidFill>
            <a:srgbClr val="0A7D6E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 flipV="1">
            <a:off x="3904488" y="2864538"/>
            <a:ext cx="1856232" cy="121028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Diamond 271"/>
          <p:cNvSpPr/>
          <p:nvPr/>
        </p:nvSpPr>
        <p:spPr>
          <a:xfrm>
            <a:off x="3862488" y="2943566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Diamond 272"/>
          <p:cNvSpPr/>
          <p:nvPr/>
        </p:nvSpPr>
        <p:spPr>
          <a:xfrm>
            <a:off x="5718720" y="2822538"/>
            <a:ext cx="84000" cy="84000"/>
          </a:xfrm>
          <a:prstGeom prst="diamond">
            <a:avLst/>
          </a:prstGeom>
          <a:solidFill>
            <a:srgbClr val="C53E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3858768" y="2450592"/>
            <a:ext cx="123444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895344" y="2458592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0A7D6E"/>
                </a:solidFill>
                <a:latin typeface="Arial"/>
              </a:rPr>
              <a:t>good ↑ : 6/6  (P = 0.016)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895344" y="2615184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C53E1F"/>
                </a:solidFill>
                <a:latin typeface="Arial"/>
              </a:rPr>
              <a:t>bad  ↑ : 5/6  (P = 0.109)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895344" y="2779776"/>
            <a:ext cx="116128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MW Δ (good vs bad) P = 0.70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413248" y="2468880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666666"/>
                </a:solidFill>
                <a:latin typeface="Arial"/>
              </a:rPr>
              <a:t>pred ↑</a:t>
            </a:r>
          </a:p>
        </p:txBody>
      </p:sp>
      <p:sp>
        <p:nvSpPr>
          <p:cNvPr id="279" name="TextBox 278"/>
          <p:cNvSpPr txBox="1"/>
          <p:nvPr/>
        </p:nvSpPr>
        <p:spPr>
          <a:xfrm rot="16200000">
            <a:off x="164592" y="1234440"/>
            <a:ext cx="411480" cy="1554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Composite z-score (member ssGSEA mean)</a:t>
            </a:r>
          </a:p>
        </p:txBody>
      </p:sp>
      <p:sp>
        <p:nvSpPr>
          <p:cNvPr id="280" name="Oval 279"/>
          <p:cNvSpPr/>
          <p:nvPr/>
        </p:nvSpPr>
        <p:spPr>
          <a:xfrm>
            <a:off x="1204440" y="3819624"/>
            <a:ext cx="60000" cy="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1" name="Connector 280"/>
          <p:cNvCxnSpPr/>
          <p:nvPr/>
        </p:nvCxnSpPr>
        <p:spPr>
          <a:xfrm>
            <a:off x="1325880" y="3849624"/>
            <a:ext cx="274320" cy="0"/>
          </a:xfrm>
          <a:prstGeom prst="line">
            <a:avLst/>
          </a:prstGeom>
          <a:ln w="1397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1615920" y="3819624"/>
            <a:ext cx="60000" cy="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719072" y="3789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good (n=6)</a:t>
            </a:r>
          </a:p>
        </p:txBody>
      </p:sp>
      <p:sp>
        <p:nvSpPr>
          <p:cNvPr id="284" name="Oval 283"/>
          <p:cNvSpPr/>
          <p:nvPr/>
        </p:nvSpPr>
        <p:spPr>
          <a:xfrm>
            <a:off x="2896080" y="3819624"/>
            <a:ext cx="60000" cy="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>
            <a:off x="3017520" y="3849624"/>
            <a:ext cx="274320" cy="0"/>
          </a:xfrm>
          <a:prstGeom prst="line">
            <a:avLst/>
          </a:prstGeom>
          <a:ln w="1397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Oval 285"/>
          <p:cNvSpPr/>
          <p:nvPr/>
        </p:nvSpPr>
        <p:spPr>
          <a:xfrm>
            <a:off x="3307560" y="3819624"/>
            <a:ext cx="60000" cy="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3410712" y="3789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bad (n=6)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68680" y="502920"/>
            <a:ext cx="0" cy="28346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68680" y="3337560"/>
            <a:ext cx="43891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22960" y="333756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255264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0 %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704827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622531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25 %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072095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1989799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50 %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143936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357067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75 %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80663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724335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91440" y="1188720"/>
            <a:ext cx="320040" cy="1463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Fraction of subjects moving in predicted direction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6968" y="2072095"/>
            <a:ext cx="4352544" cy="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76088" y="1998943"/>
            <a:ext cx="5486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chance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3997" y="1228452"/>
            <a:ext cx="307238" cy="210910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837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40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624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DSB / HDR 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61277" y="1650274"/>
            <a:ext cx="307238" cy="1687286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24117" y="143081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68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52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911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Tumor cell-cycle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911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58557" y="1228452"/>
            <a:ext cx="307238" cy="210910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1397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96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80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3639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E2F / MYC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639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55837" y="806631"/>
            <a:ext cx="307238" cy="2530929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18677" y="587175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8677" y="440871"/>
            <a:ext cx="5486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D4A300"/>
                </a:solidFill>
                <a:latin typeface="Arial"/>
              </a:rPr>
              <a:t>★ P = 0.016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524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808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367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EMT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367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up)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3840480"/>
            <a:ext cx="4389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Thread-1 baseline factor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576072"/>
            <a:ext cx="182880" cy="11887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6607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good (n=6)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758952"/>
            <a:ext cx="182880" cy="118872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749808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bad (n=6)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