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502920"/>
            <a:ext cx="4526280" cy="13716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74520"/>
            <a:ext cx="4526280" cy="1371600"/>
          </a:xfrm>
          <a:prstGeom prst="rect">
            <a:avLst/>
          </a:prstGeom>
          <a:solidFill>
            <a:srgbClr val="FB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530352"/>
            <a:ext cx="32004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3A7A6B"/>
                </a:solidFill>
                <a:latin typeface="Arial"/>
              </a:rPr>
              <a:t>↑ predicted direction  (target engaged)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3063240"/>
            <a:ext cx="32004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9B5A48"/>
                </a:solidFill>
                <a:latin typeface="Arial"/>
              </a:rPr>
              <a:t>↓ opposite direction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502920"/>
            <a:ext cx="0" cy="274320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" y="3246120"/>
            <a:ext cx="452628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22960" y="32461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80" y="3172968"/>
            <a:ext cx="411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-4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5603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2487168"/>
            <a:ext cx="411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18745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1801368"/>
            <a:ext cx="411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11887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1115568"/>
            <a:ext cx="411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02920"/>
            <a:ext cx="4572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" y="429768"/>
            <a:ext cx="4114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+4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91440" y="1005840"/>
            <a:ext cx="36576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Oriented Δ (post − pre) · sign(predicted)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1874520"/>
            <a:ext cx="4526280" cy="0"/>
          </a:xfrm>
          <a:prstGeom prst="line">
            <a:avLst/>
          </a:prstGeom>
          <a:ln w="1397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13248" y="1801368"/>
            <a:ext cx="5029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no change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77849" y="1035247"/>
            <a:ext cx="201168" cy="737223"/>
          </a:xfrm>
          <a:prstGeom prst="rect">
            <a:avLst/>
          </a:prstGeom>
          <a:solidFill>
            <a:srgbClr val="A9D1CC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077849" y="1347838"/>
            <a:ext cx="201168" cy="0"/>
          </a:xfrm>
          <a:prstGeom prst="line">
            <a:avLst/>
          </a:prstGeom>
          <a:ln w="254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Diamond 23"/>
          <p:cNvSpPr/>
          <p:nvPr/>
        </p:nvSpPr>
        <p:spPr>
          <a:xfrm>
            <a:off x="1138433" y="1307838"/>
            <a:ext cx="80000" cy="8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3850" y="119339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91504" y="145828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76221" y="95319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48608" y="215890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47858" y="80432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02340" y="184786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401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8393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A7D6E"/>
                </a:solidFill>
                <a:latin typeface="Arial"/>
              </a:rPr>
              <a:t>P=0.109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89913" y="1338983"/>
            <a:ext cx="201168" cy="242744"/>
          </a:xfrm>
          <a:prstGeom prst="rect">
            <a:avLst/>
          </a:prstGeom>
          <a:solidFill>
            <a:srgbClr val="EABBB0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589913" y="1490912"/>
            <a:ext cx="201168" cy="0"/>
          </a:xfrm>
          <a:prstGeom prst="line">
            <a:avLst/>
          </a:prstGeom>
          <a:ln w="2540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1650497" y="1450912"/>
            <a:ext cx="80000" cy="80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615491" y="142700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93763" y="157602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630280" y="151082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16545" y="104357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671887" y="128031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729385" y="203307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4465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0457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C53E1F"/>
                </a:solidFill>
                <a:latin typeface="Arial"/>
              </a:rPr>
              <a:t>P=0.109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3547872"/>
            <a:ext cx="104013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DSB / HDR repair 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985" y="48463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MW P = 0.70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000250" y="612648"/>
            <a:ext cx="0" cy="2523744"/>
          </a:xfrm>
          <a:prstGeom prst="line">
            <a:avLst/>
          </a:prstGeom>
          <a:ln w="508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209419" y="1060644"/>
            <a:ext cx="201168" cy="716010"/>
          </a:xfrm>
          <a:prstGeom prst="rect">
            <a:avLst/>
          </a:prstGeom>
          <a:solidFill>
            <a:srgbClr val="A9D1CC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209419" y="1356402"/>
            <a:ext cx="201168" cy="0"/>
          </a:xfrm>
          <a:prstGeom prst="line">
            <a:avLst/>
          </a:prstGeom>
          <a:ln w="254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Diamond 48"/>
          <p:cNvSpPr/>
          <p:nvPr/>
        </p:nvSpPr>
        <p:spPr>
          <a:xfrm>
            <a:off x="2270003" y="1316402"/>
            <a:ext cx="80000" cy="8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318183" y="127866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21433" y="139014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315844" y="95863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324624" y="201818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2289696" y="92573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240395" y="187615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53971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89963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A7D6E"/>
                </a:solidFill>
                <a:latin typeface="Arial"/>
              </a:rPr>
              <a:t>P=0.344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21483" y="1224701"/>
            <a:ext cx="201168" cy="347193"/>
          </a:xfrm>
          <a:prstGeom prst="rect">
            <a:avLst/>
          </a:prstGeom>
          <a:solidFill>
            <a:srgbClr val="EABBB0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721483" y="1387621"/>
            <a:ext cx="201168" cy="0"/>
          </a:xfrm>
          <a:prstGeom prst="line">
            <a:avLst/>
          </a:prstGeom>
          <a:ln w="2540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Diamond 59"/>
          <p:cNvSpPr/>
          <p:nvPr/>
        </p:nvSpPr>
        <p:spPr>
          <a:xfrm>
            <a:off x="2782067" y="1347621"/>
            <a:ext cx="80000" cy="80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843561" y="126504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793716" y="146619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800112" y="157779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783527" y="89438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759428" y="118192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854700" y="211976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66035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2027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C53E1F"/>
                </a:solidFill>
                <a:latin typeface="Arial"/>
              </a:rPr>
              <a:t>P=0.109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5970" y="3547872"/>
            <a:ext cx="104013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Tumor cell-cycle ↓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4555" y="48463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MW P = 1.00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131820" y="612648"/>
            <a:ext cx="0" cy="2523744"/>
          </a:xfrm>
          <a:prstGeom prst="line">
            <a:avLst/>
          </a:prstGeom>
          <a:ln w="508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3340989" y="1135379"/>
            <a:ext cx="201168" cy="629384"/>
          </a:xfrm>
          <a:prstGeom prst="rect">
            <a:avLst/>
          </a:prstGeom>
          <a:solidFill>
            <a:srgbClr val="A9D1CC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3340989" y="1349569"/>
            <a:ext cx="201168" cy="0"/>
          </a:xfrm>
          <a:prstGeom prst="line">
            <a:avLst/>
          </a:prstGeom>
          <a:ln w="254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iamond 73"/>
          <p:cNvSpPr/>
          <p:nvPr/>
        </p:nvSpPr>
        <p:spPr>
          <a:xfrm>
            <a:off x="3401573" y="1309569"/>
            <a:ext cx="80000" cy="8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455618" y="119482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437990" y="1460318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407080" y="106177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460892" y="183691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425389" y="108623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412329" y="186781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185541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21533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A7D6E"/>
                </a:solidFill>
                <a:latin typeface="Arial"/>
              </a:rPr>
              <a:t>P=0.109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853053" y="1231766"/>
            <a:ext cx="201168" cy="428417"/>
          </a:xfrm>
          <a:prstGeom prst="rect">
            <a:avLst/>
          </a:prstGeom>
          <a:solidFill>
            <a:srgbClr val="EABBB0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853053" y="1563397"/>
            <a:ext cx="201168" cy="0"/>
          </a:xfrm>
          <a:prstGeom prst="line">
            <a:avLst/>
          </a:prstGeom>
          <a:ln w="2540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Diamond 84"/>
          <p:cNvSpPr/>
          <p:nvPr/>
        </p:nvSpPr>
        <p:spPr>
          <a:xfrm>
            <a:off x="3913637" y="1523397"/>
            <a:ext cx="80000" cy="80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925295" y="154045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96719" y="154234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79423" y="167013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938625" y="66150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81293" y="1099537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875798" y="220618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97605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3597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C53E1F"/>
                </a:solidFill>
                <a:latin typeface="Arial"/>
              </a:rPr>
              <a:t>P=0.109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77540" y="3547872"/>
            <a:ext cx="104013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E2F / MYC 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86125" y="48463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MW P = 0.82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263390" y="612648"/>
            <a:ext cx="0" cy="2523744"/>
          </a:xfrm>
          <a:prstGeom prst="line">
            <a:avLst/>
          </a:prstGeom>
          <a:ln w="5080">
            <a:solidFill>
              <a:srgbClr val="DDDDDD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4472559" y="1055450"/>
            <a:ext cx="201168" cy="583705"/>
          </a:xfrm>
          <a:prstGeom prst="rect">
            <a:avLst/>
          </a:prstGeom>
          <a:solidFill>
            <a:srgbClr val="A9D1CC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4472559" y="1405883"/>
            <a:ext cx="201168" cy="0"/>
          </a:xfrm>
          <a:prstGeom prst="line">
            <a:avLst/>
          </a:prstGeom>
          <a:ln w="2540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Diamond 98"/>
          <p:cNvSpPr/>
          <p:nvPr/>
        </p:nvSpPr>
        <p:spPr>
          <a:xfrm>
            <a:off x="4533143" y="1365883"/>
            <a:ext cx="80000" cy="80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597010" y="121456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593085" y="163847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522564" y="1662132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567998" y="552094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508287" y="973079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84183" y="1553205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17111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53103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A7D6E"/>
                </a:solidFill>
                <a:latin typeface="Arial"/>
              </a:rPr>
              <a:t>P=0.016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92015" y="1305299"/>
            <a:ext cx="201168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D4A300"/>
                </a:solidFill>
                <a:latin typeface="Arial"/>
              </a:rPr>
              <a:t>★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984623" y="1273846"/>
            <a:ext cx="201168" cy="359575"/>
          </a:xfrm>
          <a:prstGeom prst="rect">
            <a:avLst/>
          </a:prstGeom>
          <a:solidFill>
            <a:srgbClr val="EABBB0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4984623" y="1602129"/>
            <a:ext cx="201168" cy="0"/>
          </a:xfrm>
          <a:prstGeom prst="line">
            <a:avLst/>
          </a:prstGeom>
          <a:ln w="2540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Diamond 110"/>
          <p:cNvSpPr/>
          <p:nvPr/>
        </p:nvSpPr>
        <p:spPr>
          <a:xfrm>
            <a:off x="5045207" y="1562129"/>
            <a:ext cx="80000" cy="80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088877" y="1568213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5044584" y="159204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007893" y="114639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5123464" y="2260376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056254" y="1617880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113533" y="901031"/>
            <a:ext cx="44000" cy="44000"/>
          </a:xfrm>
          <a:prstGeom prst="ellipse">
            <a:avLst/>
          </a:prstGeom>
          <a:solidFill>
            <a:srgbClr val="FFFFFF"/>
          </a:solidFill>
          <a:ln w="1143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829175" y="3273552"/>
            <a:ext cx="51206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65167" y="3401568"/>
            <a:ext cx="64008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C53E1F"/>
                </a:solidFill>
                <a:latin typeface="Arial"/>
              </a:rPr>
              <a:t>P=0.109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09110" y="3547872"/>
            <a:ext cx="104013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22222"/>
                </a:solidFill>
                <a:latin typeface="Arial"/>
              </a:rPr>
              <a:t>EMT ↑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17695" y="48463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MW P = 0.70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069080" y="109728"/>
            <a:ext cx="1783080" cy="301752"/>
          </a:xfrm>
          <a:prstGeom prst="rect">
            <a:avLst/>
          </a:prstGeom>
          <a:solidFill>
            <a:srgbClr val="FFFFFF"/>
          </a:solidFill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105656" y="128016"/>
            <a:ext cx="170992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>
                <a:solidFill>
                  <a:srgbClr val="222222"/>
                </a:solidFill>
                <a:latin typeface="Arial"/>
              </a:rPr>
              <a:t>40 / 48 moved in predicted direction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05656" y="256032"/>
            <a:ext cx="170992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0">
                <a:solidFill>
                  <a:srgbClr val="D4A300"/>
                </a:solidFill>
                <a:latin typeface="Arial"/>
              </a:rPr>
              <a:t>(83 %, binomial P &lt; 10⁻⁵)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8680" y="3840480"/>
            <a:ext cx="201168" cy="118872"/>
          </a:xfrm>
          <a:prstGeom prst="rect">
            <a:avLst/>
          </a:prstGeom>
          <a:solidFill>
            <a:srgbClr val="A9D1CC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51264" y="3881916"/>
            <a:ext cx="36000" cy="3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115568" y="3830480"/>
            <a:ext cx="8686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good (n=6)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57400" y="3840480"/>
            <a:ext cx="201168" cy="118872"/>
          </a:xfrm>
          <a:prstGeom prst="rect">
            <a:avLst/>
          </a:prstGeom>
          <a:solidFill>
            <a:srgbClr val="EABBB0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2139984" y="3881916"/>
            <a:ext cx="36000" cy="360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304288" y="3830480"/>
            <a:ext cx="8686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bad (n=6)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91840" y="3830480"/>
            <a:ext cx="2286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D4A300"/>
                </a:solidFill>
                <a:latin typeface="Arial"/>
              </a:rPr>
              <a:t>★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474720" y="3830480"/>
            <a:ext cx="23774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binomial P &lt; 0.05 (EMT good 6/6, P = 0.016)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68680" y="4005072"/>
            <a:ext cx="4846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555555"/>
                </a:solidFill>
                <a:latin typeface="Arial"/>
              </a:rPr>
              <a:t>Box = IQR (25th–75th percentile)  │  filled diamond = group median  │  hollow circle = individual paired subject (n=12, 6+6)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68680" y="502920"/>
            <a:ext cx="0" cy="283464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68680" y="3337560"/>
            <a:ext cx="43891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22960" y="333756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" y="3255264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0 %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704827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5760" y="2622531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25 %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072095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1989799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50 %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143936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1357067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75 %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80663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724335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>
                <a:solidFill>
                  <a:srgbClr val="22222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91440" y="1188720"/>
            <a:ext cx="320040" cy="1463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Fraction of subjects moving in predicted direction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6968" y="2072095"/>
            <a:ext cx="4352544" cy="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76088" y="1998943"/>
            <a:ext cx="5486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chance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3997" y="1228452"/>
            <a:ext cx="307238" cy="210910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837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40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624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DSB / HDR 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61277" y="1650274"/>
            <a:ext cx="307238" cy="1687286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24117" y="1430818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68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52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911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Tumor cell-cycle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911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58557" y="1228452"/>
            <a:ext cx="307238" cy="2109108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1397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96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80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3639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E2F / MYC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639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down)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55837" y="806631"/>
            <a:ext cx="307238" cy="2530929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18677" y="587175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8677" y="440871"/>
            <a:ext cx="5486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>
                <a:solidFill>
                  <a:srgbClr val="D4A300"/>
                </a:solidFill>
                <a:latin typeface="Arial"/>
              </a:rPr>
              <a:t>★ P = 0.016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5245" y="1228452"/>
            <a:ext cx="307238" cy="2109108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8085" y="1008996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33672" y="3447288"/>
            <a:ext cx="960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EMT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3672" y="3611880"/>
            <a:ext cx="96012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666666"/>
                </a:solidFill>
                <a:latin typeface="Arial"/>
              </a:rPr>
              <a:t>(pred: up)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3840480"/>
            <a:ext cx="4389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222222"/>
                </a:solidFill>
                <a:latin typeface="Arial"/>
              </a:rPr>
              <a:t>Thread-1 baseline factor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60520" y="576072"/>
            <a:ext cx="182880" cy="118872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6607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good (n=6)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758952"/>
            <a:ext cx="182880" cy="118872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749808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222222"/>
                </a:solidFill>
                <a:latin typeface="Arial"/>
              </a:rPr>
              <a:t>bad (n=6)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