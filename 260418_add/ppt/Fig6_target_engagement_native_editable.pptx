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9436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69848" y="530352"/>
            <a:ext cx="0" cy="100584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" y="1536192"/>
            <a:ext cx="1856232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33272" y="1536192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0664" y="1472184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-3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33272" y="1284732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0664" y="1220724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-2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33272" y="1033272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0664" y="969264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0.0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33272" y="781812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0664" y="717804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+2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3272" y="530352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0664" y="466344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+3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69848" y="1536192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6968" y="1581912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pre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26080" y="1536192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43200" y="1581912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post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69848" y="1033272"/>
            <a:ext cx="1856232" cy="0"/>
          </a:xfrm>
          <a:prstGeom prst="line">
            <a:avLst/>
          </a:prstGeom>
          <a:ln w="508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1673352"/>
            <a:ext cx="23317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DSB / HDR repair   (pred: down)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69848" y="974002"/>
            <a:ext cx="1856232" cy="208031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9848" y="891308"/>
            <a:ext cx="1856232" cy="135173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9848" y="1016612"/>
            <a:ext cx="1856232" cy="167052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69848" y="905805"/>
            <a:ext cx="1856232" cy="395486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69848" y="937923"/>
            <a:ext cx="1856232" cy="279747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69848" y="1130063"/>
            <a:ext cx="1856232" cy="88270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9848" y="842850"/>
            <a:ext cx="1856232" cy="322241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9848" y="863907"/>
            <a:ext cx="1856232" cy="192736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" y="769437"/>
            <a:ext cx="1856232" cy="439667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69848" y="942253"/>
            <a:ext cx="1856232" cy="149787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69848" y="855416"/>
            <a:ext cx="1856232" cy="512453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69848" y="884734"/>
            <a:ext cx="1856232" cy="2276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44848" y="949002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901080" y="1157033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4848" y="866308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01080" y="1001481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44848" y="991612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01080" y="1158664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44848" y="880805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01080" y="1276291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44848" y="912923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01080" y="1192670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44848" y="1193333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01080" y="1105063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44848" y="817850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01080" y="1140091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44848" y="838907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901080" y="1031643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44848" y="744437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901080" y="1184104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44848" y="1067040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901080" y="917253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4848" y="830416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901080" y="1342869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4848" y="859734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901080" y="862010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15568" y="566928"/>
            <a:ext cx="11887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52144" y="566928"/>
            <a:ext cx="111556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0A7D6E"/>
                </a:solidFill>
                <a:latin typeface="Arial"/>
              </a:rPr>
              <a:t>good ↓ : 5/6  (P = 0.109)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52144" y="749808"/>
            <a:ext cx="111556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C53E1F"/>
                </a:solidFill>
                <a:latin typeface="Arial"/>
              </a:rPr>
              <a:t>bad  ↓ : 5/6  (P = 0.109)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813048" y="530352"/>
            <a:ext cx="0" cy="100584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813048" y="1536192"/>
            <a:ext cx="1856232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776472" y="1536192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483864" y="1472184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-3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776472" y="1284732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483864" y="1220724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-2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776472" y="1033272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483864" y="969264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0.0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776472" y="781812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483864" y="717804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+2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776472" y="530352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483864" y="466344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+3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813048" y="1536192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630168" y="1581912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pre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669280" y="1536192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486400" y="1581912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post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3813048" y="1033272"/>
            <a:ext cx="1856232" cy="0"/>
          </a:xfrm>
          <a:prstGeom prst="line">
            <a:avLst/>
          </a:prstGeom>
          <a:ln w="508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3429000" y="1673352"/>
            <a:ext cx="23317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Tumor cell-cycle   (pred: down)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3813048" y="925170"/>
            <a:ext cx="1856232" cy="287211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813048" y="845089"/>
            <a:ext cx="1856232" cy="188868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813048" y="983443"/>
            <a:ext cx="1856232" cy="134311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813048" y="893744"/>
            <a:ext cx="1856232" cy="468422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813048" y="918154"/>
            <a:ext cx="1856232" cy="327849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813048" y="1084965"/>
            <a:ext cx="1856232" cy="130655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813048" y="813628"/>
            <a:ext cx="1856232" cy="280552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3813048" y="799425"/>
            <a:ext cx="1856232" cy="226052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813048" y="793867"/>
            <a:ext cx="1856232" cy="437009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3813048" y="998772"/>
            <a:ext cx="1856232" cy="80994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813048" y="874620"/>
            <a:ext cx="1856232" cy="453095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3813048" y="907265"/>
            <a:ext cx="1856232" cy="11556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3788048" y="900170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644280" y="1187381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788048" y="820089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644280" y="1008957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788048" y="958443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644280" y="1092754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788048" y="868744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644280" y="1337166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788048" y="893154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644280" y="1221003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788048" y="1190620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644280" y="1059965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788048" y="788628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644280" y="1069180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788048" y="774425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644280" y="1000477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788048" y="768867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644280" y="1205876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788048" y="1054766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644280" y="973772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788048" y="849620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644280" y="1302715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88048" y="893821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644280" y="882265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858768" y="566928"/>
            <a:ext cx="11887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895344" y="566928"/>
            <a:ext cx="111556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0A7D6E"/>
                </a:solidFill>
                <a:latin typeface="Arial"/>
              </a:rPr>
              <a:t>good ↓ : 4/6  (P = 0.344)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895344" y="749808"/>
            <a:ext cx="111556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C53E1F"/>
                </a:solidFill>
                <a:latin typeface="Arial"/>
              </a:rPr>
              <a:t>bad  ↓ : 5/6  (P = 0.109)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069848" y="2423160"/>
            <a:ext cx="0" cy="100584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069848" y="3429000"/>
            <a:ext cx="1856232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33272" y="342900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740664" y="336499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-3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033272" y="317754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740664" y="311353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-2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033272" y="292608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740664" y="286207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0.0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033272" y="267462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740664" y="261061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+2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033272" y="242316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740664" y="235915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+3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069848" y="342900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886968" y="3474720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pre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2926080" y="342900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2743200" y="3474720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post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1069848" y="2926080"/>
            <a:ext cx="1856232" cy="0"/>
          </a:xfrm>
          <a:prstGeom prst="line">
            <a:avLst/>
          </a:prstGeom>
          <a:ln w="508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685800" y="3566160"/>
            <a:ext cx="23317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E2F / MYC   (pred: down)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1069848" y="2799061"/>
            <a:ext cx="1856232" cy="152567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069848" y="2770627"/>
            <a:ext cx="1856232" cy="151642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069848" y="2898610"/>
            <a:ext cx="1856232" cy="89168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69848" y="2770706"/>
            <a:ext cx="1856232" cy="582272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69848" y="2805566"/>
            <a:ext cx="1856232" cy="368125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069848" y="2959413"/>
            <a:ext cx="1856232" cy="172901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69848" y="2695182"/>
            <a:ext cx="1856232" cy="321541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069848" y="2720796"/>
            <a:ext cx="1856232" cy="191743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069848" y="2715881"/>
            <a:ext cx="1856232" cy="386588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069848" y="2957836"/>
            <a:ext cx="1856232" cy="7631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069848" y="2756458"/>
            <a:ext cx="1856232" cy="374629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69848" y="2796134"/>
            <a:ext cx="1856232" cy="7475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1044848" y="2774061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901080" y="2926628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44848" y="2745627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2901080" y="2897269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44848" y="2873610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2901080" y="2962778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44848" y="2745706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2901080" y="3327978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44848" y="2780566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2901080" y="3148691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44848" y="3107314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2901080" y="2934413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44848" y="2670182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2901080" y="2991723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44848" y="2695796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2901080" y="2887539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044848" y="2690881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2901080" y="3077469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44848" y="2932836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2901080" y="2940467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044848" y="2731458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2901080" y="3106087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044848" y="2778609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2901080" y="2771134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15568" y="2459736"/>
            <a:ext cx="11887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152144" y="2459736"/>
            <a:ext cx="111556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0A7D6E"/>
                </a:solidFill>
                <a:latin typeface="Arial"/>
              </a:rPr>
              <a:t>good ↓ : 5/6  (P = 0.109)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152144" y="2642616"/>
            <a:ext cx="111556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C53E1F"/>
                </a:solidFill>
                <a:latin typeface="Arial"/>
              </a:rPr>
              <a:t>bad  ↓ : 5/6  (P = 0.109)</a:t>
            </a:r>
          </a:p>
        </p:txBody>
      </p:sp>
      <p:cxnSp>
        <p:nvCxnSpPr>
          <p:cNvPr id="174" name="Connector 173"/>
          <p:cNvCxnSpPr/>
          <p:nvPr/>
        </p:nvCxnSpPr>
        <p:spPr>
          <a:xfrm>
            <a:off x="3813048" y="2423160"/>
            <a:ext cx="0" cy="100584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3813048" y="3429000"/>
            <a:ext cx="1856232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3776472" y="342900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3483864" y="336499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-3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3776472" y="317754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483864" y="311353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-2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3776472" y="292608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3483864" y="286207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0.0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3776472" y="267462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3483864" y="261061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+2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3776472" y="242316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3483864" y="235915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+3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3813048" y="342900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3630168" y="3474720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pre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5669280" y="3429000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5486400" y="3474720"/>
            <a:ext cx="3657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post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3813048" y="2926080"/>
            <a:ext cx="1856232" cy="0"/>
          </a:xfrm>
          <a:prstGeom prst="line">
            <a:avLst/>
          </a:prstGeom>
          <a:ln w="508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3429000" y="3566160"/>
            <a:ext cx="23317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22222"/>
                </a:solidFill>
                <a:latin typeface="Arial"/>
              </a:rPr>
              <a:t>EMT   (pred: up)</a:t>
            </a:r>
          </a:p>
        </p:txBody>
      </p:sp>
      <p:cxnSp>
        <p:nvCxnSpPr>
          <p:cNvPr id="192" name="Connector 191"/>
          <p:cNvCxnSpPr/>
          <p:nvPr/>
        </p:nvCxnSpPr>
        <p:spPr>
          <a:xfrm flipV="1">
            <a:off x="3813048" y="2986008"/>
            <a:ext cx="1856232" cy="138994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3813048" y="2859304"/>
            <a:ext cx="1856232" cy="127343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3813048" y="2561934"/>
            <a:ext cx="1856232" cy="345218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3813048" y="2846654"/>
            <a:ext cx="1856232" cy="199397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3813048" y="2869772"/>
            <a:ext cx="1856232" cy="114713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3813048" y="2548795"/>
            <a:ext cx="1856232" cy="465172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3813048" y="2617271"/>
            <a:ext cx="1856232" cy="311890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3813048" y="2948589"/>
            <a:ext cx="1856232" cy="104646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3813048" y="2976421"/>
            <a:ext cx="1856232" cy="93078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3813048" y="2612869"/>
            <a:ext cx="1856232" cy="635763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3813048" y="2537678"/>
            <a:ext cx="1856232" cy="429949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3813048" y="2886274"/>
            <a:ext cx="1856232" cy="146331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3788048" y="3100002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5644280" y="2961008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788048" y="2961647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5644280" y="2834304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3788048" y="2882152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5644280" y="2536934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3788048" y="2821654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644280" y="3021051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3788048" y="2959485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5644280" y="2844772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3788048" y="2988967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5644280" y="2523795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3788048" y="2904161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644280" y="2592271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3788048" y="3028235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5644280" y="2923589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3788048" y="3044499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5644280" y="2951421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3788048" y="3223632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5644280" y="2587869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3788048" y="2942627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5644280" y="2512678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3788048" y="3007605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5644280" y="2861274"/>
            <a:ext cx="50000" cy="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3858768" y="2459736"/>
            <a:ext cx="11887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3895344" y="2459736"/>
            <a:ext cx="111556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0A7D6E"/>
                </a:solidFill>
                <a:latin typeface="Arial"/>
              </a:rPr>
              <a:t>good ↑ : 6/6  (P = 0.016)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3895344" y="2642616"/>
            <a:ext cx="111556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>
                <a:solidFill>
                  <a:srgbClr val="C53E1F"/>
                </a:solidFill>
                <a:latin typeface="Arial"/>
              </a:rPr>
              <a:t>bad  ↑ : 5/6  (P = 0.109)</a:t>
            </a:r>
          </a:p>
        </p:txBody>
      </p:sp>
      <p:sp>
        <p:nvSpPr>
          <p:cNvPr id="231" name="TextBox 230"/>
          <p:cNvSpPr txBox="1"/>
          <p:nvPr/>
        </p:nvSpPr>
        <p:spPr>
          <a:xfrm rot="16200000">
            <a:off x="164592" y="1234440"/>
            <a:ext cx="411480" cy="155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22222"/>
                </a:solidFill>
                <a:latin typeface="Arial"/>
              </a:rPr>
              <a:t>Composite z-score (member ssGSEA mean)</a:t>
            </a:r>
          </a:p>
        </p:txBody>
      </p:sp>
      <p:sp>
        <p:nvSpPr>
          <p:cNvPr id="232" name="Oval 231"/>
          <p:cNvSpPr/>
          <p:nvPr/>
        </p:nvSpPr>
        <p:spPr>
          <a:xfrm>
            <a:off x="1204440" y="3819624"/>
            <a:ext cx="60000" cy="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3" name="Connector 232"/>
          <p:cNvCxnSpPr/>
          <p:nvPr/>
        </p:nvCxnSpPr>
        <p:spPr>
          <a:xfrm>
            <a:off x="1325880" y="3849624"/>
            <a:ext cx="274320" cy="0"/>
          </a:xfrm>
          <a:prstGeom prst="line">
            <a:avLst/>
          </a:prstGeom>
          <a:ln w="1397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Oval 233"/>
          <p:cNvSpPr/>
          <p:nvPr/>
        </p:nvSpPr>
        <p:spPr>
          <a:xfrm>
            <a:off x="1615920" y="3819624"/>
            <a:ext cx="60000" cy="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1719072" y="3789760"/>
            <a:ext cx="8229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Arial"/>
              </a:rPr>
              <a:t>good (n=6)</a:t>
            </a:r>
          </a:p>
        </p:txBody>
      </p:sp>
      <p:sp>
        <p:nvSpPr>
          <p:cNvPr id="236" name="Oval 235"/>
          <p:cNvSpPr/>
          <p:nvPr/>
        </p:nvSpPr>
        <p:spPr>
          <a:xfrm>
            <a:off x="2896080" y="3819624"/>
            <a:ext cx="60000" cy="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7" name="Connector 236"/>
          <p:cNvCxnSpPr/>
          <p:nvPr/>
        </p:nvCxnSpPr>
        <p:spPr>
          <a:xfrm>
            <a:off x="3017520" y="3849624"/>
            <a:ext cx="274320" cy="0"/>
          </a:xfrm>
          <a:prstGeom prst="line">
            <a:avLst/>
          </a:prstGeom>
          <a:ln w="1397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Oval 237"/>
          <p:cNvSpPr/>
          <p:nvPr/>
        </p:nvSpPr>
        <p:spPr>
          <a:xfrm>
            <a:off x="3307560" y="3819624"/>
            <a:ext cx="60000" cy="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3410712" y="3789760"/>
            <a:ext cx="8229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Arial"/>
              </a:rPr>
              <a:t>bad (n=6)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68680" y="502920"/>
            <a:ext cx="0" cy="283464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68680" y="3337560"/>
            <a:ext cx="438912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3337560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3255264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0 %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2704827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2622531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25 %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2072095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5760" y="1989799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50 %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1439363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357067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75 %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806631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5760" y="724335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100 %</a:t>
            </a:r>
          </a:p>
        </p:txBody>
      </p:sp>
      <p:sp>
        <p:nvSpPr>
          <p:cNvPr id="15" name="TextBox 14"/>
          <p:cNvSpPr txBox="1"/>
          <p:nvPr/>
        </p:nvSpPr>
        <p:spPr>
          <a:xfrm rot="16200000">
            <a:off x="91440" y="1188720"/>
            <a:ext cx="320040" cy="1463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22222"/>
                </a:solidFill>
                <a:latin typeface="Arial"/>
              </a:rPr>
              <a:t>Fraction of subjects moving in predicted direction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" y="2072095"/>
            <a:ext cx="4352544" cy="0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76088" y="1998943"/>
            <a:ext cx="5486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222222"/>
                </a:solidFill>
                <a:latin typeface="Arial"/>
              </a:rPr>
              <a:t>chance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3997" y="1228452"/>
            <a:ext cx="307238" cy="2109108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837" y="1008996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405" y="1228452"/>
            <a:ext cx="307238" cy="2109108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6245" y="1008996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3447288"/>
            <a:ext cx="960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DSB / HDR repair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611880"/>
            <a:ext cx="96012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666666"/>
                </a:solidFill>
                <a:latin typeface="Arial"/>
              </a:rPr>
              <a:t>(pred: down)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61277" y="1650274"/>
            <a:ext cx="307238" cy="1687286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24117" y="1430818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685" y="1228452"/>
            <a:ext cx="307238" cy="2109108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23525" y="1008996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9112" y="3447288"/>
            <a:ext cx="960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Tumor cell-cycle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39112" y="3611880"/>
            <a:ext cx="96012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666666"/>
                </a:solidFill>
                <a:latin typeface="Arial"/>
              </a:rPr>
              <a:t>(pred: down)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58557" y="1228452"/>
            <a:ext cx="307238" cy="2109108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21397" y="1008996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965" y="1228452"/>
            <a:ext cx="307238" cy="2109108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805" y="1008996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36392" y="3447288"/>
            <a:ext cx="960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E2F / MYC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36392" y="3611880"/>
            <a:ext cx="96012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666666"/>
                </a:solidFill>
                <a:latin typeface="Arial"/>
              </a:rPr>
              <a:t>(pred: down)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55837" y="806631"/>
            <a:ext cx="307238" cy="2530929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18677" y="587175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A7D6E"/>
                </a:solidFill>
                <a:latin typeface="Arial"/>
              </a:rPr>
              <a:t>6/6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18677" y="440871"/>
            <a:ext cx="5486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D4A300"/>
                </a:solidFill>
                <a:latin typeface="Arial"/>
              </a:rPr>
              <a:t>★ P = 0.016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5245" y="1228452"/>
            <a:ext cx="307238" cy="2109108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8085" y="1008996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33672" y="3447288"/>
            <a:ext cx="960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EMT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33672" y="3611880"/>
            <a:ext cx="96012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666666"/>
                </a:solidFill>
                <a:latin typeface="Arial"/>
              </a:rPr>
              <a:t>(pred: up)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3840480"/>
            <a:ext cx="4389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22222"/>
                </a:solidFill>
                <a:latin typeface="Arial"/>
              </a:rPr>
              <a:t>Thread-1 baseline factor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576072"/>
            <a:ext cx="182880" cy="118872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566072"/>
            <a:ext cx="8229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Arial"/>
              </a:rPr>
              <a:t>good (n=6)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60520" y="758952"/>
            <a:ext cx="182880" cy="118872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0" y="749808"/>
            <a:ext cx="8229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Arial"/>
              </a:rPr>
              <a:t>bad (n=6)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