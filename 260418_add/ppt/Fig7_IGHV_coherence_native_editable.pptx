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621792"/>
            <a:ext cx="0" cy="182880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450592"/>
            <a:ext cx="1371599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4276" y="24505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9684" y="249631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238409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3504" y="2320082"/>
            <a:ext cx="2743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63040" y="24505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98448" y="249631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7824" y="171907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504" y="1655064"/>
            <a:ext cx="2743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1803" y="24505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97211" y="249631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1054054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3504" y="990046"/>
            <a:ext cx="2743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1185" y="24505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46593" y="249631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7824" y="721545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" y="657537"/>
            <a:ext cx="2743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651760"/>
            <a:ext cx="1371599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bad-group majority fraction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411480" y="896112"/>
            <a:ext cx="411480" cy="1280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good-group majority fraction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964276" y="655043"/>
            <a:ext cx="1296785" cy="1729047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55400" y="1083148"/>
            <a:ext cx="5486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BBBBBB"/>
                </a:solidFill>
                <a:latin typeface="Arial"/>
              </a:rPr>
              <a:t>y = 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667512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1">
                <a:solidFill>
                  <a:srgbClr val="0A7D6E"/>
                </a:solidFill>
                <a:latin typeface="Arial"/>
              </a:rPr>
              <a:t>↖ above diagonal = good more coherent</a:t>
            </a:r>
          </a:p>
        </p:txBody>
      </p:sp>
      <p:sp>
        <p:nvSpPr>
          <p:cNvPr id="26" name="Oval 25"/>
          <p:cNvSpPr/>
          <p:nvPr/>
        </p:nvSpPr>
        <p:spPr>
          <a:xfrm>
            <a:off x="953895" y="705302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93964" y="695230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9004" y="1243135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2624" y="1242464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41004" y="700139"/>
            <a:ext cx="60000" cy="60000"/>
          </a:xfrm>
          <a:prstGeom prst="ellipse">
            <a:avLst/>
          </a:prstGeom>
          <a:solidFill>
            <a:srgbClr val="0A7D6E"/>
          </a:solidFill>
          <a:ln w="1524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6724" y="666131"/>
            <a:ext cx="5486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 i="0">
                <a:solidFill>
                  <a:srgbClr val="D4A300"/>
                </a:solidFill>
                <a:latin typeface="Arial"/>
              </a:rPr>
              <a:t>IGHV6-1</a:t>
            </a:r>
          </a:p>
        </p:txBody>
      </p:sp>
      <p:sp>
        <p:nvSpPr>
          <p:cNvPr id="32" name="Oval 31"/>
          <p:cNvSpPr/>
          <p:nvPr/>
        </p:nvSpPr>
        <p:spPr>
          <a:xfrm>
            <a:off x="1364011" y="1267050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60011" y="1258652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72826" y="1262023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63541" y="1256924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61556" y="1267662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53804" y="1264392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364600" y="1242086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47008" y="1255532"/>
            <a:ext cx="60000" cy="60000"/>
          </a:xfrm>
          <a:prstGeom prst="ellipse">
            <a:avLst/>
          </a:prstGeom>
          <a:solidFill>
            <a:srgbClr val="0A7D6E"/>
          </a:solidFill>
          <a:ln w="1524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22728" y="1221524"/>
            <a:ext cx="5486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 i="0">
                <a:solidFill>
                  <a:srgbClr val="D4A300"/>
                </a:solidFill>
                <a:latin typeface="Arial"/>
              </a:rPr>
              <a:t>IGHV3-74</a:t>
            </a:r>
          </a:p>
        </p:txBody>
      </p:sp>
      <p:sp>
        <p:nvSpPr>
          <p:cNvPr id="41" name="Oval 40"/>
          <p:cNvSpPr/>
          <p:nvPr/>
        </p:nvSpPr>
        <p:spPr>
          <a:xfrm>
            <a:off x="1361402" y="1242932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1543" y="1816208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53784" y="1801010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3009" y="1819871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1166" y="1811045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2765" y="1804413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43756" y="180778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57258" y="1353623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46342" y="1356256"/>
            <a:ext cx="40000" cy="40000"/>
          </a:xfrm>
          <a:prstGeom prst="ellipse">
            <a:avLst/>
          </a:prstGeom>
          <a:solidFill>
            <a:srgbClr val="0A7D6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30787" y="2036262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94361" y="1813946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353254" y="1813073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67156" y="180671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358840" y="1823548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68279" y="1823099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6607" y="1814998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04769" y="1370691"/>
            <a:ext cx="40000" cy="40000"/>
          </a:xfrm>
          <a:prstGeom prst="ellipse">
            <a:avLst/>
          </a:prstGeom>
          <a:solidFill>
            <a:srgbClr val="C5A57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69248" y="1815078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365508" y="1806861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785840" y="1245717"/>
            <a:ext cx="40000" cy="40000"/>
          </a:xfrm>
          <a:prstGeom prst="ellipse">
            <a:avLst/>
          </a:prstGeom>
          <a:solidFill>
            <a:srgbClr val="7FB06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62077" y="1815984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203136" y="203227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346494" y="1794702"/>
            <a:ext cx="60000" cy="60000"/>
          </a:xfrm>
          <a:prstGeom prst="ellipse">
            <a:avLst/>
          </a:prstGeom>
          <a:solidFill>
            <a:srgbClr val="CCCCCC"/>
          </a:solidFill>
          <a:ln w="1524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422214" y="1760694"/>
            <a:ext cx="5486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 i="0">
                <a:solidFill>
                  <a:srgbClr val="D4A300"/>
                </a:solidFill>
                <a:latin typeface="Arial"/>
              </a:rPr>
              <a:t>IGHV3-7</a:t>
            </a:r>
          </a:p>
        </p:txBody>
      </p:sp>
      <p:sp>
        <p:nvSpPr>
          <p:cNvPr id="65" name="Oval 64"/>
          <p:cNvSpPr/>
          <p:nvPr/>
        </p:nvSpPr>
        <p:spPr>
          <a:xfrm>
            <a:off x="942163" y="2363701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365915" y="1820593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348197" y="1821815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360772" y="180600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98397" y="2366052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685689" y="1805021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365934" y="236667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60033" y="2359643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67063" y="2361117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355198" y="2374796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53436" y="2356605"/>
            <a:ext cx="40000" cy="40000"/>
          </a:xfrm>
          <a:prstGeom prst="ellipse">
            <a:avLst/>
          </a:prstGeom>
          <a:solidFill>
            <a:srgbClr val="CCCC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781423" y="1813287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763163" y="1798496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2178" y="1819033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689701" y="2039457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70513" y="2024431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199187" y="1820236"/>
            <a:ext cx="40000" cy="40000"/>
          </a:xfrm>
          <a:prstGeom prst="ellipse">
            <a:avLst/>
          </a:prstGeom>
          <a:solidFill>
            <a:srgbClr val="C53E1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451860" y="621792"/>
            <a:ext cx="0" cy="182880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7520" y="1536192"/>
            <a:ext cx="868680" cy="0"/>
          </a:xfrm>
          <a:prstGeom prst="line">
            <a:avLst/>
          </a:prstGeom>
          <a:ln w="1143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424428" y="2450592"/>
            <a:ext cx="54864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971800" y="2377440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-0.55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424428" y="1993392"/>
            <a:ext cx="54864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2971800" y="1920240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-0.28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424428" y="1536192"/>
            <a:ext cx="54864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971800" y="1463040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3424428" y="1078992"/>
            <a:ext cx="54864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971800" y="1005840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+0.28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424428" y="621792"/>
            <a:ext cx="54864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971800" y="548640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+0.55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42132" y="1259101"/>
            <a:ext cx="548640" cy="277091"/>
          </a:xfrm>
          <a:prstGeom prst="rect">
            <a:avLst/>
          </a:prstGeom>
          <a:solidFill>
            <a:srgbClr val="C9E2D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3342132" y="1536192"/>
            <a:ext cx="548640" cy="0"/>
          </a:xfrm>
          <a:prstGeom prst="line">
            <a:avLst/>
          </a:prstGeom>
          <a:ln w="2032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Diamond 95"/>
          <p:cNvSpPr/>
          <p:nvPr/>
        </p:nvSpPr>
        <p:spPr>
          <a:xfrm>
            <a:off x="3581452" y="1501192"/>
            <a:ext cx="70000" cy="7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490739" y="6869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485431" y="85317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642301" y="96401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56493" y="96401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17309" y="96401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508912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690634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585737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699583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674321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51026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529488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666815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83755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616399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74014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725609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521261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712777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493671" y="12411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629988" y="12965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619020" y="12965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700595" y="135193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546912" y="140735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701396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4248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698406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52151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664571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71164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48287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563916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633404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497446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601029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63150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66042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707818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575364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583187" y="15181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91849" y="168444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14842" y="173986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520555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598425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483194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579308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712467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629231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559947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725213" y="17952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625017" y="18507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713396" y="19061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474617" y="207237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017520" y="667512"/>
            <a:ext cx="86868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054096" y="685800"/>
            <a:ext cx="79552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Wilcoxon signed-rank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054096" y="822960"/>
            <a:ext cx="79552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one-sided P = 0.035  (n=53)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560320" y="2651760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good − bad majority fraction
(per V-gene)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97680" y="731520"/>
            <a:ext cx="427870" cy="411480"/>
          </a:xfrm>
          <a:prstGeom prst="rect">
            <a:avLst/>
          </a:prstGeom>
          <a:solidFill>
            <a:srgbClr val="0A7D6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97680" y="822960"/>
            <a:ext cx="42787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725550" y="731520"/>
            <a:ext cx="187193" cy="411480"/>
          </a:xfrm>
          <a:prstGeom prst="rect">
            <a:avLst/>
          </a:prstGeom>
          <a:solidFill>
            <a:srgbClr val="C53E1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725550" y="822960"/>
            <a:ext cx="187193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912743" y="731520"/>
            <a:ext cx="26742" cy="411480"/>
          </a:xfrm>
          <a:prstGeom prst="rect">
            <a:avLst/>
          </a:prstGeom>
          <a:solidFill>
            <a:srgbClr val="7FB06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9485" y="731520"/>
            <a:ext cx="26742" cy="411480"/>
          </a:xfrm>
          <a:prstGeom prst="rect">
            <a:avLst/>
          </a:prstGeom>
          <a:solidFill>
            <a:srgbClr val="C5A572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966227" y="731520"/>
            <a:ext cx="748773" cy="411480"/>
          </a:xfrm>
          <a:prstGeom prst="rect">
            <a:avLst/>
          </a:prstGeom>
          <a:solidFill>
            <a:srgbClr val="CCCC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966227" y="822960"/>
            <a:ext cx="748773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297680" y="731520"/>
            <a:ext cx="1417320" cy="411480"/>
          </a:xfrm>
          <a:prstGeom prst="rect">
            <a:avLst/>
          </a:prstGeom>
          <a:noFill/>
          <a:ln w="63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297680" y="576072"/>
            <a:ext cx="1417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pattern breakdown, 53 V-genes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297680" y="1280160"/>
            <a:ext cx="164592" cy="118872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98848" y="1275160"/>
            <a:ext cx="119786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n=16 · good coherent, bad mixed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297680" y="1499616"/>
            <a:ext cx="164592" cy="118872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498848" y="1494616"/>
            <a:ext cx="119786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n=7 · bad coherent, good mixed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97680" y="1719072"/>
            <a:ext cx="164592" cy="118872"/>
          </a:xfrm>
          <a:prstGeom prst="rect">
            <a:avLst/>
          </a:prstGeom>
          <a:solidFill>
            <a:srgbClr val="7FB06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498848" y="1714072"/>
            <a:ext cx="119786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n=1 · both coherent, same direction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297680" y="1938528"/>
            <a:ext cx="164592" cy="118872"/>
          </a:xfrm>
          <a:prstGeom prst="rect">
            <a:avLst/>
          </a:prstGeom>
          <a:solidFill>
            <a:srgbClr val="C5A57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498848" y="1933528"/>
            <a:ext cx="119786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n=1 · both coherent, opposite direction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297680" y="2157984"/>
            <a:ext cx="164592" cy="118872"/>
          </a:xfrm>
          <a:prstGeom prst="rect">
            <a:avLst/>
          </a:prstGeom>
          <a:solidFill>
            <a:srgbClr val="CCCCC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98848" y="2152984"/>
            <a:ext cx="1197864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n=28 · both mixed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297680" y="2468880"/>
            <a:ext cx="1417320" cy="292608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334256" y="2487168"/>
            <a:ext cx="1344168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222222"/>
                </a:solidFill>
                <a:latin typeface="Arial"/>
              </a:rPr>
              <a:t>16 good-coherent vs 7 bad-coherent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334256" y="2615184"/>
            <a:ext cx="1344168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binomial P = 0.047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2468880" y="457200"/>
            <a:ext cx="0" cy="283464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069080" y="457200"/>
            <a:ext cx="0" cy="2834640"/>
          </a:xfrm>
          <a:prstGeom prst="line">
            <a:avLst/>
          </a:prstGeom>
          <a:ln w="381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566928" y="438912"/>
            <a:ext cx="2743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66666"/>
                </a:solidFill>
                <a:latin typeface="Arial"/>
              </a:rPr>
              <a:t>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606040" y="438912"/>
            <a:ext cx="2743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66666"/>
                </a:solidFill>
                <a:latin typeface="Arial"/>
              </a:rPr>
              <a:t>ii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206240" y="438912"/>
            <a:ext cx="2743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66666"/>
                </a:solidFill>
                <a:latin typeface="Arial"/>
              </a:rPr>
              <a:t>iii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7160" y="3520440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Three independent aggregate tests, all P &lt; 0.05: Wilcoxon P=0.035 (i–ii), binomial P=0.049 (i, 24/37 V-genes with good_majority &gt; bad_majority), pattern P=0.047 (iii, 16 vs 7 contrast).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7160" y="3685032"/>
            <a:ext cx="5669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→ good responders mount directionally coherent V-gene repertoire responses to RT; bad responders are stochastic.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557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22960" y="1152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67512" y="1170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170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3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152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22960" y="798038"/>
            <a:ext cx="1353312" cy="718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" y="960739"/>
            <a:ext cx="1353312" cy="26914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" y="601811"/>
            <a:ext cx="1353312" cy="1858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22960" y="879109"/>
            <a:ext cx="1353312" cy="1593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2960" y="829484"/>
            <a:ext cx="1353312" cy="42024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22960" y="927450"/>
            <a:ext cx="1353312" cy="17304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2960" y="834024"/>
            <a:ext cx="1353312" cy="31812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" y="805214"/>
            <a:ext cx="1353312" cy="273841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2960" y="825731"/>
            <a:ext cx="1353312" cy="326413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2960" y="886989"/>
            <a:ext cx="1353312" cy="3555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2960" y="1015091"/>
            <a:ext cx="1353312" cy="137053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2960" y="916145"/>
            <a:ext cx="1353312" cy="8986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04960" y="78722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58272" y="78003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960" y="94273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58272" y="96965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960" y="583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58272" y="58566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4960" y="8770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58272" y="86110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4960" y="81148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58272" y="85350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4960" y="92675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158272" y="90945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4960" y="8160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58272" y="1134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4960" y="78721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58272" y="106105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4960" y="1134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58272" y="80773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4960" y="86898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158272" y="90454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04960" y="99709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58272" y="1134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04960" y="89814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58272" y="98800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822960" y="831754"/>
            <a:ext cx="1353312" cy="165075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iamond 46"/>
          <p:cNvSpPr/>
          <p:nvPr/>
        </p:nvSpPr>
        <p:spPr>
          <a:xfrm>
            <a:off x="792960" y="801754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2146272" y="966829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822960" y="900828"/>
            <a:ext cx="1353312" cy="19071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Diamond 49"/>
          <p:cNvSpPr/>
          <p:nvPr/>
        </p:nvSpPr>
        <p:spPr>
          <a:xfrm>
            <a:off x="792960" y="889899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2146272" y="870828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1207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4A300"/>
                </a:solidFill>
                <a:latin typeface="Arial"/>
              </a:rPr>
              <a:t>IGHV6-1 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576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0/6  b 4/2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" y="685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P=0.061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51760" y="557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651760" y="1152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96312" y="1170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1170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31720" y="493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651760" y="1152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51760" y="932574"/>
            <a:ext cx="1353312" cy="2533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51760" y="962972"/>
            <a:ext cx="1353312" cy="4207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1760" y="752412"/>
            <a:ext cx="1353312" cy="5458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51760" y="659643"/>
            <a:ext cx="1353312" cy="204609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51760" y="940694"/>
            <a:ext cx="1353312" cy="125051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51760" y="882134"/>
            <a:ext cx="1353312" cy="1774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51760" y="1051473"/>
            <a:ext cx="1353312" cy="3355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651760" y="786479"/>
            <a:ext cx="1353312" cy="13563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51760" y="909350"/>
            <a:ext cx="1353312" cy="1898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651760" y="811213"/>
            <a:ext cx="1353312" cy="6894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51760" y="601811"/>
            <a:ext cx="1353312" cy="41299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51760" y="803622"/>
            <a:ext cx="1353312" cy="10110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633760" y="91457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987072" y="93990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633760" y="98704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87072" y="94497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633760" y="78899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987072" y="73441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633760" y="84625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987072" y="64164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633760" y="104774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87072" y="92269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633760" y="88187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87072" y="86413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633760" y="10334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987072" y="106703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633760" y="90411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987072" y="76847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633760" y="89135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7072" y="91033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633760" y="86216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7072" y="79321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633760" y="99680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987072" y="583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633760" y="78562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7072" y="88672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2651760" y="922710"/>
            <a:ext cx="1353312" cy="40867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Diamond 98"/>
          <p:cNvSpPr/>
          <p:nvPr/>
        </p:nvSpPr>
        <p:spPr>
          <a:xfrm>
            <a:off x="2621760" y="933577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3975072" y="892710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2651760" y="846674"/>
            <a:ext cx="1353312" cy="57941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Diamond 101"/>
          <p:cNvSpPr/>
          <p:nvPr/>
        </p:nvSpPr>
        <p:spPr>
          <a:xfrm>
            <a:off x="2621760" y="874615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Diamond 102"/>
          <p:cNvSpPr/>
          <p:nvPr/>
        </p:nvSpPr>
        <p:spPr>
          <a:xfrm>
            <a:off x="3975072" y="816674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31720" y="1207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IGHV3-7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70048" y="576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4/2  b 4/2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70048" y="685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P=1.000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480560" y="557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480560" y="1152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325112" y="1170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0" y="1170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60520" y="493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0.063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605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480560" y="1152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480560" y="659629"/>
            <a:ext cx="1353312" cy="184972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480560" y="894873"/>
            <a:ext cx="1353312" cy="30784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480560" y="601811"/>
            <a:ext cx="1353312" cy="6512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480560" y="650212"/>
            <a:ext cx="1353312" cy="16556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480560" y="729999"/>
            <a:ext cx="1353312" cy="4977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480560" y="732399"/>
            <a:ext cx="1353312" cy="82020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480560" y="614916"/>
            <a:ext cx="1353312" cy="30698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480560" y="936922"/>
            <a:ext cx="1353312" cy="21261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4480560" y="874501"/>
            <a:ext cx="1353312" cy="202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480560" y="874209"/>
            <a:ext cx="1353312" cy="7341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480560" y="639647"/>
            <a:ext cx="1353312" cy="51249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480560" y="816226"/>
            <a:ext cx="1353312" cy="111159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4462560" y="64162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5872" y="8266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462560" y="8768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815872" y="90765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462560" y="64893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815872" y="583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462560" y="7977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815872" y="63221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462560" y="71199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815872" y="76177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4462560" y="7964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815872" y="71439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462560" y="59691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5815872" y="90390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462560" y="91892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5815872" y="94018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462560" y="8565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15872" y="85852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462560" y="85620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815872" y="9296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462560" y="62164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815872" y="1134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462560" y="79822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815872" y="90938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480560" y="773113"/>
            <a:ext cx="1353312" cy="150667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Diamond 150"/>
          <p:cNvSpPr/>
          <p:nvPr/>
        </p:nvSpPr>
        <p:spPr>
          <a:xfrm>
            <a:off x="4450560" y="743113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Diamond 151"/>
          <p:cNvSpPr/>
          <p:nvPr/>
        </p:nvSpPr>
        <p:spPr>
          <a:xfrm>
            <a:off x="5803872" y="893780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>
            <a:off x="4480560" y="815096"/>
            <a:ext cx="1353312" cy="45468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Diamond 153"/>
          <p:cNvSpPr/>
          <p:nvPr/>
        </p:nvSpPr>
        <p:spPr>
          <a:xfrm>
            <a:off x="4450560" y="785096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Diamond 154"/>
          <p:cNvSpPr/>
          <p:nvPr/>
        </p:nvSpPr>
        <p:spPr>
          <a:xfrm>
            <a:off x="5803872" y="830564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160520" y="1207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IGHV3-74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498848" y="576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1/5  b 2/4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498848" y="685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P=1.000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822960" y="1700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822960" y="2295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667512" y="2313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011680" y="2313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02920" y="1636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0.004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2221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822960" y="2295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822960" y="1948898"/>
            <a:ext cx="1353312" cy="34624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822960" y="2253501"/>
            <a:ext cx="1353312" cy="4164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822960" y="2208886"/>
            <a:ext cx="1353312" cy="34328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822960" y="1987224"/>
            <a:ext cx="1353312" cy="8119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822960" y="2126968"/>
            <a:ext cx="1353312" cy="120900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822960" y="1744811"/>
            <a:ext cx="1353312" cy="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822960" y="2186766"/>
            <a:ext cx="1353312" cy="22639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822960" y="2012804"/>
            <a:ext cx="1353312" cy="282340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822960" y="1836843"/>
            <a:ext cx="1353312" cy="17358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822960" y="2029689"/>
            <a:ext cx="1353312" cy="265455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/>
          <p:cNvSpPr/>
          <p:nvPr/>
        </p:nvSpPr>
        <p:spPr>
          <a:xfrm>
            <a:off x="804960" y="193089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1582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804960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58272" y="223550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04960" y="222521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158272" y="219088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804960" y="19692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158272" y="205042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804960" y="210896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2158272" y="222986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04960" y="1726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158272" y="1726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04960" y="219140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158272" y="216876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04960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2158272" y="199480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804960" y="199242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158272" y="181884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804960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158272" y="201168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 flipV="1">
            <a:off x="822960" y="2186766"/>
            <a:ext cx="1353312" cy="56448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Diamond 196"/>
          <p:cNvSpPr/>
          <p:nvPr/>
        </p:nvSpPr>
        <p:spPr>
          <a:xfrm>
            <a:off x="792960" y="2213214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Diamond 197"/>
          <p:cNvSpPr/>
          <p:nvPr/>
        </p:nvSpPr>
        <p:spPr>
          <a:xfrm>
            <a:off x="2146272" y="2156766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9" name="Connector 198"/>
          <p:cNvCxnSpPr/>
          <p:nvPr/>
        </p:nvCxnSpPr>
        <p:spPr>
          <a:xfrm>
            <a:off x="822960" y="2010429"/>
            <a:ext cx="1353312" cy="57992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Diamond 199"/>
          <p:cNvSpPr/>
          <p:nvPr/>
        </p:nvSpPr>
        <p:spPr>
          <a:xfrm>
            <a:off x="792960" y="1980429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iamond 200"/>
          <p:cNvSpPr/>
          <p:nvPr/>
        </p:nvSpPr>
        <p:spPr>
          <a:xfrm>
            <a:off x="2146272" y="2038421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02920" y="2350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IGHV1-45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41248" y="1719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4/0  b 2/3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41248" y="1828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P=0.167</a:t>
            </a:r>
          </a:p>
        </p:txBody>
      </p:sp>
      <p:cxnSp>
        <p:nvCxnSpPr>
          <p:cNvPr id="205" name="Connector 204"/>
          <p:cNvCxnSpPr/>
          <p:nvPr/>
        </p:nvCxnSpPr>
        <p:spPr>
          <a:xfrm>
            <a:off x="2651760" y="1700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2651760" y="2295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2496312" y="2313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840480" y="2313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331720" y="1636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0.021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331720" y="2221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2651760" y="2295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651760" y="2237718"/>
            <a:ext cx="1353312" cy="3202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651760" y="2252080"/>
            <a:ext cx="1353312" cy="1624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651760" y="2283393"/>
            <a:ext cx="1353312" cy="1175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651760" y="2188324"/>
            <a:ext cx="1353312" cy="10682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651760" y="2285343"/>
            <a:ext cx="1353312" cy="980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651760" y="2181051"/>
            <a:ext cx="1353312" cy="11409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651760" y="2277369"/>
            <a:ext cx="1353312" cy="1403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651760" y="1744811"/>
            <a:ext cx="1353312" cy="550333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51760" y="2276141"/>
            <a:ext cx="1353312" cy="916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651760" y="2245990"/>
            <a:ext cx="1353312" cy="49154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651760" y="2278216"/>
            <a:ext cx="1353312" cy="906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Oval 222"/>
          <p:cNvSpPr/>
          <p:nvPr/>
        </p:nvSpPr>
        <p:spPr>
          <a:xfrm>
            <a:off x="2633760" y="221971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3987072" y="22517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633760" y="223408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987072" y="225032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633760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3987072" y="226539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633760" y="21703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39870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633760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987072" y="226734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633760" y="216305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9870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633760" y="225936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87072" y="227339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633760" y="1726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9870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633760" y="226730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987072" y="225814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633760" y="222799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9870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633760" y="226021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3987072" y="226928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5" name="Connector 244"/>
          <p:cNvCxnSpPr/>
          <p:nvPr/>
        </p:nvCxnSpPr>
        <p:spPr>
          <a:xfrm>
            <a:off x="2651760" y="2252080"/>
            <a:ext cx="1353312" cy="39319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Diamond 245"/>
          <p:cNvSpPr/>
          <p:nvPr/>
        </p:nvSpPr>
        <p:spPr>
          <a:xfrm>
            <a:off x="2621760" y="2222080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Diamond 246"/>
          <p:cNvSpPr/>
          <p:nvPr/>
        </p:nvSpPr>
        <p:spPr>
          <a:xfrm>
            <a:off x="3975072" y="2261399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8" name="Connector 247"/>
          <p:cNvCxnSpPr/>
          <p:nvPr/>
        </p:nvCxnSpPr>
        <p:spPr>
          <a:xfrm>
            <a:off x="2651760" y="2265648"/>
            <a:ext cx="1353312" cy="1872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Diamond 248"/>
          <p:cNvSpPr/>
          <p:nvPr/>
        </p:nvSpPr>
        <p:spPr>
          <a:xfrm>
            <a:off x="2621760" y="2235648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Diamond 249"/>
          <p:cNvSpPr/>
          <p:nvPr/>
        </p:nvSpPr>
        <p:spPr>
          <a:xfrm>
            <a:off x="3975072" y="2254368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2350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IGHV3-38-3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2670048" y="1719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0/5  b 3/3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2670048" y="1828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P=0.182</a:t>
            </a:r>
          </a:p>
        </p:txBody>
      </p:sp>
      <p:cxnSp>
        <p:nvCxnSpPr>
          <p:cNvPr id="254" name="Connector 253"/>
          <p:cNvCxnSpPr/>
          <p:nvPr/>
        </p:nvCxnSpPr>
        <p:spPr>
          <a:xfrm>
            <a:off x="4480560" y="1700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4480560" y="2295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TextBox 255"/>
          <p:cNvSpPr txBox="1"/>
          <p:nvPr/>
        </p:nvSpPr>
        <p:spPr>
          <a:xfrm>
            <a:off x="4325112" y="2313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669280" y="2313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160520" y="1636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0.052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4160520" y="2221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60" name="Connector 259"/>
          <p:cNvCxnSpPr/>
          <p:nvPr/>
        </p:nvCxnSpPr>
        <p:spPr>
          <a:xfrm>
            <a:off x="4480560" y="2295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480560" y="1983214"/>
            <a:ext cx="1353312" cy="2983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4480560" y="2030189"/>
            <a:ext cx="1353312" cy="38771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480560" y="1768073"/>
            <a:ext cx="1353312" cy="37878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4480560" y="1955427"/>
            <a:ext cx="1353312" cy="1261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480560" y="2030275"/>
            <a:ext cx="1353312" cy="1343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4480560" y="2063928"/>
            <a:ext cx="1353312" cy="1723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4480560" y="2061619"/>
            <a:ext cx="1353312" cy="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4480560" y="2097394"/>
            <a:ext cx="1353312" cy="52222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4480560" y="1957220"/>
            <a:ext cx="1353312" cy="1444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4480560" y="2007325"/>
            <a:ext cx="1353312" cy="1892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4480560" y="2073807"/>
            <a:ext cx="1353312" cy="22133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4480560" y="1744811"/>
            <a:ext cx="1353312" cy="3753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4462560" y="199505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5815872" y="196521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4462560" y="201218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5815872" y="205096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462560" y="178795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5815872" y="17500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462560" y="193742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815872" y="195004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462560" y="20257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815872" y="201227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462560" y="204592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815872" y="206316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4462560" y="20436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815872" y="204361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462560" y="213161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15872" y="207939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462560" y="193922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815872" y="195366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462560" y="199121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815872" y="198932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462560" y="205580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815872" y="2277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462560" y="176434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5815872" y="1726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4480560" y="2036950"/>
            <a:ext cx="1353312" cy="8997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Diamond 297"/>
          <p:cNvSpPr/>
          <p:nvPr/>
        </p:nvSpPr>
        <p:spPr>
          <a:xfrm>
            <a:off x="4450560" y="2006950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Diamond 298"/>
          <p:cNvSpPr/>
          <p:nvPr/>
        </p:nvSpPr>
        <p:spPr>
          <a:xfrm>
            <a:off x="5803872" y="2015947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" name="Connector 299"/>
          <p:cNvCxnSpPr/>
          <p:nvPr/>
        </p:nvCxnSpPr>
        <p:spPr>
          <a:xfrm flipV="1">
            <a:off x="4480560" y="1995270"/>
            <a:ext cx="1353312" cy="15864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Diamond 300"/>
          <p:cNvSpPr/>
          <p:nvPr/>
        </p:nvSpPr>
        <p:spPr>
          <a:xfrm>
            <a:off x="4450560" y="1981134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Diamond 301"/>
          <p:cNvSpPr/>
          <p:nvPr/>
        </p:nvSpPr>
        <p:spPr>
          <a:xfrm>
            <a:off x="5803872" y="1965270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160520" y="2350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IGHV1-46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498848" y="1719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4/1  b 2/4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498848" y="1828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P=0.242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822960" y="2843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822960" y="3438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/>
          <p:cNvSpPr txBox="1"/>
          <p:nvPr/>
        </p:nvSpPr>
        <p:spPr>
          <a:xfrm>
            <a:off x="667512" y="3456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011680" y="3456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502920" y="2779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0.031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502920" y="3364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822960" y="3438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822960" y="3223493"/>
            <a:ext cx="1353312" cy="11107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822960" y="3098239"/>
            <a:ext cx="1353312" cy="17202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822960" y="2903397"/>
            <a:ext cx="1353312" cy="62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822960" y="3042835"/>
            <a:ext cx="1353312" cy="48234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822960" y="3340425"/>
            <a:ext cx="1353312" cy="6974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22960" y="3338624"/>
            <a:ext cx="1353312" cy="1292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822960" y="3205526"/>
            <a:ext cx="1353312" cy="77539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822960" y="3300715"/>
            <a:ext cx="1353312" cy="454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22960" y="3251138"/>
            <a:ext cx="1353312" cy="67665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822960" y="2960309"/>
            <a:ext cx="1353312" cy="13685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22960" y="3020573"/>
            <a:ext cx="1353312" cy="41757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822960" y="2887811"/>
            <a:ext cx="1353312" cy="961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Oval 324"/>
          <p:cNvSpPr/>
          <p:nvPr/>
        </p:nvSpPr>
        <p:spPr>
          <a:xfrm>
            <a:off x="804960" y="320549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158272" y="331657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804960" y="308023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158272" y="309744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04960" y="28860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158272" y="288539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804960" y="307306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158272" y="302483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804960" y="332939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158272" y="332242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04960" y="33206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158272" y="333355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4960" y="326506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158272" y="318752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804960" y="328726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158272" y="328271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960" y="323313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158272" y="330080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4960" y="307916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158272" y="294230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804960" y="30025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158272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04960" y="287942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158272" y="2869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9" name="Connector 348"/>
          <p:cNvCxnSpPr/>
          <p:nvPr/>
        </p:nvCxnSpPr>
        <p:spPr>
          <a:xfrm flipV="1">
            <a:off x="822960" y="3160484"/>
            <a:ext cx="1353312" cy="30168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Diamond 349"/>
          <p:cNvSpPr/>
          <p:nvPr/>
        </p:nvSpPr>
        <p:spPr>
          <a:xfrm>
            <a:off x="792960" y="3160652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Diamond 350"/>
          <p:cNvSpPr/>
          <p:nvPr/>
        </p:nvSpPr>
        <p:spPr>
          <a:xfrm>
            <a:off x="2146272" y="3130484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2" name="Connector 351"/>
          <p:cNvCxnSpPr/>
          <p:nvPr/>
        </p:nvCxnSpPr>
        <p:spPr>
          <a:xfrm>
            <a:off x="822960" y="3160330"/>
            <a:ext cx="1353312" cy="166357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Diamond 352"/>
          <p:cNvSpPr/>
          <p:nvPr/>
        </p:nvSpPr>
        <p:spPr>
          <a:xfrm>
            <a:off x="792960" y="3130330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Diamond 353"/>
          <p:cNvSpPr/>
          <p:nvPr/>
        </p:nvSpPr>
        <p:spPr>
          <a:xfrm>
            <a:off x="2146272" y="3296687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502920" y="3493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IGHV3-53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41248" y="2862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5/1  b 2/4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41248" y="2971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P=0.242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2651760" y="2843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651760" y="3438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2496312" y="3456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840480" y="3456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2331720" y="2779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0.053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2331720" y="3364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364" name="Connector 363"/>
          <p:cNvCxnSpPr/>
          <p:nvPr/>
        </p:nvCxnSpPr>
        <p:spPr>
          <a:xfrm>
            <a:off x="2651760" y="3438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2651760" y="3031744"/>
            <a:ext cx="1353312" cy="147983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2651760" y="3065184"/>
            <a:ext cx="1353312" cy="7875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2651760" y="3284352"/>
            <a:ext cx="1353312" cy="1598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51760" y="3174284"/>
            <a:ext cx="1353312" cy="1004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2651760" y="3047046"/>
            <a:ext cx="1353312" cy="11336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651760" y="3022543"/>
            <a:ext cx="1353312" cy="1833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651760" y="3118682"/>
            <a:ext cx="1353312" cy="22818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2651760" y="2961810"/>
            <a:ext cx="1353312" cy="135051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651760" y="3168888"/>
            <a:ext cx="1353312" cy="269256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651760" y="3017090"/>
            <a:ext cx="1353312" cy="25798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651760" y="3231697"/>
            <a:ext cx="1353312" cy="20644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651760" y="2887811"/>
            <a:ext cx="1353312" cy="56029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7" name="Oval 376"/>
          <p:cNvSpPr/>
          <p:nvPr/>
        </p:nvSpPr>
        <p:spPr>
          <a:xfrm>
            <a:off x="2633760" y="316172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987072" y="30137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633760" y="312594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987072" y="304718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633760" y="328233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987072" y="326635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633760" y="315628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987072" y="316632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633760" y="314241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987072" y="302904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33760" y="300454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987072" y="302287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33760" y="310068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987072" y="3328869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33760" y="307886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987072" y="294381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33760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987072" y="315088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33760" y="299909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987072" y="302488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33760" y="321369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987072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33760" y="2925840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987072" y="2869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 flipV="1">
            <a:off x="2651760" y="3056115"/>
            <a:ext cx="1353312" cy="75196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" name="Diamond 401"/>
          <p:cNvSpPr/>
          <p:nvPr/>
        </p:nvSpPr>
        <p:spPr>
          <a:xfrm>
            <a:off x="2621760" y="3101311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Diamond 402"/>
          <p:cNvSpPr/>
          <p:nvPr/>
        </p:nvSpPr>
        <p:spPr>
          <a:xfrm>
            <a:off x="3975072" y="3026115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4" name="Connector 403"/>
          <p:cNvCxnSpPr/>
          <p:nvPr/>
        </p:nvCxnSpPr>
        <p:spPr>
          <a:xfrm flipV="1">
            <a:off x="2651760" y="3105888"/>
            <a:ext cx="1353312" cy="71118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Diamond 404"/>
          <p:cNvSpPr/>
          <p:nvPr/>
        </p:nvSpPr>
        <p:spPr>
          <a:xfrm>
            <a:off x="2621760" y="3147006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Diamond 405"/>
          <p:cNvSpPr/>
          <p:nvPr/>
        </p:nvSpPr>
        <p:spPr>
          <a:xfrm>
            <a:off x="3975072" y="3075888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2331720" y="3493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IGHV5-51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70048" y="2862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5/1  b 2/4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670048" y="2971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P=0.242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4480560" y="2843784"/>
            <a:ext cx="0" cy="59436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4480560" y="3438144"/>
            <a:ext cx="1353312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2" name="TextBox 411"/>
          <p:cNvSpPr txBox="1"/>
          <p:nvPr/>
        </p:nvSpPr>
        <p:spPr>
          <a:xfrm>
            <a:off x="4325112" y="3456432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5669280" y="3456432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160520" y="2779776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0.011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4160520" y="3364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416" name="Connector 415"/>
          <p:cNvCxnSpPr/>
          <p:nvPr/>
        </p:nvCxnSpPr>
        <p:spPr>
          <a:xfrm>
            <a:off x="4480560" y="3438144"/>
            <a:ext cx="1353312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4480560" y="3409431"/>
            <a:ext cx="1353312" cy="28713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4480560" y="3386344"/>
            <a:ext cx="1353312" cy="51800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4480560" y="3308952"/>
            <a:ext cx="1353312" cy="4013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4480560" y="3414642"/>
            <a:ext cx="1353312" cy="23502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4480560" y="3331324"/>
            <a:ext cx="1353312" cy="20548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4480560" y="3392406"/>
            <a:ext cx="1353312" cy="3899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4480560" y="3209957"/>
            <a:ext cx="1353312" cy="22818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4480560" y="3189292"/>
            <a:ext cx="1353312" cy="188936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4480560" y="2887811"/>
            <a:ext cx="1353312" cy="199130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480560" y="2944074"/>
            <a:ext cx="1353312" cy="336667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4480560" y="3192373"/>
            <a:ext cx="1353312" cy="245771"/>
          </a:xfrm>
          <a:prstGeom prst="line">
            <a:avLst/>
          </a:prstGeom>
          <a:ln w="8890">
            <a:solidFill>
              <a:srgbClr val="E4A89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4480560" y="3302718"/>
            <a:ext cx="1353312" cy="56807"/>
          </a:xfrm>
          <a:prstGeom prst="line">
            <a:avLst/>
          </a:prstGeom>
          <a:ln w="8890">
            <a:solidFill>
              <a:srgbClr val="90C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9" name="Oval 428"/>
          <p:cNvSpPr/>
          <p:nvPr/>
        </p:nvSpPr>
        <p:spPr>
          <a:xfrm>
            <a:off x="4462560" y="339143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5815872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462560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5815872" y="33683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462560" y="329095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815872" y="329496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4462560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5815872" y="339664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462560" y="33133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5815872" y="333387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4462560" y="337830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5815872" y="3374406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462560" y="3191957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5815872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462560" y="3171292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5815872" y="336022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462560" y="286981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5815872" y="306894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4462560" y="3262741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815872" y="292607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4462560" y="3174373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5815872" y="342014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4462560" y="3284718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5815872" y="3341525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3" name="Connector 452"/>
          <p:cNvCxnSpPr/>
          <p:nvPr/>
        </p:nvCxnSpPr>
        <p:spPr>
          <a:xfrm>
            <a:off x="4480560" y="3305835"/>
            <a:ext cx="1353312" cy="63041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Diamond 453"/>
          <p:cNvSpPr/>
          <p:nvPr/>
        </p:nvSpPr>
        <p:spPr>
          <a:xfrm>
            <a:off x="4450560" y="3275835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Diamond 454"/>
          <p:cNvSpPr/>
          <p:nvPr/>
        </p:nvSpPr>
        <p:spPr>
          <a:xfrm>
            <a:off x="5803872" y="3338876"/>
            <a:ext cx="60000" cy="6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6" name="Connector 455"/>
          <p:cNvCxnSpPr/>
          <p:nvPr/>
        </p:nvCxnSpPr>
        <p:spPr>
          <a:xfrm>
            <a:off x="4480560" y="3338523"/>
            <a:ext cx="1353312" cy="65001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Diamond 456"/>
          <p:cNvSpPr/>
          <p:nvPr/>
        </p:nvSpPr>
        <p:spPr>
          <a:xfrm>
            <a:off x="4450560" y="3308523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Diamond 457"/>
          <p:cNvSpPr/>
          <p:nvPr/>
        </p:nvSpPr>
        <p:spPr>
          <a:xfrm>
            <a:off x="5803872" y="3373524"/>
            <a:ext cx="60000" cy="6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160520" y="3493008"/>
            <a:ext cx="17373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IGHV4-30-4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98848" y="2862072"/>
            <a:ext cx="12344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g ↑/↓ 1/5  b 3/3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4498848" y="2971800"/>
            <a:ext cx="12344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Fisher P=0.545</a:t>
            </a:r>
          </a:p>
        </p:txBody>
      </p:sp>
      <p:cxnSp>
        <p:nvCxnSpPr>
          <p:cNvPr id="462" name="Connector 461"/>
          <p:cNvCxnSpPr/>
          <p:nvPr/>
        </p:nvCxnSpPr>
        <p:spPr>
          <a:xfrm>
            <a:off x="502920" y="3849624"/>
            <a:ext cx="274320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Diamond 462"/>
          <p:cNvSpPr/>
          <p:nvPr/>
        </p:nvSpPr>
        <p:spPr>
          <a:xfrm>
            <a:off x="615080" y="3824624"/>
            <a:ext cx="50000" cy="50000"/>
          </a:xfrm>
          <a:prstGeom prst="diamond">
            <a:avLst/>
          </a:prstGeom>
          <a:solidFill>
            <a:srgbClr val="0A7D6E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22960" y="3784760"/>
            <a:ext cx="11887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good median (n=6)</a:t>
            </a:r>
          </a:p>
        </p:txBody>
      </p:sp>
      <p:cxnSp>
        <p:nvCxnSpPr>
          <p:cNvPr id="465" name="Connector 464"/>
          <p:cNvCxnSpPr/>
          <p:nvPr/>
        </p:nvCxnSpPr>
        <p:spPr>
          <a:xfrm>
            <a:off x="2148840" y="3849624"/>
            <a:ext cx="274320" cy="0"/>
          </a:xfrm>
          <a:prstGeom prst="line">
            <a:avLst/>
          </a:prstGeom>
          <a:ln w="228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Diamond 465"/>
          <p:cNvSpPr/>
          <p:nvPr/>
        </p:nvSpPr>
        <p:spPr>
          <a:xfrm>
            <a:off x="2261000" y="3824624"/>
            <a:ext cx="50000" cy="50000"/>
          </a:xfrm>
          <a:prstGeom prst="diamond">
            <a:avLst/>
          </a:prstGeom>
          <a:solidFill>
            <a:srgbClr val="C53E1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2468880" y="3784760"/>
            <a:ext cx="11887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bad median (n=6)</a:t>
            </a:r>
          </a:p>
        </p:txBody>
      </p:sp>
      <p:sp>
        <p:nvSpPr>
          <p:cNvPr id="468" name="Oval 467"/>
          <p:cNvSpPr/>
          <p:nvPr/>
        </p:nvSpPr>
        <p:spPr>
          <a:xfrm>
            <a:off x="3776760" y="3831624"/>
            <a:ext cx="36000" cy="360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3858768" y="3784760"/>
            <a:ext cx="18288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individual subject pre/post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37160" y="3950208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Arial"/>
              </a:rPr>
              <a:t>y-axis: IGH-repertoire fraction  ·  x-axis: pre → post 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