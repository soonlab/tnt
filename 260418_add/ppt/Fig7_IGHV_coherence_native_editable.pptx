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943600" cy="411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621792"/>
            <a:ext cx="0" cy="182880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2450592"/>
            <a:ext cx="1371599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64276" y="2450592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9684" y="2496312"/>
            <a:ext cx="329184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7824" y="2384090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3504" y="2320082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0.5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0" y="2450592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98448" y="2496312"/>
            <a:ext cx="329184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0.7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7824" y="1719072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03504" y="1655064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0.7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61803" y="2450592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97211" y="2496312"/>
            <a:ext cx="329184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0.9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77824" y="1054054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3504" y="990046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0.9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11185" y="2450592"/>
            <a:ext cx="0" cy="36576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46593" y="2496312"/>
            <a:ext cx="329184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7824" y="721545"/>
            <a:ext cx="36576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3504" y="657537"/>
            <a:ext cx="27432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651760"/>
            <a:ext cx="1371599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bad-group majority fraction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411480" y="896112"/>
            <a:ext cx="411480" cy="1280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good-group majority fraction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964276" y="655043"/>
            <a:ext cx="1296785" cy="1729047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55400" y="1083148"/>
            <a:ext cx="5486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1">
                <a:solidFill>
                  <a:srgbClr val="BBBBBB"/>
                </a:solidFill>
                <a:latin typeface="Arial"/>
              </a:rPr>
              <a:t>y = 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667512"/>
            <a:ext cx="1188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 i="1">
                <a:solidFill>
                  <a:srgbClr val="0A7D6E"/>
                </a:solidFill>
                <a:latin typeface="Arial"/>
              </a:rPr>
              <a:t>↖ above diagonal = good more coherent</a:t>
            </a:r>
          </a:p>
        </p:txBody>
      </p:sp>
      <p:sp>
        <p:nvSpPr>
          <p:cNvPr id="26" name="Oval 25"/>
          <p:cNvSpPr/>
          <p:nvPr/>
        </p:nvSpPr>
        <p:spPr>
          <a:xfrm>
            <a:off x="953895" y="705302"/>
            <a:ext cx="40000" cy="40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93964" y="695230"/>
            <a:ext cx="40000" cy="40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9004" y="1243135"/>
            <a:ext cx="40000" cy="40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2624" y="1242464"/>
            <a:ext cx="40000" cy="40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41004" y="700139"/>
            <a:ext cx="60000" cy="60000"/>
          </a:xfrm>
          <a:prstGeom prst="ellipse">
            <a:avLst/>
          </a:prstGeom>
          <a:solidFill>
            <a:srgbClr val="0A7D6E"/>
          </a:solidFill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6724" y="666131"/>
            <a:ext cx="5486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D4A300"/>
                </a:solidFill>
                <a:latin typeface="Arial"/>
              </a:rPr>
              <a:t>IGHV6-1</a:t>
            </a:r>
          </a:p>
        </p:txBody>
      </p:sp>
      <p:sp>
        <p:nvSpPr>
          <p:cNvPr id="32" name="Oval 31"/>
          <p:cNvSpPr/>
          <p:nvPr/>
        </p:nvSpPr>
        <p:spPr>
          <a:xfrm>
            <a:off x="1364011" y="1267050"/>
            <a:ext cx="40000" cy="40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60011" y="1258652"/>
            <a:ext cx="40000" cy="40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72826" y="1262023"/>
            <a:ext cx="40000" cy="40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63541" y="1256924"/>
            <a:ext cx="40000" cy="40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361556" y="1267662"/>
            <a:ext cx="40000" cy="40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53804" y="1264392"/>
            <a:ext cx="40000" cy="40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364600" y="1242086"/>
            <a:ext cx="40000" cy="40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347008" y="1255532"/>
            <a:ext cx="60000" cy="60000"/>
          </a:xfrm>
          <a:prstGeom prst="ellipse">
            <a:avLst/>
          </a:prstGeom>
          <a:solidFill>
            <a:srgbClr val="0A7D6E"/>
          </a:solidFill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22728" y="1221524"/>
            <a:ext cx="5486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D4A300"/>
                </a:solidFill>
                <a:latin typeface="Arial"/>
              </a:rPr>
              <a:t>IGHV3-74</a:t>
            </a:r>
          </a:p>
        </p:txBody>
      </p:sp>
      <p:sp>
        <p:nvSpPr>
          <p:cNvPr id="41" name="Oval 40"/>
          <p:cNvSpPr/>
          <p:nvPr/>
        </p:nvSpPr>
        <p:spPr>
          <a:xfrm>
            <a:off x="1361402" y="1242932"/>
            <a:ext cx="40000" cy="40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51543" y="1816208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53784" y="1801010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33009" y="1819871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31166" y="1811045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32765" y="1804413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43756" y="1807787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357258" y="1353623"/>
            <a:ext cx="40000" cy="40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46342" y="1356256"/>
            <a:ext cx="40000" cy="40000"/>
          </a:xfrm>
          <a:prstGeom prst="ellipse">
            <a:avLst/>
          </a:prstGeom>
          <a:solidFill>
            <a:srgbClr val="0A7D6E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30787" y="2036262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94361" y="1813946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353254" y="1813073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67156" y="1806717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358840" y="1823548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68279" y="1823099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356607" y="1814998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704769" y="1370691"/>
            <a:ext cx="40000" cy="40000"/>
          </a:xfrm>
          <a:prstGeom prst="ellipse">
            <a:avLst/>
          </a:prstGeom>
          <a:solidFill>
            <a:srgbClr val="C5A572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69248" y="1815078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365508" y="1806861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785840" y="1245717"/>
            <a:ext cx="40000" cy="40000"/>
          </a:xfrm>
          <a:prstGeom prst="ellipse">
            <a:avLst/>
          </a:prstGeom>
          <a:solidFill>
            <a:srgbClr val="7FB069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362077" y="1815984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203136" y="2032277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346494" y="1794702"/>
            <a:ext cx="60000" cy="60000"/>
          </a:xfrm>
          <a:prstGeom prst="ellipse">
            <a:avLst/>
          </a:prstGeom>
          <a:solidFill>
            <a:srgbClr val="CCCCCC"/>
          </a:solidFill>
          <a:ln w="1524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22214" y="1760694"/>
            <a:ext cx="548640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 i="0">
                <a:solidFill>
                  <a:srgbClr val="D4A300"/>
                </a:solidFill>
                <a:latin typeface="Arial"/>
              </a:rPr>
              <a:t>IGHV3-7</a:t>
            </a:r>
          </a:p>
        </p:txBody>
      </p:sp>
      <p:sp>
        <p:nvSpPr>
          <p:cNvPr id="65" name="Oval 64"/>
          <p:cNvSpPr/>
          <p:nvPr/>
        </p:nvSpPr>
        <p:spPr>
          <a:xfrm>
            <a:off x="942163" y="2363701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365915" y="1820593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348197" y="1821815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360772" y="1806007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98397" y="2366052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685689" y="1805021"/>
            <a:ext cx="40000" cy="40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365934" y="2366677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360033" y="2359643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367063" y="2361117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355198" y="2374796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353436" y="2356605"/>
            <a:ext cx="40000" cy="40000"/>
          </a:xfrm>
          <a:prstGeom prst="ellipse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781423" y="1813287"/>
            <a:ext cx="40000" cy="40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763163" y="1798496"/>
            <a:ext cx="40000" cy="40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772178" y="1819033"/>
            <a:ext cx="40000" cy="40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689701" y="2039457"/>
            <a:ext cx="40000" cy="40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770513" y="2024431"/>
            <a:ext cx="40000" cy="40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2199187" y="1820236"/>
            <a:ext cx="40000" cy="40000"/>
          </a:xfrm>
          <a:prstGeom prst="ellipse">
            <a:avLst/>
          </a:prstGeom>
          <a:solidFill>
            <a:srgbClr val="C53E1F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3451860" y="621792"/>
            <a:ext cx="0" cy="182880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017520" y="1536192"/>
            <a:ext cx="868680" cy="0"/>
          </a:xfrm>
          <a:prstGeom prst="line">
            <a:avLst/>
          </a:prstGeom>
          <a:ln w="1143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424428" y="2450592"/>
            <a:ext cx="54864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971800" y="2377440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-0.55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3424428" y="1993392"/>
            <a:ext cx="54864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2971800" y="1920240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-0.28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424428" y="1536192"/>
            <a:ext cx="54864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2971800" y="1463040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3424428" y="1078992"/>
            <a:ext cx="54864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2971800" y="1005840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+0.28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3424428" y="621792"/>
            <a:ext cx="54864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2971800" y="548640"/>
            <a:ext cx="41148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i="0">
                <a:solidFill>
                  <a:srgbClr val="222222"/>
                </a:solidFill>
                <a:latin typeface="Arial"/>
              </a:rPr>
              <a:t>+0.55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342132" y="1259101"/>
            <a:ext cx="548640" cy="277091"/>
          </a:xfrm>
          <a:prstGeom prst="rect">
            <a:avLst/>
          </a:prstGeom>
          <a:solidFill>
            <a:srgbClr val="C9E2D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3342132" y="1536192"/>
            <a:ext cx="548640" cy="0"/>
          </a:xfrm>
          <a:prstGeom prst="line">
            <a:avLst/>
          </a:prstGeom>
          <a:ln w="2032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Diamond 95"/>
          <p:cNvSpPr/>
          <p:nvPr/>
        </p:nvSpPr>
        <p:spPr>
          <a:xfrm>
            <a:off x="3581452" y="1501192"/>
            <a:ext cx="70000" cy="70000"/>
          </a:xfrm>
          <a:prstGeom prst="diamond">
            <a:avLst/>
          </a:prstGeom>
          <a:solidFill>
            <a:srgbClr val="0A7D6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490739" y="686919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485431" y="853174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642301" y="964010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556493" y="964010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617309" y="964010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508912" y="1241101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690634" y="1241101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585737" y="1241101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699583" y="1241101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3674321" y="1241101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651026" y="1241101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529488" y="1241101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666815" y="1241101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483755" y="1241101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616399" y="1241101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574014" y="1241101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725609" y="1241101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521261" y="1241101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712777" y="1241101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3493671" y="1241101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629988" y="1296519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3619020" y="1296519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700595" y="1351937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3546912" y="1407356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701396" y="1518192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642488" y="1518192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3698406" y="1518192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521518" y="1518192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664571" y="1518192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3711648" y="1518192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482878" y="1518192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3563916" y="1518192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3633404" y="1518192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3497446" y="1518192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3601029" y="1518192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3631508" y="1518192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666042" y="1518192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3707818" y="1518192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3575364" y="1518192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3583187" y="1518192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3591849" y="1684447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714842" y="1739865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520555" y="1795283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598425" y="1795283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483194" y="1795283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579308" y="1795283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712467" y="1795283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3629231" y="1795283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559947" y="1795283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725213" y="1795283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625017" y="1850701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713396" y="1906119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474617" y="2072374"/>
            <a:ext cx="36000" cy="360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017520" y="667512"/>
            <a:ext cx="86868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054096" y="685800"/>
            <a:ext cx="795528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Wilcoxon signed-rank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054096" y="822960"/>
            <a:ext cx="795528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0A7D6E"/>
                </a:solidFill>
                <a:latin typeface="Arial"/>
              </a:rPr>
              <a:t>one-sided P = 0.035  (n=53)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560320" y="2651760"/>
            <a:ext cx="14173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222222"/>
                </a:solidFill>
                <a:latin typeface="Arial"/>
              </a:rPr>
              <a:t>good − bad majority fraction
(per V-gene)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297680" y="731520"/>
            <a:ext cx="427870" cy="411480"/>
          </a:xfrm>
          <a:prstGeom prst="rect">
            <a:avLst/>
          </a:prstGeom>
          <a:solidFill>
            <a:srgbClr val="0A7D6E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297680" y="822960"/>
            <a:ext cx="42787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725550" y="731520"/>
            <a:ext cx="187193" cy="411480"/>
          </a:xfrm>
          <a:prstGeom prst="rect">
            <a:avLst/>
          </a:prstGeom>
          <a:solidFill>
            <a:srgbClr val="C53E1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725550" y="822960"/>
            <a:ext cx="187193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912743" y="731520"/>
            <a:ext cx="26742" cy="411480"/>
          </a:xfrm>
          <a:prstGeom prst="rect">
            <a:avLst/>
          </a:prstGeom>
          <a:solidFill>
            <a:srgbClr val="7FB06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4939485" y="731520"/>
            <a:ext cx="26742" cy="411480"/>
          </a:xfrm>
          <a:prstGeom prst="rect">
            <a:avLst/>
          </a:prstGeom>
          <a:solidFill>
            <a:srgbClr val="C5A572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4966227" y="731520"/>
            <a:ext cx="748773" cy="411480"/>
          </a:xfrm>
          <a:prstGeom prst="rect">
            <a:avLst/>
          </a:prstGeom>
          <a:solidFill>
            <a:srgbClr val="CCCCC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966227" y="822960"/>
            <a:ext cx="748773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28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297680" y="731520"/>
            <a:ext cx="1417320" cy="411480"/>
          </a:xfrm>
          <a:prstGeom prst="rect">
            <a:avLst/>
          </a:prstGeom>
          <a:noFill/>
          <a:ln w="63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297680" y="576072"/>
            <a:ext cx="141732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222222"/>
                </a:solidFill>
                <a:latin typeface="Arial"/>
              </a:rPr>
              <a:t>pattern breakdown, 53 V-genes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297680" y="1280160"/>
            <a:ext cx="164592" cy="118872"/>
          </a:xfrm>
          <a:prstGeom prst="rect">
            <a:avLst/>
          </a:prstGeom>
          <a:solidFill>
            <a:srgbClr val="0A7D6E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4498848" y="1275160"/>
            <a:ext cx="1197864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n=16 · good coherent, bad mixed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297680" y="1499616"/>
            <a:ext cx="164592" cy="118872"/>
          </a:xfrm>
          <a:prstGeom prst="rect">
            <a:avLst/>
          </a:prstGeom>
          <a:solidFill>
            <a:srgbClr val="C53E1F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498848" y="1494616"/>
            <a:ext cx="1197864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n=7 · bad coherent, good mixed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297680" y="1719072"/>
            <a:ext cx="164592" cy="118872"/>
          </a:xfrm>
          <a:prstGeom prst="rect">
            <a:avLst/>
          </a:prstGeom>
          <a:solidFill>
            <a:srgbClr val="7FB069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498848" y="1714072"/>
            <a:ext cx="1197864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n=1 · both coherent, same direction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297680" y="1938528"/>
            <a:ext cx="164592" cy="118872"/>
          </a:xfrm>
          <a:prstGeom prst="rect">
            <a:avLst/>
          </a:prstGeom>
          <a:solidFill>
            <a:srgbClr val="C5A572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4498848" y="1933528"/>
            <a:ext cx="1197864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n=1 · both coherent, opposite direction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297680" y="2157984"/>
            <a:ext cx="164592" cy="118872"/>
          </a:xfrm>
          <a:prstGeom prst="rect">
            <a:avLst/>
          </a:prstGeom>
          <a:solidFill>
            <a:srgbClr val="CCCCCC"/>
          </a:solidFill>
          <a:ln w="38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498848" y="2152984"/>
            <a:ext cx="1197864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0">
                <a:solidFill>
                  <a:srgbClr val="222222"/>
                </a:solidFill>
                <a:latin typeface="Arial"/>
              </a:rPr>
              <a:t>n=28 · both mixed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4297680" y="2468880"/>
            <a:ext cx="1417320" cy="292608"/>
          </a:xfrm>
          <a:prstGeom prst="rect">
            <a:avLst/>
          </a:prstGeom>
          <a:solidFill>
            <a:srgbClr val="FFFFFF"/>
          </a:solidFill>
          <a:ln w="1016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4334256" y="2487168"/>
            <a:ext cx="13441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i="0">
                <a:solidFill>
                  <a:srgbClr val="222222"/>
                </a:solidFill>
                <a:latin typeface="Arial"/>
              </a:rPr>
              <a:t>16 good-coherent vs 7 bad-coherent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334256" y="2615184"/>
            <a:ext cx="1344168" cy="1188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>
                <a:solidFill>
                  <a:srgbClr val="D4A300"/>
                </a:solidFill>
                <a:latin typeface="Arial"/>
              </a:rPr>
              <a:t>binomial P = 0.047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2468880" y="457200"/>
            <a:ext cx="0" cy="2834640"/>
          </a:xfrm>
          <a:prstGeom prst="line">
            <a:avLst/>
          </a:prstGeom>
          <a:ln w="3810">
            <a:solidFill>
              <a:srgbClr val="DDDD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4069080" y="457200"/>
            <a:ext cx="0" cy="2834640"/>
          </a:xfrm>
          <a:prstGeom prst="line">
            <a:avLst/>
          </a:prstGeom>
          <a:ln w="3810">
            <a:solidFill>
              <a:srgbClr val="DDDD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566928" y="438912"/>
            <a:ext cx="27432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Arial"/>
              </a:rPr>
              <a:t>i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606040" y="438912"/>
            <a:ext cx="27432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Arial"/>
              </a:rPr>
              <a:t>ii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206240" y="438912"/>
            <a:ext cx="27432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666666"/>
                </a:solidFill>
                <a:latin typeface="Arial"/>
              </a:rPr>
              <a:t>iii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37160" y="3520440"/>
            <a:ext cx="5669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222222"/>
                </a:solidFill>
                <a:latin typeface="Arial"/>
              </a:rPr>
              <a:t>Three independent aggregate tests, all P &lt; 0.05: Wilcoxon P=0.035 (i–ii), binomial P=0.049 (i, 24/37 V-genes with good_majority &gt; bad_majority), pattern P=0.047 (iii, 16 vs 7 contrast).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37160" y="3685032"/>
            <a:ext cx="56692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222222"/>
                </a:solidFill>
                <a:latin typeface="Arial"/>
              </a:rPr>
              <a:t>→ good responders mount directionally coherent V-gene repertoire responses to RT; bad responders are stochastic.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91440"/>
            <a:ext cx="3657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691640" y="548640"/>
            <a:ext cx="0" cy="265176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691640" y="3200400"/>
            <a:ext cx="265176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645920" y="3200400"/>
            <a:ext cx="4572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34440" y="3127248"/>
            <a:ext cx="411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0.40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45920" y="2786062"/>
            <a:ext cx="4572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234440" y="2712910"/>
            <a:ext cx="411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0.45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45920" y="2371725"/>
            <a:ext cx="4572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34440" y="2298573"/>
            <a:ext cx="411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0.50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45920" y="1957387"/>
            <a:ext cx="4572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4440" y="1884235"/>
            <a:ext cx="411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0.55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45920" y="1543050"/>
            <a:ext cx="4572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34440" y="1469898"/>
            <a:ext cx="411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0.60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45920" y="1128712"/>
            <a:ext cx="4572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34440" y="1055560"/>
            <a:ext cx="411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0.65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45920" y="714375"/>
            <a:ext cx="4572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34440" y="641223"/>
            <a:ext cx="411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222222"/>
                </a:solidFill>
                <a:latin typeface="Arial"/>
              </a:rPr>
              <a:t>0.70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685800" y="960120"/>
            <a:ext cx="411480" cy="182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LOO repertoire coherence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91640" y="2371725"/>
            <a:ext cx="2651760" cy="0"/>
          </a:xfrm>
          <a:prstGeom prst="line">
            <a:avLst/>
          </a:prstGeom>
          <a:ln w="1397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79976" y="2298573"/>
            <a:ext cx="73152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chance = 0.5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548640"/>
            <a:ext cx="2651760" cy="1823085"/>
          </a:xfrm>
          <a:prstGeom prst="rect">
            <a:avLst/>
          </a:prstGeom>
          <a:solidFill>
            <a:srgbClr val="EF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91640" y="2371725"/>
            <a:ext cx="2651760" cy="828675"/>
          </a:xfrm>
          <a:prstGeom prst="rect">
            <a:avLst/>
          </a:prstGeom>
          <a:solidFill>
            <a:srgbClr val="FC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64792" y="585216"/>
            <a:ext cx="13716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1">
                <a:solidFill>
                  <a:srgbClr val="0A7D6E"/>
                </a:solidFill>
                <a:latin typeface="Arial"/>
              </a:rPr>
              <a:t>↑ coherent with peers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3035808"/>
            <a:ext cx="1371600" cy="1280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i="1">
                <a:solidFill>
                  <a:srgbClr val="C53E1F"/>
                </a:solidFill>
                <a:latin typeface="Arial"/>
              </a:rPr>
              <a:t>↓ stochastic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58568" y="1377315"/>
            <a:ext cx="457200" cy="91622"/>
          </a:xfrm>
          <a:prstGeom prst="rect">
            <a:avLst/>
          </a:prstGeom>
          <a:solidFill>
            <a:srgbClr val="A9D1CC"/>
          </a:solidFill>
          <a:ln w="1397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258568" y="1409447"/>
            <a:ext cx="457200" cy="0"/>
          </a:xfrm>
          <a:prstGeom prst="line">
            <a:avLst/>
          </a:prstGeom>
          <a:ln w="3048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/>
          <p:cNvSpPr/>
          <p:nvPr/>
        </p:nvSpPr>
        <p:spPr>
          <a:xfrm>
            <a:off x="2439168" y="1361447"/>
            <a:ext cx="96000" cy="96000"/>
          </a:xfrm>
          <a:prstGeom prst="diamond">
            <a:avLst/>
          </a:prstGeom>
          <a:solidFill>
            <a:srgbClr val="0A7D6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544669" y="1409580"/>
            <a:ext cx="64000" cy="64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40677" y="1386716"/>
            <a:ext cx="18288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0A7D6E"/>
                </a:solidFill>
                <a:latin typeface="Arial"/>
              </a:rPr>
              <a:t>2</a:t>
            </a:r>
          </a:p>
        </p:txBody>
      </p:sp>
      <p:sp>
        <p:nvSpPr>
          <p:cNvPr id="31" name="Oval 30"/>
          <p:cNvSpPr/>
          <p:nvPr/>
        </p:nvSpPr>
        <p:spPr>
          <a:xfrm>
            <a:off x="2480333" y="1446056"/>
            <a:ext cx="64000" cy="64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76341" y="1423192"/>
            <a:ext cx="18288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0A7D6E"/>
                </a:solidFill>
                <a:latin typeface="Arial"/>
              </a:rPr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2492219" y="1345315"/>
            <a:ext cx="64000" cy="64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88227" y="1322451"/>
            <a:ext cx="18288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0A7D6E"/>
                </a:solidFill>
                <a:latin typeface="Arial"/>
              </a:rPr>
              <a:t>6</a:t>
            </a:r>
          </a:p>
        </p:txBody>
      </p:sp>
      <p:sp>
        <p:nvSpPr>
          <p:cNvPr id="35" name="Oval 34"/>
          <p:cNvSpPr/>
          <p:nvPr/>
        </p:nvSpPr>
        <p:spPr>
          <a:xfrm>
            <a:off x="2535075" y="1142750"/>
            <a:ext cx="64000" cy="64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31083" y="1119886"/>
            <a:ext cx="18288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0A7D6E"/>
                </a:solidFill>
                <a:latin typeface="Arial"/>
              </a:rPr>
              <a:t>8</a:t>
            </a:r>
          </a:p>
        </p:txBody>
      </p:sp>
      <p:sp>
        <p:nvSpPr>
          <p:cNvPr id="37" name="Oval 36"/>
          <p:cNvSpPr/>
          <p:nvPr/>
        </p:nvSpPr>
        <p:spPr>
          <a:xfrm>
            <a:off x="2470918" y="1446056"/>
            <a:ext cx="64000" cy="64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6926" y="1423192"/>
            <a:ext cx="18288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0A7D6E"/>
                </a:solidFill>
                <a:latin typeface="Arial"/>
              </a:rPr>
              <a:t>9</a:t>
            </a:r>
          </a:p>
        </p:txBody>
      </p:sp>
      <p:sp>
        <p:nvSpPr>
          <p:cNvPr id="39" name="Oval 38"/>
          <p:cNvSpPr/>
          <p:nvPr/>
        </p:nvSpPr>
        <p:spPr>
          <a:xfrm>
            <a:off x="2510627" y="1345315"/>
            <a:ext cx="64000" cy="64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06635" y="1322451"/>
            <a:ext cx="18288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0A7D6E"/>
                </a:solidFill>
                <a:latin typeface="Arial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29968" y="3273552"/>
            <a:ext cx="9144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good (n=6)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01368" y="3456432"/>
            <a:ext cx="137160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0A7D6E"/>
                </a:solidFill>
                <a:latin typeface="Arial"/>
              </a:rPr>
              <a:t>vs chance P = 0.016 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9272" y="1752250"/>
            <a:ext cx="457200" cy="846938"/>
          </a:xfrm>
          <a:prstGeom prst="rect">
            <a:avLst/>
          </a:prstGeom>
          <a:solidFill>
            <a:srgbClr val="EABBB0"/>
          </a:solidFill>
          <a:ln w="1397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319272" y="2126339"/>
            <a:ext cx="457200" cy="0"/>
          </a:xfrm>
          <a:prstGeom prst="line">
            <a:avLst/>
          </a:prstGeom>
          <a:ln w="3048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Diamond 44"/>
          <p:cNvSpPr/>
          <p:nvPr/>
        </p:nvSpPr>
        <p:spPr>
          <a:xfrm>
            <a:off x="3499872" y="2078339"/>
            <a:ext cx="96000" cy="96000"/>
          </a:xfrm>
          <a:prstGeom prst="diamond">
            <a:avLst/>
          </a:prstGeom>
          <a:solidFill>
            <a:srgbClr val="C53E1F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582992" y="2671195"/>
            <a:ext cx="64000" cy="64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79000" y="2648331"/>
            <a:ext cx="18288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C53E1F"/>
                </a:solidFill>
                <a:latin typeface="Arial"/>
              </a:rPr>
              <a:t>1</a:t>
            </a:r>
          </a:p>
        </p:txBody>
      </p:sp>
      <p:sp>
        <p:nvSpPr>
          <p:cNvPr id="48" name="Oval 47"/>
          <p:cNvSpPr/>
          <p:nvPr/>
        </p:nvSpPr>
        <p:spPr>
          <a:xfrm>
            <a:off x="3460592" y="1179580"/>
            <a:ext cx="64000" cy="64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56600" y="1156716"/>
            <a:ext cx="18288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C53E1F"/>
                </a:solidFill>
                <a:latin typeface="Arial"/>
              </a:rPr>
              <a:t>5</a:t>
            </a:r>
          </a:p>
        </p:txBody>
      </p:sp>
      <p:sp>
        <p:nvSpPr>
          <p:cNvPr id="50" name="Oval 49"/>
          <p:cNvSpPr/>
          <p:nvPr/>
        </p:nvSpPr>
        <p:spPr>
          <a:xfrm>
            <a:off x="3426459" y="1933512"/>
            <a:ext cx="64000" cy="64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22467" y="1910648"/>
            <a:ext cx="18288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C53E1F"/>
                </a:solidFill>
                <a:latin typeface="Arial"/>
              </a:rPr>
              <a:t>7</a:t>
            </a:r>
          </a:p>
        </p:txBody>
      </p:sp>
      <p:sp>
        <p:nvSpPr>
          <p:cNvPr id="52" name="Oval 51"/>
          <p:cNvSpPr/>
          <p:nvPr/>
        </p:nvSpPr>
        <p:spPr>
          <a:xfrm>
            <a:off x="3475672" y="2255166"/>
            <a:ext cx="64000" cy="64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71680" y="2232302"/>
            <a:ext cx="18288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C53E1F"/>
                </a:solidFill>
                <a:latin typeface="Arial"/>
              </a:rPr>
              <a:t>10</a:t>
            </a:r>
          </a:p>
        </p:txBody>
      </p:sp>
      <p:sp>
        <p:nvSpPr>
          <p:cNvPr id="54" name="Oval 53"/>
          <p:cNvSpPr/>
          <p:nvPr/>
        </p:nvSpPr>
        <p:spPr>
          <a:xfrm>
            <a:off x="3472634" y="2745938"/>
            <a:ext cx="64000" cy="64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68642" y="2723074"/>
            <a:ext cx="18288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C53E1F"/>
                </a:solidFill>
                <a:latin typeface="Arial"/>
              </a:rPr>
              <a:t>12</a:t>
            </a:r>
          </a:p>
        </p:txBody>
      </p:sp>
      <p:sp>
        <p:nvSpPr>
          <p:cNvPr id="56" name="Oval 55"/>
          <p:cNvSpPr/>
          <p:nvPr/>
        </p:nvSpPr>
        <p:spPr>
          <a:xfrm>
            <a:off x="3591019" y="1649162"/>
            <a:ext cx="64000" cy="640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87027" y="1626298"/>
            <a:ext cx="182880" cy="1097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" b="0" i="0">
                <a:solidFill>
                  <a:srgbClr val="C53E1F"/>
                </a:solidFill>
                <a:latin typeface="Arial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90672" y="3273552"/>
            <a:ext cx="9144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bad (n=6)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62072" y="3456432"/>
            <a:ext cx="1371600" cy="1371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  <a:latin typeface="Arial"/>
              </a:rPr>
              <a:t>vs chance P = 0.156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487168" y="677799"/>
            <a:ext cx="1060704" cy="0"/>
          </a:xfrm>
          <a:prstGeom prst="line">
            <a:avLst/>
          </a:prstGeom>
          <a:ln w="1016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487168" y="677799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547872" y="677799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194560" y="476631"/>
            <a:ext cx="164592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4A300"/>
                </a:solidFill>
                <a:latin typeface="Arial"/>
              </a:rPr>
              <a:t>MW good &gt; bad  P = 0.045 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2880" y="3502152"/>
            <a:ext cx="55778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Arial"/>
              </a:rPr>
              <a:t>LOO coherence per subject = fraction of the 53 V-genes where the subject's Δ direction agrees with the majority direction of their other 5 same-group peers (ties excluded).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" y="3703320"/>
            <a:ext cx="55778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222222"/>
                </a:solidFill>
                <a:latin typeface="Arial"/>
              </a:rPr>
              <a:t>Good subjects are tightly coherent and above chance (all 6 with P = 0.016); bad subjects span chance (P = 0.156 NS → individually stochastic).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