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60604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641759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522887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48952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30080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56146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37274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63340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44468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70534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51662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7728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58856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84921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66049" y="3520440"/>
            <a:ext cx="23774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675888"/>
            <a:ext cx="260604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Standardised between-group Z  (good − bad)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813048"/>
            <a:ext cx="26060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666666"/>
                </a:solidFill>
                <a:latin typeface="Arial"/>
              </a:rPr>
              <a:t>= diff_median / (CI width / 3.92)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63340" y="502920"/>
            <a:ext cx="0" cy="29718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61440" y="502920"/>
            <a:ext cx="0" cy="29718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65240" y="502920"/>
            <a:ext cx="0" cy="29718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78560" y="521208"/>
            <a:ext cx="3657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 i="1">
                <a:solidFill>
                  <a:srgbClr val="999999"/>
                </a:solidFill>
                <a:latin typeface="Arial"/>
              </a:rPr>
              <a:t>P=0.05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" y="5857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SBS5 (clock-like)  mutations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50592" y="6314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560320" y="668020"/>
            <a:ext cx="1313733" cy="0"/>
          </a:xfrm>
          <a:prstGeom prst="line">
            <a:avLst/>
          </a:prstGeom>
          <a:ln w="1524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560320" y="6223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74053" y="6223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3268277" y="630020"/>
            <a:ext cx="76000" cy="76000"/>
          </a:xfrm>
          <a:prstGeom prst="diamond">
            <a:avLst/>
          </a:prstGeom>
          <a:solidFill>
            <a:srgbClr val="3E528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21224" y="5400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1224" y="6497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[-148, +1]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1224" y="7594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" y="9159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Missense mutations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0592" y="9616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684448" y="998220"/>
            <a:ext cx="1596199" cy="0"/>
          </a:xfrm>
          <a:prstGeom prst="line">
            <a:avLst/>
          </a:prstGeom>
          <a:ln w="1524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84448" y="9525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80647" y="952500"/>
            <a:ext cx="0" cy="91440"/>
          </a:xfrm>
          <a:prstGeom prst="line">
            <a:avLst/>
          </a:prstGeom>
          <a:ln w="12700">
            <a:solidFill>
              <a:srgbClr val="3E5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3022024" y="960220"/>
            <a:ext cx="76000" cy="76000"/>
          </a:xfrm>
          <a:prstGeom prst="diamond">
            <a:avLst/>
          </a:prstGeom>
          <a:solidFill>
            <a:srgbClr val="3E5286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21224" y="8702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3E5286"/>
                </a:solidFill>
                <a:latin typeface="Arial"/>
              </a:rPr>
              <a:t>-77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1224" y="9799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[-113, +40]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1224" y="10896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3E5286"/>
                </a:solidFill>
                <a:latin typeface="Arial"/>
              </a:rPr>
              <a:t>P = 0.626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" y="12461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MHC-I neoantigen binders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50592" y="129184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68743" y="1328420"/>
            <a:ext cx="1596199" cy="0"/>
          </a:xfrm>
          <a:prstGeom prst="line">
            <a:avLst/>
          </a:prstGeom>
          <a:ln w="1524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68743" y="12827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64942" y="12827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iamond 46"/>
          <p:cNvSpPr/>
          <p:nvPr/>
        </p:nvSpPr>
        <p:spPr>
          <a:xfrm>
            <a:off x="3343190" y="1290420"/>
            <a:ext cx="76000" cy="76000"/>
          </a:xfrm>
          <a:prstGeom prst="diamond">
            <a:avLst/>
          </a:prstGeom>
          <a:solidFill>
            <a:srgbClr val="6A4C93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21224" y="12004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-212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21224" y="13101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[-526, +177]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21224" y="14198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0.429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" y="15763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Neoantigen sites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50592" y="162204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729591" y="1658620"/>
            <a:ext cx="1596199" cy="0"/>
          </a:xfrm>
          <a:prstGeom prst="line">
            <a:avLst/>
          </a:prstGeom>
          <a:ln w="1524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29591" y="16129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325790" y="1612900"/>
            <a:ext cx="0" cy="91440"/>
          </a:xfrm>
          <a:prstGeom prst="line">
            <a:avLst/>
          </a:prstGeom>
          <a:ln w="12700">
            <a:solidFill>
              <a:srgbClr val="6A4C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3191336" y="1620620"/>
            <a:ext cx="76000" cy="76000"/>
          </a:xfrm>
          <a:prstGeom prst="diamond">
            <a:avLst/>
          </a:prstGeom>
          <a:solidFill>
            <a:srgbClr val="6A4C93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1224" y="15306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-42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21224" y="16403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[-76, +31]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21224" y="17500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0.247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4592" y="19065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MHC-II signature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50592" y="19522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812262" y="1988820"/>
            <a:ext cx="1354098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812262" y="19431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66360" y="19431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Diamond 64"/>
          <p:cNvSpPr/>
          <p:nvPr/>
        </p:nvSpPr>
        <p:spPr>
          <a:xfrm>
            <a:off x="4366132" y="1950820"/>
            <a:ext cx="76000" cy="76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1224" y="18608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+0.85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21224" y="19705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[-0.08, +2.42]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21224" y="20802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0.065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4592" y="22367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CD8 exhaustion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50592" y="22824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558671" y="2319020"/>
            <a:ext cx="1596200" cy="0"/>
          </a:xfrm>
          <a:prstGeom prst="line">
            <a:avLst/>
          </a:prstGeom>
          <a:ln w="152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558671" y="22733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154871" y="22733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iamond 73"/>
          <p:cNvSpPr/>
          <p:nvPr/>
        </p:nvSpPr>
        <p:spPr>
          <a:xfrm>
            <a:off x="4527403" y="2281020"/>
            <a:ext cx="76000" cy="76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21224" y="21910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+1.06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21224" y="23007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[-0.46, +1.95]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21224" y="24104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0.093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4592" y="25669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4A300"/>
                </a:solidFill>
                <a:latin typeface="Arial"/>
              </a:rPr>
              <a:t>Treg signature  ★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50592" y="26126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3913482" y="2649220"/>
            <a:ext cx="1252878" cy="0"/>
          </a:xfrm>
          <a:prstGeom prst="line">
            <a:avLst/>
          </a:prstGeom>
          <a:ln w="228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913482" y="26035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5166360" y="2603500"/>
            <a:ext cx="0" cy="91440"/>
          </a:xfrm>
          <a:prstGeom prst="line">
            <a:avLst/>
          </a:prstGeom>
          <a:ln w="127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Diamond 82"/>
          <p:cNvSpPr/>
          <p:nvPr/>
        </p:nvSpPr>
        <p:spPr>
          <a:xfrm>
            <a:off x="4818709" y="2594220"/>
            <a:ext cx="110000" cy="110000"/>
          </a:xfrm>
          <a:prstGeom prst="diamond">
            <a:avLst/>
          </a:prstGeom>
          <a:solidFill>
            <a:srgbClr val="D4A3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21224" y="25212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D4A300"/>
                </a:solidFill>
                <a:latin typeface="Arial"/>
              </a:rPr>
              <a:t>+1.21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21224" y="26309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[+0.06, +1.97]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21224" y="27406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P = 0.026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592" y="28971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A6502C"/>
                </a:solidFill>
                <a:latin typeface="Arial"/>
              </a:rPr>
              <a:t>IGH clonotypes (B-cell)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450592" y="2942844"/>
            <a:ext cx="54864" cy="73152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402086" y="2979420"/>
            <a:ext cx="1596199" cy="0"/>
          </a:xfrm>
          <a:prstGeom prst="line">
            <a:avLst/>
          </a:prstGeom>
          <a:ln w="1524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402086" y="2933700"/>
            <a:ext cx="0" cy="91440"/>
          </a:xfrm>
          <a:prstGeom prst="line">
            <a:avLst/>
          </a:prstGeom>
          <a:ln w="1270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998285" y="2933700"/>
            <a:ext cx="0" cy="91440"/>
          </a:xfrm>
          <a:prstGeom prst="line">
            <a:avLst/>
          </a:prstGeom>
          <a:ln w="12700">
            <a:solidFill>
              <a:srgbClr val="A650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Diamond 91"/>
          <p:cNvSpPr/>
          <p:nvPr/>
        </p:nvSpPr>
        <p:spPr>
          <a:xfrm>
            <a:off x="4080654" y="2941420"/>
            <a:ext cx="76000" cy="76000"/>
          </a:xfrm>
          <a:prstGeom prst="diamond">
            <a:avLst/>
          </a:prstGeom>
          <a:solidFill>
            <a:srgbClr val="A6502C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21224" y="28514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+1572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21224" y="29611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[-2840, +6988]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21224" y="30708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0.240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4592" y="3227324"/>
            <a:ext cx="235915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555555"/>
                </a:solidFill>
                <a:latin typeface="Arial"/>
              </a:rPr>
              <a:t>TRB Shannon diversity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50592" y="3273044"/>
            <a:ext cx="54864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551234" y="3309620"/>
            <a:ext cx="1596199" cy="0"/>
          </a:xfrm>
          <a:prstGeom prst="line">
            <a:avLst/>
          </a:prstGeom>
          <a:ln w="1524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51234" y="3263900"/>
            <a:ext cx="0" cy="91440"/>
          </a:xfrm>
          <a:prstGeom prst="line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5147433" y="3263900"/>
            <a:ext cx="0" cy="91440"/>
          </a:xfrm>
          <a:prstGeom prst="line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Diamond 100"/>
          <p:cNvSpPr/>
          <p:nvPr/>
        </p:nvSpPr>
        <p:spPr>
          <a:xfrm>
            <a:off x="4211460" y="3271620"/>
            <a:ext cx="76000" cy="76000"/>
          </a:xfrm>
          <a:prstGeom prst="diamond">
            <a:avLst/>
          </a:prstGeom>
          <a:solidFill>
            <a:srgbClr val="555555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21224" y="3181604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666666"/>
                </a:solidFill>
                <a:latin typeface="Arial"/>
              </a:rPr>
              <a:t>+0.43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221224" y="3291332"/>
            <a:ext cx="7772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[-0.35, +1.44]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1224" y="3401060"/>
            <a:ext cx="68580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P = 0.310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4592" y="3566160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Cascade group: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1832" y="3584448"/>
            <a:ext cx="82296" cy="82296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42416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Clone clearance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965960" y="3584448"/>
            <a:ext cx="82296" cy="8229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66544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Antigen clearance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990088" y="3584448"/>
            <a:ext cx="82296" cy="8229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090672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Immune reprogramming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014216" y="3584448"/>
            <a:ext cx="82296" cy="82296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114800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B-cell infiltration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38344" y="3584448"/>
            <a:ext cx="82296" cy="82296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3561160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T-cell repertoire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37160" y="379476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D4A300"/>
                </a:solidFill>
                <a:latin typeface="Arial"/>
              </a:rPr>
              <a:t>★ Only Treg Δ has a between-group BCa CI strictly excluding zero (robust at n = 12).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37160" y="393192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Other cascade features are framed as exploratory phenomenology; see Panel C for within-group robustness.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3000" y="438912"/>
            <a:ext cx="0" cy="1143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43000" y="1581912"/>
            <a:ext cx="18745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7552" y="1600200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60020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06424" y="15819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-2.1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06424" y="10104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9372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06424" y="4389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657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+2.1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43000" y="1010412"/>
            <a:ext cx="1874520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3000" y="978115"/>
            <a:ext cx="1874520" cy="89656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143000" y="568322"/>
            <a:ext cx="1874520" cy="47961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43000" y="608216"/>
            <a:ext cx="1874520" cy="27601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43000" y="1006423"/>
            <a:ext cx="1874520" cy="48965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43000" y="1124206"/>
            <a:ext cx="1874520" cy="113753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43000" y="561769"/>
            <a:ext cx="1874520" cy="467785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43000" y="784441"/>
            <a:ext cx="1874520" cy="40718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43000" y="490867"/>
            <a:ext cx="1874520" cy="54387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43000" y="1099779"/>
            <a:ext cx="1874520" cy="14263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3000" y="969617"/>
            <a:ext cx="1874520" cy="20949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43000" y="1223960"/>
            <a:ext cx="1874520" cy="552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143000" y="985765"/>
            <a:ext cx="1874520" cy="69912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121000" y="95611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995520" y="104577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00" y="102593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95520" y="54632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1000" y="86222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995520" y="58621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1000" y="103338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995520" y="98442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21000" y="121595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95520" y="110220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21000" y="100755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995520" y="5397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1000" y="116962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95520" y="76244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1000" y="101273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95520" y="46886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000" y="107777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95520" y="122041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21000" y="96856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95520" y="94761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1000" y="120196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95520" y="12074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1000" y="103367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995520" y="96376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143000" y="696329"/>
            <a:ext cx="1874520" cy="355476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Diamond 50"/>
          <p:cNvSpPr/>
          <p:nvPr/>
        </p:nvSpPr>
        <p:spPr>
          <a:xfrm>
            <a:off x="1103000" y="1011805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2977520" y="656329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143000" y="1037097"/>
            <a:ext cx="1874520" cy="5374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Diamond 53"/>
          <p:cNvSpPr/>
          <p:nvPr/>
        </p:nvSpPr>
        <p:spPr>
          <a:xfrm>
            <a:off x="1103000" y="1002471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iamond 54"/>
          <p:cNvSpPr/>
          <p:nvPr/>
        </p:nvSpPr>
        <p:spPr>
          <a:xfrm>
            <a:off x="2977520" y="997097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1719072"/>
            <a:ext cx="24688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D4A300"/>
                </a:solidFill>
                <a:latin typeface="Arial"/>
              </a:rPr>
              <a:t>Treg signature (★ between-group robust)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00200" y="466344"/>
            <a:ext cx="1371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27632" y="49377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0A7D6E"/>
                </a:solidFill>
                <a:latin typeface="Arial"/>
              </a:rPr>
              <a:t>g Δ +1.26  [+0.34, +1.76]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27632" y="63093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C53E1F"/>
                </a:solidFill>
                <a:latin typeface="Arial"/>
              </a:rPr>
              <a:t>b Δ +0.03  [-0.43, +0.88]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27632" y="768095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1" i="0">
                <a:solidFill>
                  <a:srgbClr val="D4A300"/>
                </a:solidFill>
                <a:latin typeface="Arial"/>
              </a:rPr>
              <a:t>MW P = 0.026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886200" y="438912"/>
            <a:ext cx="0" cy="1143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86200" y="1581912"/>
            <a:ext cx="18745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730752" y="1600200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160020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849624" y="15819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474720" y="15087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-2.2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849624" y="10104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474720" y="9372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849624" y="43891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474720" y="36576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+2.2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886200" y="1010412"/>
            <a:ext cx="1874520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86200" y="981714"/>
            <a:ext cx="1874520" cy="88270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886200" y="755425"/>
            <a:ext cx="1874520" cy="29083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886200" y="955691"/>
            <a:ext cx="1874520" cy="137101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886200" y="751163"/>
            <a:ext cx="1874520" cy="26226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886200" y="953770"/>
            <a:ext cx="1874520" cy="333003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886200" y="804759"/>
            <a:ext cx="1874520" cy="402857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86200" y="603423"/>
            <a:ext cx="1874520" cy="926534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886200" y="639052"/>
            <a:ext cx="1874520" cy="488448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86200" y="1141837"/>
            <a:ext cx="1874520" cy="9623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886200" y="1056060"/>
            <a:ext cx="1874520" cy="6219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886200" y="1106968"/>
            <a:ext cx="1874520" cy="26706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886200" y="818699"/>
            <a:ext cx="1874520" cy="24228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3864200" y="104798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738720" y="95971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864200" y="102425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738720" y="73342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64200" y="107079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738720" y="93369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64200" y="99142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738720" y="72916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864200" y="126477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38720" y="93177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864200" y="118561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738720" y="78275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864200" y="150795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738720" y="58142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864200" y="110550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738720" y="61705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64200" y="121607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738720" y="111983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864200" y="109625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738720" y="103406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864200" y="108496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738720" y="135203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864200" y="103898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738720" y="79669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3886200" y="787062"/>
            <a:ext cx="1874520" cy="323084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Diamond 108"/>
          <p:cNvSpPr/>
          <p:nvPr/>
        </p:nvSpPr>
        <p:spPr>
          <a:xfrm>
            <a:off x="3846200" y="1070146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5720720" y="747062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 flipV="1">
            <a:off x="3886200" y="1018887"/>
            <a:ext cx="1874520" cy="93726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Diamond 111"/>
          <p:cNvSpPr/>
          <p:nvPr/>
        </p:nvSpPr>
        <p:spPr>
          <a:xfrm>
            <a:off x="3846200" y="1072613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Diamond 112"/>
          <p:cNvSpPr/>
          <p:nvPr/>
        </p:nvSpPr>
        <p:spPr>
          <a:xfrm>
            <a:off x="5720720" y="978887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383280" y="1719072"/>
            <a:ext cx="24688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MHC-II signature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343400" y="466344"/>
            <a:ext cx="1371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370832" y="49377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0A7D6E"/>
                </a:solidFill>
                <a:latin typeface="Arial"/>
              </a:rPr>
              <a:t>g Δ +1.23  [+0.54, +1.92]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70832" y="63093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C53E1F"/>
                </a:solidFill>
                <a:latin typeface="Arial"/>
              </a:rPr>
              <a:t>b Δ +0.36  [-1.05, +1.03]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370832" y="768095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MW P = 0.065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1143000" y="2221992"/>
            <a:ext cx="0" cy="1143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143000" y="3364992"/>
            <a:ext cx="18745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987552" y="3383280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52928" y="338328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106424" y="33649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731520" y="32918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-2.0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06424" y="27934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731520" y="27203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1106424" y="22219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731520" y="21488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+2.0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143000" y="2793492"/>
            <a:ext cx="1874520" cy="0"/>
          </a:xfrm>
          <a:prstGeom prst="line">
            <a:avLst/>
          </a:prstGeom>
          <a:ln w="381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143000" y="2753855"/>
            <a:ext cx="1874520" cy="102341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143000" y="2389556"/>
            <a:ext cx="1874520" cy="49121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143000" y="2563835"/>
            <a:ext cx="1874520" cy="104927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143000" y="2781238"/>
            <a:ext cx="1874520" cy="6874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143000" y="2908343"/>
            <a:ext cx="1874520" cy="125534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143000" y="2273947"/>
            <a:ext cx="1874520" cy="58477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143000" y="2544082"/>
            <a:ext cx="1874520" cy="44390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143000" y="2370343"/>
            <a:ext cx="1874520" cy="46302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143000" y="2827694"/>
            <a:ext cx="1874520" cy="20668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143000" y="2761783"/>
            <a:ext cx="1874520" cy="1046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143000" y="2936738"/>
            <a:ext cx="1874520" cy="4560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143000" y="2837883"/>
            <a:ext cx="1874520" cy="24499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1121000" y="273185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2995520" y="283419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21000" y="285877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995520" y="236755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21000" y="264676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2995520" y="254183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21000" y="28279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95520" y="275923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21000" y="301187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2995520" y="288634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21000" y="283671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2995520" y="225194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21000" y="29659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95520" y="25220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21000" y="281136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2995520" y="234834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21000" y="280569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995520" y="30123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121000" y="273978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2995520" y="275024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21000" y="291473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995520" y="296034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1000" y="284038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995520" y="281588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 flipV="1">
            <a:off x="1143000" y="2553958"/>
            <a:ext cx="1874520" cy="317619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Diamond 166"/>
          <p:cNvSpPr/>
          <p:nvPr/>
        </p:nvSpPr>
        <p:spPr>
          <a:xfrm>
            <a:off x="1103000" y="2831577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Diamond 167"/>
          <p:cNvSpPr/>
          <p:nvPr/>
        </p:nvSpPr>
        <p:spPr>
          <a:xfrm>
            <a:off x="2977520" y="2513958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" name="Connector 168"/>
          <p:cNvCxnSpPr/>
          <p:nvPr/>
        </p:nvCxnSpPr>
        <p:spPr>
          <a:xfrm flipV="1">
            <a:off x="1143000" y="2818717"/>
            <a:ext cx="1874520" cy="20121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Diamond 169"/>
          <p:cNvSpPr/>
          <p:nvPr/>
        </p:nvSpPr>
        <p:spPr>
          <a:xfrm>
            <a:off x="1103000" y="2798838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Diamond 170"/>
          <p:cNvSpPr/>
          <p:nvPr/>
        </p:nvSpPr>
        <p:spPr>
          <a:xfrm>
            <a:off x="2977520" y="2778717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40080" y="3502152"/>
            <a:ext cx="24688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CD8 exhaustion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00200" y="2249424"/>
            <a:ext cx="1371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627632" y="227685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0A7D6E"/>
                </a:solidFill>
                <a:latin typeface="Arial"/>
              </a:rPr>
              <a:t>g Δ +1.00  [+0.23, +1.62]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627632" y="241401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C53E1F"/>
                </a:solidFill>
                <a:latin typeface="Arial"/>
              </a:rPr>
              <a:t>b Δ -0.10  [-0.72, +0.24]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627632" y="2551175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MW P = 0.093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3886200" y="2221992"/>
            <a:ext cx="0" cy="1143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886200" y="3364992"/>
            <a:ext cx="18745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3730752" y="3383280"/>
            <a:ext cx="310896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596128" y="338328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3849624" y="33649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3474720" y="32918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849624" y="27934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/>
          <p:cNvSpPr txBox="1"/>
          <p:nvPr/>
        </p:nvSpPr>
        <p:spPr>
          <a:xfrm>
            <a:off x="3474720" y="27203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4831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849624" y="2221992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3474720" y="2148840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 i="0">
                <a:solidFill>
                  <a:srgbClr val="222222"/>
                </a:solidFill>
                <a:latin typeface="Arial"/>
              </a:rPr>
              <a:t>9663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3886200" y="3131152"/>
            <a:ext cx="1874520" cy="101248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3886200" y="2541526"/>
            <a:ext cx="1874520" cy="708734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886200" y="2989098"/>
            <a:ext cx="1874520" cy="62925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3886200" y="2786247"/>
            <a:ext cx="1874520" cy="42060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3886200" y="3131980"/>
            <a:ext cx="1874520" cy="106452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3886200" y="2325901"/>
            <a:ext cx="1874520" cy="555444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3886200" y="3335540"/>
            <a:ext cx="1874520" cy="0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3886200" y="2430934"/>
            <a:ext cx="1874520" cy="744692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3886200" y="3249787"/>
            <a:ext cx="1874520" cy="103022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3886200" y="3023754"/>
            <a:ext cx="1874520" cy="165119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3886200" y="3228852"/>
            <a:ext cx="1874520" cy="134366"/>
          </a:xfrm>
          <a:prstGeom prst="line">
            <a:avLst/>
          </a:prstGeom>
          <a:ln w="10160">
            <a:solidFill>
              <a:srgbClr val="E8B5A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3886200" y="2935872"/>
            <a:ext cx="1874520" cy="230528"/>
          </a:xfrm>
          <a:prstGeom prst="line">
            <a:avLst/>
          </a:prstGeom>
          <a:ln w="10160">
            <a:solidFill>
              <a:srgbClr val="A1CDC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Oval 198"/>
          <p:cNvSpPr/>
          <p:nvPr/>
        </p:nvSpPr>
        <p:spPr>
          <a:xfrm>
            <a:off x="3864200" y="310915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5738720" y="321040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3864200" y="322826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5738720" y="251952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3864200" y="303002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5738720" y="296709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3864200" y="318485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738720" y="276424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3864200" y="321643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738720" y="310998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3864200" y="285934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738720" y="230390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3864200" y="331354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738720" y="331354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3864200" y="315362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738720" y="240893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3864200" y="333080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738720" y="322778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864200" y="300175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5738720" y="316687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3864200" y="320685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5738720" y="334121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864200" y="314440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5738720" y="291387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3" name="Connector 222"/>
          <p:cNvCxnSpPr/>
          <p:nvPr/>
        </p:nvCxnSpPr>
        <p:spPr>
          <a:xfrm flipV="1">
            <a:off x="3886200" y="2962485"/>
            <a:ext cx="1874520" cy="244544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Diamond 223"/>
          <p:cNvSpPr/>
          <p:nvPr/>
        </p:nvSpPr>
        <p:spPr>
          <a:xfrm>
            <a:off x="3846200" y="3167029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Diamond 224"/>
          <p:cNvSpPr/>
          <p:nvPr/>
        </p:nvSpPr>
        <p:spPr>
          <a:xfrm>
            <a:off x="5720720" y="2922485"/>
            <a:ext cx="80000" cy="80000"/>
          </a:xfrm>
          <a:prstGeom prst="diamond">
            <a:avLst/>
          </a:prstGeom>
          <a:solidFill>
            <a:srgbClr val="0A7D6E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6" name="Connector 225"/>
          <p:cNvCxnSpPr/>
          <p:nvPr/>
        </p:nvCxnSpPr>
        <p:spPr>
          <a:xfrm>
            <a:off x="3886200" y="3169002"/>
            <a:ext cx="1874520" cy="41634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Diamond 226"/>
          <p:cNvSpPr/>
          <p:nvPr/>
        </p:nvSpPr>
        <p:spPr>
          <a:xfrm>
            <a:off x="3846200" y="3129002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Diamond 227"/>
          <p:cNvSpPr/>
          <p:nvPr/>
        </p:nvSpPr>
        <p:spPr>
          <a:xfrm>
            <a:off x="5720720" y="3170636"/>
            <a:ext cx="80000" cy="80000"/>
          </a:xfrm>
          <a:prstGeom prst="diamond">
            <a:avLst/>
          </a:prstGeom>
          <a:solidFill>
            <a:srgbClr val="C53E1F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383280" y="3502152"/>
            <a:ext cx="24688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IGH clonotype count (B-cell)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343400" y="2249424"/>
            <a:ext cx="137160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370832" y="227685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0A7D6E"/>
                </a:solidFill>
                <a:latin typeface="Arial"/>
              </a:rPr>
              <a:t>g Δ +1424  [+0.00, +5992.00]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70832" y="2414016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C53E1F"/>
                </a:solidFill>
                <a:latin typeface="Arial"/>
              </a:rPr>
              <a:t>b Δ +8  [-1396.00, +3556.00]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370832" y="2551175"/>
            <a:ext cx="1298448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0" i="0">
                <a:solidFill>
                  <a:srgbClr val="222222"/>
                </a:solidFill>
                <a:latin typeface="Arial"/>
              </a:rPr>
              <a:t>MW P = 0.240</a:t>
            </a:r>
          </a:p>
        </p:txBody>
      </p:sp>
      <p:sp>
        <p:nvSpPr>
          <p:cNvPr id="234" name="Diamond 233"/>
          <p:cNvSpPr/>
          <p:nvPr/>
        </p:nvSpPr>
        <p:spPr>
          <a:xfrm>
            <a:off x="610080" y="3773903"/>
            <a:ext cx="60000" cy="6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04672" y="3744039"/>
            <a:ext cx="11887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good median (n=6)</a:t>
            </a:r>
          </a:p>
        </p:txBody>
      </p:sp>
      <p:sp>
        <p:nvSpPr>
          <p:cNvPr id="236" name="Diamond 235"/>
          <p:cNvSpPr/>
          <p:nvPr/>
        </p:nvSpPr>
        <p:spPr>
          <a:xfrm>
            <a:off x="2347440" y="3773903"/>
            <a:ext cx="60000" cy="60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542032" y="3744039"/>
            <a:ext cx="11887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bad median (n=6)</a:t>
            </a:r>
          </a:p>
        </p:txBody>
      </p:sp>
      <p:sp>
        <p:nvSpPr>
          <p:cNvPr id="238" name="Oval 237"/>
          <p:cNvSpPr/>
          <p:nvPr/>
        </p:nvSpPr>
        <p:spPr>
          <a:xfrm>
            <a:off x="4092800" y="378190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4224528" y="3744039"/>
            <a:ext cx="16459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individual subject pre/post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286000" y="3474720"/>
            <a:ext cx="27889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467886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303294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−1.0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74173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09581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80460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15868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86747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22155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93034" y="3474720"/>
            <a:ext cx="0" cy="36576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28442" y="3520440"/>
            <a:ext cx="329184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675888"/>
            <a:ext cx="27889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Within-group median Δ  (normalised to per-feature |max CI|)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80460" y="411480"/>
            <a:ext cx="0" cy="306324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4592" y="49936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SBS5 (clock-like)  mutations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76272" y="54508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467886" y="508508"/>
            <a:ext cx="67736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67886" y="4719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45255" y="4719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3014904" y="47850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136892" y="654812"/>
            <a:ext cx="61883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36892" y="6182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55723" y="6182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iamond 24"/>
          <p:cNvSpPr/>
          <p:nvPr/>
        </p:nvSpPr>
        <p:spPr>
          <a:xfrm>
            <a:off x="3407945" y="62481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7193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8166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" y="83972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3E5286"/>
                </a:solidFill>
                <a:latin typeface="Arial"/>
              </a:rPr>
              <a:t>Missense mutations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76272" y="885444"/>
            <a:ext cx="54864" cy="73152"/>
          </a:xfrm>
          <a:prstGeom prst="rect">
            <a:avLst/>
          </a:prstGeom>
          <a:solidFill>
            <a:srgbClr val="3E5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467886" y="848868"/>
            <a:ext cx="1404033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467886" y="8122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871919" y="8122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2767621" y="81886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276269" y="995172"/>
            <a:ext cx="414828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276269" y="9585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691097" y="9585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iamond 36"/>
          <p:cNvSpPr/>
          <p:nvPr/>
        </p:nvSpPr>
        <p:spPr>
          <a:xfrm>
            <a:off x="3639823" y="96517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81229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4592" y="118008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MHC-I neoantigen binders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76272" y="122580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467886" y="1189228"/>
            <a:ext cx="974321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67886" y="11526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442207" y="11526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3046110" y="115922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127441" y="1335532"/>
            <a:ext cx="454231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127441" y="12989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81672" y="12989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Diamond 47"/>
          <p:cNvSpPr/>
          <p:nvPr/>
        </p:nvSpPr>
        <p:spPr>
          <a:xfrm>
            <a:off x="3457727" y="1305532"/>
            <a:ext cx="60000" cy="60000"/>
          </a:xfrm>
          <a:prstGeom prst="diamond">
            <a:avLst/>
          </a:prstGeom>
          <a:solidFill>
            <a:srgbClr val="C53E1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115265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126238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g·b·CI excludes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" y="152044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6A4C93"/>
                </a:solidFill>
                <a:latin typeface="Arial"/>
              </a:rPr>
              <a:t>Neoantigen sites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76272" y="1566164"/>
            <a:ext cx="54864" cy="7315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467886" y="1529588"/>
            <a:ext cx="854314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467886" y="14930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22200" y="14930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2837484" y="149958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3060394" y="1675892"/>
            <a:ext cx="537391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060394" y="16393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597785" y="16393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Diamond 59"/>
          <p:cNvSpPr/>
          <p:nvPr/>
        </p:nvSpPr>
        <p:spPr>
          <a:xfrm>
            <a:off x="3423102" y="1645892"/>
            <a:ext cx="60000" cy="60000"/>
          </a:xfrm>
          <a:prstGeom prst="diamond">
            <a:avLst/>
          </a:prstGeom>
          <a:solidFill>
            <a:srgbClr val="C53E1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20640" y="149301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20640" y="160274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g·b·CI excludes 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4592" y="186080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MHC-II signature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76272" y="190652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021496" y="1869948"/>
            <a:ext cx="871538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021496" y="183337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93034" y="183337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Diamond 67"/>
          <p:cNvSpPr/>
          <p:nvPr/>
        </p:nvSpPr>
        <p:spPr>
          <a:xfrm>
            <a:off x="4424739" y="183994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3017334" y="2016252"/>
            <a:ext cx="131362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017334" y="197967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330955" y="197967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Diamond 71"/>
          <p:cNvSpPr/>
          <p:nvPr/>
        </p:nvSpPr>
        <p:spPr>
          <a:xfrm>
            <a:off x="3879712" y="198625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20640" y="183337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0" y="194310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4592" y="220116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A7D6E"/>
                </a:solidFill>
                <a:latin typeface="Arial"/>
              </a:rPr>
              <a:t>CD8 exhaustion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76272" y="224688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852616" y="2210308"/>
            <a:ext cx="1040418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852616" y="21737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893034" y="217373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Diamond 79"/>
          <p:cNvSpPr/>
          <p:nvPr/>
        </p:nvSpPr>
        <p:spPr>
          <a:xfrm>
            <a:off x="4397465" y="218030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141538" y="2356612"/>
            <a:ext cx="718563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141538" y="23200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860101" y="232003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Diamond 83"/>
          <p:cNvSpPr/>
          <p:nvPr/>
        </p:nvSpPr>
        <p:spPr>
          <a:xfrm>
            <a:off x="3577107" y="232661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20640" y="217373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0" y="228346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592" y="254152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D4A300"/>
                </a:solidFill>
                <a:latin typeface="Arial"/>
              </a:rPr>
              <a:t>Treg signature  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176272" y="2587244"/>
            <a:ext cx="54864" cy="7315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914707" y="2550668"/>
            <a:ext cx="978327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914707" y="25140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93034" y="251409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Diamond 91"/>
          <p:cNvSpPr/>
          <p:nvPr/>
        </p:nvSpPr>
        <p:spPr>
          <a:xfrm>
            <a:off x="4515797" y="2520668"/>
            <a:ext cx="60000" cy="60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3384206" y="2696972"/>
            <a:ext cx="902541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384206" y="26603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4286747" y="266039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Diamond 95"/>
          <p:cNvSpPr/>
          <p:nvPr/>
        </p:nvSpPr>
        <p:spPr>
          <a:xfrm>
            <a:off x="3669751" y="266697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20640" y="251409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1.76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20640" y="2623820"/>
            <a:ext cx="73152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0A7D6E"/>
                </a:solidFill>
                <a:latin typeface="Arial"/>
              </a:rPr>
              <a:t>g·CI excludes 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4592" y="288188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A6502C"/>
                </a:solidFill>
                <a:latin typeface="Arial"/>
              </a:rPr>
              <a:t>IGH clonotypes (B-cell)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176272" y="2927604"/>
            <a:ext cx="54864" cy="73152"/>
          </a:xfrm>
          <a:prstGeom prst="rect">
            <a:avLst/>
          </a:prstGeom>
          <a:solidFill>
            <a:srgbClr val="A65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680460" y="2891028"/>
            <a:ext cx="1212574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80460" y="28544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893034" y="285445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Diamond 103"/>
          <p:cNvSpPr/>
          <p:nvPr/>
        </p:nvSpPr>
        <p:spPr>
          <a:xfrm>
            <a:off x="3938730" y="286102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397958" y="3037332"/>
            <a:ext cx="1002114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397958" y="30007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400072" y="300075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Diamond 107"/>
          <p:cNvSpPr/>
          <p:nvPr/>
        </p:nvSpPr>
        <p:spPr>
          <a:xfrm>
            <a:off x="3651978" y="300733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20640" y="285445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5992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4592" y="3222244"/>
            <a:ext cx="208483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555555"/>
                </a:solidFill>
                <a:latin typeface="Arial"/>
              </a:rPr>
              <a:t>TRB Shannon diversity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176272" y="3267964"/>
            <a:ext cx="54864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92918" y="3231388"/>
            <a:ext cx="1900116" cy="0"/>
          </a:xfrm>
          <a:prstGeom prst="line">
            <a:avLst/>
          </a:prstGeom>
          <a:ln w="1143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92918" y="31948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893034" y="3194812"/>
            <a:ext cx="0" cy="7315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Diamond 114"/>
          <p:cNvSpPr/>
          <p:nvPr/>
        </p:nvSpPr>
        <p:spPr>
          <a:xfrm>
            <a:off x="4069236" y="3201388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530390" y="3377692"/>
            <a:ext cx="1787609" cy="0"/>
          </a:xfrm>
          <a:prstGeom prst="line">
            <a:avLst/>
          </a:prstGeom>
          <a:ln w="1143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530390" y="33411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317999" y="3341116"/>
            <a:ext cx="0" cy="7315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Diamond 118"/>
          <p:cNvSpPr/>
          <p:nvPr/>
        </p:nvSpPr>
        <p:spPr>
          <a:xfrm>
            <a:off x="3664211" y="3347692"/>
            <a:ext cx="60000" cy="60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20640" y="3194812"/>
            <a:ext cx="7315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777777"/>
                </a:solidFill>
                <a:latin typeface="Arial"/>
              </a:rPr>
              <a:t>scale = 0.97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82880" y="3639312"/>
            <a:ext cx="274320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Diamond 121"/>
          <p:cNvSpPr/>
          <p:nvPr/>
        </p:nvSpPr>
        <p:spPr>
          <a:xfrm>
            <a:off x="296040" y="3615312"/>
            <a:ext cx="48000" cy="48000"/>
          </a:xfrm>
          <a:prstGeom prst="diamond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02920" y="3574448"/>
            <a:ext cx="1554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good Δ filled diamond = CI excl. 0 (robust)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82880" y="3785616"/>
            <a:ext cx="274320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iamond 124"/>
          <p:cNvSpPr/>
          <p:nvPr/>
        </p:nvSpPr>
        <p:spPr>
          <a:xfrm>
            <a:off x="296040" y="3761616"/>
            <a:ext cx="48000" cy="4800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02920" y="3703320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bad Δ hollow diamond = CI spans 0 (exploratory)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37160" y="3950208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222222"/>
                </a:solidFill>
                <a:latin typeface="Arial"/>
              </a:rPr>
              <a:t>Within-good CIs excluding zero: SBS5, neo_binders, neo_sites, MHC-II, CD8 exhaustion, Treg. Consistent cascade within responders; between-group only Treg.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68680" y="411480"/>
            <a:ext cx="0" cy="141732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68680" y="560211"/>
            <a:ext cx="4846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32104" y="18288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175564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-167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32104" y="11201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80" y="104698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-74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32104" y="560211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487059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32104" y="485846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412694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+9.8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" y="4114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33832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1951" y="560211"/>
            <a:ext cx="259624" cy="1103121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035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58117" y="560211"/>
            <a:ext cx="259624" cy="105747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8201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4282" y="560211"/>
            <a:ext cx="259624" cy="67708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4366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0448" y="560211"/>
            <a:ext cx="259624" cy="57818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70532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96614" y="560211"/>
            <a:ext cx="259624" cy="49450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16698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42779" y="560211"/>
            <a:ext cx="259624" cy="49450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2863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88945" y="560211"/>
            <a:ext cx="259624" cy="48689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9029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5111" y="560211"/>
            <a:ext cx="259624" cy="31952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195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81277" y="560211"/>
            <a:ext cx="259624" cy="281486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1361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7442" y="560211"/>
            <a:ext cx="259624" cy="220624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47526" y="42305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3608" y="537388"/>
            <a:ext cx="259624" cy="2282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93692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19774" y="491742"/>
            <a:ext cx="259624" cy="68469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9858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65939" y="476526"/>
            <a:ext cx="259624" cy="83685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86023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12105" y="430880"/>
            <a:ext cx="259624" cy="129331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32189" y="578499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1956816"/>
            <a:ext cx="4846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SBS5 (clock-like) mutations  ·  Δ (post − pre)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68680" y="2057400"/>
            <a:ext cx="0" cy="141732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8680" y="2146513"/>
            <a:ext cx="484632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32104" y="34747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11480" y="340156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-720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" y="27660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11480" y="269290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-336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2104" y="2146513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1480" y="2073361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2104" y="2101956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1480" y="2028804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+24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32104" y="20574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11480" y="1984248"/>
            <a:ext cx="4114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+48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752" y="2146513"/>
            <a:ext cx="330430" cy="115496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9239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64327" y="2146513"/>
            <a:ext cx="330430" cy="902199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419814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04901" y="2146513"/>
            <a:ext cx="330430" cy="592241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60388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45476" y="2146513"/>
            <a:ext cx="330430" cy="575636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00963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86050" y="2146513"/>
            <a:ext cx="330430" cy="46124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1537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126625" y="2146513"/>
            <a:ext cx="330430" cy="249073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82112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67200" y="2146513"/>
            <a:ext cx="330430" cy="226933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22687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07774" y="2146513"/>
            <a:ext cx="330430" cy="118079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63261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448349" y="2146513"/>
            <a:ext cx="330430" cy="94094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03836" y="2009353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88923" y="2113303"/>
            <a:ext cx="330430" cy="33210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44410" y="216480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29498" y="2069023"/>
            <a:ext cx="330430" cy="77490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84985" y="2164801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" y="3602736"/>
            <a:ext cx="4846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MHC-I neoantigen binders  ·  Δ (post − pre)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457200"/>
            <a:ext cx="164592" cy="11887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40680" y="594360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good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0680" y="777240"/>
            <a:ext cx="164592" cy="118872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905256"/>
            <a:ext cx="45720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bad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7160" y="3730752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Per-subject Δ sorted ascending. Subjects #s shown near bar bases. Within good: SBS5 Δ median −76 (CI [−145, −64]),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7160" y="3867912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neo_binders Δ median −312 (CI [−626, −123]).  Within-good CIs exclude zero; between-group CIs span zero → exploratory.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sp>
        <p:nvSpPr>
          <p:cNvPr id="3" name="Freeform 2"/>
          <p:cNvSpPr/>
          <p:nvPr/>
        </p:nvSpPr>
        <p:spPr>
          <a:xfrm>
            <a:off x="1463040" y="845820"/>
            <a:ext cx="2926080" cy="685800"/>
          </a:xfrm>
          <a:custGeom>
            <a:avLst/>
            <a:gdLst/>
            <a:ahLst/>
            <a:cxnLst/>
            <a:rect l="l" t="t" r="r" b="b"/>
            <a:pathLst>
              <a:path w="2926080" h="685800">
                <a:moveTo>
                  <a:pt x="0" y="0"/>
                </a:moveTo>
                <a:lnTo>
                  <a:pt x="127221" y="11182"/>
                </a:lnTo>
                <a:lnTo>
                  <a:pt x="254442" y="22363"/>
                </a:lnTo>
                <a:lnTo>
                  <a:pt x="381663" y="33545"/>
                </a:lnTo>
                <a:lnTo>
                  <a:pt x="508883" y="44726"/>
                </a:lnTo>
                <a:lnTo>
                  <a:pt x="636104" y="55908"/>
                </a:lnTo>
                <a:lnTo>
                  <a:pt x="763325" y="67089"/>
                </a:lnTo>
                <a:lnTo>
                  <a:pt x="890546" y="78271"/>
                </a:lnTo>
                <a:lnTo>
                  <a:pt x="1017767" y="89452"/>
                </a:lnTo>
                <a:lnTo>
                  <a:pt x="1144988" y="100634"/>
                </a:lnTo>
                <a:lnTo>
                  <a:pt x="1272209" y="111815"/>
                </a:lnTo>
                <a:lnTo>
                  <a:pt x="1399430" y="122997"/>
                </a:lnTo>
                <a:lnTo>
                  <a:pt x="1526650" y="134178"/>
                </a:lnTo>
                <a:lnTo>
                  <a:pt x="1653871" y="145360"/>
                </a:lnTo>
                <a:lnTo>
                  <a:pt x="1781092" y="156541"/>
                </a:lnTo>
                <a:lnTo>
                  <a:pt x="1908313" y="167723"/>
                </a:lnTo>
                <a:lnTo>
                  <a:pt x="2035534" y="178904"/>
                </a:lnTo>
                <a:lnTo>
                  <a:pt x="2162755" y="190086"/>
                </a:lnTo>
                <a:lnTo>
                  <a:pt x="2289976" y="201267"/>
                </a:lnTo>
                <a:lnTo>
                  <a:pt x="2417197" y="212449"/>
                </a:lnTo>
                <a:lnTo>
                  <a:pt x="2544417" y="223630"/>
                </a:lnTo>
                <a:lnTo>
                  <a:pt x="2671638" y="234812"/>
                </a:lnTo>
                <a:lnTo>
                  <a:pt x="2798859" y="245993"/>
                </a:lnTo>
                <a:lnTo>
                  <a:pt x="2926080" y="257175"/>
                </a:lnTo>
                <a:lnTo>
                  <a:pt x="2926080" y="685800"/>
                </a:lnTo>
                <a:lnTo>
                  <a:pt x="2798859" y="674618"/>
                </a:lnTo>
                <a:lnTo>
                  <a:pt x="2671638" y="663437"/>
                </a:lnTo>
                <a:lnTo>
                  <a:pt x="2544417" y="652255"/>
                </a:lnTo>
                <a:lnTo>
                  <a:pt x="2417197" y="641074"/>
                </a:lnTo>
                <a:lnTo>
                  <a:pt x="2289976" y="629892"/>
                </a:lnTo>
                <a:lnTo>
                  <a:pt x="2162755" y="618711"/>
                </a:lnTo>
                <a:lnTo>
                  <a:pt x="2035534" y="607529"/>
                </a:lnTo>
                <a:lnTo>
                  <a:pt x="1908313" y="596348"/>
                </a:lnTo>
                <a:lnTo>
                  <a:pt x="1781092" y="585166"/>
                </a:lnTo>
                <a:lnTo>
                  <a:pt x="1653871" y="573985"/>
                </a:lnTo>
                <a:lnTo>
                  <a:pt x="1526650" y="562803"/>
                </a:lnTo>
                <a:lnTo>
                  <a:pt x="1399430" y="551622"/>
                </a:lnTo>
                <a:lnTo>
                  <a:pt x="1272209" y="540440"/>
                </a:lnTo>
                <a:lnTo>
                  <a:pt x="1144988" y="529259"/>
                </a:lnTo>
                <a:lnTo>
                  <a:pt x="1017767" y="518077"/>
                </a:lnTo>
                <a:lnTo>
                  <a:pt x="890546" y="506896"/>
                </a:lnTo>
                <a:lnTo>
                  <a:pt x="763325" y="495714"/>
                </a:lnTo>
                <a:lnTo>
                  <a:pt x="636104" y="484533"/>
                </a:lnTo>
                <a:lnTo>
                  <a:pt x="508883" y="473351"/>
                </a:lnTo>
                <a:lnTo>
                  <a:pt x="381663" y="462170"/>
                </a:lnTo>
                <a:lnTo>
                  <a:pt x="254442" y="450988"/>
                </a:lnTo>
                <a:lnTo>
                  <a:pt x="127221" y="439807"/>
                </a:lnTo>
                <a:lnTo>
                  <a:pt x="0" y="428625"/>
                </a:lnTo>
                <a:close/>
              </a:path>
            </a:pathLst>
          </a:cu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463040" y="1068705"/>
            <a:ext cx="2926080" cy="240030"/>
          </a:xfrm>
          <a:custGeom>
            <a:avLst/>
            <a:gdLst/>
            <a:ahLst/>
            <a:cxnLst/>
            <a:rect l="l" t="t" r="r" b="b"/>
            <a:pathLst>
              <a:path w="2926080" h="240030">
                <a:moveTo>
                  <a:pt x="0" y="0"/>
                </a:moveTo>
                <a:lnTo>
                  <a:pt x="127221" y="8709"/>
                </a:lnTo>
                <a:lnTo>
                  <a:pt x="254442" y="17095"/>
                </a:lnTo>
                <a:lnTo>
                  <a:pt x="381663" y="25157"/>
                </a:lnTo>
                <a:lnTo>
                  <a:pt x="508883" y="32896"/>
                </a:lnTo>
                <a:lnTo>
                  <a:pt x="636104" y="40312"/>
                </a:lnTo>
                <a:lnTo>
                  <a:pt x="763325" y="47405"/>
                </a:lnTo>
                <a:lnTo>
                  <a:pt x="890546" y="54174"/>
                </a:lnTo>
                <a:lnTo>
                  <a:pt x="1017767" y="60620"/>
                </a:lnTo>
                <a:lnTo>
                  <a:pt x="1144988" y="66743"/>
                </a:lnTo>
                <a:lnTo>
                  <a:pt x="1272209" y="72542"/>
                </a:lnTo>
                <a:lnTo>
                  <a:pt x="1399430" y="78018"/>
                </a:lnTo>
                <a:lnTo>
                  <a:pt x="1526650" y="83171"/>
                </a:lnTo>
                <a:lnTo>
                  <a:pt x="1653871" y="88001"/>
                </a:lnTo>
                <a:lnTo>
                  <a:pt x="1781092" y="92507"/>
                </a:lnTo>
                <a:lnTo>
                  <a:pt x="1908313" y="96690"/>
                </a:lnTo>
                <a:lnTo>
                  <a:pt x="2035534" y="100549"/>
                </a:lnTo>
                <a:lnTo>
                  <a:pt x="2162755" y="104086"/>
                </a:lnTo>
                <a:lnTo>
                  <a:pt x="2289976" y="107299"/>
                </a:lnTo>
                <a:lnTo>
                  <a:pt x="2417197" y="110189"/>
                </a:lnTo>
                <a:lnTo>
                  <a:pt x="2544417" y="112755"/>
                </a:lnTo>
                <a:lnTo>
                  <a:pt x="2671638" y="114998"/>
                </a:lnTo>
                <a:lnTo>
                  <a:pt x="2798859" y="116918"/>
                </a:lnTo>
                <a:lnTo>
                  <a:pt x="2926080" y="118515"/>
                </a:lnTo>
                <a:lnTo>
                  <a:pt x="2926080" y="240030"/>
                </a:lnTo>
                <a:lnTo>
                  <a:pt x="2798859" y="231321"/>
                </a:lnTo>
                <a:lnTo>
                  <a:pt x="2671638" y="222935"/>
                </a:lnTo>
                <a:lnTo>
                  <a:pt x="2544417" y="214873"/>
                </a:lnTo>
                <a:lnTo>
                  <a:pt x="2417197" y="207134"/>
                </a:lnTo>
                <a:lnTo>
                  <a:pt x="2289976" y="199718"/>
                </a:lnTo>
                <a:lnTo>
                  <a:pt x="2162755" y="192625"/>
                </a:lnTo>
                <a:lnTo>
                  <a:pt x="2035534" y="185856"/>
                </a:lnTo>
                <a:lnTo>
                  <a:pt x="1908313" y="179410"/>
                </a:lnTo>
                <a:lnTo>
                  <a:pt x="1781092" y="173287"/>
                </a:lnTo>
                <a:lnTo>
                  <a:pt x="1653871" y="167488"/>
                </a:lnTo>
                <a:lnTo>
                  <a:pt x="1526650" y="162012"/>
                </a:lnTo>
                <a:lnTo>
                  <a:pt x="1399430" y="156859"/>
                </a:lnTo>
                <a:lnTo>
                  <a:pt x="1272209" y="152029"/>
                </a:lnTo>
                <a:lnTo>
                  <a:pt x="1144988" y="147523"/>
                </a:lnTo>
                <a:lnTo>
                  <a:pt x="1017767" y="143340"/>
                </a:lnTo>
                <a:lnTo>
                  <a:pt x="890546" y="139481"/>
                </a:lnTo>
                <a:lnTo>
                  <a:pt x="763325" y="135944"/>
                </a:lnTo>
                <a:lnTo>
                  <a:pt x="636104" y="132731"/>
                </a:lnTo>
                <a:lnTo>
                  <a:pt x="508883" y="129841"/>
                </a:lnTo>
                <a:lnTo>
                  <a:pt x="381663" y="127275"/>
                </a:lnTo>
                <a:lnTo>
                  <a:pt x="254442" y="125032"/>
                </a:lnTo>
                <a:lnTo>
                  <a:pt x="127221" y="123112"/>
                </a:lnTo>
                <a:lnTo>
                  <a:pt x="0" y="121515"/>
                </a:lnTo>
                <a:close/>
              </a:path>
            </a:pathLst>
          </a:custGeom>
          <a:solidFill>
            <a:srgbClr val="5FA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463040" y="1226439"/>
            <a:ext cx="2926080" cy="226314"/>
          </a:xfrm>
          <a:custGeom>
            <a:avLst/>
            <a:gdLst/>
            <a:ahLst/>
            <a:cxnLst/>
            <a:rect l="l" t="t" r="r" b="b"/>
            <a:pathLst>
              <a:path w="2926080" h="226314">
                <a:moveTo>
                  <a:pt x="0" y="75438"/>
                </a:moveTo>
                <a:lnTo>
                  <a:pt x="127221" y="73335"/>
                </a:lnTo>
                <a:lnTo>
                  <a:pt x="254442" y="71124"/>
                </a:lnTo>
                <a:lnTo>
                  <a:pt x="381663" y="68807"/>
                </a:lnTo>
                <a:lnTo>
                  <a:pt x="508883" y="66383"/>
                </a:lnTo>
                <a:lnTo>
                  <a:pt x="636104" y="63851"/>
                </a:lnTo>
                <a:lnTo>
                  <a:pt x="763325" y="61213"/>
                </a:lnTo>
                <a:lnTo>
                  <a:pt x="890546" y="58468"/>
                </a:lnTo>
                <a:lnTo>
                  <a:pt x="1017767" y="55616"/>
                </a:lnTo>
                <a:lnTo>
                  <a:pt x="1144988" y="52657"/>
                </a:lnTo>
                <a:lnTo>
                  <a:pt x="1272209" y="49591"/>
                </a:lnTo>
                <a:lnTo>
                  <a:pt x="1399430" y="46418"/>
                </a:lnTo>
                <a:lnTo>
                  <a:pt x="1526650" y="43138"/>
                </a:lnTo>
                <a:lnTo>
                  <a:pt x="1653871" y="39751"/>
                </a:lnTo>
                <a:lnTo>
                  <a:pt x="1781092" y="36257"/>
                </a:lnTo>
                <a:lnTo>
                  <a:pt x="1908313" y="32657"/>
                </a:lnTo>
                <a:lnTo>
                  <a:pt x="2035534" y="28949"/>
                </a:lnTo>
                <a:lnTo>
                  <a:pt x="2162755" y="25134"/>
                </a:lnTo>
                <a:lnTo>
                  <a:pt x="2289976" y="21212"/>
                </a:lnTo>
                <a:lnTo>
                  <a:pt x="2417197" y="17184"/>
                </a:lnTo>
                <a:lnTo>
                  <a:pt x="2544417" y="13048"/>
                </a:lnTo>
                <a:lnTo>
                  <a:pt x="2671638" y="8806"/>
                </a:lnTo>
                <a:lnTo>
                  <a:pt x="2798859" y="4456"/>
                </a:lnTo>
                <a:lnTo>
                  <a:pt x="2926080" y="0"/>
                </a:lnTo>
                <a:lnTo>
                  <a:pt x="2926080" y="226314"/>
                </a:lnTo>
                <a:lnTo>
                  <a:pt x="2798859" y="216118"/>
                </a:lnTo>
                <a:lnTo>
                  <a:pt x="2671638" y="206028"/>
                </a:lnTo>
                <a:lnTo>
                  <a:pt x="2544417" y="196046"/>
                </a:lnTo>
                <a:lnTo>
                  <a:pt x="2417197" y="186171"/>
                </a:lnTo>
                <a:lnTo>
                  <a:pt x="2289976" y="176402"/>
                </a:lnTo>
                <a:lnTo>
                  <a:pt x="2162755" y="166741"/>
                </a:lnTo>
                <a:lnTo>
                  <a:pt x="2035534" y="157186"/>
                </a:lnTo>
                <a:lnTo>
                  <a:pt x="1908313" y="147739"/>
                </a:lnTo>
                <a:lnTo>
                  <a:pt x="1781092" y="138398"/>
                </a:lnTo>
                <a:lnTo>
                  <a:pt x="1653871" y="129164"/>
                </a:lnTo>
                <a:lnTo>
                  <a:pt x="1526650" y="120038"/>
                </a:lnTo>
                <a:lnTo>
                  <a:pt x="1399430" y="111018"/>
                </a:lnTo>
                <a:lnTo>
                  <a:pt x="1272209" y="102105"/>
                </a:lnTo>
                <a:lnTo>
                  <a:pt x="1144988" y="93299"/>
                </a:lnTo>
                <a:lnTo>
                  <a:pt x="1017767" y="84600"/>
                </a:lnTo>
                <a:lnTo>
                  <a:pt x="890546" y="76008"/>
                </a:lnTo>
                <a:lnTo>
                  <a:pt x="763325" y="67523"/>
                </a:lnTo>
                <a:lnTo>
                  <a:pt x="636104" y="59145"/>
                </a:lnTo>
                <a:lnTo>
                  <a:pt x="508883" y="50874"/>
                </a:lnTo>
                <a:lnTo>
                  <a:pt x="381663" y="42710"/>
                </a:lnTo>
                <a:lnTo>
                  <a:pt x="254442" y="34653"/>
                </a:lnTo>
                <a:lnTo>
                  <a:pt x="127221" y="26703"/>
                </a:lnTo>
                <a:lnTo>
                  <a:pt x="0" y="18859"/>
                </a:lnTo>
                <a:close/>
              </a:path>
            </a:pathLst>
          </a:cu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463040" y="938403"/>
            <a:ext cx="2926080" cy="215513"/>
          </a:xfrm>
          <a:custGeom>
            <a:avLst/>
            <a:gdLst/>
            <a:ahLst/>
            <a:cxnLst/>
            <a:rect l="l" t="t" r="r" b="b"/>
            <a:pathLst>
              <a:path w="2926080" h="215513">
                <a:moveTo>
                  <a:pt x="0" y="0"/>
                </a:moveTo>
                <a:lnTo>
                  <a:pt x="127221" y="8682"/>
                </a:lnTo>
                <a:lnTo>
                  <a:pt x="254442" y="17328"/>
                </a:lnTo>
                <a:lnTo>
                  <a:pt x="381663" y="25940"/>
                </a:lnTo>
                <a:lnTo>
                  <a:pt x="508883" y="34517"/>
                </a:lnTo>
                <a:lnTo>
                  <a:pt x="636104" y="43059"/>
                </a:lnTo>
                <a:lnTo>
                  <a:pt x="763325" y="51565"/>
                </a:lnTo>
                <a:lnTo>
                  <a:pt x="890546" y="60037"/>
                </a:lnTo>
                <a:lnTo>
                  <a:pt x="1017767" y="68474"/>
                </a:lnTo>
                <a:lnTo>
                  <a:pt x="1144988" y="76875"/>
                </a:lnTo>
                <a:lnTo>
                  <a:pt x="1272209" y="85242"/>
                </a:lnTo>
                <a:lnTo>
                  <a:pt x="1399430" y="93574"/>
                </a:lnTo>
                <a:lnTo>
                  <a:pt x="1526650" y="101870"/>
                </a:lnTo>
                <a:lnTo>
                  <a:pt x="1653871" y="110132"/>
                </a:lnTo>
                <a:lnTo>
                  <a:pt x="1781092" y="118359"/>
                </a:lnTo>
                <a:lnTo>
                  <a:pt x="1908313" y="126551"/>
                </a:lnTo>
                <a:lnTo>
                  <a:pt x="2035534" y="134707"/>
                </a:lnTo>
                <a:lnTo>
                  <a:pt x="2162755" y="142829"/>
                </a:lnTo>
                <a:lnTo>
                  <a:pt x="2289976" y="150916"/>
                </a:lnTo>
                <a:lnTo>
                  <a:pt x="2417197" y="158967"/>
                </a:lnTo>
                <a:lnTo>
                  <a:pt x="2544417" y="166984"/>
                </a:lnTo>
                <a:lnTo>
                  <a:pt x="2671638" y="174966"/>
                </a:lnTo>
                <a:lnTo>
                  <a:pt x="2798859" y="182912"/>
                </a:lnTo>
                <a:lnTo>
                  <a:pt x="2926080" y="190824"/>
                </a:lnTo>
                <a:lnTo>
                  <a:pt x="2926080" y="123444"/>
                </a:lnTo>
                <a:lnTo>
                  <a:pt x="2798859" y="127062"/>
                </a:lnTo>
                <a:lnTo>
                  <a:pt x="2671638" y="130715"/>
                </a:lnTo>
                <a:lnTo>
                  <a:pt x="2544417" y="134403"/>
                </a:lnTo>
                <a:lnTo>
                  <a:pt x="2417197" y="138126"/>
                </a:lnTo>
                <a:lnTo>
                  <a:pt x="2289976" y="141884"/>
                </a:lnTo>
                <a:lnTo>
                  <a:pt x="2162755" y="145677"/>
                </a:lnTo>
                <a:lnTo>
                  <a:pt x="2035534" y="149505"/>
                </a:lnTo>
                <a:lnTo>
                  <a:pt x="1908313" y="153368"/>
                </a:lnTo>
                <a:lnTo>
                  <a:pt x="1781092" y="157266"/>
                </a:lnTo>
                <a:lnTo>
                  <a:pt x="1653871" y="161199"/>
                </a:lnTo>
                <a:lnTo>
                  <a:pt x="1526650" y="165167"/>
                </a:lnTo>
                <a:lnTo>
                  <a:pt x="1399430" y="169170"/>
                </a:lnTo>
                <a:lnTo>
                  <a:pt x="1272209" y="173208"/>
                </a:lnTo>
                <a:lnTo>
                  <a:pt x="1144988" y="177281"/>
                </a:lnTo>
                <a:lnTo>
                  <a:pt x="1017767" y="181389"/>
                </a:lnTo>
                <a:lnTo>
                  <a:pt x="890546" y="185532"/>
                </a:lnTo>
                <a:lnTo>
                  <a:pt x="763325" y="189710"/>
                </a:lnTo>
                <a:lnTo>
                  <a:pt x="636104" y="193923"/>
                </a:lnTo>
                <a:lnTo>
                  <a:pt x="508883" y="198171"/>
                </a:lnTo>
                <a:lnTo>
                  <a:pt x="381663" y="202454"/>
                </a:lnTo>
                <a:lnTo>
                  <a:pt x="254442" y="206772"/>
                </a:lnTo>
                <a:lnTo>
                  <a:pt x="127221" y="211125"/>
                </a:lnTo>
                <a:lnTo>
                  <a:pt x="0" y="215513"/>
                </a:lnTo>
                <a:close/>
              </a:path>
            </a:pathLst>
          </a:custGeom>
          <a:solidFill>
            <a:srgbClr val="B5D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463040" y="502920"/>
            <a:ext cx="0" cy="1371600"/>
          </a:xfrm>
          <a:prstGeom prst="line">
            <a:avLst/>
          </a:prstGeom>
          <a:ln w="6350">
            <a:solidFill>
              <a:srgbClr val="22222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389120" y="502920"/>
            <a:ext cx="0" cy="1371600"/>
          </a:xfrm>
          <a:prstGeom prst="line">
            <a:avLst/>
          </a:prstGeom>
          <a:ln w="6350">
            <a:solidFill>
              <a:srgbClr val="22222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34440" y="18928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8928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960120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Good responder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1124712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(n = 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051560"/>
            <a:ext cx="12801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clone shrinkage +
eradication</a:t>
            </a:r>
          </a:p>
        </p:txBody>
      </p:sp>
      <p:sp>
        <p:nvSpPr>
          <p:cNvPr id="14" name="Freeform 13"/>
          <p:cNvSpPr/>
          <p:nvPr/>
        </p:nvSpPr>
        <p:spPr>
          <a:xfrm>
            <a:off x="1463040" y="2217420"/>
            <a:ext cx="2926080" cy="685800"/>
          </a:xfrm>
          <a:custGeom>
            <a:avLst/>
            <a:gdLst/>
            <a:ahLst/>
            <a:cxnLst/>
            <a:rect l="l" t="t" r="r" b="b"/>
            <a:pathLst>
              <a:path w="2926080" h="685800">
                <a:moveTo>
                  <a:pt x="0" y="0"/>
                </a:moveTo>
                <a:lnTo>
                  <a:pt x="127221" y="1491"/>
                </a:lnTo>
                <a:lnTo>
                  <a:pt x="254442" y="2982"/>
                </a:lnTo>
                <a:lnTo>
                  <a:pt x="381663" y="4473"/>
                </a:lnTo>
                <a:lnTo>
                  <a:pt x="508883" y="5963"/>
                </a:lnTo>
                <a:lnTo>
                  <a:pt x="636104" y="7454"/>
                </a:lnTo>
                <a:lnTo>
                  <a:pt x="763325" y="8945"/>
                </a:lnTo>
                <a:lnTo>
                  <a:pt x="890546" y="10436"/>
                </a:lnTo>
                <a:lnTo>
                  <a:pt x="1017767" y="11927"/>
                </a:lnTo>
                <a:lnTo>
                  <a:pt x="1144988" y="13418"/>
                </a:lnTo>
                <a:lnTo>
                  <a:pt x="1272209" y="14909"/>
                </a:lnTo>
                <a:lnTo>
                  <a:pt x="1399430" y="16400"/>
                </a:lnTo>
                <a:lnTo>
                  <a:pt x="1526650" y="17890"/>
                </a:lnTo>
                <a:lnTo>
                  <a:pt x="1653871" y="19381"/>
                </a:lnTo>
                <a:lnTo>
                  <a:pt x="1781092" y="20872"/>
                </a:lnTo>
                <a:lnTo>
                  <a:pt x="1908313" y="22363"/>
                </a:lnTo>
                <a:lnTo>
                  <a:pt x="2035534" y="23854"/>
                </a:lnTo>
                <a:lnTo>
                  <a:pt x="2162755" y="25345"/>
                </a:lnTo>
                <a:lnTo>
                  <a:pt x="2289976" y="26836"/>
                </a:lnTo>
                <a:lnTo>
                  <a:pt x="2417197" y="28327"/>
                </a:lnTo>
                <a:lnTo>
                  <a:pt x="2544417" y="29817"/>
                </a:lnTo>
                <a:lnTo>
                  <a:pt x="2671638" y="31308"/>
                </a:lnTo>
                <a:lnTo>
                  <a:pt x="2798859" y="32799"/>
                </a:lnTo>
                <a:lnTo>
                  <a:pt x="2926080" y="34290"/>
                </a:lnTo>
                <a:lnTo>
                  <a:pt x="2926080" y="685800"/>
                </a:lnTo>
                <a:lnTo>
                  <a:pt x="2798859" y="684309"/>
                </a:lnTo>
                <a:lnTo>
                  <a:pt x="2671638" y="682818"/>
                </a:lnTo>
                <a:lnTo>
                  <a:pt x="2544417" y="681327"/>
                </a:lnTo>
                <a:lnTo>
                  <a:pt x="2417197" y="679837"/>
                </a:lnTo>
                <a:lnTo>
                  <a:pt x="2289976" y="678346"/>
                </a:lnTo>
                <a:lnTo>
                  <a:pt x="2162755" y="676855"/>
                </a:lnTo>
                <a:lnTo>
                  <a:pt x="2035534" y="675364"/>
                </a:lnTo>
                <a:lnTo>
                  <a:pt x="1908313" y="673873"/>
                </a:lnTo>
                <a:lnTo>
                  <a:pt x="1781092" y="672382"/>
                </a:lnTo>
                <a:lnTo>
                  <a:pt x="1653871" y="670891"/>
                </a:lnTo>
                <a:lnTo>
                  <a:pt x="1526650" y="669400"/>
                </a:lnTo>
                <a:lnTo>
                  <a:pt x="1399430" y="667910"/>
                </a:lnTo>
                <a:lnTo>
                  <a:pt x="1272209" y="666419"/>
                </a:lnTo>
                <a:lnTo>
                  <a:pt x="1144988" y="664928"/>
                </a:lnTo>
                <a:lnTo>
                  <a:pt x="1017767" y="663437"/>
                </a:lnTo>
                <a:lnTo>
                  <a:pt x="890546" y="661946"/>
                </a:lnTo>
                <a:lnTo>
                  <a:pt x="763325" y="660455"/>
                </a:lnTo>
                <a:lnTo>
                  <a:pt x="636104" y="658964"/>
                </a:lnTo>
                <a:lnTo>
                  <a:pt x="508883" y="657473"/>
                </a:lnTo>
                <a:lnTo>
                  <a:pt x="381663" y="655983"/>
                </a:lnTo>
                <a:lnTo>
                  <a:pt x="254442" y="654492"/>
                </a:lnTo>
                <a:lnTo>
                  <a:pt x="127221" y="653001"/>
                </a:lnTo>
                <a:lnTo>
                  <a:pt x="0" y="651510"/>
                </a:lnTo>
                <a:close/>
              </a:path>
            </a:pathLst>
          </a:custGeom>
          <a:solidFill>
            <a:srgbClr val="F2D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463040" y="2440305"/>
            <a:ext cx="2926080" cy="240030"/>
          </a:xfrm>
          <a:custGeom>
            <a:avLst/>
            <a:gdLst/>
            <a:ahLst/>
            <a:cxnLst/>
            <a:rect l="l" t="t" r="r" b="b"/>
            <a:pathLst>
              <a:path w="2926080" h="240030">
                <a:moveTo>
                  <a:pt x="0" y="0"/>
                </a:moveTo>
                <a:lnTo>
                  <a:pt x="127221" y="522"/>
                </a:lnTo>
                <a:lnTo>
                  <a:pt x="254442" y="1044"/>
                </a:lnTo>
                <a:lnTo>
                  <a:pt x="381663" y="1565"/>
                </a:lnTo>
                <a:lnTo>
                  <a:pt x="508883" y="2087"/>
                </a:lnTo>
                <a:lnTo>
                  <a:pt x="636104" y="2609"/>
                </a:lnTo>
                <a:lnTo>
                  <a:pt x="763325" y="3131"/>
                </a:lnTo>
                <a:lnTo>
                  <a:pt x="890546" y="3653"/>
                </a:lnTo>
                <a:lnTo>
                  <a:pt x="1017767" y="4174"/>
                </a:lnTo>
                <a:lnTo>
                  <a:pt x="1144988" y="4696"/>
                </a:lnTo>
                <a:lnTo>
                  <a:pt x="1272209" y="5218"/>
                </a:lnTo>
                <a:lnTo>
                  <a:pt x="1399430" y="5740"/>
                </a:lnTo>
                <a:lnTo>
                  <a:pt x="1526650" y="6262"/>
                </a:lnTo>
                <a:lnTo>
                  <a:pt x="1653871" y="6783"/>
                </a:lnTo>
                <a:lnTo>
                  <a:pt x="1781092" y="7305"/>
                </a:lnTo>
                <a:lnTo>
                  <a:pt x="1908313" y="7827"/>
                </a:lnTo>
                <a:lnTo>
                  <a:pt x="2035534" y="8349"/>
                </a:lnTo>
                <a:lnTo>
                  <a:pt x="2162755" y="8871"/>
                </a:lnTo>
                <a:lnTo>
                  <a:pt x="2289976" y="9392"/>
                </a:lnTo>
                <a:lnTo>
                  <a:pt x="2417197" y="9914"/>
                </a:lnTo>
                <a:lnTo>
                  <a:pt x="2544417" y="10436"/>
                </a:lnTo>
                <a:lnTo>
                  <a:pt x="2671638" y="10958"/>
                </a:lnTo>
                <a:lnTo>
                  <a:pt x="2798859" y="11480"/>
                </a:lnTo>
                <a:lnTo>
                  <a:pt x="2926080" y="12001"/>
                </a:lnTo>
                <a:lnTo>
                  <a:pt x="2926080" y="240030"/>
                </a:lnTo>
                <a:lnTo>
                  <a:pt x="2798859" y="239508"/>
                </a:lnTo>
                <a:lnTo>
                  <a:pt x="2671638" y="238986"/>
                </a:lnTo>
                <a:lnTo>
                  <a:pt x="2544417" y="238465"/>
                </a:lnTo>
                <a:lnTo>
                  <a:pt x="2417197" y="237943"/>
                </a:lnTo>
                <a:lnTo>
                  <a:pt x="2289976" y="237421"/>
                </a:lnTo>
                <a:lnTo>
                  <a:pt x="2162755" y="236899"/>
                </a:lnTo>
                <a:lnTo>
                  <a:pt x="2035534" y="236377"/>
                </a:lnTo>
                <a:lnTo>
                  <a:pt x="1908313" y="235856"/>
                </a:lnTo>
                <a:lnTo>
                  <a:pt x="1781092" y="235334"/>
                </a:lnTo>
                <a:lnTo>
                  <a:pt x="1653871" y="234812"/>
                </a:lnTo>
                <a:lnTo>
                  <a:pt x="1526650" y="234290"/>
                </a:lnTo>
                <a:lnTo>
                  <a:pt x="1399430" y="233768"/>
                </a:lnTo>
                <a:lnTo>
                  <a:pt x="1272209" y="233247"/>
                </a:lnTo>
                <a:lnTo>
                  <a:pt x="1144988" y="232725"/>
                </a:lnTo>
                <a:lnTo>
                  <a:pt x="1017767" y="232203"/>
                </a:lnTo>
                <a:lnTo>
                  <a:pt x="890546" y="231681"/>
                </a:lnTo>
                <a:lnTo>
                  <a:pt x="763325" y="231159"/>
                </a:lnTo>
                <a:lnTo>
                  <a:pt x="636104" y="230638"/>
                </a:lnTo>
                <a:lnTo>
                  <a:pt x="508883" y="230116"/>
                </a:lnTo>
                <a:lnTo>
                  <a:pt x="381663" y="229594"/>
                </a:lnTo>
                <a:lnTo>
                  <a:pt x="254442" y="229072"/>
                </a:lnTo>
                <a:lnTo>
                  <a:pt x="127221" y="228550"/>
                </a:lnTo>
                <a:lnTo>
                  <a:pt x="0" y="228029"/>
                </a:lnTo>
                <a:close/>
              </a:path>
            </a:pathLst>
          </a:custGeom>
          <a:solidFill>
            <a:srgbClr val="D98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463040" y="2643645"/>
            <a:ext cx="2926080" cy="201282"/>
          </a:xfrm>
          <a:custGeom>
            <a:avLst/>
            <a:gdLst/>
            <a:ahLst/>
            <a:cxnLst/>
            <a:rect l="l" t="t" r="r" b="b"/>
            <a:pathLst>
              <a:path w="2926080" h="201282">
                <a:moveTo>
                  <a:pt x="0" y="9258"/>
                </a:moveTo>
                <a:lnTo>
                  <a:pt x="127221" y="8855"/>
                </a:lnTo>
                <a:lnTo>
                  <a:pt x="254442" y="8453"/>
                </a:lnTo>
                <a:lnTo>
                  <a:pt x="381663" y="8050"/>
                </a:lnTo>
                <a:lnTo>
                  <a:pt x="508883" y="7648"/>
                </a:lnTo>
                <a:lnTo>
                  <a:pt x="636104" y="7245"/>
                </a:lnTo>
                <a:lnTo>
                  <a:pt x="763325" y="6843"/>
                </a:lnTo>
                <a:lnTo>
                  <a:pt x="890546" y="6440"/>
                </a:lnTo>
                <a:lnTo>
                  <a:pt x="1017767" y="6038"/>
                </a:lnTo>
                <a:lnTo>
                  <a:pt x="1144988" y="5635"/>
                </a:lnTo>
                <a:lnTo>
                  <a:pt x="1272209" y="5233"/>
                </a:lnTo>
                <a:lnTo>
                  <a:pt x="1399430" y="4830"/>
                </a:lnTo>
                <a:lnTo>
                  <a:pt x="1526650" y="4428"/>
                </a:lnTo>
                <a:lnTo>
                  <a:pt x="1653871" y="4025"/>
                </a:lnTo>
                <a:lnTo>
                  <a:pt x="1781092" y="3623"/>
                </a:lnTo>
                <a:lnTo>
                  <a:pt x="1908313" y="3220"/>
                </a:lnTo>
                <a:lnTo>
                  <a:pt x="2035534" y="2817"/>
                </a:lnTo>
                <a:lnTo>
                  <a:pt x="2162755" y="2415"/>
                </a:lnTo>
                <a:lnTo>
                  <a:pt x="2289976" y="2012"/>
                </a:lnTo>
                <a:lnTo>
                  <a:pt x="2417197" y="1610"/>
                </a:lnTo>
                <a:lnTo>
                  <a:pt x="2544417" y="1207"/>
                </a:lnTo>
                <a:lnTo>
                  <a:pt x="2671638" y="805"/>
                </a:lnTo>
                <a:lnTo>
                  <a:pt x="2798859" y="402"/>
                </a:lnTo>
                <a:lnTo>
                  <a:pt x="2926080" y="0"/>
                </a:lnTo>
                <a:lnTo>
                  <a:pt x="2926080" y="201282"/>
                </a:lnTo>
                <a:lnTo>
                  <a:pt x="2798859" y="200045"/>
                </a:lnTo>
                <a:lnTo>
                  <a:pt x="2671638" y="198807"/>
                </a:lnTo>
                <a:lnTo>
                  <a:pt x="2544417" y="197570"/>
                </a:lnTo>
                <a:lnTo>
                  <a:pt x="2417197" y="196332"/>
                </a:lnTo>
                <a:lnTo>
                  <a:pt x="2289976" y="195095"/>
                </a:lnTo>
                <a:lnTo>
                  <a:pt x="2162755" y="193857"/>
                </a:lnTo>
                <a:lnTo>
                  <a:pt x="2035534" y="192620"/>
                </a:lnTo>
                <a:lnTo>
                  <a:pt x="1908313" y="191383"/>
                </a:lnTo>
                <a:lnTo>
                  <a:pt x="1781092" y="190145"/>
                </a:lnTo>
                <a:lnTo>
                  <a:pt x="1653871" y="188908"/>
                </a:lnTo>
                <a:lnTo>
                  <a:pt x="1526650" y="187670"/>
                </a:lnTo>
                <a:lnTo>
                  <a:pt x="1399430" y="186433"/>
                </a:lnTo>
                <a:lnTo>
                  <a:pt x="1272209" y="185196"/>
                </a:lnTo>
                <a:lnTo>
                  <a:pt x="1144988" y="183958"/>
                </a:lnTo>
                <a:lnTo>
                  <a:pt x="1017767" y="182721"/>
                </a:lnTo>
                <a:lnTo>
                  <a:pt x="890546" y="181483"/>
                </a:lnTo>
                <a:lnTo>
                  <a:pt x="763325" y="180246"/>
                </a:lnTo>
                <a:lnTo>
                  <a:pt x="636104" y="179008"/>
                </a:lnTo>
                <a:lnTo>
                  <a:pt x="508883" y="177771"/>
                </a:lnTo>
                <a:lnTo>
                  <a:pt x="381663" y="176534"/>
                </a:lnTo>
                <a:lnTo>
                  <a:pt x="254442" y="175296"/>
                </a:lnTo>
                <a:lnTo>
                  <a:pt x="127221" y="174059"/>
                </a:lnTo>
                <a:lnTo>
                  <a:pt x="0" y="172821"/>
                </a:lnTo>
                <a:close/>
              </a:path>
            </a:pathLst>
          </a:cu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463040" y="2292858"/>
            <a:ext cx="2926080" cy="168707"/>
          </a:xfrm>
          <a:custGeom>
            <a:avLst/>
            <a:gdLst/>
            <a:ahLst/>
            <a:cxnLst/>
            <a:rect l="l" t="t" r="r" b="b"/>
            <a:pathLst>
              <a:path w="2926080" h="168707">
                <a:moveTo>
                  <a:pt x="0" y="0"/>
                </a:moveTo>
                <a:lnTo>
                  <a:pt x="127221" y="1163"/>
                </a:lnTo>
                <a:lnTo>
                  <a:pt x="254442" y="2326"/>
                </a:lnTo>
                <a:lnTo>
                  <a:pt x="381663" y="3489"/>
                </a:lnTo>
                <a:lnTo>
                  <a:pt x="508883" y="4652"/>
                </a:lnTo>
                <a:lnTo>
                  <a:pt x="636104" y="5814"/>
                </a:lnTo>
                <a:lnTo>
                  <a:pt x="763325" y="6977"/>
                </a:lnTo>
                <a:lnTo>
                  <a:pt x="890546" y="8140"/>
                </a:lnTo>
                <a:lnTo>
                  <a:pt x="1017767" y="9303"/>
                </a:lnTo>
                <a:lnTo>
                  <a:pt x="1144988" y="10466"/>
                </a:lnTo>
                <a:lnTo>
                  <a:pt x="1272209" y="11629"/>
                </a:lnTo>
                <a:lnTo>
                  <a:pt x="1399430" y="12792"/>
                </a:lnTo>
                <a:lnTo>
                  <a:pt x="1526650" y="13955"/>
                </a:lnTo>
                <a:lnTo>
                  <a:pt x="1653871" y="15117"/>
                </a:lnTo>
                <a:lnTo>
                  <a:pt x="1781092" y="16280"/>
                </a:lnTo>
                <a:lnTo>
                  <a:pt x="1908313" y="17443"/>
                </a:lnTo>
                <a:lnTo>
                  <a:pt x="2035534" y="18606"/>
                </a:lnTo>
                <a:lnTo>
                  <a:pt x="2162755" y="19769"/>
                </a:lnTo>
                <a:lnTo>
                  <a:pt x="2289976" y="20932"/>
                </a:lnTo>
                <a:lnTo>
                  <a:pt x="2417197" y="22095"/>
                </a:lnTo>
                <a:lnTo>
                  <a:pt x="2544417" y="23258"/>
                </a:lnTo>
                <a:lnTo>
                  <a:pt x="2671638" y="24420"/>
                </a:lnTo>
                <a:lnTo>
                  <a:pt x="2798859" y="25583"/>
                </a:lnTo>
                <a:lnTo>
                  <a:pt x="2926080" y="26746"/>
                </a:lnTo>
                <a:lnTo>
                  <a:pt x="2926080" y="157734"/>
                </a:lnTo>
                <a:lnTo>
                  <a:pt x="2798859" y="158211"/>
                </a:lnTo>
                <a:lnTo>
                  <a:pt x="2671638" y="158688"/>
                </a:lnTo>
                <a:lnTo>
                  <a:pt x="2544417" y="159165"/>
                </a:lnTo>
                <a:lnTo>
                  <a:pt x="2417197" y="159642"/>
                </a:lnTo>
                <a:lnTo>
                  <a:pt x="2289976" y="160119"/>
                </a:lnTo>
                <a:lnTo>
                  <a:pt x="2162755" y="160596"/>
                </a:lnTo>
                <a:lnTo>
                  <a:pt x="2035534" y="161074"/>
                </a:lnTo>
                <a:lnTo>
                  <a:pt x="1908313" y="161551"/>
                </a:lnTo>
                <a:lnTo>
                  <a:pt x="1781092" y="162028"/>
                </a:lnTo>
                <a:lnTo>
                  <a:pt x="1653871" y="162505"/>
                </a:lnTo>
                <a:lnTo>
                  <a:pt x="1526650" y="162982"/>
                </a:lnTo>
                <a:lnTo>
                  <a:pt x="1399430" y="163459"/>
                </a:lnTo>
                <a:lnTo>
                  <a:pt x="1272209" y="163936"/>
                </a:lnTo>
                <a:lnTo>
                  <a:pt x="1144988" y="164413"/>
                </a:lnTo>
                <a:lnTo>
                  <a:pt x="1017767" y="164890"/>
                </a:lnTo>
                <a:lnTo>
                  <a:pt x="890546" y="165367"/>
                </a:lnTo>
                <a:lnTo>
                  <a:pt x="763325" y="165844"/>
                </a:lnTo>
                <a:lnTo>
                  <a:pt x="636104" y="166321"/>
                </a:lnTo>
                <a:lnTo>
                  <a:pt x="508883" y="166798"/>
                </a:lnTo>
                <a:lnTo>
                  <a:pt x="381663" y="167276"/>
                </a:lnTo>
                <a:lnTo>
                  <a:pt x="254442" y="167753"/>
                </a:lnTo>
                <a:lnTo>
                  <a:pt x="127221" y="168230"/>
                </a:lnTo>
                <a:lnTo>
                  <a:pt x="0" y="168707"/>
                </a:lnTo>
                <a:close/>
              </a:path>
            </a:pathLst>
          </a:cu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463040" y="1874520"/>
            <a:ext cx="0" cy="1371600"/>
          </a:xfrm>
          <a:prstGeom prst="line">
            <a:avLst/>
          </a:prstGeom>
          <a:ln w="6350">
            <a:solidFill>
              <a:srgbClr val="22222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389120" y="1874520"/>
            <a:ext cx="0" cy="1371600"/>
          </a:xfrm>
          <a:prstGeom prst="line">
            <a:avLst/>
          </a:prstGeom>
          <a:ln w="6350">
            <a:solidFill>
              <a:srgbClr val="22222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34440" y="32644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2644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" y="2331720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Bad responder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2496312"/>
            <a:ext cx="1188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(n = 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423160"/>
            <a:ext cx="12801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clone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" y="352044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Conceptual schematic (not PyClone-VI output; full PyClone detail in Supp Fig S16).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" y="365760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PyClone-VI dominant-clone Δ trend: good −0.67 CCF vs bad −0.15, Mann-Whitney P = 0.34 (trend, NS at n = 12).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" y="384048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D4A300"/>
                </a:solidFill>
                <a:latin typeface="Arial"/>
              </a:rPr>
              <a:t>Consistent with SBS5 and MHC-I neoantigen clearance observed in Panel 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457200"/>
            <a:ext cx="2057400" cy="365760"/>
          </a:xfrm>
          <a:prstGeom prst="roundRect">
            <a:avLst/>
          </a:prstGeom>
          <a:solidFill>
            <a:srgbClr val="4F738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75488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Radiation
(50.4 Gy)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03020" y="832104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4320" y="932688"/>
            <a:ext cx="2057400" cy="365760"/>
          </a:xfrm>
          <a:prstGeom prst="roundRect">
            <a:avLst/>
          </a:prstGeom>
          <a:solidFill>
            <a:srgbClr val="3E5286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950976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Clone clearance
(SBS5, missense ↓)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03020" y="1307592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" y="1408176"/>
            <a:ext cx="2057400" cy="365760"/>
          </a:xfrm>
          <a:prstGeom prst="roundRect">
            <a:avLst/>
          </a:prstGeom>
          <a:solidFill>
            <a:srgbClr val="6A4C93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26464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Antigen clearance
(MHC-I neoantigens ↓)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03020" y="1783080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4320" y="1883664"/>
            <a:ext cx="2057400" cy="365760"/>
          </a:xfrm>
          <a:prstGeom prst="roundRect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901952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Immune reprogramming
(MHC-II, CD8 exh., Treg ↑)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03020" y="2258568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4320" y="2359152"/>
            <a:ext cx="2057400" cy="365760"/>
          </a:xfrm>
          <a:prstGeom prst="roundRect">
            <a:avLst/>
          </a:prstGeom>
          <a:solidFill>
            <a:srgbClr val="A6502C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377440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B-cell infiltration
(IGH clonotypes 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03020" y="2734056"/>
            <a:ext cx="0" cy="91440"/>
          </a:xfrm>
          <a:prstGeom prst="line">
            <a:avLst/>
          </a:prstGeom>
          <a:ln w="12700">
            <a:solidFill>
              <a:srgbClr val="2222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" y="2834640"/>
            <a:ext cx="2057400" cy="365760"/>
          </a:xfrm>
          <a:prstGeom prst="roundRect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852928"/>
            <a:ext cx="205740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  <a:latin typeface="Arial"/>
              </a:rPr>
              <a:t>Final TNT response
(good responder)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1975104"/>
            <a:ext cx="3657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D4A300"/>
                </a:solidFill>
                <a:latin typeface="Arial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975104"/>
            <a:ext cx="7315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 i="1">
                <a:solidFill>
                  <a:srgbClr val="D4A300"/>
                </a:solidFill>
                <a:latin typeface="Arial"/>
              </a:rPr>
              <a:t>Treg CI
robust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457200"/>
            <a:ext cx="2697480" cy="3017520"/>
          </a:xfrm>
          <a:prstGeom prst="rect">
            <a:avLst/>
          </a:prstGeom>
          <a:solidFill>
            <a:srgbClr val="FBF0ED"/>
          </a:solidFill>
          <a:ln w="1778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08960" y="457200"/>
            <a:ext cx="2697480" cy="27432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457200"/>
            <a:ext cx="26974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CONVERGENCE TEST — PRE-SPECIFIED, 36 PAIRS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822960"/>
            <a:ext cx="24231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1">
                <a:solidFill>
                  <a:srgbClr val="222222"/>
                </a:solidFill>
                <a:latin typeface="Arial"/>
              </a:rPr>
              <a:t>Q: does the Thread-1 baseline predictor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978407"/>
            <a:ext cx="24231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1">
                <a:solidFill>
                  <a:srgbClr val="222222"/>
                </a:solidFill>
                <a:latin typeface="Arial"/>
              </a:rPr>
              <a:t>predict paired cascade Δ magnitude?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1188720"/>
            <a:ext cx="242316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C53E1F"/>
                </a:solidFill>
                <a:latin typeface="Arial"/>
              </a:rPr>
              <a:t>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1645920"/>
            <a:ext cx="2423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0 / 36 pre-specified pairs P &lt; 0.05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1783080"/>
            <a:ext cx="242316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666666"/>
                </a:solidFill>
                <a:latin typeface="Arial"/>
              </a:rPr>
              <a:t>(1.8 expected by chance)  ·  0 / 36 at FDR &lt; 0.10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2011680"/>
            <a:ext cx="2377440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10128" y="2039112"/>
            <a:ext cx="2313432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1" i="1">
                <a:solidFill>
                  <a:srgbClr val="777777"/>
                </a:solidFill>
                <a:latin typeface="Arial"/>
              </a:rPr>
              <a:t>Headline pair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2148840"/>
            <a:ext cx="2313432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DSB-repair baseline  →  CD8-cyt 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304288"/>
            <a:ext cx="23134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1" i="0">
                <a:solidFill>
                  <a:srgbClr val="C53E1F"/>
                </a:solidFill>
                <a:latin typeface="Arial"/>
              </a:rPr>
              <a:t>Spearman r = −0.07,  P = 0.83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2615184"/>
            <a:ext cx="2423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Power retained (n = 12 detects |r| ≥ 0.55)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2743200"/>
            <a:ext cx="24231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555555"/>
                </a:solidFill>
                <a:latin typeface="Arial"/>
              </a:rPr>
              <a:t>observed |r| &lt; 0.20 → absence, not under-power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944368"/>
            <a:ext cx="2377440" cy="438912"/>
          </a:xfrm>
          <a:prstGeom prst="rect">
            <a:avLst/>
          </a:prstGeom>
          <a:solidFill>
            <a:srgbClr val="DAEBE9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10128" y="2962656"/>
            <a:ext cx="23134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" b="1" i="1">
                <a:solidFill>
                  <a:srgbClr val="0A7D6E"/>
                </a:solidFill>
                <a:latin typeface="Arial"/>
              </a:rPr>
              <a:t>Conclusion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3063240"/>
            <a:ext cx="2313432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Static baseline predictor ⊥ dynamic paired cascade. The cascade is an observational phenomenology, NOT a downstream of the baseline.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" y="3611880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1">
                <a:solidFill>
                  <a:srgbClr val="222222"/>
                </a:solidFill>
                <a:latin typeface="Arial"/>
              </a:rPr>
              <a:t>Two orthogonal biomarker layers: static pre-CRT (Figs 5, 9) and dynamic paired RT-phase (Figs 6-8 and present panel) 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" y="3739896"/>
            <a:ext cx="5669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1">
                <a:solidFill>
                  <a:srgbClr val="D4A300"/>
                </a:solidFill>
                <a:latin typeface="Arial"/>
              </a:rPr>
              <a:t>complementary, not cascading.  Two-layer clinical algorithm follows in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