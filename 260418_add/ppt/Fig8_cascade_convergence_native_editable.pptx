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5943600" cy="4114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91440"/>
            <a:ext cx="365760" cy="32004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222222"/>
                </a:solidFill>
                <a:latin typeface="Arial"/>
              </a:rPr>
              <a:t>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60320" y="3474720"/>
            <a:ext cx="2606040" cy="0"/>
          </a:xfrm>
          <a:prstGeom prst="line">
            <a:avLst/>
          </a:prstGeom>
          <a:ln w="635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2641759" y="3474720"/>
            <a:ext cx="0" cy="36576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522887" y="3520440"/>
            <a:ext cx="237744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-3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048952" y="3474720"/>
            <a:ext cx="0" cy="36576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930080" y="3520440"/>
            <a:ext cx="237744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-2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456146" y="3474720"/>
            <a:ext cx="0" cy="36576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337274" y="3520440"/>
            <a:ext cx="237744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-1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863340" y="3474720"/>
            <a:ext cx="0" cy="36576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744468" y="3520440"/>
            <a:ext cx="237744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270534" y="3474720"/>
            <a:ext cx="0" cy="36576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151662" y="3520440"/>
            <a:ext cx="237744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+1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677728" y="3474720"/>
            <a:ext cx="0" cy="36576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558856" y="3520440"/>
            <a:ext cx="237744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+2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084921" y="3474720"/>
            <a:ext cx="0" cy="36576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966049" y="3520440"/>
            <a:ext cx="237744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+3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3675888"/>
            <a:ext cx="2606040" cy="13716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Standardised between-group Z  (good − bad)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3813048"/>
            <a:ext cx="260604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 i="1">
                <a:solidFill>
                  <a:srgbClr val="666666"/>
                </a:solidFill>
                <a:latin typeface="Arial"/>
              </a:rPr>
              <a:t>= diff_median / (CI width / 3.92)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863340" y="502920"/>
            <a:ext cx="0" cy="297180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661440" y="502920"/>
            <a:ext cx="0" cy="2971800"/>
          </a:xfrm>
          <a:prstGeom prst="line">
            <a:avLst/>
          </a:prstGeom>
          <a:ln w="6350">
            <a:solidFill>
              <a:srgbClr val="BBBBB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065240" y="502920"/>
            <a:ext cx="0" cy="2971800"/>
          </a:xfrm>
          <a:prstGeom prst="line">
            <a:avLst/>
          </a:prstGeom>
          <a:ln w="6350">
            <a:solidFill>
              <a:srgbClr val="BBBBB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478560" y="521208"/>
            <a:ext cx="36576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 i="1">
                <a:solidFill>
                  <a:srgbClr val="999999"/>
                </a:solidFill>
                <a:latin typeface="Arial"/>
              </a:rPr>
              <a:t>P=0.05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" y="585724"/>
            <a:ext cx="235915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3E5286"/>
                </a:solidFill>
                <a:latin typeface="Arial"/>
              </a:rPr>
              <a:t>SBS5 (clock-like)  mutations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50592" y="631444"/>
            <a:ext cx="54864" cy="73152"/>
          </a:xfrm>
          <a:prstGeom prst="rect">
            <a:avLst/>
          </a:prstGeom>
          <a:solidFill>
            <a:srgbClr val="3E52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2560320" y="668020"/>
            <a:ext cx="1313733" cy="0"/>
          </a:xfrm>
          <a:prstGeom prst="line">
            <a:avLst/>
          </a:prstGeom>
          <a:ln w="15240">
            <a:solidFill>
              <a:srgbClr val="3E528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560320" y="622300"/>
            <a:ext cx="0" cy="91440"/>
          </a:xfrm>
          <a:prstGeom prst="line">
            <a:avLst/>
          </a:prstGeom>
          <a:ln w="12700">
            <a:solidFill>
              <a:srgbClr val="3E528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874053" y="622300"/>
            <a:ext cx="0" cy="91440"/>
          </a:xfrm>
          <a:prstGeom prst="line">
            <a:avLst/>
          </a:prstGeom>
          <a:ln w="12700">
            <a:solidFill>
              <a:srgbClr val="3E528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Diamond 28"/>
          <p:cNvSpPr/>
          <p:nvPr/>
        </p:nvSpPr>
        <p:spPr>
          <a:xfrm>
            <a:off x="3268277" y="630020"/>
            <a:ext cx="76000" cy="76000"/>
          </a:xfrm>
          <a:prstGeom prst="diamond">
            <a:avLst/>
          </a:prstGeom>
          <a:solidFill>
            <a:srgbClr val="3E5286"/>
          </a:solidFill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21224" y="540004"/>
            <a:ext cx="68580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Arial"/>
              </a:rPr>
              <a:t>-52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21224" y="649732"/>
            <a:ext cx="77724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555555"/>
                </a:solidFill>
                <a:latin typeface="Arial"/>
              </a:rPr>
              <a:t>[-148, +1]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21224" y="759460"/>
            <a:ext cx="68580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555555"/>
                </a:solidFill>
                <a:latin typeface="Arial"/>
              </a:rPr>
              <a:t>P = 0.041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4592" y="915924"/>
            <a:ext cx="235915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3E5286"/>
                </a:solidFill>
                <a:latin typeface="Arial"/>
              </a:rPr>
              <a:t>Missense mutations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450592" y="961644"/>
            <a:ext cx="54864" cy="73152"/>
          </a:xfrm>
          <a:prstGeom prst="rect">
            <a:avLst/>
          </a:prstGeom>
          <a:solidFill>
            <a:srgbClr val="3E52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2684448" y="998220"/>
            <a:ext cx="1596199" cy="0"/>
          </a:xfrm>
          <a:prstGeom prst="line">
            <a:avLst/>
          </a:prstGeom>
          <a:ln w="15240">
            <a:solidFill>
              <a:srgbClr val="3E528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684448" y="952500"/>
            <a:ext cx="0" cy="91440"/>
          </a:xfrm>
          <a:prstGeom prst="line">
            <a:avLst/>
          </a:prstGeom>
          <a:ln w="12700">
            <a:solidFill>
              <a:srgbClr val="3E528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4280647" y="952500"/>
            <a:ext cx="0" cy="91440"/>
          </a:xfrm>
          <a:prstGeom prst="line">
            <a:avLst/>
          </a:prstGeom>
          <a:ln w="12700">
            <a:solidFill>
              <a:srgbClr val="3E528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Diamond 37"/>
          <p:cNvSpPr/>
          <p:nvPr/>
        </p:nvSpPr>
        <p:spPr>
          <a:xfrm>
            <a:off x="3022024" y="960220"/>
            <a:ext cx="76000" cy="76000"/>
          </a:xfrm>
          <a:prstGeom prst="diamond">
            <a:avLst/>
          </a:prstGeom>
          <a:solidFill>
            <a:srgbClr val="3E5286"/>
          </a:solidFill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221224" y="870204"/>
            <a:ext cx="68580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3E5286"/>
                </a:solidFill>
                <a:latin typeface="Arial"/>
              </a:rPr>
              <a:t>-77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21224" y="979932"/>
            <a:ext cx="77724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555555"/>
                </a:solidFill>
                <a:latin typeface="Arial"/>
              </a:rPr>
              <a:t>[-113, +40]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21224" y="1089660"/>
            <a:ext cx="68580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 i="0">
                <a:solidFill>
                  <a:srgbClr val="3E5286"/>
                </a:solidFill>
                <a:latin typeface="Arial"/>
              </a:rPr>
              <a:t>P = 0.626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4592" y="1246124"/>
            <a:ext cx="235915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6A4C93"/>
                </a:solidFill>
                <a:latin typeface="Arial"/>
              </a:rPr>
              <a:t>MHC-I neoantigen binders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450592" y="1291844"/>
            <a:ext cx="54864" cy="7315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>
            <a:off x="2668743" y="1328420"/>
            <a:ext cx="1596199" cy="0"/>
          </a:xfrm>
          <a:prstGeom prst="line">
            <a:avLst/>
          </a:prstGeom>
          <a:ln w="15240">
            <a:solidFill>
              <a:srgbClr val="6A4C9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668743" y="1282700"/>
            <a:ext cx="0" cy="91440"/>
          </a:xfrm>
          <a:prstGeom prst="line">
            <a:avLst/>
          </a:prstGeom>
          <a:ln w="12700">
            <a:solidFill>
              <a:srgbClr val="6A4C9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264942" y="1282700"/>
            <a:ext cx="0" cy="91440"/>
          </a:xfrm>
          <a:prstGeom prst="line">
            <a:avLst/>
          </a:prstGeom>
          <a:ln w="12700">
            <a:solidFill>
              <a:srgbClr val="6A4C9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Diamond 46"/>
          <p:cNvSpPr/>
          <p:nvPr/>
        </p:nvSpPr>
        <p:spPr>
          <a:xfrm>
            <a:off x="3343190" y="1290420"/>
            <a:ext cx="76000" cy="76000"/>
          </a:xfrm>
          <a:prstGeom prst="diamond">
            <a:avLst/>
          </a:prstGeom>
          <a:solidFill>
            <a:srgbClr val="6A4C93"/>
          </a:solidFill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221224" y="1200404"/>
            <a:ext cx="68580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Arial"/>
              </a:rPr>
              <a:t>-212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21224" y="1310132"/>
            <a:ext cx="77724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555555"/>
                </a:solidFill>
                <a:latin typeface="Arial"/>
              </a:rPr>
              <a:t>[-526, +177]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221224" y="1419860"/>
            <a:ext cx="68580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555555"/>
                </a:solidFill>
                <a:latin typeface="Arial"/>
              </a:rPr>
              <a:t>P = 0.429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64592" y="1576324"/>
            <a:ext cx="235915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6A4C93"/>
                </a:solidFill>
                <a:latin typeface="Arial"/>
              </a:rPr>
              <a:t>Neoantigen sites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450592" y="1622044"/>
            <a:ext cx="54864" cy="7315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" name="Connector 52"/>
          <p:cNvCxnSpPr/>
          <p:nvPr/>
        </p:nvCxnSpPr>
        <p:spPr>
          <a:xfrm>
            <a:off x="2729591" y="1658620"/>
            <a:ext cx="1596199" cy="0"/>
          </a:xfrm>
          <a:prstGeom prst="line">
            <a:avLst/>
          </a:prstGeom>
          <a:ln w="15240">
            <a:solidFill>
              <a:srgbClr val="6A4C9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2729591" y="1612900"/>
            <a:ext cx="0" cy="91440"/>
          </a:xfrm>
          <a:prstGeom prst="line">
            <a:avLst/>
          </a:prstGeom>
          <a:ln w="12700">
            <a:solidFill>
              <a:srgbClr val="6A4C9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4325790" y="1612900"/>
            <a:ext cx="0" cy="91440"/>
          </a:xfrm>
          <a:prstGeom prst="line">
            <a:avLst/>
          </a:prstGeom>
          <a:ln w="12700">
            <a:solidFill>
              <a:srgbClr val="6A4C9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Diamond 55"/>
          <p:cNvSpPr/>
          <p:nvPr/>
        </p:nvSpPr>
        <p:spPr>
          <a:xfrm>
            <a:off x="3191336" y="1620620"/>
            <a:ext cx="76000" cy="76000"/>
          </a:xfrm>
          <a:prstGeom prst="diamond">
            <a:avLst/>
          </a:prstGeom>
          <a:solidFill>
            <a:srgbClr val="6A4C93"/>
          </a:solidFill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221224" y="1530604"/>
            <a:ext cx="68580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Arial"/>
              </a:rPr>
              <a:t>-42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221224" y="1640332"/>
            <a:ext cx="77724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555555"/>
                </a:solidFill>
                <a:latin typeface="Arial"/>
              </a:rPr>
              <a:t>[-76, +31]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221224" y="1750060"/>
            <a:ext cx="68580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555555"/>
                </a:solidFill>
                <a:latin typeface="Arial"/>
              </a:rPr>
              <a:t>P = 0.247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64592" y="1906524"/>
            <a:ext cx="235915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0A7D6E"/>
                </a:solidFill>
                <a:latin typeface="Arial"/>
              </a:rPr>
              <a:t>MHC-II signature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450592" y="1952244"/>
            <a:ext cx="54864" cy="73152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2" name="Connector 61"/>
          <p:cNvCxnSpPr/>
          <p:nvPr/>
        </p:nvCxnSpPr>
        <p:spPr>
          <a:xfrm>
            <a:off x="3812262" y="1988820"/>
            <a:ext cx="1354098" cy="0"/>
          </a:xfrm>
          <a:prstGeom prst="line">
            <a:avLst/>
          </a:prstGeom>
          <a:ln w="1524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3812262" y="1943100"/>
            <a:ext cx="0" cy="91440"/>
          </a:xfrm>
          <a:prstGeom prst="line">
            <a:avLst/>
          </a:prstGeom>
          <a:ln w="1270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5166360" y="1943100"/>
            <a:ext cx="0" cy="91440"/>
          </a:xfrm>
          <a:prstGeom prst="line">
            <a:avLst/>
          </a:prstGeom>
          <a:ln w="1270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Diamond 64"/>
          <p:cNvSpPr/>
          <p:nvPr/>
        </p:nvSpPr>
        <p:spPr>
          <a:xfrm>
            <a:off x="4366132" y="1950820"/>
            <a:ext cx="76000" cy="76000"/>
          </a:xfrm>
          <a:prstGeom prst="diamond">
            <a:avLst/>
          </a:prstGeom>
          <a:solidFill>
            <a:srgbClr val="0A7D6E"/>
          </a:solidFill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221224" y="1860804"/>
            <a:ext cx="68580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Arial"/>
              </a:rPr>
              <a:t>+0.85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21224" y="1970532"/>
            <a:ext cx="77724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555555"/>
                </a:solidFill>
                <a:latin typeface="Arial"/>
              </a:rPr>
              <a:t>[-0.08, +2.42]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221224" y="2080260"/>
            <a:ext cx="68580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555555"/>
                </a:solidFill>
                <a:latin typeface="Arial"/>
              </a:rPr>
              <a:t>P = 0.065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64592" y="2236724"/>
            <a:ext cx="235915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0A7D6E"/>
                </a:solidFill>
                <a:latin typeface="Arial"/>
              </a:rPr>
              <a:t>CD8 exhaustion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450592" y="2282444"/>
            <a:ext cx="54864" cy="73152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1" name="Connector 70"/>
          <p:cNvCxnSpPr/>
          <p:nvPr/>
        </p:nvCxnSpPr>
        <p:spPr>
          <a:xfrm>
            <a:off x="3558671" y="2319020"/>
            <a:ext cx="1596200" cy="0"/>
          </a:xfrm>
          <a:prstGeom prst="line">
            <a:avLst/>
          </a:prstGeom>
          <a:ln w="1524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3558671" y="2273300"/>
            <a:ext cx="0" cy="91440"/>
          </a:xfrm>
          <a:prstGeom prst="line">
            <a:avLst/>
          </a:prstGeom>
          <a:ln w="1270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5154871" y="2273300"/>
            <a:ext cx="0" cy="91440"/>
          </a:xfrm>
          <a:prstGeom prst="line">
            <a:avLst/>
          </a:prstGeom>
          <a:ln w="1270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Diamond 73"/>
          <p:cNvSpPr/>
          <p:nvPr/>
        </p:nvSpPr>
        <p:spPr>
          <a:xfrm>
            <a:off x="4527403" y="2281020"/>
            <a:ext cx="76000" cy="76000"/>
          </a:xfrm>
          <a:prstGeom prst="diamond">
            <a:avLst/>
          </a:prstGeom>
          <a:solidFill>
            <a:srgbClr val="0A7D6E"/>
          </a:solidFill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221224" y="2191004"/>
            <a:ext cx="68580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Arial"/>
              </a:rPr>
              <a:t>+1.06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221224" y="2300732"/>
            <a:ext cx="77724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555555"/>
                </a:solidFill>
                <a:latin typeface="Arial"/>
              </a:rPr>
              <a:t>[-0.46, +1.95]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221224" y="2410460"/>
            <a:ext cx="68580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555555"/>
                </a:solidFill>
                <a:latin typeface="Arial"/>
              </a:rPr>
              <a:t>P = 0.093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64592" y="2566924"/>
            <a:ext cx="235915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>
                <a:solidFill>
                  <a:srgbClr val="D4A300"/>
                </a:solidFill>
                <a:latin typeface="Arial"/>
              </a:rPr>
              <a:t>Treg signature  ★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450592" y="2612644"/>
            <a:ext cx="54864" cy="73152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0" name="Connector 79"/>
          <p:cNvCxnSpPr/>
          <p:nvPr/>
        </p:nvCxnSpPr>
        <p:spPr>
          <a:xfrm>
            <a:off x="3913482" y="2649220"/>
            <a:ext cx="1252878" cy="0"/>
          </a:xfrm>
          <a:prstGeom prst="line">
            <a:avLst/>
          </a:prstGeom>
          <a:ln w="228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3913482" y="2603500"/>
            <a:ext cx="0" cy="91440"/>
          </a:xfrm>
          <a:prstGeom prst="line">
            <a:avLst/>
          </a:prstGeom>
          <a:ln w="1270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5166360" y="2603500"/>
            <a:ext cx="0" cy="91440"/>
          </a:xfrm>
          <a:prstGeom prst="line">
            <a:avLst/>
          </a:prstGeom>
          <a:ln w="1270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Diamond 82"/>
          <p:cNvSpPr/>
          <p:nvPr/>
        </p:nvSpPr>
        <p:spPr>
          <a:xfrm>
            <a:off x="4818709" y="2594220"/>
            <a:ext cx="110000" cy="110000"/>
          </a:xfrm>
          <a:prstGeom prst="diamond">
            <a:avLst/>
          </a:prstGeom>
          <a:solidFill>
            <a:srgbClr val="D4A300"/>
          </a:solidFill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221224" y="2521204"/>
            <a:ext cx="68580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D4A300"/>
                </a:solidFill>
                <a:latin typeface="Arial"/>
              </a:rPr>
              <a:t>+1.21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221224" y="2630932"/>
            <a:ext cx="77724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555555"/>
                </a:solidFill>
                <a:latin typeface="Arial"/>
              </a:rPr>
              <a:t>[+0.06, +1.97]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221224" y="2740660"/>
            <a:ext cx="68580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 i="0">
                <a:solidFill>
                  <a:srgbClr val="D4A300"/>
                </a:solidFill>
                <a:latin typeface="Arial"/>
              </a:rPr>
              <a:t>P = 0.026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64592" y="2897124"/>
            <a:ext cx="235915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A6502C"/>
                </a:solidFill>
                <a:latin typeface="Arial"/>
              </a:rPr>
              <a:t>IGH clonotypes (B-cell)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450592" y="2942844"/>
            <a:ext cx="54864" cy="73152"/>
          </a:xfrm>
          <a:prstGeom prst="rect">
            <a:avLst/>
          </a:prstGeom>
          <a:solidFill>
            <a:srgbClr val="A65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" name="Connector 88"/>
          <p:cNvCxnSpPr/>
          <p:nvPr/>
        </p:nvCxnSpPr>
        <p:spPr>
          <a:xfrm>
            <a:off x="3402086" y="2979420"/>
            <a:ext cx="1596199" cy="0"/>
          </a:xfrm>
          <a:prstGeom prst="line">
            <a:avLst/>
          </a:prstGeom>
          <a:ln w="15240">
            <a:solidFill>
              <a:srgbClr val="A6502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3402086" y="2933700"/>
            <a:ext cx="0" cy="91440"/>
          </a:xfrm>
          <a:prstGeom prst="line">
            <a:avLst/>
          </a:prstGeom>
          <a:ln w="12700">
            <a:solidFill>
              <a:srgbClr val="A6502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4998285" y="2933700"/>
            <a:ext cx="0" cy="91440"/>
          </a:xfrm>
          <a:prstGeom prst="line">
            <a:avLst/>
          </a:prstGeom>
          <a:ln w="12700">
            <a:solidFill>
              <a:srgbClr val="A6502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Diamond 91"/>
          <p:cNvSpPr/>
          <p:nvPr/>
        </p:nvSpPr>
        <p:spPr>
          <a:xfrm>
            <a:off x="4080654" y="2941420"/>
            <a:ext cx="76000" cy="76000"/>
          </a:xfrm>
          <a:prstGeom prst="diamond">
            <a:avLst/>
          </a:prstGeom>
          <a:solidFill>
            <a:srgbClr val="A6502C"/>
          </a:solidFill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221224" y="2851404"/>
            <a:ext cx="68580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Arial"/>
              </a:rPr>
              <a:t>+1572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221224" y="2961132"/>
            <a:ext cx="77724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555555"/>
                </a:solidFill>
                <a:latin typeface="Arial"/>
              </a:rPr>
              <a:t>[-2840, +6988]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221224" y="3070860"/>
            <a:ext cx="68580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555555"/>
                </a:solidFill>
                <a:latin typeface="Arial"/>
              </a:rPr>
              <a:t>P = 0.240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64592" y="3227324"/>
            <a:ext cx="235915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555555"/>
                </a:solidFill>
                <a:latin typeface="Arial"/>
              </a:rPr>
              <a:t>TRB Shannon diversity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450592" y="3273044"/>
            <a:ext cx="54864" cy="73152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8" name="Connector 97"/>
          <p:cNvCxnSpPr/>
          <p:nvPr/>
        </p:nvCxnSpPr>
        <p:spPr>
          <a:xfrm>
            <a:off x="3551234" y="3309620"/>
            <a:ext cx="1596199" cy="0"/>
          </a:xfrm>
          <a:prstGeom prst="line">
            <a:avLst/>
          </a:prstGeom>
          <a:ln w="15240">
            <a:solidFill>
              <a:srgbClr val="5555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3551234" y="3263900"/>
            <a:ext cx="0" cy="91440"/>
          </a:xfrm>
          <a:prstGeom prst="line">
            <a:avLst/>
          </a:prstGeom>
          <a:ln w="12700">
            <a:solidFill>
              <a:srgbClr val="5555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5147433" y="3263900"/>
            <a:ext cx="0" cy="91440"/>
          </a:xfrm>
          <a:prstGeom prst="line">
            <a:avLst/>
          </a:prstGeom>
          <a:ln w="12700">
            <a:solidFill>
              <a:srgbClr val="5555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Diamond 100"/>
          <p:cNvSpPr/>
          <p:nvPr/>
        </p:nvSpPr>
        <p:spPr>
          <a:xfrm>
            <a:off x="4211460" y="3271620"/>
            <a:ext cx="76000" cy="76000"/>
          </a:xfrm>
          <a:prstGeom prst="diamond">
            <a:avLst/>
          </a:prstGeom>
          <a:solidFill>
            <a:srgbClr val="555555"/>
          </a:solidFill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221224" y="3181604"/>
            <a:ext cx="68580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Arial"/>
              </a:rPr>
              <a:t>+0.43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221224" y="3291332"/>
            <a:ext cx="77724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555555"/>
                </a:solidFill>
                <a:latin typeface="Arial"/>
              </a:rPr>
              <a:t>[-0.35, +1.44]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221224" y="3401060"/>
            <a:ext cx="68580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555555"/>
                </a:solidFill>
                <a:latin typeface="Arial"/>
              </a:rPr>
              <a:t>P = 0.310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64592" y="3566160"/>
            <a:ext cx="118872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 i="0">
                <a:solidFill>
                  <a:srgbClr val="222222"/>
                </a:solidFill>
                <a:latin typeface="Arial"/>
              </a:rPr>
              <a:t>Cascade group: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941832" y="3584448"/>
            <a:ext cx="82296" cy="82296"/>
          </a:xfrm>
          <a:prstGeom prst="rect">
            <a:avLst/>
          </a:prstGeom>
          <a:solidFill>
            <a:srgbClr val="3E52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042416" y="3561160"/>
            <a:ext cx="100584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222222"/>
                </a:solidFill>
                <a:latin typeface="Arial"/>
              </a:rPr>
              <a:t>Clone clearance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965960" y="3584448"/>
            <a:ext cx="82296" cy="82296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2066544" y="3561160"/>
            <a:ext cx="100584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222222"/>
                </a:solidFill>
                <a:latin typeface="Arial"/>
              </a:rPr>
              <a:t>Antigen clearance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2990088" y="3584448"/>
            <a:ext cx="82296" cy="82296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3090672" y="3561160"/>
            <a:ext cx="100584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222222"/>
                </a:solidFill>
                <a:latin typeface="Arial"/>
              </a:rPr>
              <a:t>Immune reprogramming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014216" y="3584448"/>
            <a:ext cx="82296" cy="82296"/>
          </a:xfrm>
          <a:prstGeom prst="rect">
            <a:avLst/>
          </a:prstGeom>
          <a:solidFill>
            <a:srgbClr val="A65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114800" y="3561160"/>
            <a:ext cx="100584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222222"/>
                </a:solidFill>
                <a:latin typeface="Arial"/>
              </a:rPr>
              <a:t>B-cell infiltration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5038344" y="3584448"/>
            <a:ext cx="82296" cy="82296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5138928" y="3561160"/>
            <a:ext cx="100584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222222"/>
                </a:solidFill>
                <a:latin typeface="Arial"/>
              </a:rPr>
              <a:t>T-cell repertoire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37160" y="3794760"/>
            <a:ext cx="566928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1" i="0">
                <a:solidFill>
                  <a:srgbClr val="D4A300"/>
                </a:solidFill>
                <a:latin typeface="Arial"/>
              </a:rPr>
              <a:t>★ Only Treg Δ has a between-group BCa CI strictly excluding zero (robust at n = 12).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37160" y="3931920"/>
            <a:ext cx="566928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1">
                <a:solidFill>
                  <a:srgbClr val="555555"/>
                </a:solidFill>
                <a:latin typeface="Arial"/>
              </a:rPr>
              <a:t>Other cascade features are framed as exploratory phenomenology; see Panel C for within-group robustness.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91440"/>
            <a:ext cx="365760" cy="32004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222222"/>
                </a:solidFill>
                <a:latin typeface="Arial"/>
              </a:rPr>
              <a:t>B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5029200" cy="1473200"/>
          </a:xfrm>
          <a:prstGeom prst="rect">
            <a:avLst/>
          </a:prstGeom>
          <a:solidFill>
            <a:srgbClr val="EE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976120"/>
            <a:ext cx="5029200" cy="1270000"/>
          </a:xfrm>
          <a:prstGeom prst="rect">
            <a:avLst/>
          </a:prstGeom>
          <a:solidFill>
            <a:srgbClr val="FB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530352"/>
            <a:ext cx="274320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1">
                <a:solidFill>
                  <a:srgbClr val="3A7A6B"/>
                </a:solidFill>
                <a:latin typeface="Arial"/>
              </a:rPr>
              <a:t>↑ predicted direction (clearance / infiltration / activation)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3081528"/>
            <a:ext cx="274320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1">
                <a:solidFill>
                  <a:srgbClr val="9B5A48"/>
                </a:solidFill>
                <a:latin typeface="Arial"/>
              </a:rPr>
              <a:t>↓ opposite direction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31520" y="502920"/>
            <a:ext cx="0" cy="2743200"/>
          </a:xfrm>
          <a:prstGeom prst="line">
            <a:avLst/>
          </a:prstGeom>
          <a:ln w="762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31520" y="3246120"/>
            <a:ext cx="5029200" cy="0"/>
          </a:xfrm>
          <a:prstGeom prst="line">
            <a:avLst/>
          </a:prstGeom>
          <a:ln w="762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85800" y="2992120"/>
            <a:ext cx="45720" cy="0"/>
          </a:xfrm>
          <a:prstGeom prst="line">
            <a:avLst/>
          </a:prstGeom>
          <a:ln w="635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20040" y="2918968"/>
            <a:ext cx="36576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−1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5800" y="2484120"/>
            <a:ext cx="45720" cy="0"/>
          </a:xfrm>
          <a:prstGeom prst="line">
            <a:avLst/>
          </a:prstGeom>
          <a:ln w="635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20040" y="2410968"/>
            <a:ext cx="36576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−0.5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85800" y="1976120"/>
            <a:ext cx="45720" cy="0"/>
          </a:xfrm>
          <a:prstGeom prst="line">
            <a:avLst/>
          </a:prstGeom>
          <a:ln w="635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20040" y="1902968"/>
            <a:ext cx="36576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0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85800" y="1468120"/>
            <a:ext cx="45720" cy="0"/>
          </a:xfrm>
          <a:prstGeom prst="line">
            <a:avLst/>
          </a:prstGeom>
          <a:ln w="635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20040" y="1394968"/>
            <a:ext cx="36576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+0.5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85800" y="960120"/>
            <a:ext cx="45720" cy="0"/>
          </a:xfrm>
          <a:prstGeom prst="line">
            <a:avLst/>
          </a:prstGeom>
          <a:ln w="635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20040" y="886968"/>
            <a:ext cx="36576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+1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85800" y="553720"/>
            <a:ext cx="45720" cy="0"/>
          </a:xfrm>
          <a:prstGeom prst="line">
            <a:avLst/>
          </a:prstGeom>
          <a:ln w="635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20040" y="480568"/>
            <a:ext cx="36576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+1.4</a:t>
            </a:r>
          </a:p>
        </p:txBody>
      </p:sp>
      <p:sp>
        <p:nvSpPr>
          <p:cNvPr id="21" name="TextBox 20"/>
          <p:cNvSpPr txBox="1"/>
          <p:nvPr/>
        </p:nvSpPr>
        <p:spPr>
          <a:xfrm rot="16200000">
            <a:off x="109728" y="1051560"/>
            <a:ext cx="320040" cy="164592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Oriented Δ  (post − pre) · sign(predicted)  ÷  scale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31520" y="1976120"/>
            <a:ext cx="5029200" cy="0"/>
          </a:xfrm>
          <a:prstGeom prst="line">
            <a:avLst/>
          </a:prstGeom>
          <a:ln w="1397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779008" y="1902968"/>
            <a:ext cx="50292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222222"/>
                </a:solidFill>
                <a:latin typeface="Arial"/>
              </a:rPr>
              <a:t>no change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748" y="1177334"/>
            <a:ext cx="155448" cy="427420"/>
          </a:xfrm>
          <a:prstGeom prst="rect">
            <a:avLst/>
          </a:prstGeom>
          <a:solidFill>
            <a:srgbClr val="ABD2CD"/>
          </a:solidFill>
          <a:ln w="889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777748" y="1443596"/>
            <a:ext cx="155448" cy="0"/>
          </a:xfrm>
          <a:prstGeom prst="line">
            <a:avLst/>
          </a:prstGeom>
          <a:ln w="228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Diamond 25"/>
          <p:cNvSpPr/>
          <p:nvPr/>
        </p:nvSpPr>
        <p:spPr>
          <a:xfrm>
            <a:off x="823472" y="1411596"/>
            <a:ext cx="64000" cy="64000"/>
          </a:xfrm>
          <a:prstGeom prst="diamond">
            <a:avLst/>
          </a:prstGeom>
          <a:solidFill>
            <a:srgbClr val="0A7D6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67956" y="1665830"/>
            <a:ext cx="32000" cy="32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01583" y="1511679"/>
            <a:ext cx="32000" cy="32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10160" y="944120"/>
            <a:ext cx="32000" cy="32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15406" y="986161"/>
            <a:ext cx="32000" cy="32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10336" y="1427596"/>
            <a:ext cx="32000" cy="32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67021" y="1336506"/>
            <a:ext cx="32000" cy="32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73235" y="1981141"/>
            <a:ext cx="32000" cy="32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88644" y="1618768"/>
            <a:ext cx="155448" cy="427421"/>
          </a:xfrm>
          <a:prstGeom prst="rect">
            <a:avLst/>
          </a:prstGeom>
          <a:solidFill>
            <a:srgbClr val="EBBDB2"/>
          </a:solidFill>
          <a:ln w="889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1088644" y="1772920"/>
            <a:ext cx="155448" cy="0"/>
          </a:xfrm>
          <a:prstGeom prst="line">
            <a:avLst/>
          </a:prstGeom>
          <a:ln w="228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Diamond 35"/>
          <p:cNvSpPr/>
          <p:nvPr/>
        </p:nvSpPr>
        <p:spPr>
          <a:xfrm>
            <a:off x="1134368" y="1740920"/>
            <a:ext cx="64000" cy="64000"/>
          </a:xfrm>
          <a:prstGeom prst="diamond">
            <a:avLst/>
          </a:prstGeom>
          <a:solidFill>
            <a:srgbClr val="C53E1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57881" y="1756920"/>
            <a:ext cx="32000" cy="32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108250" y="1504672"/>
            <a:ext cx="32000" cy="32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13255" y="1700865"/>
            <a:ext cx="32000" cy="32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35024" y="2023182"/>
            <a:ext cx="32000" cy="32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144253" y="2079237"/>
            <a:ext cx="32000" cy="32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161453" y="1504672"/>
            <a:ext cx="32000" cy="32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148452" y="2037196"/>
            <a:ext cx="32000" cy="32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 rot="2100000">
            <a:off x="508000" y="3319272"/>
            <a:ext cx="1005840" cy="50292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3E5286"/>
                </a:solidFill>
                <a:latin typeface="Arial"/>
              </a:rPr>
              <a:t>SBS5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5160" y="3794760"/>
            <a:ext cx="73152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1" i="0">
                <a:solidFill>
                  <a:srgbClr val="D4A300"/>
                </a:solidFill>
                <a:latin typeface="Arial"/>
              </a:rPr>
              <a:t>P=0.041★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336548" y="1111629"/>
            <a:ext cx="155448" cy="1024912"/>
          </a:xfrm>
          <a:prstGeom prst="rect">
            <a:avLst/>
          </a:prstGeom>
          <a:solidFill>
            <a:srgbClr val="ABD2CD"/>
          </a:solidFill>
          <a:ln w="889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>
            <a:off x="1336548" y="1236401"/>
            <a:ext cx="155448" cy="0"/>
          </a:xfrm>
          <a:prstGeom prst="line">
            <a:avLst/>
          </a:prstGeom>
          <a:ln w="228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Diamond 47"/>
          <p:cNvSpPr/>
          <p:nvPr/>
        </p:nvSpPr>
        <p:spPr>
          <a:xfrm>
            <a:off x="1382272" y="1204401"/>
            <a:ext cx="64000" cy="64000"/>
          </a:xfrm>
          <a:prstGeom prst="diamond">
            <a:avLst/>
          </a:prstGeom>
          <a:solidFill>
            <a:srgbClr val="0A7D6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376764" y="1220401"/>
            <a:ext cx="32000" cy="32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367158" y="2191839"/>
            <a:ext cx="32000" cy="32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415775" y="944120"/>
            <a:ext cx="32000" cy="32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419722" y="1095629"/>
            <a:ext cx="32000" cy="32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355541" y="2120541"/>
            <a:ext cx="32000" cy="32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647444" y="1788962"/>
            <a:ext cx="155448" cy="196070"/>
          </a:xfrm>
          <a:prstGeom prst="rect">
            <a:avLst/>
          </a:prstGeom>
          <a:solidFill>
            <a:srgbClr val="EBBDB2"/>
          </a:solidFill>
          <a:ln w="889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1647444" y="1967208"/>
            <a:ext cx="155448" cy="0"/>
          </a:xfrm>
          <a:prstGeom prst="line">
            <a:avLst/>
          </a:prstGeom>
          <a:ln w="228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Diamond 55"/>
          <p:cNvSpPr/>
          <p:nvPr/>
        </p:nvSpPr>
        <p:spPr>
          <a:xfrm>
            <a:off x="1693168" y="1935208"/>
            <a:ext cx="64000" cy="64000"/>
          </a:xfrm>
          <a:prstGeom prst="diamond">
            <a:avLst/>
          </a:prstGeom>
          <a:solidFill>
            <a:srgbClr val="C53E1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673842" y="1781874"/>
            <a:ext cx="32000" cy="32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704790" y="1969032"/>
            <a:ext cx="32000" cy="32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699222" y="1621453"/>
            <a:ext cx="32000" cy="32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744631" y="1969032"/>
            <a:ext cx="32000" cy="32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710699" y="1951208"/>
            <a:ext cx="32000" cy="32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701863" y="1764050"/>
            <a:ext cx="32000" cy="32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702825" y="1977945"/>
            <a:ext cx="32000" cy="32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" name="Connector 63"/>
          <p:cNvCxnSpPr/>
          <p:nvPr/>
        </p:nvCxnSpPr>
        <p:spPr>
          <a:xfrm>
            <a:off x="1290320" y="594360"/>
            <a:ext cx="0" cy="2560320"/>
          </a:xfrm>
          <a:prstGeom prst="line">
            <a:avLst/>
          </a:prstGeom>
          <a:ln w="3810">
            <a:solidFill>
              <a:srgbClr val="DDDDDD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 rot="2100000">
            <a:off x="1066800" y="3319272"/>
            <a:ext cx="1005840" cy="50292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3E5286"/>
                </a:solidFill>
                <a:latin typeface="Arial"/>
              </a:rPr>
              <a:t>missense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203960" y="3794760"/>
            <a:ext cx="73152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 i="0">
                <a:solidFill>
                  <a:srgbClr val="666666"/>
                </a:solidFill>
                <a:latin typeface="Arial"/>
              </a:rPr>
              <a:t>P=0.626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895348" y="1182471"/>
            <a:ext cx="155448" cy="594020"/>
          </a:xfrm>
          <a:prstGeom prst="rect">
            <a:avLst/>
          </a:prstGeom>
          <a:solidFill>
            <a:srgbClr val="ABD2CD"/>
          </a:solidFill>
          <a:ln w="889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8" name="Connector 67"/>
          <p:cNvCxnSpPr/>
          <p:nvPr/>
        </p:nvCxnSpPr>
        <p:spPr>
          <a:xfrm>
            <a:off x="1895348" y="1469743"/>
            <a:ext cx="155448" cy="0"/>
          </a:xfrm>
          <a:prstGeom prst="line">
            <a:avLst/>
          </a:prstGeom>
          <a:ln w="228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Diamond 68"/>
          <p:cNvSpPr/>
          <p:nvPr/>
        </p:nvSpPr>
        <p:spPr>
          <a:xfrm>
            <a:off x="1941072" y="1437743"/>
            <a:ext cx="64000" cy="64000"/>
          </a:xfrm>
          <a:prstGeom prst="diamond">
            <a:avLst/>
          </a:prstGeom>
          <a:solidFill>
            <a:srgbClr val="0A7D6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1972282" y="1453743"/>
            <a:ext cx="32000" cy="32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1965009" y="1760491"/>
            <a:ext cx="32000" cy="32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927155" y="1166471"/>
            <a:ext cx="32000" cy="32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978820" y="944120"/>
            <a:ext cx="32000" cy="32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980549" y="2028286"/>
            <a:ext cx="32000" cy="32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2206244" y="1617031"/>
            <a:ext cx="155448" cy="271041"/>
          </a:xfrm>
          <a:prstGeom prst="rect">
            <a:avLst/>
          </a:prstGeom>
          <a:solidFill>
            <a:srgbClr val="EBBDB2"/>
          </a:solidFill>
          <a:ln w="889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" name="Connector 75"/>
          <p:cNvCxnSpPr/>
          <p:nvPr/>
        </p:nvCxnSpPr>
        <p:spPr>
          <a:xfrm>
            <a:off x="2206244" y="1814631"/>
            <a:ext cx="155448" cy="0"/>
          </a:xfrm>
          <a:prstGeom prst="line">
            <a:avLst/>
          </a:prstGeom>
          <a:ln w="228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Diamond 76"/>
          <p:cNvSpPr/>
          <p:nvPr/>
        </p:nvSpPr>
        <p:spPr>
          <a:xfrm>
            <a:off x="2251968" y="1782631"/>
            <a:ext cx="64000" cy="64000"/>
          </a:xfrm>
          <a:prstGeom prst="diamond">
            <a:avLst/>
          </a:prstGeom>
          <a:solidFill>
            <a:srgbClr val="C53E1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2309690" y="1856248"/>
            <a:ext cx="32000" cy="32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2294138" y="1554369"/>
            <a:ext cx="32000" cy="32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2248235" y="1439136"/>
            <a:ext cx="32000" cy="32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2251508" y="1877347"/>
            <a:ext cx="32000" cy="32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2281551" y="1989334"/>
            <a:ext cx="32000" cy="32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2281717" y="1741015"/>
            <a:ext cx="32000" cy="32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4" name="Connector 83"/>
          <p:cNvCxnSpPr/>
          <p:nvPr/>
        </p:nvCxnSpPr>
        <p:spPr>
          <a:xfrm>
            <a:off x="1849120" y="594360"/>
            <a:ext cx="0" cy="2560320"/>
          </a:xfrm>
          <a:prstGeom prst="line">
            <a:avLst/>
          </a:prstGeom>
          <a:ln w="3810">
            <a:solidFill>
              <a:srgbClr val="DDDDDD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 rot="2100000">
            <a:off x="1625600" y="3319272"/>
            <a:ext cx="1005840" cy="50292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6A4C93"/>
                </a:solidFill>
                <a:latin typeface="Arial"/>
              </a:rPr>
              <a:t>neo binders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762760" y="3794760"/>
            <a:ext cx="73152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 i="0">
                <a:solidFill>
                  <a:srgbClr val="666666"/>
                </a:solidFill>
                <a:latin typeface="Arial"/>
              </a:rPr>
              <a:t>P=0.429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454148" y="1029393"/>
            <a:ext cx="155448" cy="646545"/>
          </a:xfrm>
          <a:prstGeom prst="rect">
            <a:avLst/>
          </a:prstGeom>
          <a:solidFill>
            <a:srgbClr val="ABD2CD"/>
          </a:solidFill>
          <a:ln w="889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8" name="Connector 87"/>
          <p:cNvCxnSpPr/>
          <p:nvPr/>
        </p:nvCxnSpPr>
        <p:spPr>
          <a:xfrm>
            <a:off x="2454148" y="1294938"/>
            <a:ext cx="155448" cy="0"/>
          </a:xfrm>
          <a:prstGeom prst="line">
            <a:avLst/>
          </a:prstGeom>
          <a:ln w="228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Diamond 88"/>
          <p:cNvSpPr/>
          <p:nvPr/>
        </p:nvSpPr>
        <p:spPr>
          <a:xfrm>
            <a:off x="2499872" y="1262938"/>
            <a:ext cx="64000" cy="64000"/>
          </a:xfrm>
          <a:prstGeom prst="diamond">
            <a:avLst/>
          </a:prstGeom>
          <a:solidFill>
            <a:srgbClr val="0A7D6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2533814" y="1278938"/>
            <a:ext cx="32000" cy="32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2549637" y="1659938"/>
            <a:ext cx="32000" cy="32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2496918" y="944120"/>
            <a:ext cx="32000" cy="32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2555993" y="1013393"/>
            <a:ext cx="32000" cy="32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2470288" y="2098665"/>
            <a:ext cx="32000" cy="32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2765044" y="1626870"/>
            <a:ext cx="155448" cy="256886"/>
          </a:xfrm>
          <a:prstGeom prst="rect">
            <a:avLst/>
          </a:prstGeom>
          <a:solidFill>
            <a:srgbClr val="EBBDB2"/>
          </a:solidFill>
          <a:ln w="889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6" name="Connector 95"/>
          <p:cNvCxnSpPr/>
          <p:nvPr/>
        </p:nvCxnSpPr>
        <p:spPr>
          <a:xfrm>
            <a:off x="2765044" y="1785620"/>
            <a:ext cx="155448" cy="0"/>
          </a:xfrm>
          <a:prstGeom prst="line">
            <a:avLst/>
          </a:prstGeom>
          <a:ln w="228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Diamond 96"/>
          <p:cNvSpPr/>
          <p:nvPr/>
        </p:nvSpPr>
        <p:spPr>
          <a:xfrm>
            <a:off x="2810768" y="1753620"/>
            <a:ext cx="64000" cy="64000"/>
          </a:xfrm>
          <a:prstGeom prst="diamond">
            <a:avLst/>
          </a:prstGeom>
          <a:solidFill>
            <a:srgbClr val="C53E1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2788081" y="1798484"/>
            <a:ext cx="32000" cy="32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2870062" y="1313575"/>
            <a:ext cx="32000" cy="32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2867357" y="1567575"/>
            <a:ext cx="32000" cy="32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2808334" y="1890847"/>
            <a:ext cx="32000" cy="32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2793782" y="1948575"/>
            <a:ext cx="32000" cy="32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2809759" y="1740756"/>
            <a:ext cx="32000" cy="32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4" name="Connector 103"/>
          <p:cNvCxnSpPr/>
          <p:nvPr/>
        </p:nvCxnSpPr>
        <p:spPr>
          <a:xfrm>
            <a:off x="2407920" y="594360"/>
            <a:ext cx="0" cy="2560320"/>
          </a:xfrm>
          <a:prstGeom prst="line">
            <a:avLst/>
          </a:prstGeom>
          <a:ln w="3810">
            <a:solidFill>
              <a:srgbClr val="DDDDDD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TextBox 104"/>
          <p:cNvSpPr txBox="1"/>
          <p:nvPr/>
        </p:nvSpPr>
        <p:spPr>
          <a:xfrm rot="2100000">
            <a:off x="2184400" y="3319272"/>
            <a:ext cx="1005840" cy="50292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6A4C93"/>
                </a:solidFill>
                <a:latin typeface="Arial"/>
              </a:rPr>
              <a:t>neo sites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321560" y="3794760"/>
            <a:ext cx="73152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 i="0">
                <a:solidFill>
                  <a:srgbClr val="666666"/>
                </a:solidFill>
                <a:latin typeface="Arial"/>
              </a:rPr>
              <a:t>P=0.247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3012948" y="1040946"/>
            <a:ext cx="155448" cy="405955"/>
          </a:xfrm>
          <a:prstGeom prst="rect">
            <a:avLst/>
          </a:prstGeom>
          <a:solidFill>
            <a:srgbClr val="ABD2CD"/>
          </a:solidFill>
          <a:ln w="889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8" name="Connector 107"/>
          <p:cNvCxnSpPr/>
          <p:nvPr/>
        </p:nvCxnSpPr>
        <p:spPr>
          <a:xfrm>
            <a:off x="3012948" y="1327309"/>
            <a:ext cx="155448" cy="0"/>
          </a:xfrm>
          <a:prstGeom prst="line">
            <a:avLst/>
          </a:prstGeom>
          <a:ln w="228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Diamond 108"/>
          <p:cNvSpPr/>
          <p:nvPr/>
        </p:nvSpPr>
        <p:spPr>
          <a:xfrm>
            <a:off x="3058672" y="1295309"/>
            <a:ext cx="64000" cy="64000"/>
          </a:xfrm>
          <a:prstGeom prst="diamond">
            <a:avLst/>
          </a:prstGeom>
          <a:solidFill>
            <a:srgbClr val="0A7D6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3032893" y="1355169"/>
            <a:ext cx="32000" cy="32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3110490" y="1674940"/>
            <a:ext cx="32000" cy="32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3089546" y="1267448"/>
            <a:ext cx="32000" cy="32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3082459" y="486920"/>
            <a:ext cx="32000" cy="32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3051325" y="944112"/>
            <a:ext cx="32000" cy="32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3072049" y="1456145"/>
            <a:ext cx="32000" cy="32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3323844" y="1516935"/>
            <a:ext cx="155448" cy="316250"/>
          </a:xfrm>
          <a:prstGeom prst="rect">
            <a:avLst/>
          </a:prstGeom>
          <a:solidFill>
            <a:srgbClr val="EBBDB2"/>
          </a:solidFill>
          <a:ln w="889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7" name="Connector 116"/>
          <p:cNvCxnSpPr/>
          <p:nvPr/>
        </p:nvCxnSpPr>
        <p:spPr>
          <a:xfrm>
            <a:off x="3323844" y="1784229"/>
            <a:ext cx="155448" cy="0"/>
          </a:xfrm>
          <a:prstGeom prst="line">
            <a:avLst/>
          </a:prstGeom>
          <a:ln w="228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Diamond 117"/>
          <p:cNvSpPr/>
          <p:nvPr/>
        </p:nvSpPr>
        <p:spPr>
          <a:xfrm>
            <a:off x="3369568" y="1752229"/>
            <a:ext cx="64000" cy="64000"/>
          </a:xfrm>
          <a:prstGeom prst="diamond">
            <a:avLst/>
          </a:prstGeom>
          <a:solidFill>
            <a:srgbClr val="C53E1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3357253" y="1776513"/>
            <a:ext cx="32000" cy="32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3410557" y="1414598"/>
            <a:ext cx="32000" cy="32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3383234" y="1122146"/>
            <a:ext cx="32000" cy="32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3342622" y="1759946"/>
            <a:ext cx="32000" cy="32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3363111" y="1830743"/>
            <a:ext cx="32000" cy="32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3404493" y="2515631"/>
            <a:ext cx="32000" cy="32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5" name="Connector 124"/>
          <p:cNvCxnSpPr/>
          <p:nvPr/>
        </p:nvCxnSpPr>
        <p:spPr>
          <a:xfrm>
            <a:off x="2966720" y="594360"/>
            <a:ext cx="0" cy="2560320"/>
          </a:xfrm>
          <a:prstGeom prst="line">
            <a:avLst/>
          </a:prstGeom>
          <a:ln w="3810">
            <a:solidFill>
              <a:srgbClr val="DDDDDD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TextBox 125"/>
          <p:cNvSpPr txBox="1"/>
          <p:nvPr/>
        </p:nvSpPr>
        <p:spPr>
          <a:xfrm rot="2100000">
            <a:off x="2743200" y="3319272"/>
            <a:ext cx="1005840" cy="50292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0A7D6E"/>
                </a:solidFill>
                <a:latin typeface="Arial"/>
              </a:rPr>
              <a:t>MHC II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2880360" y="3794760"/>
            <a:ext cx="73152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 i="0">
                <a:solidFill>
                  <a:srgbClr val="666666"/>
                </a:solidFill>
                <a:latin typeface="Arial"/>
              </a:rPr>
              <a:t>P=0.065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3571748" y="968724"/>
            <a:ext cx="155448" cy="765398"/>
          </a:xfrm>
          <a:prstGeom prst="rect">
            <a:avLst/>
          </a:prstGeom>
          <a:solidFill>
            <a:srgbClr val="ABD2CD"/>
          </a:solidFill>
          <a:ln w="889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9" name="Connector 128"/>
          <p:cNvCxnSpPr/>
          <p:nvPr/>
        </p:nvCxnSpPr>
        <p:spPr>
          <a:xfrm>
            <a:off x="3571748" y="1350196"/>
            <a:ext cx="155448" cy="0"/>
          </a:xfrm>
          <a:prstGeom prst="line">
            <a:avLst/>
          </a:prstGeom>
          <a:ln w="228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Diamond 129"/>
          <p:cNvSpPr/>
          <p:nvPr/>
        </p:nvSpPr>
        <p:spPr>
          <a:xfrm>
            <a:off x="3617472" y="1318196"/>
            <a:ext cx="64000" cy="64000"/>
          </a:xfrm>
          <a:prstGeom prst="diamond">
            <a:avLst/>
          </a:prstGeom>
          <a:solidFill>
            <a:srgbClr val="0A7D6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3635274" y="880226"/>
            <a:ext cx="32000" cy="32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3621973" y="1729448"/>
            <a:ext cx="32000" cy="32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3610945" y="1684144"/>
            <a:ext cx="32000" cy="32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3596059" y="984249"/>
            <a:ext cx="32000" cy="32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3643403" y="942216"/>
            <a:ext cx="32000" cy="32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3648148" y="1906260"/>
            <a:ext cx="32000" cy="32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3882644" y="1868524"/>
            <a:ext cx="155448" cy="301400"/>
          </a:xfrm>
          <a:prstGeom prst="rect">
            <a:avLst/>
          </a:prstGeom>
          <a:solidFill>
            <a:srgbClr val="EBBDB2"/>
          </a:solidFill>
          <a:ln w="889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8" name="Connector 137"/>
          <p:cNvCxnSpPr/>
          <p:nvPr/>
        </p:nvCxnSpPr>
        <p:spPr>
          <a:xfrm>
            <a:off x="3882644" y="2037748"/>
            <a:ext cx="155448" cy="0"/>
          </a:xfrm>
          <a:prstGeom prst="line">
            <a:avLst/>
          </a:prstGeom>
          <a:ln w="228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Diamond 138"/>
          <p:cNvSpPr/>
          <p:nvPr/>
        </p:nvSpPr>
        <p:spPr>
          <a:xfrm>
            <a:off x="3928368" y="2005748"/>
            <a:ext cx="64000" cy="64000"/>
          </a:xfrm>
          <a:prstGeom prst="diamond">
            <a:avLst/>
          </a:prstGeom>
          <a:solidFill>
            <a:srgbClr val="C53E1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3946216" y="2185107"/>
            <a:ext cx="32000" cy="32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3983821" y="1808992"/>
            <a:ext cx="32000" cy="32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3983499" y="674555"/>
            <a:ext cx="32000" cy="32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3917593" y="2414502"/>
            <a:ext cx="32000" cy="32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3954258" y="1983119"/>
            <a:ext cx="32000" cy="32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3956264" y="2060376"/>
            <a:ext cx="32000" cy="32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6" name="Connector 145"/>
          <p:cNvCxnSpPr/>
          <p:nvPr/>
        </p:nvCxnSpPr>
        <p:spPr>
          <a:xfrm>
            <a:off x="3525520" y="594360"/>
            <a:ext cx="0" cy="2560320"/>
          </a:xfrm>
          <a:prstGeom prst="line">
            <a:avLst/>
          </a:prstGeom>
          <a:ln w="3810">
            <a:solidFill>
              <a:srgbClr val="DDDDDD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TextBox 146"/>
          <p:cNvSpPr txBox="1"/>
          <p:nvPr/>
        </p:nvSpPr>
        <p:spPr>
          <a:xfrm rot="2100000">
            <a:off x="3302000" y="3319272"/>
            <a:ext cx="1005840" cy="50292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0A7D6E"/>
                </a:solidFill>
                <a:latin typeface="Arial"/>
              </a:rPr>
              <a:t>CD8 exhaustion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3439160" y="3794760"/>
            <a:ext cx="73152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 i="0">
                <a:solidFill>
                  <a:srgbClr val="666666"/>
                </a:solidFill>
                <a:latin typeface="Arial"/>
              </a:rPr>
              <a:t>P=0.093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4130548" y="996401"/>
            <a:ext cx="155448" cy="652123"/>
          </a:xfrm>
          <a:prstGeom prst="rect">
            <a:avLst/>
          </a:prstGeom>
          <a:solidFill>
            <a:srgbClr val="ABD2CD"/>
          </a:solidFill>
          <a:ln w="889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0" name="Connector 149"/>
          <p:cNvCxnSpPr/>
          <p:nvPr/>
        </p:nvCxnSpPr>
        <p:spPr>
          <a:xfrm>
            <a:off x="4130548" y="1250949"/>
            <a:ext cx="155448" cy="0"/>
          </a:xfrm>
          <a:prstGeom prst="line">
            <a:avLst/>
          </a:prstGeom>
          <a:ln w="228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Diamond 150"/>
          <p:cNvSpPr/>
          <p:nvPr/>
        </p:nvSpPr>
        <p:spPr>
          <a:xfrm>
            <a:off x="4176272" y="1218949"/>
            <a:ext cx="64000" cy="64000"/>
          </a:xfrm>
          <a:prstGeom prst="diamond">
            <a:avLst/>
          </a:prstGeom>
          <a:solidFill>
            <a:srgbClr val="0A7D6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4169222" y="941965"/>
            <a:ext cx="32000" cy="32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4173816" y="1374186"/>
            <a:ext cx="32000" cy="32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4191112" y="1718637"/>
            <a:ext cx="32000" cy="32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4214378" y="1095712"/>
            <a:ext cx="32000" cy="32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4173299" y="805551"/>
            <a:ext cx="32000" cy="32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4212587" y="1811707"/>
            <a:ext cx="32000" cy="32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4441444" y="1887041"/>
            <a:ext cx="155448" cy="234756"/>
          </a:xfrm>
          <a:prstGeom prst="rect">
            <a:avLst/>
          </a:prstGeom>
          <a:solidFill>
            <a:srgbClr val="EBBDB2"/>
          </a:solidFill>
          <a:ln w="889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9" name="Connector 158"/>
          <p:cNvCxnSpPr/>
          <p:nvPr/>
        </p:nvCxnSpPr>
        <p:spPr>
          <a:xfrm>
            <a:off x="4441444" y="1959746"/>
            <a:ext cx="155448" cy="0"/>
          </a:xfrm>
          <a:prstGeom prst="line">
            <a:avLst/>
          </a:prstGeom>
          <a:ln w="228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Diamond 159"/>
          <p:cNvSpPr/>
          <p:nvPr/>
        </p:nvSpPr>
        <p:spPr>
          <a:xfrm>
            <a:off x="4487168" y="1927746"/>
            <a:ext cx="64000" cy="64000"/>
          </a:xfrm>
          <a:prstGeom prst="diamond">
            <a:avLst/>
          </a:prstGeom>
          <a:solidFill>
            <a:srgbClr val="C53E1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4517229" y="2150449"/>
            <a:ext cx="32000" cy="32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4477447" y="1856172"/>
            <a:ext cx="32000" cy="32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4492912" y="967070"/>
            <a:ext cx="32000" cy="32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4533333" y="2262909"/>
            <a:ext cx="32000" cy="32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4534503" y="1915649"/>
            <a:ext cx="32000" cy="32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4517584" y="1971843"/>
            <a:ext cx="32000" cy="32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7" name="Connector 166"/>
          <p:cNvCxnSpPr/>
          <p:nvPr/>
        </p:nvCxnSpPr>
        <p:spPr>
          <a:xfrm>
            <a:off x="4084320" y="594360"/>
            <a:ext cx="0" cy="2560320"/>
          </a:xfrm>
          <a:prstGeom prst="line">
            <a:avLst/>
          </a:prstGeom>
          <a:ln w="3810">
            <a:solidFill>
              <a:srgbClr val="DDDDDD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8" name="TextBox 167"/>
          <p:cNvSpPr txBox="1"/>
          <p:nvPr/>
        </p:nvSpPr>
        <p:spPr>
          <a:xfrm rot="2100000">
            <a:off x="3860800" y="3319272"/>
            <a:ext cx="1005840" cy="50292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1" i="0">
                <a:solidFill>
                  <a:srgbClr val="D4A300"/>
                </a:solidFill>
                <a:latin typeface="Arial"/>
              </a:rPr>
              <a:t>Treg ★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3997960" y="3794760"/>
            <a:ext cx="73152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1" i="0">
                <a:solidFill>
                  <a:srgbClr val="D4A300"/>
                </a:solidFill>
                <a:latin typeface="Arial"/>
              </a:rPr>
              <a:t>P=0.026★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4689348" y="1131502"/>
            <a:ext cx="155448" cy="738813"/>
          </a:xfrm>
          <a:prstGeom prst="rect">
            <a:avLst/>
          </a:prstGeom>
          <a:solidFill>
            <a:srgbClr val="ABD2CD"/>
          </a:solidFill>
          <a:ln w="889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1" name="Connector 170"/>
          <p:cNvCxnSpPr/>
          <p:nvPr/>
        </p:nvCxnSpPr>
        <p:spPr>
          <a:xfrm>
            <a:off x="4689348" y="1734583"/>
            <a:ext cx="155448" cy="0"/>
          </a:xfrm>
          <a:prstGeom prst="line">
            <a:avLst/>
          </a:prstGeom>
          <a:ln w="228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2" name="Diamond 171"/>
          <p:cNvSpPr/>
          <p:nvPr/>
        </p:nvSpPr>
        <p:spPr>
          <a:xfrm>
            <a:off x="4735072" y="1702583"/>
            <a:ext cx="64000" cy="64000"/>
          </a:xfrm>
          <a:prstGeom prst="diamond">
            <a:avLst/>
          </a:prstGeom>
          <a:solidFill>
            <a:srgbClr val="0A7D6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4705783" y="944120"/>
            <a:ext cx="32000" cy="32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4767787" y="1869914"/>
            <a:ext cx="32000" cy="32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4725936" y="1807517"/>
            <a:ext cx="32000" cy="32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4780340" y="1960120"/>
            <a:ext cx="32000" cy="32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4788895" y="892574"/>
            <a:ext cx="32000" cy="32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4744541" y="1629649"/>
            <a:ext cx="32000" cy="32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5000244" y="1486983"/>
            <a:ext cx="155448" cy="669887"/>
          </a:xfrm>
          <a:prstGeom prst="rect">
            <a:avLst/>
          </a:prstGeom>
          <a:solidFill>
            <a:srgbClr val="EBBDB2"/>
          </a:solidFill>
          <a:ln w="889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0" name="Connector 179"/>
          <p:cNvCxnSpPr/>
          <p:nvPr/>
        </p:nvCxnSpPr>
        <p:spPr>
          <a:xfrm>
            <a:off x="5000244" y="1974848"/>
            <a:ext cx="155448" cy="0"/>
          </a:xfrm>
          <a:prstGeom prst="line">
            <a:avLst/>
          </a:prstGeom>
          <a:ln w="228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1" name="Diamond 180"/>
          <p:cNvSpPr/>
          <p:nvPr/>
        </p:nvSpPr>
        <p:spPr>
          <a:xfrm>
            <a:off x="5045968" y="1942848"/>
            <a:ext cx="64000" cy="64000"/>
          </a:xfrm>
          <a:prstGeom prst="diamond">
            <a:avLst/>
          </a:prstGeom>
          <a:solidFill>
            <a:srgbClr val="C53E1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5103754" y="2105263"/>
            <a:ext cx="32000" cy="32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5085624" y="1357167"/>
            <a:ext cx="32000" cy="32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5046021" y="1163869"/>
            <a:ext cx="32000" cy="32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5096577" y="1812434"/>
            <a:ext cx="32000" cy="32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5051414" y="2196825"/>
            <a:ext cx="32000" cy="32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5025604" y="2152739"/>
            <a:ext cx="32000" cy="32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8" name="Connector 187"/>
          <p:cNvCxnSpPr/>
          <p:nvPr/>
        </p:nvCxnSpPr>
        <p:spPr>
          <a:xfrm>
            <a:off x="4643120" y="594360"/>
            <a:ext cx="0" cy="2560320"/>
          </a:xfrm>
          <a:prstGeom prst="line">
            <a:avLst/>
          </a:prstGeom>
          <a:ln w="3810">
            <a:solidFill>
              <a:srgbClr val="DDDDDD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9" name="TextBox 188"/>
          <p:cNvSpPr txBox="1"/>
          <p:nvPr/>
        </p:nvSpPr>
        <p:spPr>
          <a:xfrm rot="2100000">
            <a:off x="4419600" y="3319272"/>
            <a:ext cx="1005840" cy="50292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A6502C"/>
                </a:solidFill>
                <a:latin typeface="Arial"/>
              </a:rPr>
              <a:t>IGH n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4556760" y="3794760"/>
            <a:ext cx="73152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 i="0">
                <a:solidFill>
                  <a:srgbClr val="666666"/>
                </a:solidFill>
                <a:latin typeface="Arial"/>
              </a:rPr>
              <a:t>P=0.240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5248148" y="1095688"/>
            <a:ext cx="155448" cy="678455"/>
          </a:xfrm>
          <a:prstGeom prst="rect">
            <a:avLst/>
          </a:prstGeom>
          <a:solidFill>
            <a:srgbClr val="ABD2CD"/>
          </a:solidFill>
          <a:ln w="889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2" name="Connector 191"/>
          <p:cNvCxnSpPr/>
          <p:nvPr/>
        </p:nvCxnSpPr>
        <p:spPr>
          <a:xfrm>
            <a:off x="5248148" y="1625744"/>
            <a:ext cx="155448" cy="0"/>
          </a:xfrm>
          <a:prstGeom prst="line">
            <a:avLst/>
          </a:prstGeom>
          <a:ln w="228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3" name="Diamond 192"/>
          <p:cNvSpPr/>
          <p:nvPr/>
        </p:nvSpPr>
        <p:spPr>
          <a:xfrm>
            <a:off x="5293872" y="1593744"/>
            <a:ext cx="64000" cy="64000"/>
          </a:xfrm>
          <a:prstGeom prst="diamond">
            <a:avLst/>
          </a:prstGeom>
          <a:solidFill>
            <a:srgbClr val="0A7D6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5318415" y="942683"/>
            <a:ext cx="32000" cy="32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5341855" y="1728786"/>
            <a:ext cx="32000" cy="32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5324173" y="1767928"/>
            <a:ext cx="32000" cy="32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5300173" y="1490701"/>
            <a:ext cx="32000" cy="32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5346648" y="902037"/>
            <a:ext cx="32000" cy="32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5308014" y="2539366"/>
            <a:ext cx="32000" cy="32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559044" y="1745216"/>
            <a:ext cx="155448" cy="721271"/>
          </a:xfrm>
          <a:prstGeom prst="rect">
            <a:avLst/>
          </a:prstGeom>
          <a:solidFill>
            <a:srgbClr val="EBBDB2"/>
          </a:solidFill>
          <a:ln w="889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1" name="Connector 200"/>
          <p:cNvCxnSpPr/>
          <p:nvPr/>
        </p:nvCxnSpPr>
        <p:spPr>
          <a:xfrm>
            <a:off x="5559044" y="1965089"/>
            <a:ext cx="155448" cy="0"/>
          </a:xfrm>
          <a:prstGeom prst="line">
            <a:avLst/>
          </a:prstGeom>
          <a:ln w="228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2" name="Diamond 201"/>
          <p:cNvSpPr/>
          <p:nvPr/>
        </p:nvSpPr>
        <p:spPr>
          <a:xfrm>
            <a:off x="5604768" y="1933089"/>
            <a:ext cx="64000" cy="64000"/>
          </a:xfrm>
          <a:prstGeom prst="diamond">
            <a:avLst/>
          </a:prstGeom>
          <a:solidFill>
            <a:srgbClr val="C53E1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5610316" y="1908586"/>
            <a:ext cx="32000" cy="32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5588428" y="1669427"/>
            <a:ext cx="32000" cy="32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5594486" y="852648"/>
            <a:ext cx="32000" cy="32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5638912" y="2604118"/>
            <a:ext cx="32000" cy="32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5648124" y="1989592"/>
            <a:ext cx="32000" cy="32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5601746" y="3230120"/>
            <a:ext cx="32000" cy="32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9" name="Connector 208"/>
          <p:cNvCxnSpPr/>
          <p:nvPr/>
        </p:nvCxnSpPr>
        <p:spPr>
          <a:xfrm>
            <a:off x="5201920" y="594360"/>
            <a:ext cx="0" cy="2560320"/>
          </a:xfrm>
          <a:prstGeom prst="line">
            <a:avLst/>
          </a:prstGeom>
          <a:ln w="3810">
            <a:solidFill>
              <a:srgbClr val="DDDDDD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0" name="TextBox 209"/>
          <p:cNvSpPr txBox="1"/>
          <p:nvPr/>
        </p:nvSpPr>
        <p:spPr>
          <a:xfrm rot="2100000">
            <a:off x="4978400" y="3319272"/>
            <a:ext cx="1005840" cy="50292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555555"/>
                </a:solidFill>
                <a:latin typeface="Arial"/>
              </a:rPr>
              <a:t>TRB shannon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5115560" y="3794760"/>
            <a:ext cx="73152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 i="0">
                <a:solidFill>
                  <a:srgbClr val="666666"/>
                </a:solidFill>
                <a:latin typeface="Arial"/>
              </a:rPr>
              <a:t>P=0.310</a:t>
            </a:r>
          </a:p>
        </p:txBody>
      </p:sp>
      <p:sp>
        <p:nvSpPr>
          <p:cNvPr id="212" name="Rectangle 211"/>
          <p:cNvSpPr/>
          <p:nvPr/>
        </p:nvSpPr>
        <p:spPr>
          <a:xfrm>
            <a:off x="731520" y="3794760"/>
            <a:ext cx="164592" cy="109728"/>
          </a:xfrm>
          <a:prstGeom prst="rect">
            <a:avLst/>
          </a:prstGeom>
          <a:solidFill>
            <a:srgbClr val="ABD2CD"/>
          </a:solidFill>
          <a:ln w="889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Diamond 212"/>
          <p:cNvSpPr/>
          <p:nvPr/>
        </p:nvSpPr>
        <p:spPr>
          <a:xfrm>
            <a:off x="793816" y="3829624"/>
            <a:ext cx="40000" cy="40000"/>
          </a:xfrm>
          <a:prstGeom prst="diamond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932688" y="3789760"/>
            <a:ext cx="82296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222222"/>
                </a:solidFill>
                <a:latin typeface="Arial"/>
              </a:rPr>
              <a:t>good (n=6)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1828800" y="3794760"/>
            <a:ext cx="164592" cy="109728"/>
          </a:xfrm>
          <a:prstGeom prst="rect">
            <a:avLst/>
          </a:prstGeom>
          <a:solidFill>
            <a:srgbClr val="EBBDB2"/>
          </a:solidFill>
          <a:ln w="889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Diamond 215"/>
          <p:cNvSpPr/>
          <p:nvPr/>
        </p:nvSpPr>
        <p:spPr>
          <a:xfrm>
            <a:off x="1891095" y="3829624"/>
            <a:ext cx="40000" cy="40000"/>
          </a:xfrm>
          <a:prstGeom prst="diamond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TextBox 216"/>
          <p:cNvSpPr txBox="1"/>
          <p:nvPr/>
        </p:nvSpPr>
        <p:spPr>
          <a:xfrm>
            <a:off x="2029968" y="3789760"/>
            <a:ext cx="82296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222222"/>
                </a:solidFill>
                <a:latin typeface="Arial"/>
              </a:rPr>
              <a:t>bad (n=6)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3108960" y="3789760"/>
            <a:ext cx="265176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555555"/>
                </a:solidFill>
                <a:latin typeface="Arial"/>
              </a:rPr>
              <a:t>Box = IQR  ·  diamond = group median  ·  circle = subject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3108960" y="3922776"/>
            <a:ext cx="265176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1">
                <a:solidFill>
                  <a:srgbClr val="D4A300"/>
                </a:solidFill>
                <a:latin typeface="Arial"/>
              </a:rPr>
              <a:t>★ Treg = only feature with CI strictly excluding zero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91440"/>
            <a:ext cx="365760" cy="32004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222222"/>
                </a:solidFill>
                <a:latin typeface="Arial"/>
              </a:rPr>
              <a:t>C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286000" y="3474720"/>
            <a:ext cx="2788920" cy="0"/>
          </a:xfrm>
          <a:prstGeom prst="line">
            <a:avLst/>
          </a:prstGeom>
          <a:ln w="635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2467886" y="3474720"/>
            <a:ext cx="0" cy="36576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303294" y="3520440"/>
            <a:ext cx="329184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−1.0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074173" y="3474720"/>
            <a:ext cx="0" cy="36576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909581" y="3520440"/>
            <a:ext cx="329184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−0.5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80460" y="3474720"/>
            <a:ext cx="0" cy="36576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515868" y="3520440"/>
            <a:ext cx="329184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286747" y="3474720"/>
            <a:ext cx="0" cy="36576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122155" y="3520440"/>
            <a:ext cx="329184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+0.5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893034" y="3474720"/>
            <a:ext cx="0" cy="36576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728442" y="3520440"/>
            <a:ext cx="329184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+1.0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3675888"/>
            <a:ext cx="278892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Within-group median Δ  (normalised to per-feature |max CI|)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680460" y="411480"/>
            <a:ext cx="0" cy="306324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64592" y="499364"/>
            <a:ext cx="208483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3E5286"/>
                </a:solidFill>
                <a:latin typeface="Arial"/>
              </a:rPr>
              <a:t>SBS5 (clock-like)  mutations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76272" y="545084"/>
            <a:ext cx="54864" cy="73152"/>
          </a:xfrm>
          <a:prstGeom prst="rect">
            <a:avLst/>
          </a:prstGeom>
          <a:solidFill>
            <a:srgbClr val="3E52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2467886" y="508508"/>
            <a:ext cx="677369" cy="0"/>
          </a:xfrm>
          <a:prstGeom prst="line">
            <a:avLst/>
          </a:prstGeom>
          <a:ln w="1905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467886" y="471932"/>
            <a:ext cx="0" cy="73152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145255" y="471932"/>
            <a:ext cx="0" cy="73152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Diamond 20"/>
          <p:cNvSpPr/>
          <p:nvPr/>
        </p:nvSpPr>
        <p:spPr>
          <a:xfrm>
            <a:off x="3014904" y="478508"/>
            <a:ext cx="60000" cy="60000"/>
          </a:xfrm>
          <a:prstGeom prst="diamond">
            <a:avLst/>
          </a:prstGeom>
          <a:solidFill>
            <a:srgbClr val="0A7D6E"/>
          </a:solidFill>
          <a:ln w="1016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3136892" y="654812"/>
            <a:ext cx="618831" cy="0"/>
          </a:xfrm>
          <a:prstGeom prst="line">
            <a:avLst/>
          </a:prstGeom>
          <a:ln w="1143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136892" y="618236"/>
            <a:ext cx="0" cy="73152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755723" y="618236"/>
            <a:ext cx="0" cy="73152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Diamond 24"/>
          <p:cNvSpPr/>
          <p:nvPr/>
        </p:nvSpPr>
        <p:spPr>
          <a:xfrm>
            <a:off x="3407945" y="624812"/>
            <a:ext cx="60000" cy="60000"/>
          </a:xfrm>
          <a:prstGeom prst="diamond">
            <a:avLst/>
          </a:prstGeom>
          <a:solidFill>
            <a:srgbClr val="FFFFFF"/>
          </a:solidFill>
          <a:ln w="1016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20640" y="471932"/>
            <a:ext cx="73152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777777"/>
                </a:solidFill>
                <a:latin typeface="Arial"/>
              </a:rPr>
              <a:t>scale = 145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581660"/>
            <a:ext cx="73152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 i="0">
                <a:solidFill>
                  <a:srgbClr val="0A7D6E"/>
                </a:solidFill>
                <a:latin typeface="Arial"/>
              </a:rPr>
              <a:t>g·CI excludes 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592" y="839724"/>
            <a:ext cx="208483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3E5286"/>
                </a:solidFill>
                <a:latin typeface="Arial"/>
              </a:rPr>
              <a:t>Missense mutations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176272" y="885444"/>
            <a:ext cx="54864" cy="73152"/>
          </a:xfrm>
          <a:prstGeom prst="rect">
            <a:avLst/>
          </a:prstGeom>
          <a:solidFill>
            <a:srgbClr val="3E52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2467886" y="848868"/>
            <a:ext cx="1404033" cy="0"/>
          </a:xfrm>
          <a:prstGeom prst="line">
            <a:avLst/>
          </a:prstGeom>
          <a:ln w="1143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467886" y="812292"/>
            <a:ext cx="0" cy="73152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871919" y="812292"/>
            <a:ext cx="0" cy="73152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Diamond 32"/>
          <p:cNvSpPr/>
          <p:nvPr/>
        </p:nvSpPr>
        <p:spPr>
          <a:xfrm>
            <a:off x="2767621" y="818868"/>
            <a:ext cx="60000" cy="60000"/>
          </a:xfrm>
          <a:prstGeom prst="diamond">
            <a:avLst/>
          </a:prstGeom>
          <a:solidFill>
            <a:srgbClr val="FFFFFF"/>
          </a:solidFill>
          <a:ln w="1016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3276269" y="995172"/>
            <a:ext cx="414828" cy="0"/>
          </a:xfrm>
          <a:prstGeom prst="line">
            <a:avLst/>
          </a:prstGeom>
          <a:ln w="1143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276269" y="958596"/>
            <a:ext cx="0" cy="73152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691097" y="958596"/>
            <a:ext cx="0" cy="73152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Diamond 36"/>
          <p:cNvSpPr/>
          <p:nvPr/>
        </p:nvSpPr>
        <p:spPr>
          <a:xfrm>
            <a:off x="3639823" y="965172"/>
            <a:ext cx="60000" cy="60000"/>
          </a:xfrm>
          <a:prstGeom prst="diamond">
            <a:avLst/>
          </a:prstGeom>
          <a:solidFill>
            <a:srgbClr val="FFFFFF"/>
          </a:solidFill>
          <a:ln w="1016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20640" y="812292"/>
            <a:ext cx="73152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777777"/>
                </a:solidFill>
                <a:latin typeface="Arial"/>
              </a:rPr>
              <a:t>scale = 114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4592" y="1180084"/>
            <a:ext cx="208483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6A4C93"/>
                </a:solidFill>
                <a:latin typeface="Arial"/>
              </a:rPr>
              <a:t>MHC-I neoantigen binders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76272" y="1225804"/>
            <a:ext cx="54864" cy="7315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2467886" y="1189228"/>
            <a:ext cx="974321" cy="0"/>
          </a:xfrm>
          <a:prstGeom prst="line">
            <a:avLst/>
          </a:prstGeom>
          <a:ln w="1905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467886" y="1152652"/>
            <a:ext cx="0" cy="73152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3442207" y="1152652"/>
            <a:ext cx="0" cy="73152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Diamond 43"/>
          <p:cNvSpPr/>
          <p:nvPr/>
        </p:nvSpPr>
        <p:spPr>
          <a:xfrm>
            <a:off x="3046110" y="1159228"/>
            <a:ext cx="60000" cy="60000"/>
          </a:xfrm>
          <a:prstGeom prst="diamond">
            <a:avLst/>
          </a:prstGeom>
          <a:solidFill>
            <a:srgbClr val="0A7D6E"/>
          </a:solidFill>
          <a:ln w="1016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>
            <a:off x="3127441" y="1335532"/>
            <a:ext cx="454231" cy="0"/>
          </a:xfrm>
          <a:prstGeom prst="line">
            <a:avLst/>
          </a:prstGeom>
          <a:ln w="1905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3127441" y="1298956"/>
            <a:ext cx="0" cy="73152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3581672" y="1298956"/>
            <a:ext cx="0" cy="73152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Diamond 47"/>
          <p:cNvSpPr/>
          <p:nvPr/>
        </p:nvSpPr>
        <p:spPr>
          <a:xfrm>
            <a:off x="3457727" y="1305532"/>
            <a:ext cx="60000" cy="60000"/>
          </a:xfrm>
          <a:prstGeom prst="diamond">
            <a:avLst/>
          </a:prstGeom>
          <a:solidFill>
            <a:srgbClr val="C53E1F"/>
          </a:solidFill>
          <a:ln w="1016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20640" y="1152652"/>
            <a:ext cx="73152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777777"/>
                </a:solidFill>
                <a:latin typeface="Arial"/>
              </a:rPr>
              <a:t>scale = 626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120640" y="1262380"/>
            <a:ext cx="73152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 i="0">
                <a:solidFill>
                  <a:srgbClr val="0A7D6E"/>
                </a:solidFill>
                <a:latin typeface="Arial"/>
              </a:rPr>
              <a:t>g·b·CI excludes 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64592" y="1520444"/>
            <a:ext cx="208483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6A4C93"/>
                </a:solidFill>
                <a:latin typeface="Arial"/>
              </a:rPr>
              <a:t>Neoantigen sites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176272" y="1566164"/>
            <a:ext cx="54864" cy="7315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" name="Connector 52"/>
          <p:cNvCxnSpPr/>
          <p:nvPr/>
        </p:nvCxnSpPr>
        <p:spPr>
          <a:xfrm>
            <a:off x="2467886" y="1529588"/>
            <a:ext cx="854314" cy="0"/>
          </a:xfrm>
          <a:prstGeom prst="line">
            <a:avLst/>
          </a:prstGeom>
          <a:ln w="1905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2467886" y="1493012"/>
            <a:ext cx="0" cy="73152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3322200" y="1493012"/>
            <a:ext cx="0" cy="73152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Diamond 55"/>
          <p:cNvSpPr/>
          <p:nvPr/>
        </p:nvSpPr>
        <p:spPr>
          <a:xfrm>
            <a:off x="2837484" y="1499588"/>
            <a:ext cx="60000" cy="60000"/>
          </a:xfrm>
          <a:prstGeom prst="diamond">
            <a:avLst/>
          </a:prstGeom>
          <a:solidFill>
            <a:srgbClr val="0A7D6E"/>
          </a:solidFill>
          <a:ln w="1016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3060394" y="1675892"/>
            <a:ext cx="537391" cy="0"/>
          </a:xfrm>
          <a:prstGeom prst="line">
            <a:avLst/>
          </a:prstGeom>
          <a:ln w="1905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3060394" y="1639316"/>
            <a:ext cx="0" cy="73152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3597785" y="1639316"/>
            <a:ext cx="0" cy="73152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Diamond 59"/>
          <p:cNvSpPr/>
          <p:nvPr/>
        </p:nvSpPr>
        <p:spPr>
          <a:xfrm>
            <a:off x="3423102" y="1645892"/>
            <a:ext cx="60000" cy="60000"/>
          </a:xfrm>
          <a:prstGeom prst="diamond">
            <a:avLst/>
          </a:prstGeom>
          <a:solidFill>
            <a:srgbClr val="C53E1F"/>
          </a:solidFill>
          <a:ln w="1016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120640" y="1493012"/>
            <a:ext cx="73152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777777"/>
                </a:solidFill>
                <a:latin typeface="Arial"/>
              </a:rPr>
              <a:t>scale = 88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120640" y="1602740"/>
            <a:ext cx="73152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 i="0">
                <a:solidFill>
                  <a:srgbClr val="0A7D6E"/>
                </a:solidFill>
                <a:latin typeface="Arial"/>
              </a:rPr>
              <a:t>g·b·CI excludes 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64592" y="1860804"/>
            <a:ext cx="208483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0A7D6E"/>
                </a:solidFill>
                <a:latin typeface="Arial"/>
              </a:rPr>
              <a:t>MHC-II signature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176272" y="1906524"/>
            <a:ext cx="54864" cy="73152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>
            <a:off x="4021496" y="1869948"/>
            <a:ext cx="871538" cy="0"/>
          </a:xfrm>
          <a:prstGeom prst="line">
            <a:avLst/>
          </a:prstGeom>
          <a:ln w="1905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4021496" y="1833372"/>
            <a:ext cx="0" cy="73152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4893034" y="1833372"/>
            <a:ext cx="0" cy="73152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Diamond 67"/>
          <p:cNvSpPr/>
          <p:nvPr/>
        </p:nvSpPr>
        <p:spPr>
          <a:xfrm>
            <a:off x="4424739" y="1839948"/>
            <a:ext cx="60000" cy="60000"/>
          </a:xfrm>
          <a:prstGeom prst="diamond">
            <a:avLst/>
          </a:prstGeom>
          <a:solidFill>
            <a:srgbClr val="0A7D6E"/>
          </a:solidFill>
          <a:ln w="1016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9" name="Connector 68"/>
          <p:cNvCxnSpPr/>
          <p:nvPr/>
        </p:nvCxnSpPr>
        <p:spPr>
          <a:xfrm>
            <a:off x="3017334" y="2016252"/>
            <a:ext cx="1313621" cy="0"/>
          </a:xfrm>
          <a:prstGeom prst="line">
            <a:avLst/>
          </a:prstGeom>
          <a:ln w="1143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3017334" y="1979676"/>
            <a:ext cx="0" cy="73152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4330955" y="1979676"/>
            <a:ext cx="0" cy="73152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Diamond 71"/>
          <p:cNvSpPr/>
          <p:nvPr/>
        </p:nvSpPr>
        <p:spPr>
          <a:xfrm>
            <a:off x="3879712" y="1986252"/>
            <a:ext cx="60000" cy="60000"/>
          </a:xfrm>
          <a:prstGeom prst="diamond">
            <a:avLst/>
          </a:prstGeom>
          <a:solidFill>
            <a:srgbClr val="FFFFFF"/>
          </a:solidFill>
          <a:ln w="1016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120640" y="1833372"/>
            <a:ext cx="73152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777777"/>
                </a:solidFill>
                <a:latin typeface="Arial"/>
              </a:rPr>
              <a:t>scale = 1.92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120640" y="1943100"/>
            <a:ext cx="73152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 i="0">
                <a:solidFill>
                  <a:srgbClr val="0A7D6E"/>
                </a:solidFill>
                <a:latin typeface="Arial"/>
              </a:rPr>
              <a:t>g·CI excludes 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64592" y="2201164"/>
            <a:ext cx="208483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0A7D6E"/>
                </a:solidFill>
                <a:latin typeface="Arial"/>
              </a:rPr>
              <a:t>CD8 exhaustion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176272" y="2246884"/>
            <a:ext cx="54864" cy="73152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7" name="Connector 76"/>
          <p:cNvCxnSpPr/>
          <p:nvPr/>
        </p:nvCxnSpPr>
        <p:spPr>
          <a:xfrm>
            <a:off x="3852616" y="2210308"/>
            <a:ext cx="1040418" cy="0"/>
          </a:xfrm>
          <a:prstGeom prst="line">
            <a:avLst/>
          </a:prstGeom>
          <a:ln w="1905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3852616" y="2173732"/>
            <a:ext cx="0" cy="73152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4893034" y="2173732"/>
            <a:ext cx="0" cy="73152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Diamond 79"/>
          <p:cNvSpPr/>
          <p:nvPr/>
        </p:nvSpPr>
        <p:spPr>
          <a:xfrm>
            <a:off x="4397465" y="2180308"/>
            <a:ext cx="60000" cy="60000"/>
          </a:xfrm>
          <a:prstGeom prst="diamond">
            <a:avLst/>
          </a:prstGeom>
          <a:solidFill>
            <a:srgbClr val="0A7D6E"/>
          </a:solidFill>
          <a:ln w="1016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1" name="Connector 80"/>
          <p:cNvCxnSpPr/>
          <p:nvPr/>
        </p:nvCxnSpPr>
        <p:spPr>
          <a:xfrm>
            <a:off x="3141538" y="2356612"/>
            <a:ext cx="718563" cy="0"/>
          </a:xfrm>
          <a:prstGeom prst="line">
            <a:avLst/>
          </a:prstGeom>
          <a:ln w="1143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3141538" y="2320036"/>
            <a:ext cx="0" cy="73152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3860101" y="2320036"/>
            <a:ext cx="0" cy="73152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Diamond 83"/>
          <p:cNvSpPr/>
          <p:nvPr/>
        </p:nvSpPr>
        <p:spPr>
          <a:xfrm>
            <a:off x="3577107" y="2326612"/>
            <a:ext cx="60000" cy="60000"/>
          </a:xfrm>
          <a:prstGeom prst="diamond">
            <a:avLst/>
          </a:prstGeom>
          <a:solidFill>
            <a:srgbClr val="FFFFFF"/>
          </a:solidFill>
          <a:ln w="1016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120640" y="2173732"/>
            <a:ext cx="73152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777777"/>
                </a:solidFill>
                <a:latin typeface="Arial"/>
              </a:rPr>
              <a:t>scale = 1.62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120640" y="2283460"/>
            <a:ext cx="73152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 i="0">
                <a:solidFill>
                  <a:srgbClr val="0A7D6E"/>
                </a:solidFill>
                <a:latin typeface="Arial"/>
              </a:rPr>
              <a:t>g·CI excludes 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64592" y="2541524"/>
            <a:ext cx="208483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>
                <a:solidFill>
                  <a:srgbClr val="D4A300"/>
                </a:solidFill>
                <a:latin typeface="Arial"/>
              </a:rPr>
              <a:t>Treg signature  ★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176272" y="2587244"/>
            <a:ext cx="54864" cy="73152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" name="Connector 88"/>
          <p:cNvCxnSpPr/>
          <p:nvPr/>
        </p:nvCxnSpPr>
        <p:spPr>
          <a:xfrm>
            <a:off x="3914707" y="2550668"/>
            <a:ext cx="978327" cy="0"/>
          </a:xfrm>
          <a:prstGeom prst="line">
            <a:avLst/>
          </a:prstGeom>
          <a:ln w="1905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3914707" y="2514092"/>
            <a:ext cx="0" cy="73152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4893034" y="2514092"/>
            <a:ext cx="0" cy="73152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Diamond 91"/>
          <p:cNvSpPr/>
          <p:nvPr/>
        </p:nvSpPr>
        <p:spPr>
          <a:xfrm>
            <a:off x="4515797" y="2520668"/>
            <a:ext cx="60000" cy="60000"/>
          </a:xfrm>
          <a:prstGeom prst="diamond">
            <a:avLst/>
          </a:prstGeom>
          <a:solidFill>
            <a:srgbClr val="0A7D6E"/>
          </a:solidFill>
          <a:ln w="1016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3" name="Connector 92"/>
          <p:cNvCxnSpPr/>
          <p:nvPr/>
        </p:nvCxnSpPr>
        <p:spPr>
          <a:xfrm>
            <a:off x="3384206" y="2696972"/>
            <a:ext cx="902541" cy="0"/>
          </a:xfrm>
          <a:prstGeom prst="line">
            <a:avLst/>
          </a:prstGeom>
          <a:ln w="1143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3384206" y="2660396"/>
            <a:ext cx="0" cy="73152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4286747" y="2660396"/>
            <a:ext cx="0" cy="73152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Diamond 95"/>
          <p:cNvSpPr/>
          <p:nvPr/>
        </p:nvSpPr>
        <p:spPr>
          <a:xfrm>
            <a:off x="3669751" y="2666972"/>
            <a:ext cx="60000" cy="60000"/>
          </a:xfrm>
          <a:prstGeom prst="diamond">
            <a:avLst/>
          </a:prstGeom>
          <a:solidFill>
            <a:srgbClr val="FFFFFF"/>
          </a:solidFill>
          <a:ln w="1016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120640" y="2514092"/>
            <a:ext cx="73152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777777"/>
                </a:solidFill>
                <a:latin typeface="Arial"/>
              </a:rPr>
              <a:t>scale = 1.76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120640" y="2623820"/>
            <a:ext cx="73152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 i="0">
                <a:solidFill>
                  <a:srgbClr val="0A7D6E"/>
                </a:solidFill>
                <a:latin typeface="Arial"/>
              </a:rPr>
              <a:t>g·CI excludes 0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64592" y="2881884"/>
            <a:ext cx="208483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A6502C"/>
                </a:solidFill>
                <a:latin typeface="Arial"/>
              </a:rPr>
              <a:t>IGH clonotypes (B-cell)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2176272" y="2927604"/>
            <a:ext cx="54864" cy="73152"/>
          </a:xfrm>
          <a:prstGeom prst="rect">
            <a:avLst/>
          </a:prstGeom>
          <a:solidFill>
            <a:srgbClr val="A65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1" name="Connector 100"/>
          <p:cNvCxnSpPr/>
          <p:nvPr/>
        </p:nvCxnSpPr>
        <p:spPr>
          <a:xfrm>
            <a:off x="3680460" y="2891028"/>
            <a:ext cx="1212574" cy="0"/>
          </a:xfrm>
          <a:prstGeom prst="line">
            <a:avLst/>
          </a:prstGeom>
          <a:ln w="1143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3680460" y="2854452"/>
            <a:ext cx="0" cy="73152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4893034" y="2854452"/>
            <a:ext cx="0" cy="73152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Diamond 103"/>
          <p:cNvSpPr/>
          <p:nvPr/>
        </p:nvSpPr>
        <p:spPr>
          <a:xfrm>
            <a:off x="3938730" y="2861028"/>
            <a:ext cx="60000" cy="60000"/>
          </a:xfrm>
          <a:prstGeom prst="diamond">
            <a:avLst/>
          </a:prstGeom>
          <a:solidFill>
            <a:srgbClr val="FFFFFF"/>
          </a:solidFill>
          <a:ln w="1016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5" name="Connector 104"/>
          <p:cNvCxnSpPr/>
          <p:nvPr/>
        </p:nvCxnSpPr>
        <p:spPr>
          <a:xfrm>
            <a:off x="3397958" y="3037332"/>
            <a:ext cx="1002114" cy="0"/>
          </a:xfrm>
          <a:prstGeom prst="line">
            <a:avLst/>
          </a:prstGeom>
          <a:ln w="1143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3397958" y="3000756"/>
            <a:ext cx="0" cy="73152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4400072" y="3000756"/>
            <a:ext cx="0" cy="73152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Diamond 107"/>
          <p:cNvSpPr/>
          <p:nvPr/>
        </p:nvSpPr>
        <p:spPr>
          <a:xfrm>
            <a:off x="3651978" y="3007332"/>
            <a:ext cx="60000" cy="60000"/>
          </a:xfrm>
          <a:prstGeom prst="diamond">
            <a:avLst/>
          </a:prstGeom>
          <a:solidFill>
            <a:srgbClr val="FFFFFF"/>
          </a:solidFill>
          <a:ln w="1016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5120640" y="2854452"/>
            <a:ext cx="73152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777777"/>
                </a:solidFill>
                <a:latin typeface="Arial"/>
              </a:rPr>
              <a:t>scale = 5992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64592" y="3222244"/>
            <a:ext cx="208483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555555"/>
                </a:solidFill>
                <a:latin typeface="Arial"/>
              </a:rPr>
              <a:t>TRB Shannon diversity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2176272" y="3267964"/>
            <a:ext cx="54864" cy="73152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2" name="Connector 111"/>
          <p:cNvCxnSpPr/>
          <p:nvPr/>
        </p:nvCxnSpPr>
        <p:spPr>
          <a:xfrm>
            <a:off x="2992918" y="3231388"/>
            <a:ext cx="1900116" cy="0"/>
          </a:xfrm>
          <a:prstGeom prst="line">
            <a:avLst/>
          </a:prstGeom>
          <a:ln w="1143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2992918" y="3194812"/>
            <a:ext cx="0" cy="73152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4893034" y="3194812"/>
            <a:ext cx="0" cy="73152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Diamond 114"/>
          <p:cNvSpPr/>
          <p:nvPr/>
        </p:nvSpPr>
        <p:spPr>
          <a:xfrm>
            <a:off x="4069236" y="3201388"/>
            <a:ext cx="60000" cy="60000"/>
          </a:xfrm>
          <a:prstGeom prst="diamond">
            <a:avLst/>
          </a:prstGeom>
          <a:solidFill>
            <a:srgbClr val="FFFFFF"/>
          </a:solidFill>
          <a:ln w="1016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6" name="Connector 115"/>
          <p:cNvCxnSpPr/>
          <p:nvPr/>
        </p:nvCxnSpPr>
        <p:spPr>
          <a:xfrm>
            <a:off x="2530390" y="3377692"/>
            <a:ext cx="1787609" cy="0"/>
          </a:xfrm>
          <a:prstGeom prst="line">
            <a:avLst/>
          </a:prstGeom>
          <a:ln w="1143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2530390" y="3341116"/>
            <a:ext cx="0" cy="73152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4317999" y="3341116"/>
            <a:ext cx="0" cy="73152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Diamond 118"/>
          <p:cNvSpPr/>
          <p:nvPr/>
        </p:nvSpPr>
        <p:spPr>
          <a:xfrm>
            <a:off x="3664211" y="3347692"/>
            <a:ext cx="60000" cy="60000"/>
          </a:xfrm>
          <a:prstGeom prst="diamond">
            <a:avLst/>
          </a:prstGeom>
          <a:solidFill>
            <a:srgbClr val="FFFFFF"/>
          </a:solidFill>
          <a:ln w="1016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5120640" y="3194812"/>
            <a:ext cx="73152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777777"/>
                </a:solidFill>
                <a:latin typeface="Arial"/>
              </a:rPr>
              <a:t>scale = 0.97</a:t>
            </a:r>
          </a:p>
        </p:txBody>
      </p:sp>
      <p:cxnSp>
        <p:nvCxnSpPr>
          <p:cNvPr id="121" name="Connector 120"/>
          <p:cNvCxnSpPr/>
          <p:nvPr/>
        </p:nvCxnSpPr>
        <p:spPr>
          <a:xfrm>
            <a:off x="182880" y="3639312"/>
            <a:ext cx="274320" cy="0"/>
          </a:xfrm>
          <a:prstGeom prst="line">
            <a:avLst/>
          </a:prstGeom>
          <a:ln w="1905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Diamond 121"/>
          <p:cNvSpPr/>
          <p:nvPr/>
        </p:nvSpPr>
        <p:spPr>
          <a:xfrm>
            <a:off x="296040" y="3615312"/>
            <a:ext cx="48000" cy="48000"/>
          </a:xfrm>
          <a:prstGeom prst="diamond">
            <a:avLst/>
          </a:prstGeom>
          <a:solidFill>
            <a:srgbClr val="0A7D6E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502920" y="3574448"/>
            <a:ext cx="155448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222222"/>
                </a:solidFill>
                <a:latin typeface="Arial"/>
              </a:rPr>
              <a:t>good Δ filled diamond = CI excl. 0 (robust)</a:t>
            </a:r>
          </a:p>
        </p:txBody>
      </p:sp>
      <p:cxnSp>
        <p:nvCxnSpPr>
          <p:cNvPr id="124" name="Connector 123"/>
          <p:cNvCxnSpPr/>
          <p:nvPr/>
        </p:nvCxnSpPr>
        <p:spPr>
          <a:xfrm>
            <a:off x="182880" y="3785616"/>
            <a:ext cx="274320" cy="0"/>
          </a:xfrm>
          <a:prstGeom prst="line">
            <a:avLst/>
          </a:prstGeom>
          <a:ln w="1905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Diamond 124"/>
          <p:cNvSpPr/>
          <p:nvPr/>
        </p:nvSpPr>
        <p:spPr>
          <a:xfrm>
            <a:off x="296040" y="3761616"/>
            <a:ext cx="48000" cy="48000"/>
          </a:xfrm>
          <a:prstGeom prst="diamond">
            <a:avLst/>
          </a:prstGeom>
          <a:solidFill>
            <a:srgbClr val="FFFFFF"/>
          </a:solidFill>
          <a:ln w="1016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502920" y="3703320"/>
            <a:ext cx="23774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222222"/>
                </a:solidFill>
                <a:latin typeface="Arial"/>
              </a:rPr>
              <a:t>bad Δ hollow diamond = CI spans 0 (exploratory)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37160" y="3950208"/>
            <a:ext cx="566928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1">
                <a:solidFill>
                  <a:srgbClr val="222222"/>
                </a:solidFill>
                <a:latin typeface="Arial"/>
              </a:rPr>
              <a:t>Within-good CIs excluding zero: SBS5, neo_binders, neo_sites, MHC-II, CD8 exhaustion, Treg. Consistent cascade within responders; between-group only Treg.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91440"/>
            <a:ext cx="365760" cy="32004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222222"/>
                </a:solidFill>
                <a:latin typeface="Arial"/>
              </a:rPr>
              <a:t>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68680" y="411480"/>
            <a:ext cx="0" cy="1417320"/>
          </a:xfrm>
          <a:prstGeom prst="line">
            <a:avLst/>
          </a:prstGeom>
          <a:ln w="635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868680" y="560211"/>
            <a:ext cx="4846320" cy="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32104" y="1828800"/>
            <a:ext cx="36576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11480" y="1755648"/>
            <a:ext cx="41148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-167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32104" y="1120140"/>
            <a:ext cx="36576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11480" y="1046988"/>
            <a:ext cx="41148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-74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32104" y="560211"/>
            <a:ext cx="36576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11480" y="487059"/>
            <a:ext cx="41148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+0.0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32104" y="485846"/>
            <a:ext cx="36576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11480" y="412694"/>
            <a:ext cx="41148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+9.8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32104" y="411480"/>
            <a:ext cx="36576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11480" y="338328"/>
            <a:ext cx="41148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+20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1951" y="560211"/>
            <a:ext cx="259624" cy="1103121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035" y="423051"/>
            <a:ext cx="219456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1" i="0">
                <a:solidFill>
                  <a:srgbClr val="0A7D6E"/>
                </a:solidFill>
                <a:latin typeface="Arial"/>
              </a:rPr>
              <a:t>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58117" y="560211"/>
            <a:ext cx="259624" cy="1057475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78201" y="423051"/>
            <a:ext cx="219456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1" i="0">
                <a:solidFill>
                  <a:srgbClr val="0A7D6E"/>
                </a:solidFill>
                <a:latin typeface="Arial"/>
              </a:rPr>
              <a:t>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4282" y="560211"/>
            <a:ext cx="259624" cy="677088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4366" y="423051"/>
            <a:ext cx="219456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1" i="0">
                <a:solidFill>
                  <a:srgbClr val="0A7D6E"/>
                </a:solidFill>
                <a:latin typeface="Arial"/>
              </a:rPr>
              <a:t>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50448" y="560211"/>
            <a:ext cx="259624" cy="578188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70532" y="423051"/>
            <a:ext cx="219456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1" i="0">
                <a:solidFill>
                  <a:srgbClr val="0A7D6E"/>
                </a:solidFill>
                <a:latin typeface="Arial"/>
              </a:rPr>
              <a:t>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96614" y="560211"/>
            <a:ext cx="259624" cy="494503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16698" y="423051"/>
            <a:ext cx="219456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1" i="0">
                <a:solidFill>
                  <a:srgbClr val="C53E1F"/>
                </a:solidFill>
                <a:latin typeface="Arial"/>
              </a:rPr>
              <a:t>12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42779" y="560211"/>
            <a:ext cx="259624" cy="494503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62863" y="423051"/>
            <a:ext cx="219456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1" i="0">
                <a:solidFill>
                  <a:srgbClr val="C53E1F"/>
                </a:solidFill>
                <a:latin typeface="Arial"/>
              </a:rPr>
              <a:t>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988945" y="560211"/>
            <a:ext cx="259624" cy="486895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09029" y="423051"/>
            <a:ext cx="219456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1" i="0">
                <a:solidFill>
                  <a:srgbClr val="0A7D6E"/>
                </a:solidFill>
                <a:latin typeface="Arial"/>
              </a:rPr>
              <a:t>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35111" y="560211"/>
            <a:ext cx="259624" cy="319525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55195" y="423051"/>
            <a:ext cx="219456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1" i="0">
                <a:solidFill>
                  <a:srgbClr val="0A7D6E"/>
                </a:solidFill>
                <a:latin typeface="Arial"/>
              </a:rPr>
              <a:t>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81277" y="560211"/>
            <a:ext cx="259624" cy="281486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01361" y="423051"/>
            <a:ext cx="219456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1" i="0">
                <a:solidFill>
                  <a:srgbClr val="C53E1F"/>
                </a:solidFill>
                <a:latin typeface="Arial"/>
              </a:rPr>
              <a:t>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027442" y="560211"/>
            <a:ext cx="259624" cy="220624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47526" y="423051"/>
            <a:ext cx="219456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1" i="0">
                <a:solidFill>
                  <a:srgbClr val="C53E1F"/>
                </a:solidFill>
                <a:latin typeface="Arial"/>
              </a:rPr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73608" y="537388"/>
            <a:ext cx="259624" cy="22823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93692" y="578499"/>
            <a:ext cx="219456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1" i="0">
                <a:solidFill>
                  <a:srgbClr val="0A7D6E"/>
                </a:solidFill>
                <a:latin typeface="Arial"/>
              </a:rPr>
              <a:t>14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719774" y="491742"/>
            <a:ext cx="259624" cy="68469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39858" y="578499"/>
            <a:ext cx="219456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1" i="0">
                <a:solidFill>
                  <a:srgbClr val="C53E1F"/>
                </a:solidFill>
                <a:latin typeface="Arial"/>
              </a:rPr>
              <a:t>10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65939" y="476526"/>
            <a:ext cx="259624" cy="83685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86023" y="578499"/>
            <a:ext cx="219456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1" i="0">
                <a:solidFill>
                  <a:srgbClr val="C53E1F"/>
                </a:solidFill>
                <a:latin typeface="Arial"/>
              </a:rPr>
              <a:t>13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12105" y="430880"/>
            <a:ext cx="259624" cy="129331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32189" y="578499"/>
            <a:ext cx="219456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1" i="0">
                <a:solidFill>
                  <a:srgbClr val="C53E1F"/>
                </a:solidFill>
                <a:latin typeface="Arial"/>
              </a:rPr>
              <a:t>11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" y="1956816"/>
            <a:ext cx="484632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222222"/>
                </a:solidFill>
                <a:latin typeface="Arial"/>
              </a:rPr>
              <a:t>SBS5 (clock-like) mutations  ·  Δ (post − pre)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868680" y="2057400"/>
            <a:ext cx="0" cy="1417320"/>
          </a:xfrm>
          <a:prstGeom prst="line">
            <a:avLst/>
          </a:prstGeom>
          <a:ln w="635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868680" y="2146513"/>
            <a:ext cx="4846320" cy="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832104" y="3474720"/>
            <a:ext cx="36576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411480" y="3401568"/>
            <a:ext cx="41148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-720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832104" y="2766060"/>
            <a:ext cx="36576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411480" y="2692908"/>
            <a:ext cx="41148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-336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832104" y="2146513"/>
            <a:ext cx="36576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411480" y="2073361"/>
            <a:ext cx="41148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+0.0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832104" y="2101956"/>
            <a:ext cx="36576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411480" y="2028804"/>
            <a:ext cx="41148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+24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832104" y="2057400"/>
            <a:ext cx="36576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411480" y="1984248"/>
            <a:ext cx="41148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+48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23752" y="2146513"/>
            <a:ext cx="330430" cy="1154963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79239" y="2009353"/>
            <a:ext cx="219456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1" i="0">
                <a:solidFill>
                  <a:srgbClr val="0A7D6E"/>
                </a:solidFill>
                <a:latin typeface="Arial"/>
              </a:rPr>
              <a:t>9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64327" y="2146513"/>
            <a:ext cx="330430" cy="902199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419814" y="2009353"/>
            <a:ext cx="219456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1" i="0">
                <a:solidFill>
                  <a:srgbClr val="0A7D6E"/>
                </a:solidFill>
                <a:latin typeface="Arial"/>
              </a:rPr>
              <a:t>6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804901" y="2146513"/>
            <a:ext cx="330430" cy="592241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860388" y="2009353"/>
            <a:ext cx="219456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1" i="0">
                <a:solidFill>
                  <a:srgbClr val="C53E1F"/>
                </a:solidFill>
                <a:latin typeface="Arial"/>
              </a:rPr>
              <a:t>7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245476" y="2146513"/>
            <a:ext cx="330430" cy="575636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300963" y="2009353"/>
            <a:ext cx="219456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1" i="0">
                <a:solidFill>
                  <a:srgbClr val="0A7D6E"/>
                </a:solidFill>
                <a:latin typeface="Arial"/>
              </a:rPr>
              <a:t>2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686050" y="2146513"/>
            <a:ext cx="330430" cy="461247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741537" y="2009353"/>
            <a:ext cx="219456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1" i="0">
                <a:solidFill>
                  <a:srgbClr val="C53E1F"/>
                </a:solidFill>
                <a:latin typeface="Arial"/>
              </a:rPr>
              <a:t>5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126625" y="2146513"/>
            <a:ext cx="330430" cy="249073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182112" y="2009353"/>
            <a:ext cx="219456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1" i="0">
                <a:solidFill>
                  <a:srgbClr val="C53E1F"/>
                </a:solidFill>
                <a:latin typeface="Arial"/>
              </a:rPr>
              <a:t>12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567200" y="2146513"/>
            <a:ext cx="330430" cy="226933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622687" y="2009353"/>
            <a:ext cx="219456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1" i="0">
                <a:solidFill>
                  <a:srgbClr val="0A7D6E"/>
                </a:solidFill>
                <a:latin typeface="Arial"/>
              </a:rPr>
              <a:t>3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007774" y="2146513"/>
            <a:ext cx="330430" cy="118079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063261" y="2009353"/>
            <a:ext cx="219456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1" i="0">
                <a:solidFill>
                  <a:srgbClr val="C53E1F"/>
                </a:solidFill>
                <a:latin typeface="Arial"/>
              </a:rPr>
              <a:t>1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448349" y="2146513"/>
            <a:ext cx="330430" cy="94094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503836" y="2009353"/>
            <a:ext cx="219456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1" i="0">
                <a:solidFill>
                  <a:srgbClr val="C53E1F"/>
                </a:solidFill>
                <a:latin typeface="Arial"/>
              </a:rPr>
              <a:t>10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888923" y="2113303"/>
            <a:ext cx="330430" cy="33210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944410" y="2164801"/>
            <a:ext cx="219456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1" i="0">
                <a:solidFill>
                  <a:srgbClr val="C53E1F"/>
                </a:solidFill>
                <a:latin typeface="Arial"/>
              </a:rPr>
              <a:t>11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329498" y="2069023"/>
            <a:ext cx="330430" cy="77490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384985" y="2164801"/>
            <a:ext cx="219456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1" i="0">
                <a:solidFill>
                  <a:srgbClr val="0A7D6E"/>
                </a:solidFill>
                <a:latin typeface="Arial"/>
              </a:rPr>
              <a:t>14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68680" y="3602736"/>
            <a:ext cx="484632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222222"/>
                </a:solidFill>
                <a:latin typeface="Arial"/>
              </a:rPr>
              <a:t>MHC-I neoantigen binders  ·  Δ (post − pre)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440680" y="457200"/>
            <a:ext cx="164592" cy="118872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440680" y="594360"/>
            <a:ext cx="45720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1" i="0">
                <a:solidFill>
                  <a:srgbClr val="0A7D6E"/>
                </a:solidFill>
                <a:latin typeface="Arial"/>
              </a:rPr>
              <a:t>good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440680" y="777240"/>
            <a:ext cx="164592" cy="118872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440680" y="905256"/>
            <a:ext cx="45720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1" i="0">
                <a:solidFill>
                  <a:srgbClr val="C53E1F"/>
                </a:solidFill>
                <a:latin typeface="Arial"/>
              </a:rPr>
              <a:t>bad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37160" y="3730752"/>
            <a:ext cx="566928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Per-subject Δ sorted ascending. Subjects #s shown near bar bases. Within good: SBS5 Δ median −76 (CI [−145, −64]),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37160" y="3867912"/>
            <a:ext cx="566928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1">
                <a:solidFill>
                  <a:srgbClr val="555555"/>
                </a:solidFill>
                <a:latin typeface="Arial"/>
              </a:rPr>
              <a:t>neo_binders Δ median −312 (CI [−626, −123]).  Within-good CIs exclude zero; between-group CIs span zero → exploratory.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91440"/>
            <a:ext cx="365760" cy="32004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222222"/>
                </a:solidFill>
                <a:latin typeface="Arial"/>
              </a:rPr>
              <a:t>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325880" y="594360"/>
            <a:ext cx="0" cy="2514600"/>
          </a:xfrm>
          <a:prstGeom prst="line">
            <a:avLst/>
          </a:prstGeom>
          <a:ln w="762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325880" y="3108960"/>
            <a:ext cx="3703320" cy="0"/>
          </a:xfrm>
          <a:prstGeom prst="line">
            <a:avLst/>
          </a:prstGeom>
          <a:ln w="762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289304" y="2994660"/>
            <a:ext cx="36576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60120" y="2921508"/>
            <a:ext cx="329184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289304" y="2232660"/>
            <a:ext cx="36576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60120" y="2159508"/>
            <a:ext cx="329184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289304" y="1470660"/>
            <a:ext cx="36576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60120" y="1397508"/>
            <a:ext cx="329184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289304" y="708660"/>
            <a:ext cx="36576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60120" y="635508"/>
            <a:ext cx="329184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 rot="16200000">
            <a:off x="548640" y="937260"/>
            <a:ext cx="411480" cy="182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HLA class I LOH loci per patient  (strict)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251710" y="3108960"/>
            <a:ext cx="0" cy="4572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931670" y="3163824"/>
            <a:ext cx="64008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222222"/>
                </a:solidFill>
                <a:latin typeface="Arial"/>
              </a:rPr>
              <a:t>pre-CRT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103370" y="3108960"/>
            <a:ext cx="0" cy="4572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783330" y="3163824"/>
            <a:ext cx="64008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222222"/>
                </a:solidFill>
                <a:latin typeface="Arial"/>
              </a:rPr>
              <a:t>post-CRT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47488" y="2921508"/>
            <a:ext cx="73152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1">
                <a:solidFill>
                  <a:srgbClr val="666666"/>
                </a:solidFill>
                <a:latin typeface="Arial"/>
              </a:rPr>
              <a:t>no LOH</a:t>
            </a:r>
          </a:p>
        </p:txBody>
      </p:sp>
      <p:sp>
        <p:nvSpPr>
          <p:cNvPr id="19" name="Oval 18"/>
          <p:cNvSpPr/>
          <p:nvPr/>
        </p:nvSpPr>
        <p:spPr>
          <a:xfrm>
            <a:off x="2255771" y="2982660"/>
            <a:ext cx="24000" cy="24000"/>
          </a:xfrm>
          <a:prstGeom prst="ellipse">
            <a:avLst/>
          </a:prstGeom>
          <a:solidFill>
            <a:srgbClr val="F2D4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078713" y="2982660"/>
            <a:ext cx="24000" cy="24000"/>
          </a:xfrm>
          <a:prstGeom prst="ellipse">
            <a:avLst/>
          </a:prstGeom>
          <a:solidFill>
            <a:srgbClr val="F2D4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220288" y="2982660"/>
            <a:ext cx="24000" cy="24000"/>
          </a:xfrm>
          <a:prstGeom prst="ellipse">
            <a:avLst/>
          </a:prstGeom>
          <a:solidFill>
            <a:srgbClr val="C9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127016" y="2982660"/>
            <a:ext cx="24000" cy="24000"/>
          </a:xfrm>
          <a:prstGeom prst="ellipse">
            <a:avLst/>
          </a:prstGeom>
          <a:solidFill>
            <a:srgbClr val="C9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216011" y="2982660"/>
            <a:ext cx="24000" cy="24000"/>
          </a:xfrm>
          <a:prstGeom prst="ellipse">
            <a:avLst/>
          </a:prstGeom>
          <a:solidFill>
            <a:srgbClr val="F2D4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078108" y="2982660"/>
            <a:ext cx="24000" cy="24000"/>
          </a:xfrm>
          <a:prstGeom prst="ellipse">
            <a:avLst/>
          </a:prstGeom>
          <a:solidFill>
            <a:srgbClr val="F2D4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250144" y="2982660"/>
            <a:ext cx="24000" cy="24000"/>
          </a:xfrm>
          <a:prstGeom prst="ellipse">
            <a:avLst/>
          </a:prstGeom>
          <a:solidFill>
            <a:srgbClr val="C9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112478" y="2982660"/>
            <a:ext cx="24000" cy="24000"/>
          </a:xfrm>
          <a:prstGeom prst="ellipse">
            <a:avLst/>
          </a:prstGeom>
          <a:solidFill>
            <a:srgbClr val="C9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249932" y="2982660"/>
            <a:ext cx="24000" cy="24000"/>
          </a:xfrm>
          <a:prstGeom prst="ellipse">
            <a:avLst/>
          </a:prstGeom>
          <a:solidFill>
            <a:srgbClr val="F2D4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118429" y="2982660"/>
            <a:ext cx="24000" cy="24000"/>
          </a:xfrm>
          <a:prstGeom prst="ellipse">
            <a:avLst/>
          </a:prstGeom>
          <a:solidFill>
            <a:srgbClr val="F2D4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206669" y="2982660"/>
            <a:ext cx="24000" cy="24000"/>
          </a:xfrm>
          <a:prstGeom prst="ellipse">
            <a:avLst/>
          </a:prstGeom>
          <a:solidFill>
            <a:srgbClr val="C9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083403" y="2982660"/>
            <a:ext cx="24000" cy="24000"/>
          </a:xfrm>
          <a:prstGeom prst="ellipse">
            <a:avLst/>
          </a:prstGeom>
          <a:solidFill>
            <a:srgbClr val="C9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245097" y="2982660"/>
            <a:ext cx="24000" cy="24000"/>
          </a:xfrm>
          <a:prstGeom prst="ellipse">
            <a:avLst/>
          </a:prstGeom>
          <a:solidFill>
            <a:srgbClr val="C9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086826" y="2982660"/>
            <a:ext cx="24000" cy="24000"/>
          </a:xfrm>
          <a:prstGeom prst="ellipse">
            <a:avLst/>
          </a:prstGeom>
          <a:solidFill>
            <a:srgbClr val="C9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231564" y="2982660"/>
            <a:ext cx="24000" cy="24000"/>
          </a:xfrm>
          <a:prstGeom prst="ellipse">
            <a:avLst/>
          </a:prstGeom>
          <a:solidFill>
            <a:srgbClr val="F2D4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082061" y="2982660"/>
            <a:ext cx="24000" cy="24000"/>
          </a:xfrm>
          <a:prstGeom prst="ellipse">
            <a:avLst/>
          </a:prstGeom>
          <a:solidFill>
            <a:srgbClr val="F2D4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206070" y="2982660"/>
            <a:ext cx="24000" cy="24000"/>
          </a:xfrm>
          <a:prstGeom prst="ellipse">
            <a:avLst/>
          </a:prstGeom>
          <a:solidFill>
            <a:srgbClr val="F2D4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062617" y="2982660"/>
            <a:ext cx="24000" cy="24000"/>
          </a:xfrm>
          <a:prstGeom prst="ellipse">
            <a:avLst/>
          </a:prstGeom>
          <a:solidFill>
            <a:srgbClr val="F2D4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242830" y="2982660"/>
            <a:ext cx="24000" cy="24000"/>
          </a:xfrm>
          <a:prstGeom prst="ellipse">
            <a:avLst/>
          </a:prstGeom>
          <a:solidFill>
            <a:srgbClr val="F2D4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089831" y="2982660"/>
            <a:ext cx="24000" cy="24000"/>
          </a:xfrm>
          <a:prstGeom prst="ellipse">
            <a:avLst/>
          </a:prstGeom>
          <a:solidFill>
            <a:srgbClr val="F2D4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273226" y="2982660"/>
            <a:ext cx="24000" cy="24000"/>
          </a:xfrm>
          <a:prstGeom prst="ellipse">
            <a:avLst/>
          </a:prstGeom>
          <a:solidFill>
            <a:srgbClr val="C9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072449" y="2982660"/>
            <a:ext cx="24000" cy="24000"/>
          </a:xfrm>
          <a:prstGeom prst="ellipse">
            <a:avLst/>
          </a:prstGeom>
          <a:solidFill>
            <a:srgbClr val="C9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265233" y="2982660"/>
            <a:ext cx="24000" cy="24000"/>
          </a:xfrm>
          <a:prstGeom prst="ellipse">
            <a:avLst/>
          </a:prstGeom>
          <a:solidFill>
            <a:srgbClr val="C9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073604" y="2982660"/>
            <a:ext cx="24000" cy="24000"/>
          </a:xfrm>
          <a:prstGeom prst="ellipse">
            <a:avLst/>
          </a:prstGeom>
          <a:solidFill>
            <a:srgbClr val="C9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2213593" y="2982660"/>
            <a:ext cx="24000" cy="24000"/>
          </a:xfrm>
          <a:prstGeom prst="ellipse">
            <a:avLst/>
          </a:prstGeom>
          <a:solidFill>
            <a:srgbClr val="F2D4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068307" y="2982660"/>
            <a:ext cx="24000" cy="24000"/>
          </a:xfrm>
          <a:prstGeom prst="ellipse">
            <a:avLst/>
          </a:prstGeom>
          <a:solidFill>
            <a:srgbClr val="F2D4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2232234" y="2982660"/>
            <a:ext cx="24000" cy="24000"/>
          </a:xfrm>
          <a:prstGeom prst="ellipse">
            <a:avLst/>
          </a:prstGeom>
          <a:solidFill>
            <a:srgbClr val="F2D4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068975" y="2982660"/>
            <a:ext cx="24000" cy="24000"/>
          </a:xfrm>
          <a:prstGeom prst="ellipse">
            <a:avLst/>
          </a:prstGeom>
          <a:solidFill>
            <a:srgbClr val="F2D4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2268656" y="2982660"/>
            <a:ext cx="24000" cy="24000"/>
          </a:xfrm>
          <a:prstGeom prst="ellipse">
            <a:avLst/>
          </a:prstGeom>
          <a:solidFill>
            <a:srgbClr val="C9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114327" y="2982660"/>
            <a:ext cx="24000" cy="24000"/>
          </a:xfrm>
          <a:prstGeom prst="ellipse">
            <a:avLst/>
          </a:prstGeom>
          <a:solidFill>
            <a:srgbClr val="C9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2261990" y="2982660"/>
            <a:ext cx="24000" cy="24000"/>
          </a:xfrm>
          <a:prstGeom prst="ellipse">
            <a:avLst/>
          </a:prstGeom>
          <a:solidFill>
            <a:srgbClr val="C9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085736" y="2982660"/>
            <a:ext cx="24000" cy="24000"/>
          </a:xfrm>
          <a:prstGeom prst="ellipse">
            <a:avLst/>
          </a:prstGeom>
          <a:solidFill>
            <a:srgbClr val="C9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2205356" y="2982660"/>
            <a:ext cx="24000" cy="24000"/>
          </a:xfrm>
          <a:prstGeom prst="ellipse">
            <a:avLst/>
          </a:prstGeom>
          <a:solidFill>
            <a:srgbClr val="C9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4073515" y="2982660"/>
            <a:ext cx="24000" cy="24000"/>
          </a:xfrm>
          <a:prstGeom prst="ellipse">
            <a:avLst/>
          </a:prstGeom>
          <a:solidFill>
            <a:srgbClr val="C9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2235729" y="2982660"/>
            <a:ext cx="24000" cy="24000"/>
          </a:xfrm>
          <a:prstGeom prst="ellipse">
            <a:avLst/>
          </a:prstGeom>
          <a:solidFill>
            <a:srgbClr val="F2D4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4098020" y="2982660"/>
            <a:ext cx="24000" cy="24000"/>
          </a:xfrm>
          <a:prstGeom prst="ellipse">
            <a:avLst/>
          </a:prstGeom>
          <a:solidFill>
            <a:srgbClr val="F2D4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2236045" y="2982660"/>
            <a:ext cx="24000" cy="24000"/>
          </a:xfrm>
          <a:prstGeom prst="ellipse">
            <a:avLst/>
          </a:prstGeom>
          <a:solidFill>
            <a:srgbClr val="C9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4098998" y="2982660"/>
            <a:ext cx="24000" cy="24000"/>
          </a:xfrm>
          <a:prstGeom prst="ellipse">
            <a:avLst/>
          </a:prstGeom>
          <a:solidFill>
            <a:srgbClr val="C9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2230829" y="2982660"/>
            <a:ext cx="24000" cy="24000"/>
          </a:xfrm>
          <a:prstGeom prst="ellipse">
            <a:avLst/>
          </a:prstGeom>
          <a:solidFill>
            <a:srgbClr val="C9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4102113" y="2982660"/>
            <a:ext cx="24000" cy="24000"/>
          </a:xfrm>
          <a:prstGeom prst="ellipse">
            <a:avLst/>
          </a:prstGeom>
          <a:solidFill>
            <a:srgbClr val="C9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2205134" y="2982660"/>
            <a:ext cx="24000" cy="24000"/>
          </a:xfrm>
          <a:prstGeom prst="ellipse">
            <a:avLst/>
          </a:prstGeom>
          <a:solidFill>
            <a:srgbClr val="C9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4121462" y="2982660"/>
            <a:ext cx="24000" cy="24000"/>
          </a:xfrm>
          <a:prstGeom prst="ellipse">
            <a:avLst/>
          </a:prstGeom>
          <a:solidFill>
            <a:srgbClr val="C9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2242341" y="2982660"/>
            <a:ext cx="24000" cy="24000"/>
          </a:xfrm>
          <a:prstGeom prst="ellipse">
            <a:avLst/>
          </a:prstGeom>
          <a:solidFill>
            <a:srgbClr val="C9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4065782" y="2982660"/>
            <a:ext cx="24000" cy="24000"/>
          </a:xfrm>
          <a:prstGeom prst="ellipse">
            <a:avLst/>
          </a:prstGeom>
          <a:solidFill>
            <a:srgbClr val="C9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2262786" y="2982660"/>
            <a:ext cx="24000" cy="24000"/>
          </a:xfrm>
          <a:prstGeom prst="ellipse">
            <a:avLst/>
          </a:prstGeom>
          <a:solidFill>
            <a:srgbClr val="C9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4081962" y="2982660"/>
            <a:ext cx="24000" cy="24000"/>
          </a:xfrm>
          <a:prstGeom prst="ellipse">
            <a:avLst/>
          </a:prstGeom>
          <a:solidFill>
            <a:srgbClr val="C9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2267187" y="2982660"/>
            <a:ext cx="24000" cy="24000"/>
          </a:xfrm>
          <a:prstGeom prst="ellipse">
            <a:avLst/>
          </a:prstGeom>
          <a:solidFill>
            <a:srgbClr val="F2D4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4075614" y="2982660"/>
            <a:ext cx="24000" cy="24000"/>
          </a:xfrm>
          <a:prstGeom prst="ellipse">
            <a:avLst/>
          </a:prstGeom>
          <a:solidFill>
            <a:srgbClr val="F2D4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2268479" y="2982660"/>
            <a:ext cx="24000" cy="24000"/>
          </a:xfrm>
          <a:prstGeom prst="ellipse">
            <a:avLst/>
          </a:prstGeom>
          <a:solidFill>
            <a:srgbClr val="F2D4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4056021" y="2982660"/>
            <a:ext cx="24000" cy="24000"/>
          </a:xfrm>
          <a:prstGeom prst="ellipse">
            <a:avLst/>
          </a:prstGeom>
          <a:solidFill>
            <a:srgbClr val="F2D4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2234806" y="2982660"/>
            <a:ext cx="24000" cy="24000"/>
          </a:xfrm>
          <a:prstGeom prst="ellipse">
            <a:avLst/>
          </a:prstGeom>
          <a:solidFill>
            <a:srgbClr val="F2D4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4068075" y="2982660"/>
            <a:ext cx="24000" cy="24000"/>
          </a:xfrm>
          <a:prstGeom prst="ellipse">
            <a:avLst/>
          </a:prstGeom>
          <a:solidFill>
            <a:srgbClr val="F2D4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1" name="Connector 70"/>
          <p:cNvCxnSpPr/>
          <p:nvPr/>
        </p:nvCxnSpPr>
        <p:spPr>
          <a:xfrm>
            <a:off x="2343150" y="1470660"/>
            <a:ext cx="1851660" cy="1524000"/>
          </a:xfrm>
          <a:prstGeom prst="line">
            <a:avLst/>
          </a:prstGeom>
          <a:ln w="2794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Diamond 71"/>
          <p:cNvSpPr/>
          <p:nvPr/>
        </p:nvSpPr>
        <p:spPr>
          <a:xfrm>
            <a:off x="2298150" y="1425660"/>
            <a:ext cx="90000" cy="90000"/>
          </a:xfrm>
          <a:prstGeom prst="diamond">
            <a:avLst/>
          </a:prstGeom>
          <a:solidFill>
            <a:srgbClr val="0A7D6E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Diamond 72"/>
          <p:cNvSpPr/>
          <p:nvPr/>
        </p:nvSpPr>
        <p:spPr>
          <a:xfrm>
            <a:off x="4149810" y="2949660"/>
            <a:ext cx="90000" cy="90000"/>
          </a:xfrm>
          <a:prstGeom prst="diamond">
            <a:avLst/>
          </a:prstGeom>
          <a:solidFill>
            <a:srgbClr val="0A7D6E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977390" y="1269492"/>
            <a:ext cx="7315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0A7D6E"/>
                </a:solidFill>
                <a:latin typeface="Arial"/>
              </a:rPr>
              <a:t>subject #3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141982" y="1488948"/>
            <a:ext cx="18288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1" i="0">
                <a:solidFill>
                  <a:srgbClr val="0A7D6E"/>
                </a:solidFill>
                <a:latin typeface="Arial"/>
              </a:rPr>
              <a:t>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231386" y="2930652"/>
            <a:ext cx="18288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 i="0">
                <a:solidFill>
                  <a:srgbClr val="0A7D6E"/>
                </a:solidFill>
                <a:latin typeface="Arial"/>
              </a:rPr>
              <a:t>0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2160270" y="2232660"/>
            <a:ext cx="1851660" cy="762000"/>
          </a:xfrm>
          <a:prstGeom prst="line">
            <a:avLst/>
          </a:prstGeom>
          <a:ln w="2794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Diamond 77"/>
          <p:cNvSpPr/>
          <p:nvPr/>
        </p:nvSpPr>
        <p:spPr>
          <a:xfrm>
            <a:off x="2115270" y="2187660"/>
            <a:ext cx="90000" cy="90000"/>
          </a:xfrm>
          <a:prstGeom prst="diamond">
            <a:avLst/>
          </a:prstGeom>
          <a:solidFill>
            <a:srgbClr val="0A7D6E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Diamond 78"/>
          <p:cNvSpPr/>
          <p:nvPr/>
        </p:nvSpPr>
        <p:spPr>
          <a:xfrm>
            <a:off x="3966930" y="2949660"/>
            <a:ext cx="90000" cy="90000"/>
          </a:xfrm>
          <a:prstGeom prst="diamond">
            <a:avLst/>
          </a:prstGeom>
          <a:solidFill>
            <a:srgbClr val="0A7D6E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794510" y="2031492"/>
            <a:ext cx="7315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0A7D6E"/>
                </a:solidFill>
                <a:latin typeface="Arial"/>
              </a:rPr>
              <a:t>subject #4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959102" y="2250948"/>
            <a:ext cx="18288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1" i="0">
                <a:solidFill>
                  <a:srgbClr val="0A7D6E"/>
                </a:solidFill>
                <a:latin typeface="Arial"/>
              </a:rPr>
              <a:t>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048506" y="2930652"/>
            <a:ext cx="18288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 i="0">
                <a:solidFill>
                  <a:srgbClr val="0A7D6E"/>
                </a:solidFill>
                <a:latin typeface="Arial"/>
              </a:rPr>
              <a:t>0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4434840" y="502920"/>
            <a:ext cx="1371600" cy="777240"/>
          </a:xfrm>
          <a:prstGeom prst="roundRect">
            <a:avLst/>
          </a:prstGeom>
          <a:solidFill>
            <a:srgbClr val="DAEBE9"/>
          </a:solidFill>
          <a:ln w="1016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480560" y="548640"/>
            <a:ext cx="128016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1" i="0">
                <a:solidFill>
                  <a:srgbClr val="0A7D6E"/>
                </a:solidFill>
                <a:latin typeface="Arial"/>
              </a:rPr>
              <a:t>Strict HLA-LOH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480560" y="685800"/>
            <a:ext cx="128016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pre: 2 / 16 good  ·  0 / 12 bad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480560" y="822960"/>
            <a:ext cx="128016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post: 0 / 16 good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480560" y="960120"/>
            <a:ext cx="128016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 i="1">
                <a:solidFill>
                  <a:srgbClr val="555555"/>
                </a:solidFill>
                <a:latin typeface="Arial"/>
              </a:rPr>
              <a:t>(both subjects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480560" y="1078992"/>
            <a:ext cx="128016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 i="1">
                <a:solidFill>
                  <a:srgbClr val="555555"/>
                </a:solidFill>
                <a:latin typeface="Arial"/>
              </a:rPr>
              <a:t>cleared their LOH)</a:t>
            </a:r>
          </a:p>
        </p:txBody>
      </p:sp>
      <p:sp>
        <p:nvSpPr>
          <p:cNvPr id="89" name="Diamond 88"/>
          <p:cNvSpPr/>
          <p:nvPr/>
        </p:nvSpPr>
        <p:spPr>
          <a:xfrm>
            <a:off x="467920" y="3448864"/>
            <a:ext cx="70000" cy="70000"/>
          </a:xfrm>
          <a:prstGeom prst="diamond">
            <a:avLst/>
          </a:prstGeom>
          <a:solidFill>
            <a:srgbClr val="0A7D6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58368" y="3424000"/>
            <a:ext cx="182880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0A7D6E"/>
                </a:solidFill>
                <a:latin typeface="Arial"/>
              </a:rPr>
              <a:t>subj 3, 4 — strict LOH → resolved</a:t>
            </a:r>
          </a:p>
        </p:txBody>
      </p:sp>
      <p:sp>
        <p:nvSpPr>
          <p:cNvPr id="91" name="Oval 90"/>
          <p:cNvSpPr/>
          <p:nvPr/>
        </p:nvSpPr>
        <p:spPr>
          <a:xfrm>
            <a:off x="3094960" y="3469864"/>
            <a:ext cx="28000" cy="28000"/>
          </a:xfrm>
          <a:prstGeom prst="ellipse">
            <a:avLst/>
          </a:prstGeom>
          <a:solidFill>
            <a:srgbClr val="C9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200400" y="3424000"/>
            <a:ext cx="201168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Arial"/>
              </a:rPr>
              <a:t>other subjects — no strict LOH detected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37160" y="3886200"/>
            <a:ext cx="566928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1">
                <a:solidFill>
                  <a:srgbClr val="555555"/>
                </a:solidFill>
                <a:latin typeface="Arial"/>
              </a:rPr>
              <a:t>Bonferroni-corrected IMGT allele-count criterion (|Δratio| ≥ 0.20, Fisher P &lt; 0.01). Fisher P = 0.49 between-group; anecdotal.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91440"/>
            <a:ext cx="365760" cy="32004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222222"/>
                </a:solidFill>
                <a:latin typeface="Arial"/>
              </a:rPr>
              <a:t>F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457200"/>
            <a:ext cx="2057400" cy="365760"/>
          </a:xfrm>
          <a:prstGeom prst="roundRect">
            <a:avLst/>
          </a:prstGeom>
          <a:solidFill>
            <a:srgbClr val="4F738E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75488"/>
            <a:ext cx="2057400" cy="32918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Arial"/>
              </a:rPr>
              <a:t>SC-RT
(25 Gy / 5 Fx)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303020" y="832104"/>
            <a:ext cx="0" cy="91440"/>
          </a:xfrm>
          <a:prstGeom prst="line">
            <a:avLst/>
          </a:prstGeom>
          <a:ln w="12700">
            <a:solidFill>
              <a:srgbClr val="22222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74320" y="932688"/>
            <a:ext cx="2057400" cy="365760"/>
          </a:xfrm>
          <a:prstGeom prst="roundRect">
            <a:avLst/>
          </a:prstGeom>
          <a:solidFill>
            <a:srgbClr val="3E5286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950976"/>
            <a:ext cx="2057400" cy="32918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Arial"/>
              </a:rPr>
              <a:t>Clone clearance
(SBS5, missense ↓)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303020" y="1307592"/>
            <a:ext cx="0" cy="91440"/>
          </a:xfrm>
          <a:prstGeom prst="line">
            <a:avLst/>
          </a:prstGeom>
          <a:ln w="12700">
            <a:solidFill>
              <a:srgbClr val="22222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74320" y="1408176"/>
            <a:ext cx="2057400" cy="365760"/>
          </a:xfrm>
          <a:prstGeom prst="roundRect">
            <a:avLst/>
          </a:prstGeom>
          <a:solidFill>
            <a:srgbClr val="6A4C93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426464"/>
            <a:ext cx="2057400" cy="32918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Arial"/>
              </a:rPr>
              <a:t>Antigen clearance
(MHC-I neoantigens ↓)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303020" y="1783080"/>
            <a:ext cx="0" cy="91440"/>
          </a:xfrm>
          <a:prstGeom prst="line">
            <a:avLst/>
          </a:prstGeom>
          <a:ln w="12700">
            <a:solidFill>
              <a:srgbClr val="22222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74320" y="1883664"/>
            <a:ext cx="2057400" cy="365760"/>
          </a:xfrm>
          <a:prstGeom prst="roundRect">
            <a:avLst/>
          </a:prstGeom>
          <a:solidFill>
            <a:srgbClr val="0A7D6E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1901952"/>
            <a:ext cx="2057400" cy="32918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Arial"/>
              </a:rPr>
              <a:t>Immune reprogramming
(MHC-II, CD8 exh., Treg ↑)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303020" y="2258568"/>
            <a:ext cx="0" cy="91440"/>
          </a:xfrm>
          <a:prstGeom prst="line">
            <a:avLst/>
          </a:prstGeom>
          <a:ln w="12700">
            <a:solidFill>
              <a:srgbClr val="22222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74320" y="2359152"/>
            <a:ext cx="2057400" cy="365760"/>
          </a:xfrm>
          <a:prstGeom prst="roundRect">
            <a:avLst/>
          </a:prstGeom>
          <a:solidFill>
            <a:srgbClr val="A6502C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2377440"/>
            <a:ext cx="2057400" cy="32918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Arial"/>
              </a:rPr>
              <a:t>B-cell infiltration
(IGH clonotypes ↑)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303020" y="2734056"/>
            <a:ext cx="0" cy="91440"/>
          </a:xfrm>
          <a:prstGeom prst="line">
            <a:avLst/>
          </a:prstGeom>
          <a:ln w="12700">
            <a:solidFill>
              <a:srgbClr val="22222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74320" y="2834640"/>
            <a:ext cx="2057400" cy="365760"/>
          </a:xfrm>
          <a:prstGeom prst="roundRect">
            <a:avLst/>
          </a:prstGeom>
          <a:solidFill>
            <a:srgbClr val="D4A300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2852928"/>
            <a:ext cx="2057400" cy="32918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Arial"/>
              </a:rPr>
              <a:t>Final TNT response
(good responder)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50008" y="1975104"/>
            <a:ext cx="36576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D4A300"/>
                </a:solidFill>
                <a:latin typeface="Arial"/>
              </a:rPr>
              <a:t>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1760" y="1975104"/>
            <a:ext cx="73152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 i="1">
                <a:solidFill>
                  <a:srgbClr val="D4A300"/>
                </a:solidFill>
                <a:latin typeface="Arial"/>
              </a:rPr>
              <a:t>Treg CI
robust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08960" y="731520"/>
            <a:ext cx="2697480" cy="2286000"/>
          </a:xfrm>
          <a:prstGeom prst="rect">
            <a:avLst/>
          </a:prstGeom>
          <a:solidFill>
            <a:srgbClr val="FBF0ED"/>
          </a:solidFill>
          <a:ln w="1778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46120" y="868680"/>
            <a:ext cx="242316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1">
                <a:solidFill>
                  <a:srgbClr val="222222"/>
                </a:solidFill>
                <a:latin typeface="Arial"/>
              </a:rPr>
              <a:t>Baseline → cascade Δ 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46120" y="1097280"/>
            <a:ext cx="2423160" cy="6400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800" b="1" i="0">
                <a:solidFill>
                  <a:srgbClr val="C53E1F"/>
                </a:solidFill>
                <a:latin typeface="Arial"/>
              </a:rPr>
              <a:t>NO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1828800"/>
            <a:ext cx="24231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222222"/>
                </a:solidFill>
                <a:latin typeface="Arial"/>
              </a:rPr>
              <a:t>0 / 36 pairs   P &lt; 0.05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46120" y="2057400"/>
            <a:ext cx="242316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C53E1F"/>
                </a:solidFill>
                <a:latin typeface="Arial"/>
              </a:rPr>
              <a:t>DSB → CD8-cyt   r = −0.07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474720" y="2377440"/>
            <a:ext cx="1965960" cy="0"/>
          </a:xfrm>
          <a:prstGeom prst="line">
            <a:avLst/>
          </a:prstGeom>
          <a:ln w="635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246120" y="2514600"/>
            <a:ext cx="242316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1">
                <a:solidFill>
                  <a:srgbClr val="0A7D6E"/>
                </a:solidFill>
                <a:latin typeface="Arial"/>
              </a:rPr>
              <a:t>Static ⊥ Dynamic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46120" y="2743200"/>
            <a:ext cx="24231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1">
                <a:solidFill>
                  <a:srgbClr val="666666"/>
                </a:solidFill>
                <a:latin typeface="Arial"/>
              </a:rPr>
              <a:t>(orthogonal, not cascading)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" y="3611880"/>
            <a:ext cx="566928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1">
                <a:solidFill>
                  <a:srgbClr val="222222"/>
                </a:solidFill>
                <a:latin typeface="Arial"/>
              </a:rPr>
              <a:t>Cascade is phenomenology, not a causal downstream of the baseline predictor.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