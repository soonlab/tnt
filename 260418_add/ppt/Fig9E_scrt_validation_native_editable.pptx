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SC-RT-matched external validation — GSE254249 (Gao et al. Cancer Cell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303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1">
                <a:solidFill>
                  <a:srgbClr val="666666"/>
                </a:solidFill>
                <a:latin typeface="Arial"/>
              </a:rPr>
              <a:t>n = 8 post-TNT bulk RNA-seq  ·  SC-RT 5×5 Gy + FOLFOXIRI  ·  5 CR vs 3 non-CR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1765" y="640080"/>
            <a:ext cx="1621715" cy="2331720"/>
          </a:xfrm>
          <a:prstGeom prst="rect">
            <a:avLst/>
          </a:prstGeom>
          <a:solidFill>
            <a:srgbClr val="D6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640080"/>
            <a:ext cx="1441525" cy="2331720"/>
          </a:xfrm>
          <a:prstGeom prst="rect">
            <a:avLst/>
          </a:prstGeom>
          <a:solidFill>
            <a:srgbClr val="F4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3063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61765" y="640080"/>
            <a:ext cx="0" cy="23317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0335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7455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0812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77932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11288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28408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61765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78885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2241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29361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62718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79838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3194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30314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54680"/>
            <a:ext cx="30632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Post-TNT Δ = z-score(good) − z-score(bad)   (predicted-direction-oriented)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2908" y="548640"/>
            <a:ext cx="13716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1">
                <a:solidFill>
                  <a:srgbClr val="0A7D6E"/>
                </a:solidFill>
                <a:latin typeface="Arial"/>
              </a:rPr>
              <a:t>predicted-direction zone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548640"/>
            <a:ext cx="11887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1">
                <a:solidFill>
                  <a:srgbClr val="C53E1F"/>
                </a:solidFill>
                <a:latin typeface="Arial"/>
              </a:rPr>
              <a:t>← opposite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" y="733479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1765" y="776631"/>
            <a:ext cx="848697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24430" y="788631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291772" y="784631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87759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797487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0.071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687759"/>
            <a:ext cx="1828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973183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" y="1066582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1765" y="1109734"/>
            <a:ext cx="816263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24357" y="1121734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4303784" y="1117734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1020862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1130590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" y="1399685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61765" y="1442837"/>
            <a:ext cx="805452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42411" y="1454837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4177651" y="1450837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1353965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1463693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0.143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1639389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1732788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61765" y="1775940"/>
            <a:ext cx="15316" cy="600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71000" y="17879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3823276" y="1783940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1687068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-0.02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1796796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1.000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" y="2065891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61765" y="2109043"/>
            <a:ext cx="611747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33176" y="2121043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4327810" y="2117043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2020171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2129899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0.571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2305595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6304" y="2398994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1765" y="2442146"/>
            <a:ext cx="1137903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47858" y="2454146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iamond 62"/>
          <p:cNvSpPr/>
          <p:nvPr/>
        </p:nvSpPr>
        <p:spPr>
          <a:xfrm>
            <a:off x="3592032" y="2450146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2353274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 = +1.26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2463002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0.036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2120" y="2353274"/>
            <a:ext cx="1828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6304" y="2732097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1765" y="2775249"/>
            <a:ext cx="941496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20519" y="2787249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3423854" y="2783249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2686377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+1.04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2796105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3127248"/>
            <a:ext cx="530352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3154680"/>
            <a:ext cx="5120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Three-regimen regimen-agnostic convergence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332841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• Discovery SC-RT + FOLFOX/CAPOX (N=33 pre-RT): LASSO AUC 0.745 [0.56, 0.90]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346557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• LC-CRT + concurrent capecitabine (N=518–816): T1 DSB Z=+3.17, cellcycle Z=+3.21, E2F/MYC Z=+2.79; T2 CD8 Z=+3.29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60273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• SC-RT + FOLFOXIRI (N=8 post-TNT): 7/7 signatures concordant  —  binomial sign P = 0.016  —  Tcell_infil MW P = 0.036 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373989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1">
                <a:solidFill>
                  <a:srgbClr val="222222"/>
                </a:solidFill>
                <a:latin typeface="Arial"/>
              </a:rPr>
              <a:t>Baseline predictor biology reproduces across both RT fractionation and chemo-timing/backbone axes.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" y="390448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Markers: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" y="3922776"/>
            <a:ext cx="146304" cy="6400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" y="3895344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SC-RT Δ (bar)</a:t>
            </a:r>
          </a:p>
        </p:txBody>
      </p:sp>
      <p:sp>
        <p:nvSpPr>
          <p:cNvPr id="82" name="Oval 81"/>
          <p:cNvSpPr/>
          <p:nvPr/>
        </p:nvSpPr>
        <p:spPr>
          <a:xfrm>
            <a:off x="1813800" y="394435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01952" y="3895344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Discovery Δ (circle)</a:t>
            </a:r>
          </a:p>
        </p:txBody>
      </p:sp>
      <p:sp>
        <p:nvSpPr>
          <p:cNvPr id="84" name="Diamond 83"/>
          <p:cNvSpPr/>
          <p:nvPr/>
        </p:nvSpPr>
        <p:spPr>
          <a:xfrm>
            <a:off x="2999520" y="3941352"/>
            <a:ext cx="36000" cy="36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3895344"/>
            <a:ext cx="16459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LC-CRT pooled Z / 3 (diamond)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