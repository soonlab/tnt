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5943600" cy="411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03120" y="548640"/>
            <a:ext cx="306324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03120" y="3566160"/>
            <a:ext cx="306324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20937" y="35661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083777" y="3621024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10022" y="35661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672862" y="3621024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99106" y="35661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61946" y="3621024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88191" y="35661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51031" y="3621024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7275" y="35661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40115" y="3621024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66360" y="35661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0" y="3621024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749040"/>
            <a:ext cx="306324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Stouffer pooled Z (predicted-direction-oriented)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10022" y="548640"/>
            <a:ext cx="0" cy="301752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964627" y="548640"/>
            <a:ext cx="0" cy="3017520"/>
          </a:xfrm>
          <a:prstGeom prst="line">
            <a:avLst/>
          </a:prstGeom>
          <a:ln w="635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655416" y="548640"/>
            <a:ext cx="0" cy="3017520"/>
          </a:xfrm>
          <a:prstGeom prst="line">
            <a:avLst/>
          </a:prstGeom>
          <a:ln w="635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781747" y="566928"/>
            <a:ext cx="3657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1">
                <a:solidFill>
                  <a:srgbClr val="999999"/>
                </a:solidFill>
                <a:latin typeface="Arial"/>
              </a:rPr>
              <a:t>P=0.05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" y="594360"/>
            <a:ext cx="5029200" cy="201168"/>
          </a:xfrm>
          <a:prstGeom prst="rect">
            <a:avLst/>
          </a:prstGeom>
          <a:solidFill>
            <a:srgbClr val="F2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612648"/>
            <a:ext cx="4937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1">
                <a:solidFill>
                  <a:srgbClr val="0E4A68"/>
                </a:solidFill>
                <a:latin typeface="Arial"/>
              </a:rPr>
              <a:t>Thread 1 — tumor-intrinsic  (N = 518, 5 long-course nCRT cohorts)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" y="877824"/>
            <a:ext cx="1920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DSB / HDR repair</a:t>
            </a:r>
          </a:p>
        </p:txBody>
      </p:sp>
      <p:sp>
        <p:nvSpPr>
          <p:cNvPr id="25" name="Oval 24"/>
          <p:cNvSpPr/>
          <p:nvPr/>
        </p:nvSpPr>
        <p:spPr>
          <a:xfrm>
            <a:off x="3562782" y="94212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057376" y="94212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A65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05614" y="94212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8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11394" y="94212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3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906936" y="94212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3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mond 29"/>
          <p:cNvSpPr/>
          <p:nvPr/>
        </p:nvSpPr>
        <p:spPr>
          <a:xfrm>
            <a:off x="4632420" y="915120"/>
            <a:ext cx="90000" cy="90000"/>
          </a:xfrm>
          <a:prstGeom prst="diamond">
            <a:avLst/>
          </a:prstGeom>
          <a:solidFill>
            <a:srgbClr val="0E4A6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0" y="841248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E4A68"/>
                </a:solidFill>
                <a:latin typeface="Arial"/>
              </a:rPr>
              <a:t>Z = +3.17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950976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 = 0.002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841248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>★★★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" y="1152144"/>
            <a:ext cx="1920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Tumor cell-cycle</a:t>
            </a:r>
          </a:p>
        </p:txBody>
      </p:sp>
      <p:sp>
        <p:nvSpPr>
          <p:cNvPr id="35" name="Oval 34"/>
          <p:cNvSpPr/>
          <p:nvPr/>
        </p:nvSpPr>
        <p:spPr>
          <a:xfrm>
            <a:off x="3653460" y="121644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66121" y="121644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A65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235568" y="121644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8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280364" y="121644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3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846573" y="121644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3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iamond 39"/>
          <p:cNvSpPr/>
          <p:nvPr/>
        </p:nvSpPr>
        <p:spPr>
          <a:xfrm>
            <a:off x="4655983" y="1189440"/>
            <a:ext cx="90000" cy="90000"/>
          </a:xfrm>
          <a:prstGeom prst="diamond">
            <a:avLst/>
          </a:prstGeom>
          <a:solidFill>
            <a:srgbClr val="0E4A6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0" y="1115568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E4A68"/>
                </a:solidFill>
                <a:latin typeface="Arial"/>
              </a:rPr>
              <a:t>Z = +3.21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1225296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 = 0.001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1115568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>★★★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592" y="1426464"/>
            <a:ext cx="1920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E2F / MYC</a:t>
            </a:r>
          </a:p>
        </p:txBody>
      </p:sp>
      <p:sp>
        <p:nvSpPr>
          <p:cNvPr id="45" name="Oval 44"/>
          <p:cNvSpPr/>
          <p:nvPr/>
        </p:nvSpPr>
        <p:spPr>
          <a:xfrm>
            <a:off x="3485058" y="149076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670327" y="149076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A65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889117" y="149076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8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497405" y="149076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3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627399" y="149076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3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iamond 49"/>
          <p:cNvSpPr/>
          <p:nvPr/>
        </p:nvSpPr>
        <p:spPr>
          <a:xfrm>
            <a:off x="4408568" y="1463760"/>
            <a:ext cx="90000" cy="90000"/>
          </a:xfrm>
          <a:prstGeom prst="diamond">
            <a:avLst/>
          </a:prstGeom>
          <a:solidFill>
            <a:srgbClr val="0E4A6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2080" y="1389888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E4A68"/>
                </a:solidFill>
                <a:latin typeface="Arial"/>
              </a:rPr>
              <a:t>Z = +2.79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1499616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 = 0.005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23560" y="1389888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>★★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4592" y="1700784"/>
            <a:ext cx="1920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EMT</a:t>
            </a:r>
          </a:p>
        </p:txBody>
      </p:sp>
      <p:sp>
        <p:nvSpPr>
          <p:cNvPr id="55" name="Oval 54"/>
          <p:cNvSpPr/>
          <p:nvPr/>
        </p:nvSpPr>
        <p:spPr>
          <a:xfrm>
            <a:off x="2163755" y="176508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672929" y="176508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A65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905614" y="176508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8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432293" y="176508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3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623087" y="176508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3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iamond 59"/>
          <p:cNvSpPr/>
          <p:nvPr/>
        </p:nvSpPr>
        <p:spPr>
          <a:xfrm>
            <a:off x="3713448" y="1738080"/>
            <a:ext cx="90000" cy="90000"/>
          </a:xfrm>
          <a:prstGeom prst="diamond">
            <a:avLst/>
          </a:prstGeom>
          <a:solidFill>
            <a:srgbClr val="0E4A6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12080" y="1664208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Z = +1.61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12080" y="1773936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0.106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23560" y="1664208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137160" y="2240280"/>
            <a:ext cx="5029200" cy="201168"/>
          </a:xfrm>
          <a:prstGeom prst="rect">
            <a:avLst/>
          </a:prstGeom>
          <a:solidFill>
            <a:srgbClr val="F2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2880" y="2258568"/>
            <a:ext cx="4937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1">
                <a:solidFill>
                  <a:srgbClr val="8A2B4C"/>
                </a:solidFill>
                <a:latin typeface="Arial"/>
              </a:rPr>
              <a:t>Thread 2 — immune  (N = 518, 5 cohorts  ·  +Akiyoshi N = 816, 6 sources)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4592" y="2523744"/>
            <a:ext cx="1920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CD8-cytotoxic (5 cohorts)</a:t>
            </a:r>
          </a:p>
        </p:txBody>
      </p:sp>
      <p:sp>
        <p:nvSpPr>
          <p:cNvPr id="67" name="Oval 66"/>
          <p:cNvSpPr/>
          <p:nvPr/>
        </p:nvSpPr>
        <p:spPr>
          <a:xfrm>
            <a:off x="3109393" y="258804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819192" y="258804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A65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212712" y="258804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8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716057" y="258804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3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624525" y="258804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3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iamond 71"/>
          <p:cNvSpPr/>
          <p:nvPr/>
        </p:nvSpPr>
        <p:spPr>
          <a:xfrm>
            <a:off x="3943191" y="2561040"/>
            <a:ext cx="90000" cy="90000"/>
          </a:xfrm>
          <a:prstGeom prst="diamond">
            <a:avLst/>
          </a:prstGeom>
          <a:solidFill>
            <a:srgbClr val="8A2B4C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12080" y="2487168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8A2B4C"/>
                </a:solidFill>
                <a:latin typeface="Arial"/>
              </a:rPr>
              <a:t>Z = +2.00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12080" y="2596896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8A2B4C"/>
                </a:solidFill>
                <a:latin typeface="Arial"/>
              </a:rPr>
              <a:t>P = 0.046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23560" y="2487168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>★★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64592" y="2798064"/>
            <a:ext cx="1920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D4A300"/>
                </a:solidFill>
                <a:latin typeface="Arial"/>
              </a:rPr>
              <a:t>CD8-cytotoxic + Akiyoshi 2023  ★</a:t>
            </a:r>
          </a:p>
        </p:txBody>
      </p:sp>
      <p:sp>
        <p:nvSpPr>
          <p:cNvPr id="77" name="Oval 76"/>
          <p:cNvSpPr/>
          <p:nvPr/>
        </p:nvSpPr>
        <p:spPr>
          <a:xfrm>
            <a:off x="3109393" y="286236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819192" y="286236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A65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212712" y="286236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8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16057" y="286236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3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624525" y="286236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3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447349" y="286236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iamond 82"/>
          <p:cNvSpPr/>
          <p:nvPr/>
        </p:nvSpPr>
        <p:spPr>
          <a:xfrm>
            <a:off x="4693110" y="2825360"/>
            <a:ext cx="110000" cy="110000"/>
          </a:xfrm>
          <a:prstGeom prst="diamond">
            <a:avLst/>
          </a:prstGeom>
          <a:solidFill>
            <a:srgbClr val="D4A300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12080" y="2761488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4A300"/>
                </a:solidFill>
                <a:latin typeface="Arial"/>
              </a:rPr>
              <a:t>Z = +3.29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12080" y="2871216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D4A300"/>
                </a:solidFill>
                <a:latin typeface="Arial"/>
              </a:rPr>
              <a:t>P = 0.001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23560" y="2761488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>★★★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4592" y="3072384"/>
            <a:ext cx="1920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T-cell infiltration</a:t>
            </a:r>
          </a:p>
        </p:txBody>
      </p:sp>
      <p:sp>
        <p:nvSpPr>
          <p:cNvPr id="88" name="Oval 87"/>
          <p:cNvSpPr/>
          <p:nvPr/>
        </p:nvSpPr>
        <p:spPr>
          <a:xfrm>
            <a:off x="2811452" y="313668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327936" y="313668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A65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06628" y="313668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8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477312" y="313668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3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939695" y="313668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3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iamond 92"/>
          <p:cNvSpPr/>
          <p:nvPr/>
        </p:nvSpPr>
        <p:spPr>
          <a:xfrm>
            <a:off x="3259853" y="3109680"/>
            <a:ext cx="90000" cy="90000"/>
          </a:xfrm>
          <a:prstGeom prst="diamond">
            <a:avLst/>
          </a:prstGeom>
          <a:solidFill>
            <a:srgbClr val="8A2B4C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212080" y="3035808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Z = +0.84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12080" y="3145536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0.399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623560" y="3035808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/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4592" y="3346704"/>
            <a:ext cx="1920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B-cell infiltration</a:t>
            </a:r>
          </a:p>
        </p:txBody>
      </p:sp>
      <p:sp>
        <p:nvSpPr>
          <p:cNvPr id="98" name="Oval 97"/>
          <p:cNvSpPr/>
          <p:nvPr/>
        </p:nvSpPr>
        <p:spPr>
          <a:xfrm>
            <a:off x="2526465" y="341100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119525" y="341100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A65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443679" y="341100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8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236956" y="341100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3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2606981" y="341100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3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iamond 102"/>
          <p:cNvSpPr/>
          <p:nvPr/>
        </p:nvSpPr>
        <p:spPr>
          <a:xfrm>
            <a:off x="2929965" y="3384000"/>
            <a:ext cx="90000" cy="90000"/>
          </a:xfrm>
          <a:prstGeom prst="diamond">
            <a:avLst/>
          </a:prstGeom>
          <a:solidFill>
            <a:srgbClr val="8A2B4C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212080" y="3310128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Z = +0.28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212080" y="3419856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0.781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623560" y="3310128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/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37160" y="3703320"/>
            <a:ext cx="8229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22222"/>
                </a:solidFill>
                <a:latin typeface="Arial"/>
              </a:rPr>
              <a:t>Per-cohort Z:</a:t>
            </a:r>
          </a:p>
        </p:txBody>
      </p:sp>
      <p:sp>
        <p:nvSpPr>
          <p:cNvPr id="108" name="Oval 107"/>
          <p:cNvSpPr/>
          <p:nvPr/>
        </p:nvSpPr>
        <p:spPr>
          <a:xfrm>
            <a:off x="807960" y="3761472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68680" y="3703320"/>
            <a:ext cx="1097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GSE35452 (46)</a:t>
            </a:r>
          </a:p>
        </p:txBody>
      </p:sp>
      <p:sp>
        <p:nvSpPr>
          <p:cNvPr id="110" name="Oval 109"/>
          <p:cNvSpPr/>
          <p:nvPr/>
        </p:nvSpPr>
        <p:spPr>
          <a:xfrm>
            <a:off x="1676640" y="3761472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A65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737360" y="3703320"/>
            <a:ext cx="1097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GSE45404 (80)</a:t>
            </a:r>
          </a:p>
        </p:txBody>
      </p:sp>
      <p:sp>
        <p:nvSpPr>
          <p:cNvPr id="112" name="Oval 111"/>
          <p:cNvSpPr/>
          <p:nvPr/>
        </p:nvSpPr>
        <p:spPr>
          <a:xfrm>
            <a:off x="2545320" y="3761472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5A8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606040" y="3703320"/>
            <a:ext cx="1097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GSE56699 (44)</a:t>
            </a:r>
          </a:p>
        </p:txBody>
      </p:sp>
      <p:sp>
        <p:nvSpPr>
          <p:cNvPr id="114" name="Oval 113"/>
          <p:cNvSpPr/>
          <p:nvPr/>
        </p:nvSpPr>
        <p:spPr>
          <a:xfrm>
            <a:off x="3414000" y="3761472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3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474720" y="3703320"/>
            <a:ext cx="1097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GSE133057 (33)</a:t>
            </a:r>
          </a:p>
        </p:txBody>
      </p:sp>
      <p:sp>
        <p:nvSpPr>
          <p:cNvPr id="116" name="Oval 115"/>
          <p:cNvSpPr/>
          <p:nvPr/>
        </p:nvSpPr>
        <p:spPr>
          <a:xfrm>
            <a:off x="4282680" y="3761472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F3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343400" y="3703320"/>
            <a:ext cx="1097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GSE87211 (353)</a:t>
            </a:r>
          </a:p>
        </p:txBody>
      </p:sp>
      <p:sp>
        <p:nvSpPr>
          <p:cNvPr id="118" name="Oval 117"/>
          <p:cNvSpPr/>
          <p:nvPr/>
        </p:nvSpPr>
        <p:spPr>
          <a:xfrm>
            <a:off x="5151360" y="3761472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212080" y="3703320"/>
            <a:ext cx="1097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GSE216616 Akiyoshi '23 (298)</a:t>
            </a:r>
          </a:p>
        </p:txBody>
      </p:sp>
      <p:sp>
        <p:nvSpPr>
          <p:cNvPr id="120" name="Diamond 119"/>
          <p:cNvSpPr/>
          <p:nvPr/>
        </p:nvSpPr>
        <p:spPr>
          <a:xfrm>
            <a:off x="787960" y="3896920"/>
            <a:ext cx="70000" cy="70000"/>
          </a:xfrm>
          <a:prstGeom prst="diamond">
            <a:avLst/>
          </a:prstGeom>
          <a:solidFill>
            <a:srgbClr val="0E4A6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14400" y="3858768"/>
            <a:ext cx="118872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pooled Stouffer Z (T1)</a:t>
            </a:r>
          </a:p>
        </p:txBody>
      </p:sp>
      <p:sp>
        <p:nvSpPr>
          <p:cNvPr id="122" name="Diamond 121"/>
          <p:cNvSpPr/>
          <p:nvPr/>
        </p:nvSpPr>
        <p:spPr>
          <a:xfrm>
            <a:off x="2022400" y="3896920"/>
            <a:ext cx="70000" cy="70000"/>
          </a:xfrm>
          <a:prstGeom prst="diamond">
            <a:avLst/>
          </a:prstGeom>
          <a:solidFill>
            <a:srgbClr val="8A2B4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48840" y="3858768"/>
            <a:ext cx="118872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pooled Z (T2)</a:t>
            </a:r>
          </a:p>
        </p:txBody>
      </p:sp>
      <p:sp>
        <p:nvSpPr>
          <p:cNvPr id="124" name="Diamond 123"/>
          <p:cNvSpPr/>
          <p:nvPr/>
        </p:nvSpPr>
        <p:spPr>
          <a:xfrm>
            <a:off x="2972520" y="3886920"/>
            <a:ext cx="90000" cy="90000"/>
          </a:xfrm>
          <a:prstGeom prst="diamond">
            <a:avLst/>
          </a:prstGeom>
          <a:solidFill>
            <a:srgbClr val="D4A3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154680" y="3858768"/>
            <a:ext cx="210312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Akiyoshi-augmented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Rectangle 2"/>
          <p:cNvSpPr/>
          <p:nvPr/>
        </p:nvSpPr>
        <p:spPr>
          <a:xfrm>
            <a:off x="2377440" y="731520"/>
            <a:ext cx="411480" cy="391886"/>
          </a:xfrm>
          <a:prstGeom prst="rect">
            <a:avLst/>
          </a:prstGeom>
          <a:solidFill>
            <a:srgbClr val="A8D1C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854311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+0.21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88920" y="731520"/>
            <a:ext cx="411480" cy="391886"/>
          </a:xfrm>
          <a:prstGeom prst="rect">
            <a:avLst/>
          </a:prstGeom>
          <a:solidFill>
            <a:srgbClr val="73B4A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88920" y="854311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222222"/>
                </a:solidFill>
                <a:latin typeface="Arial"/>
              </a:rPr>
              <a:t>+0.34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4096" y="995390"/>
            <a:ext cx="1371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222222"/>
                </a:solidFill>
                <a:latin typeface="Arial"/>
              </a:rPr>
              <a:t>*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731520"/>
            <a:ext cx="411480" cy="391886"/>
          </a:xfrm>
          <a:prstGeom prst="rect">
            <a:avLst/>
          </a:prstGeom>
          <a:solidFill>
            <a:srgbClr val="7BB9B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854311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731520"/>
            <a:ext cx="411480" cy="391886"/>
          </a:xfrm>
          <a:prstGeom prst="rect">
            <a:avLst/>
          </a:prstGeom>
          <a:solidFill>
            <a:srgbClr val="EBF4F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854311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731520"/>
            <a:ext cx="411480" cy="391886"/>
          </a:xfrm>
          <a:prstGeom prst="rect">
            <a:avLst/>
          </a:prstGeom>
          <a:solidFill>
            <a:srgbClr val="C6E1D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854311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1123406"/>
            <a:ext cx="411480" cy="391886"/>
          </a:xfrm>
          <a:prstGeom prst="rect">
            <a:avLst/>
          </a:prstGeom>
          <a:solidFill>
            <a:srgbClr val="84BDB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1246197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1123406"/>
            <a:ext cx="411480" cy="391886"/>
          </a:xfrm>
          <a:prstGeom prst="rect">
            <a:avLst/>
          </a:prstGeom>
          <a:solidFill>
            <a:srgbClr val="77B7A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1246197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+0.33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123406"/>
            <a:ext cx="411480" cy="391886"/>
          </a:xfrm>
          <a:prstGeom prst="rect">
            <a:avLst/>
          </a:prstGeom>
          <a:solidFill>
            <a:srgbClr val="0A7D6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1246197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Arial"/>
              </a:rPr>
              <a:t>+0.66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5576" y="1387276"/>
            <a:ext cx="1371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222222"/>
                </a:solidFill>
                <a:latin typeface="Arial"/>
              </a:rPr>
              <a:t>*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1880" y="1123406"/>
            <a:ext cx="411480" cy="391886"/>
          </a:xfrm>
          <a:prstGeom prst="rect">
            <a:avLst/>
          </a:prstGeom>
          <a:solidFill>
            <a:srgbClr val="8CC2B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1246197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+0.28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1123406"/>
            <a:ext cx="411480" cy="391886"/>
          </a:xfrm>
          <a:prstGeom prst="rect">
            <a:avLst/>
          </a:prstGeom>
          <a:solidFill>
            <a:srgbClr val="B8D9D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1246197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+0.17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1515291"/>
            <a:ext cx="411480" cy="391886"/>
          </a:xfrm>
          <a:prstGeom prst="rect">
            <a:avLst/>
          </a:prstGeom>
          <a:solidFill>
            <a:srgbClr val="AED4C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0" y="1638082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1515291"/>
            <a:ext cx="411480" cy="391886"/>
          </a:xfrm>
          <a:prstGeom prst="rect">
            <a:avLst/>
          </a:prstGeom>
          <a:solidFill>
            <a:srgbClr val="A2CDC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1638082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1515291"/>
            <a:ext cx="411480" cy="391886"/>
          </a:xfrm>
          <a:prstGeom prst="rect">
            <a:avLst/>
          </a:prstGeom>
          <a:solidFill>
            <a:srgbClr val="469C9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1638082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+0.45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11880" y="1515291"/>
            <a:ext cx="411480" cy="391886"/>
          </a:xfrm>
          <a:prstGeom prst="rect">
            <a:avLst/>
          </a:prstGeom>
          <a:solidFill>
            <a:srgbClr val="8CC2B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1638082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+0.28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360" y="1515291"/>
            <a:ext cx="411480" cy="391886"/>
          </a:xfrm>
          <a:prstGeom prst="rect">
            <a:avLst/>
          </a:prstGeom>
          <a:solidFill>
            <a:srgbClr val="CCE4E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0" y="1638082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1907177"/>
            <a:ext cx="411480" cy="391886"/>
          </a:xfrm>
          <a:prstGeom prst="rect">
            <a:avLst/>
          </a:prstGeom>
          <a:solidFill>
            <a:srgbClr val="F0CFC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2029968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88920" y="1907177"/>
            <a:ext cx="411480" cy="391886"/>
          </a:xfrm>
          <a:prstGeom prst="rect">
            <a:avLst/>
          </a:prstGeom>
          <a:solidFill>
            <a:srgbClr val="FAEFE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88920" y="2029968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+0.05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1907177"/>
            <a:ext cx="411480" cy="391886"/>
          </a:xfrm>
          <a:prstGeom prst="rect">
            <a:avLst/>
          </a:prstGeom>
          <a:solidFill>
            <a:srgbClr val="5AA79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0" y="2029968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-0.40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11880" y="1907177"/>
            <a:ext cx="411480" cy="391886"/>
          </a:xfrm>
          <a:prstGeom prst="rect">
            <a:avLst/>
          </a:prstGeom>
          <a:solidFill>
            <a:srgbClr val="B0D5D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11880" y="2029968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-0.19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23360" y="1907177"/>
            <a:ext cx="411480" cy="391886"/>
          </a:xfrm>
          <a:prstGeom prst="rect">
            <a:avLst/>
          </a:prstGeom>
          <a:solidFill>
            <a:srgbClr val="BADAD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23360" y="2029968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-0.17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77440" y="2299063"/>
            <a:ext cx="411480" cy="391886"/>
          </a:xfrm>
          <a:prstGeom prst="rect">
            <a:avLst/>
          </a:prstGeom>
          <a:solidFill>
            <a:srgbClr val="DEEDE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77440" y="2421854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+0.08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88920" y="2299063"/>
            <a:ext cx="411480" cy="391886"/>
          </a:xfrm>
          <a:prstGeom prst="rect">
            <a:avLst/>
          </a:prstGeom>
          <a:solidFill>
            <a:srgbClr val="6CB1A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88920" y="2421854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+0.36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0" y="2299063"/>
            <a:ext cx="411480" cy="391886"/>
          </a:xfrm>
          <a:prstGeom prst="rect">
            <a:avLst/>
          </a:prstGeom>
          <a:solidFill>
            <a:srgbClr val="F4F9F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0" y="2421854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+0.03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11880" y="2299063"/>
            <a:ext cx="411480" cy="391886"/>
          </a:xfrm>
          <a:prstGeom prst="rect">
            <a:avLst/>
          </a:prstGeom>
          <a:solidFill>
            <a:srgbClr val="FAF0E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11880" y="2421854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-0.04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23360" y="2299063"/>
            <a:ext cx="411480" cy="391886"/>
          </a:xfrm>
          <a:prstGeom prst="rect">
            <a:avLst/>
          </a:prstGeom>
          <a:solidFill>
            <a:srgbClr val="C3DFD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23360" y="2421854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+0.15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77440" y="2690949"/>
            <a:ext cx="411480" cy="391886"/>
          </a:xfrm>
          <a:prstGeom prst="rect">
            <a:avLst/>
          </a:prstGeom>
          <a:solidFill>
            <a:srgbClr val="EFF6F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77440" y="2813740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+0.04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88920" y="2690949"/>
            <a:ext cx="411480" cy="391886"/>
          </a:xfrm>
          <a:prstGeom prst="rect">
            <a:avLst/>
          </a:prstGeom>
          <a:solidFill>
            <a:srgbClr val="9FCCC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88920" y="2813740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+0.23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0" y="2690949"/>
            <a:ext cx="411480" cy="391886"/>
          </a:xfrm>
          <a:prstGeom prst="rect">
            <a:avLst/>
          </a:prstGeom>
          <a:solidFill>
            <a:srgbClr val="AAD2C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0" y="2813740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+0.21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11880" y="2690949"/>
            <a:ext cx="411480" cy="391886"/>
          </a:xfrm>
          <a:prstGeom prst="rect">
            <a:avLst/>
          </a:prstGeom>
          <a:solidFill>
            <a:srgbClr val="E8B2A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11880" y="2813740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-0.24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23360" y="2690949"/>
            <a:ext cx="411480" cy="391886"/>
          </a:xfrm>
          <a:prstGeom prst="rect">
            <a:avLst/>
          </a:prstGeom>
          <a:solidFill>
            <a:srgbClr val="EBF4F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23360" y="2813740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+0.05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377440" y="3082834"/>
            <a:ext cx="411480" cy="391886"/>
          </a:xfrm>
          <a:prstGeom prst="rect">
            <a:avLst/>
          </a:prstGeom>
          <a:solidFill>
            <a:srgbClr val="F9EDE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77440" y="3205625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-0.05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88920" y="3082834"/>
            <a:ext cx="411480" cy="391886"/>
          </a:xfrm>
          <a:prstGeom prst="rect">
            <a:avLst/>
          </a:prstGeom>
          <a:solidFill>
            <a:srgbClr val="D2E7E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88920" y="3205625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+0.11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0" y="3082834"/>
            <a:ext cx="411480" cy="391886"/>
          </a:xfrm>
          <a:prstGeom prst="rect">
            <a:avLst/>
          </a:prstGeom>
          <a:solidFill>
            <a:srgbClr val="A1CDC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0" y="3205625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+0.23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11880" y="3082834"/>
            <a:ext cx="411480" cy="391886"/>
          </a:xfrm>
          <a:prstGeom prst="rect">
            <a:avLst/>
          </a:prstGeom>
          <a:solidFill>
            <a:srgbClr val="D1E6E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11880" y="3205625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+0.11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23360" y="3082834"/>
            <a:ext cx="411480" cy="391886"/>
          </a:xfrm>
          <a:prstGeom prst="rect">
            <a:avLst/>
          </a:prstGeom>
          <a:solidFill>
            <a:srgbClr val="FDFAF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23360" y="3205625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-0.01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" y="854311"/>
            <a:ext cx="21488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DSB / HDR repair ↑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2880" y="1246197"/>
            <a:ext cx="21488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Tumor cell-cycle ↑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2880" y="1638082"/>
            <a:ext cx="21488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E2F / MYC ↑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2880" y="2029968"/>
            <a:ext cx="21488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EMT 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2880" y="2421854"/>
            <a:ext cx="21488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CD8-cytotoxic ↑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2880" y="2813739"/>
            <a:ext cx="21488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T-cell infiltration ↑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2880" y="3205625"/>
            <a:ext cx="21488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B-cell infiltration ↑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71700" y="411480"/>
            <a:ext cx="8229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2E86AB"/>
                </a:solidFill>
                <a:latin typeface="Arial"/>
              </a:rPr>
              <a:t>GSE35452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17420" y="548640"/>
            <a:ext cx="7315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666666"/>
                </a:solidFill>
                <a:latin typeface="Arial"/>
              </a:rPr>
              <a:t>N = 46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83180" y="411480"/>
            <a:ext cx="8229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A6502C"/>
                </a:solidFill>
                <a:latin typeface="Arial"/>
              </a:rPr>
              <a:t>GSE45404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28900" y="548640"/>
            <a:ext cx="7315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666666"/>
                </a:solidFill>
                <a:latin typeface="Arial"/>
              </a:rPr>
              <a:t>N = 80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994660" y="411480"/>
            <a:ext cx="8229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5A8261"/>
                </a:solidFill>
                <a:latin typeface="Arial"/>
              </a:rPr>
              <a:t>GSE56699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40380" y="548640"/>
            <a:ext cx="7315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666666"/>
                </a:solidFill>
                <a:latin typeface="Arial"/>
              </a:rPr>
              <a:t>N = 72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06140" y="411480"/>
            <a:ext cx="8229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E39A1E"/>
                </a:solidFill>
                <a:latin typeface="Arial"/>
              </a:rPr>
              <a:t>GSE133057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51860" y="548640"/>
            <a:ext cx="7315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666666"/>
                </a:solidFill>
                <a:latin typeface="Arial"/>
              </a:rPr>
              <a:t>N = 33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17620" y="411480"/>
            <a:ext cx="8229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2F3080"/>
                </a:solidFill>
                <a:latin typeface="Arial"/>
              </a:rPr>
              <a:t>GSE87211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63340" y="548640"/>
            <a:ext cx="7315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666666"/>
                </a:solidFill>
                <a:latin typeface="Arial"/>
              </a:rPr>
              <a:t>N = 363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0" y="411480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22222"/>
                </a:solidFill>
                <a:latin typeface="Arial"/>
              </a:rPr>
              <a:t>Pooled Z (5-cohort)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0" y="548640"/>
            <a:ext cx="12801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666666"/>
                </a:solidFill>
                <a:latin typeface="Arial"/>
              </a:rPr>
              <a:t>(5-cohort N = 518)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72000" y="817735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4A300"/>
                </a:solidFill>
                <a:latin typeface="Arial"/>
              </a:rPr>
              <a:t>Z = +3.17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0" y="936607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D4A300"/>
                </a:solidFill>
                <a:latin typeface="Arial"/>
              </a:rPr>
              <a:t>P = 0.002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1209621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4A300"/>
                </a:solidFill>
                <a:latin typeface="Arial"/>
              </a:rPr>
              <a:t>Z = +3.21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0" y="1328493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D4A300"/>
                </a:solidFill>
                <a:latin typeface="Arial"/>
              </a:rPr>
              <a:t>P = 0.001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0" y="1601506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4A300"/>
                </a:solidFill>
                <a:latin typeface="Arial"/>
              </a:rPr>
              <a:t>Z = +2.79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0" y="1720378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D4A300"/>
                </a:solidFill>
                <a:latin typeface="Arial"/>
              </a:rPr>
              <a:t>P = 0.005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72000" y="1993392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Z = +1.61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72000" y="2112264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666666"/>
                </a:solidFill>
                <a:latin typeface="Arial"/>
              </a:rPr>
              <a:t>P = 0.106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0" y="2385278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4A300"/>
                </a:solidFill>
                <a:latin typeface="Arial"/>
              </a:rPr>
              <a:t>Z = +2.00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0" y="2504150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D4A300"/>
                </a:solidFill>
                <a:latin typeface="Arial"/>
              </a:rPr>
              <a:t>P = 0.046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72000" y="2777163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Z = +0.84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72000" y="2896035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666666"/>
                </a:solidFill>
                <a:latin typeface="Arial"/>
              </a:rPr>
              <a:t>P = 0.399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72000" y="3169049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Z = +0.28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72000" y="3287921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666666"/>
                </a:solidFill>
                <a:latin typeface="Arial"/>
              </a:rPr>
              <a:t>P = 0.781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377440" y="3675888"/>
            <a:ext cx="53435" cy="12801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428875" y="3675888"/>
            <a:ext cx="53435" cy="128016"/>
          </a:xfrm>
          <a:prstGeom prst="rect">
            <a:avLst/>
          </a:prstGeom>
          <a:solidFill>
            <a:srgbClr val="C74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480310" y="3675888"/>
            <a:ext cx="53435" cy="128016"/>
          </a:xfrm>
          <a:prstGeom prst="rect">
            <a:avLst/>
          </a:prstGeom>
          <a:solidFill>
            <a:srgbClr val="CA5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531745" y="3675888"/>
            <a:ext cx="53435" cy="128016"/>
          </a:xfrm>
          <a:prstGeom prst="rect">
            <a:avLst/>
          </a:prstGeom>
          <a:solidFill>
            <a:srgbClr val="CD5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583180" y="3675888"/>
            <a:ext cx="53435" cy="128016"/>
          </a:xfrm>
          <a:prstGeom prst="rect">
            <a:avLst/>
          </a:prstGeom>
          <a:solidFill>
            <a:srgbClr val="D06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634615" y="3675888"/>
            <a:ext cx="53435" cy="128016"/>
          </a:xfrm>
          <a:prstGeom prst="rect">
            <a:avLst/>
          </a:prstGeom>
          <a:solidFill>
            <a:srgbClr val="D36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686050" y="3675888"/>
            <a:ext cx="53435" cy="128016"/>
          </a:xfrm>
          <a:prstGeom prst="rect">
            <a:avLst/>
          </a:prstGeom>
          <a:solidFill>
            <a:srgbClr val="D67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737485" y="3675888"/>
            <a:ext cx="53435" cy="128016"/>
          </a:xfrm>
          <a:prstGeom prst="rect">
            <a:avLst/>
          </a:prstGeom>
          <a:solidFill>
            <a:srgbClr val="D98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788920" y="3675888"/>
            <a:ext cx="53435" cy="128016"/>
          </a:xfrm>
          <a:prstGeom prst="rect">
            <a:avLst/>
          </a:prstGeom>
          <a:solidFill>
            <a:srgbClr val="DC8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840355" y="3675888"/>
            <a:ext cx="53435" cy="128016"/>
          </a:xfrm>
          <a:prstGeom prst="rect">
            <a:avLst/>
          </a:prstGeom>
          <a:solidFill>
            <a:srgbClr val="DF9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891790" y="3675888"/>
            <a:ext cx="53435" cy="128016"/>
          </a:xfrm>
          <a:prstGeom prst="rect">
            <a:avLst/>
          </a:prstGeom>
          <a:solidFill>
            <a:srgbClr val="E2A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943225" y="3675888"/>
            <a:ext cx="53435" cy="128016"/>
          </a:xfrm>
          <a:prstGeom prst="rect">
            <a:avLst/>
          </a:prstGeom>
          <a:solidFill>
            <a:srgbClr val="E5AA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994660" y="3675888"/>
            <a:ext cx="53435" cy="128016"/>
          </a:xfrm>
          <a:prstGeom prst="rect">
            <a:avLst/>
          </a:prstGeom>
          <a:solidFill>
            <a:srgbClr val="E8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046095" y="3675888"/>
            <a:ext cx="53435" cy="128016"/>
          </a:xfrm>
          <a:prstGeom prst="rect">
            <a:avLst/>
          </a:prstGeom>
          <a:solidFill>
            <a:srgbClr val="EBB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097530" y="3675888"/>
            <a:ext cx="53435" cy="128016"/>
          </a:xfrm>
          <a:prstGeom prst="rect">
            <a:avLst/>
          </a:prstGeom>
          <a:solidFill>
            <a:srgbClr val="EEC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148965" y="3675888"/>
            <a:ext cx="53435" cy="128016"/>
          </a:xfrm>
          <a:prstGeom prst="rect">
            <a:avLst/>
          </a:prstGeom>
          <a:solidFill>
            <a:srgbClr val="F1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200400" y="3675888"/>
            <a:ext cx="53435" cy="128016"/>
          </a:xfrm>
          <a:prstGeom prst="rect">
            <a:avLst/>
          </a:prstGeom>
          <a:solidFill>
            <a:srgbClr val="F4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251835" y="3675888"/>
            <a:ext cx="53435" cy="128016"/>
          </a:xfrm>
          <a:prstGeom prst="rect">
            <a:avLst/>
          </a:prstGeom>
          <a:solidFill>
            <a:srgbClr val="F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303270" y="3675888"/>
            <a:ext cx="53435" cy="128016"/>
          </a:xfrm>
          <a:prstGeom prst="rect">
            <a:avLst/>
          </a:prstGeom>
          <a:solidFill>
            <a:srgbClr val="FA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354705" y="3675888"/>
            <a:ext cx="53435" cy="128016"/>
          </a:xfrm>
          <a:prstGeom prst="rect">
            <a:avLst/>
          </a:prstGeom>
          <a:solidFill>
            <a:srgbClr val="FD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406140" y="3675888"/>
            <a:ext cx="53435" cy="128016"/>
          </a:xfrm>
          <a:prstGeom prst="rect">
            <a:avLst/>
          </a:prstGeom>
          <a:solidFill>
            <a:srgbClr val="F8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457575" y="3675888"/>
            <a:ext cx="53435" cy="128016"/>
          </a:xfrm>
          <a:prstGeom prst="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509010" y="3675888"/>
            <a:ext cx="53435" cy="128016"/>
          </a:xfrm>
          <a:prstGeom prst="rect">
            <a:avLst/>
          </a:prstGeom>
          <a:solidFill>
            <a:srgbClr val="D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560445" y="3675888"/>
            <a:ext cx="53435" cy="128016"/>
          </a:xfrm>
          <a:prstGeom prst="rect">
            <a:avLst/>
          </a:prstGeom>
          <a:solidFill>
            <a:srgbClr val="D3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611880" y="3675888"/>
            <a:ext cx="53435" cy="128016"/>
          </a:xfrm>
          <a:prstGeom prst="rect">
            <a:avLst/>
          </a:prstGeom>
          <a:solidFill>
            <a:srgbClr val="C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663315" y="3675888"/>
            <a:ext cx="53435" cy="128016"/>
          </a:xfrm>
          <a:prstGeom prst="rect">
            <a:avLst/>
          </a:prstGeom>
          <a:solidFill>
            <a:srgbClr val="B9D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714750" y="3675888"/>
            <a:ext cx="53435" cy="128016"/>
          </a:xfrm>
          <a:prstGeom prst="rect">
            <a:avLst/>
          </a:prstGeom>
          <a:solidFill>
            <a:srgbClr val="ADD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766185" y="3675888"/>
            <a:ext cx="53435" cy="128016"/>
          </a:xfrm>
          <a:prstGeom prst="rect">
            <a:avLst/>
          </a:prstGeom>
          <a:solidFill>
            <a:srgbClr val="A0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817620" y="3675888"/>
            <a:ext cx="53435" cy="128016"/>
          </a:xfrm>
          <a:prstGeom prst="rect">
            <a:avLst/>
          </a:prstGeom>
          <a:solidFill>
            <a:srgbClr val="94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869055" y="3675888"/>
            <a:ext cx="53435" cy="128016"/>
          </a:xfrm>
          <a:prstGeom prst="rect">
            <a:avLst/>
          </a:prstGeom>
          <a:solidFill>
            <a:srgbClr val="87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3920490" y="3675888"/>
            <a:ext cx="53435" cy="128016"/>
          </a:xfrm>
          <a:prstGeom prst="rect">
            <a:avLst/>
          </a:prstGeom>
          <a:solidFill>
            <a:srgbClr val="7B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3971925" y="3675888"/>
            <a:ext cx="53435" cy="128016"/>
          </a:xfrm>
          <a:prstGeom prst="rect">
            <a:avLst/>
          </a:prstGeom>
          <a:solidFill>
            <a:srgbClr val="6EB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023360" y="3675888"/>
            <a:ext cx="53435" cy="128016"/>
          </a:xfrm>
          <a:prstGeom prst="rect">
            <a:avLst/>
          </a:prstGeom>
          <a:solidFill>
            <a:srgbClr val="61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074795" y="3675888"/>
            <a:ext cx="53435" cy="128016"/>
          </a:xfrm>
          <a:prstGeom prst="rect">
            <a:avLst/>
          </a:prstGeom>
          <a:solidFill>
            <a:srgbClr val="55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4126230" y="3675888"/>
            <a:ext cx="53435" cy="128016"/>
          </a:xfrm>
          <a:prstGeom prst="rect">
            <a:avLst/>
          </a:prstGeom>
          <a:solidFill>
            <a:srgbClr val="48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4177665" y="3675888"/>
            <a:ext cx="53435" cy="128016"/>
          </a:xfrm>
          <a:prstGeom prst="rect">
            <a:avLst/>
          </a:prstGeom>
          <a:solidFill>
            <a:srgbClr val="3C9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229100" y="3675888"/>
            <a:ext cx="53435" cy="128016"/>
          </a:xfrm>
          <a:prstGeom prst="rect">
            <a:avLst/>
          </a:prstGeom>
          <a:solidFill>
            <a:srgbClr val="2F9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280535" y="3675888"/>
            <a:ext cx="53435" cy="128016"/>
          </a:xfrm>
          <a:prstGeom prst="rect">
            <a:avLst/>
          </a:prstGeom>
          <a:solidFill>
            <a:srgbClr val="238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331970" y="3675888"/>
            <a:ext cx="53435" cy="128016"/>
          </a:xfrm>
          <a:prstGeom prst="rect">
            <a:avLst/>
          </a:prstGeom>
          <a:solidFill>
            <a:srgbClr val="168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4383405" y="3675888"/>
            <a:ext cx="53435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377440" y="3675888"/>
            <a:ext cx="2057400" cy="128016"/>
          </a:xfrm>
          <a:prstGeom prst="rect">
            <a:avLst/>
          </a:prstGeom>
          <a:noFill/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212848" y="3813904"/>
            <a:ext cx="32918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−0.6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241548" y="3813904"/>
            <a:ext cx="32918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70248" y="3813904"/>
            <a:ext cx="32918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+0.6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377440" y="3547872"/>
            <a:ext cx="20574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Δ (good − bad) re-oriented by predicted direction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37160" y="3840480"/>
            <a:ext cx="5669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Arial"/>
              </a:rPr>
              <a:t>* = per-cohort Mann-Whitney P &lt; 0.05. Pooled Z values gold-highlighted when |Z| ≥ 1.96 (P &lt; 0.05).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74519" y="3520440"/>
            <a:ext cx="301752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74519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764791" y="3566160"/>
            <a:ext cx="219456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78023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368295" y="3566160"/>
            <a:ext cx="219456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81527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71799" y="3566160"/>
            <a:ext cx="219456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85031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75303" y="3566160"/>
            <a:ext cx="219456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88535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78807" y="3566160"/>
            <a:ext cx="219456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2039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82311" y="3566160"/>
            <a:ext cx="219456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703320"/>
            <a:ext cx="301752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Number of primary cohorts (of 5)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83279" y="685800"/>
            <a:ext cx="0" cy="2834640"/>
          </a:xfrm>
          <a:prstGeom prst="line">
            <a:avLst/>
          </a:prstGeom>
          <a:ln w="10160">
            <a:solidFill>
              <a:srgbClr val="22222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063239" y="704088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1">
                <a:solidFill>
                  <a:srgbClr val="888888"/>
                </a:solidFill>
                <a:latin typeface="Arial"/>
              </a:rPr>
              <a:t>chance (2.5)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766790"/>
            <a:ext cx="603504" cy="242969"/>
          </a:xfrm>
          <a:prstGeom prst="rect">
            <a:avLst/>
          </a:prstGeom>
          <a:solidFill>
            <a:srgbClr val="0A7D6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78023" y="766790"/>
            <a:ext cx="2414016" cy="242969"/>
          </a:xfrm>
          <a:prstGeom prst="rect">
            <a:avLst/>
          </a:prstGeom>
          <a:solidFill>
            <a:srgbClr val="90C4B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78023" y="815122"/>
            <a:ext cx="2414016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805978"/>
            <a:ext cx="1673351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DSB / HDR repair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778546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4A300"/>
                </a:solidFill>
                <a:latin typeface="Arial"/>
              </a:rPr>
              <a:t>Z = +3.17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897418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D4A300"/>
                </a:solidFill>
                <a:latin typeface="Arial"/>
              </a:rPr>
              <a:t>P = 0.002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1171739"/>
            <a:ext cx="603504" cy="242969"/>
          </a:xfrm>
          <a:prstGeom prst="rect">
            <a:avLst/>
          </a:prstGeom>
          <a:solidFill>
            <a:srgbClr val="0A7D6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78023" y="1171739"/>
            <a:ext cx="2414016" cy="242969"/>
          </a:xfrm>
          <a:prstGeom prst="rect">
            <a:avLst/>
          </a:prstGeom>
          <a:solidFill>
            <a:srgbClr val="90C4B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78023" y="1220071"/>
            <a:ext cx="2414016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1210927"/>
            <a:ext cx="1673351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Tumor cell-cycle 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59" y="1183495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4A300"/>
                </a:solidFill>
                <a:latin typeface="Arial"/>
              </a:rPr>
              <a:t>Z = +3.21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59" y="1302367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D4A300"/>
                </a:solidFill>
                <a:latin typeface="Arial"/>
              </a:rPr>
              <a:t>P = 0.001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74519" y="1576687"/>
            <a:ext cx="3017520" cy="242969"/>
          </a:xfrm>
          <a:prstGeom prst="rect">
            <a:avLst/>
          </a:prstGeom>
          <a:solidFill>
            <a:srgbClr val="90C4B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74519" y="1625019"/>
            <a:ext cx="30175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" y="1615875"/>
            <a:ext cx="1673351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E2F / MYC 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59" y="1588443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4A300"/>
                </a:solidFill>
                <a:latin typeface="Arial"/>
              </a:rPr>
              <a:t>Z = +2.79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59" y="1707315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D4A300"/>
                </a:solidFill>
                <a:latin typeface="Arial"/>
              </a:rPr>
              <a:t>P = 0.005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74519" y="1981636"/>
            <a:ext cx="1810512" cy="242969"/>
          </a:xfrm>
          <a:prstGeom prst="rect">
            <a:avLst/>
          </a:prstGeom>
          <a:solidFill>
            <a:srgbClr val="90C4B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74519" y="2029968"/>
            <a:ext cx="181051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85031" y="1981636"/>
            <a:ext cx="1207008" cy="242969"/>
          </a:xfrm>
          <a:prstGeom prst="rect">
            <a:avLst/>
          </a:prstGeom>
          <a:solidFill>
            <a:srgbClr val="E4A89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85031" y="2029968"/>
            <a:ext cx="12070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" y="2020824"/>
            <a:ext cx="1673351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EMT 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59" y="1993392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Z = +1.61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59" y="2112264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0.106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2386585"/>
            <a:ext cx="2414016" cy="242969"/>
          </a:xfrm>
          <a:prstGeom prst="rect">
            <a:avLst/>
          </a:prstGeom>
          <a:solidFill>
            <a:srgbClr val="90C4B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74519" y="2434917"/>
            <a:ext cx="2414016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88535" y="2386585"/>
            <a:ext cx="603504" cy="242969"/>
          </a:xfrm>
          <a:prstGeom prst="rect">
            <a:avLst/>
          </a:prstGeom>
          <a:solidFill>
            <a:srgbClr val="E4A89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" y="2425773"/>
            <a:ext cx="1673351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CD8-cytotoxic 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59" y="2398341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4A300"/>
                </a:solidFill>
                <a:latin typeface="Arial"/>
              </a:rPr>
              <a:t>Z = +2.00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59" y="2517213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D4A300"/>
                </a:solidFill>
                <a:latin typeface="Arial"/>
              </a:rPr>
              <a:t>P = 0.046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74519" y="2791533"/>
            <a:ext cx="2414016" cy="242969"/>
          </a:xfrm>
          <a:prstGeom prst="rect">
            <a:avLst/>
          </a:prstGeom>
          <a:solidFill>
            <a:srgbClr val="90C4B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74519" y="2839865"/>
            <a:ext cx="2414016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88535" y="2791533"/>
            <a:ext cx="603504" cy="242969"/>
          </a:xfrm>
          <a:prstGeom prst="rect">
            <a:avLst/>
          </a:prstGeom>
          <a:solidFill>
            <a:srgbClr val="E4A89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2880" y="2830721"/>
            <a:ext cx="1673351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T-cell infiltration 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37759" y="2803289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Z = +0.84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59" y="2922161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0.399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74519" y="3196482"/>
            <a:ext cx="1810512" cy="242969"/>
          </a:xfrm>
          <a:prstGeom prst="rect">
            <a:avLst/>
          </a:prstGeom>
          <a:solidFill>
            <a:srgbClr val="90C4B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74519" y="3244814"/>
            <a:ext cx="181051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85031" y="3196482"/>
            <a:ext cx="1207008" cy="242969"/>
          </a:xfrm>
          <a:prstGeom prst="rect">
            <a:avLst/>
          </a:prstGeom>
          <a:solidFill>
            <a:srgbClr val="E4A89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85031" y="3244814"/>
            <a:ext cx="12070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2880" y="3235670"/>
            <a:ext cx="1673351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B-cell infiltration 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37759" y="3208238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Z = +0.28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37759" y="3327110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0.781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7160" y="3749039"/>
            <a:ext cx="146304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0896" y="3739039"/>
            <a:ext cx="13258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predicted dir., P&lt;0.05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749039"/>
            <a:ext cx="146304" cy="109728"/>
          </a:xfrm>
          <a:prstGeom prst="rect">
            <a:avLst/>
          </a:prstGeom>
          <a:solidFill>
            <a:srgbClr val="90C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773936" y="3739039"/>
            <a:ext cx="13258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predicted dir., trend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63240" y="3749039"/>
            <a:ext cx="146304" cy="109728"/>
          </a:xfrm>
          <a:prstGeom prst="rect">
            <a:avLst/>
          </a:prstGeom>
          <a:solidFill>
            <a:srgbClr val="E4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36976" y="3739039"/>
            <a:ext cx="13258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opposite dir., trend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26280" y="3749039"/>
            <a:ext cx="146304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00016" y="3739039"/>
            <a:ext cx="13258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opposite dir., P&lt;0.05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D</a:t>
            </a:r>
          </a:p>
        </p:txBody>
      </p:sp>
      <p:sp>
        <p:nvSpPr>
          <p:cNvPr id="3" name="Rectangle 2"/>
          <p:cNvSpPr/>
          <p:nvPr/>
        </p:nvSpPr>
        <p:spPr>
          <a:xfrm>
            <a:off x="3110623" y="502920"/>
            <a:ext cx="1187057" cy="1119226"/>
          </a:xfrm>
          <a:prstGeom prst="rect">
            <a:avLst/>
          </a:prstGeom>
          <a:solidFill>
            <a:srgbClr val="EE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502920"/>
            <a:ext cx="2013343" cy="1119226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10623" y="1622146"/>
            <a:ext cx="1187057" cy="1898294"/>
          </a:xfrm>
          <a:prstGeom prst="rect">
            <a:avLst/>
          </a:prstGeom>
          <a:solidFill>
            <a:srgbClr val="E9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97280" y="502920"/>
            <a:ext cx="0" cy="301752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97280" y="3520440"/>
            <a:ext cx="320040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88225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69353" y="356616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60704" y="324612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4672" y="3172968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-1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70116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51244" y="356616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60704" y="269748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4672" y="2624328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2007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33135" y="356616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60704" y="214884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4672" y="2075688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+1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33898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15026" y="356616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60704" y="160020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04672" y="1527048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+2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15789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96917" y="356616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60704" y="105156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04672" y="978408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+3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97680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178808" y="356616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60704" y="50292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04672" y="429768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+4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970116" y="502920"/>
            <a:ext cx="0" cy="3017520"/>
          </a:xfrm>
          <a:prstGeom prst="line">
            <a:avLst/>
          </a:prstGeom>
          <a:ln w="762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97280" y="2697480"/>
            <a:ext cx="3200400" cy="0"/>
          </a:xfrm>
          <a:prstGeom prst="line">
            <a:avLst/>
          </a:prstGeom>
          <a:ln w="762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110623" y="502920"/>
            <a:ext cx="0" cy="3017520"/>
          </a:xfrm>
          <a:prstGeom prst="line">
            <a:avLst/>
          </a:prstGeom>
          <a:ln w="508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97280" y="1622146"/>
            <a:ext cx="3200400" cy="0"/>
          </a:xfrm>
          <a:prstGeom prst="line">
            <a:avLst/>
          </a:prstGeom>
          <a:ln w="508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097280" y="502920"/>
            <a:ext cx="3200400" cy="3017520"/>
          </a:xfrm>
          <a:prstGeom prst="line">
            <a:avLst/>
          </a:prstGeom>
          <a:ln w="5080">
            <a:solidFill>
              <a:srgbClr val="99999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50276" y="612648"/>
            <a:ext cx="14630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1">
                <a:solidFill>
                  <a:srgbClr val="0A7D6E"/>
                </a:solidFill>
                <a:latin typeface="Arial"/>
              </a:rPr>
              <a:t>UR  reproducible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3658" y="612648"/>
            <a:ext cx="14630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1">
                <a:solidFill>
                  <a:srgbClr val="D4A300"/>
                </a:solidFill>
                <a:latin typeface="Arial"/>
              </a:rPr>
              <a:t>UL  external-only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50276" y="3410712"/>
            <a:ext cx="14630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1">
                <a:solidFill>
                  <a:srgbClr val="0066CC"/>
                </a:solidFill>
                <a:latin typeface="Arial"/>
              </a:rPr>
              <a:t>LR  discovery-only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3721608"/>
            <a:ext cx="320040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Discovery Stouffer-style Z  (n = 33 pre, MW-derived)</a:t>
            </a:r>
          </a:p>
        </p:txBody>
      </p:sp>
      <p:sp>
        <p:nvSpPr>
          <p:cNvPr id="41" name="TextBox 40"/>
          <p:cNvSpPr txBox="1"/>
          <p:nvPr/>
        </p:nvSpPr>
        <p:spPr>
          <a:xfrm rot="16200000">
            <a:off x="320040" y="1097280"/>
            <a:ext cx="365760" cy="182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External pooled Stouffer Z (5-cohort primary)</a:t>
            </a:r>
          </a:p>
        </p:txBody>
      </p:sp>
      <p:sp>
        <p:nvSpPr>
          <p:cNvPr id="42" name="Oval 41"/>
          <p:cNvSpPr/>
          <p:nvPr/>
        </p:nvSpPr>
        <p:spPr>
          <a:xfrm>
            <a:off x="3384893" y="916291"/>
            <a:ext cx="84000" cy="84000"/>
          </a:xfrm>
          <a:prstGeom prst="ellipse">
            <a:avLst/>
          </a:prstGeom>
          <a:solidFill>
            <a:srgbClr val="0E4A6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36621" y="885139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E4A68"/>
                </a:solidFill>
                <a:latin typeface="Arial"/>
              </a:rPr>
              <a:t>DSB / HDR repair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36621" y="1004011"/>
            <a:ext cx="12801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(disc +2.5, ext +3.2)</a:t>
            </a:r>
          </a:p>
        </p:txBody>
      </p:sp>
      <p:sp>
        <p:nvSpPr>
          <p:cNvPr id="45" name="Oval 44"/>
          <p:cNvSpPr/>
          <p:nvPr/>
        </p:nvSpPr>
        <p:spPr>
          <a:xfrm>
            <a:off x="3175285" y="894346"/>
            <a:ext cx="84000" cy="84000"/>
          </a:xfrm>
          <a:prstGeom prst="ellipse">
            <a:avLst/>
          </a:prstGeom>
          <a:solidFill>
            <a:srgbClr val="0E4A6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27013" y="863194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E4A68"/>
                </a:solidFill>
                <a:latin typeface="Arial"/>
              </a:rPr>
              <a:t>Tumor cell-cycle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27013" y="982066"/>
            <a:ext cx="12801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(disc +2.1, ext +3.2)</a:t>
            </a:r>
          </a:p>
        </p:txBody>
      </p:sp>
      <p:sp>
        <p:nvSpPr>
          <p:cNvPr id="48" name="Oval 47"/>
          <p:cNvSpPr/>
          <p:nvPr/>
        </p:nvSpPr>
        <p:spPr>
          <a:xfrm>
            <a:off x="3259128" y="1124774"/>
            <a:ext cx="84000" cy="84000"/>
          </a:xfrm>
          <a:prstGeom prst="ellipse">
            <a:avLst/>
          </a:prstGeom>
          <a:solidFill>
            <a:srgbClr val="0E4A6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10856" y="1093622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E4A68"/>
                </a:solidFill>
                <a:latin typeface="Arial"/>
              </a:rPr>
              <a:t>E2F / MYC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10856" y="1212494"/>
            <a:ext cx="12801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(disc +2.3, ext +2.8)</a:t>
            </a:r>
          </a:p>
        </p:txBody>
      </p:sp>
      <p:sp>
        <p:nvSpPr>
          <p:cNvPr id="51" name="Oval 50"/>
          <p:cNvSpPr/>
          <p:nvPr/>
        </p:nvSpPr>
        <p:spPr>
          <a:xfrm>
            <a:off x="2609343" y="1772170"/>
            <a:ext cx="84000" cy="84000"/>
          </a:xfrm>
          <a:prstGeom prst="ellipse">
            <a:avLst/>
          </a:prstGeom>
          <a:solidFill>
            <a:srgbClr val="0E4A6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61071" y="1741018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E4A68"/>
                </a:solidFill>
                <a:latin typeface="Arial"/>
              </a:rPr>
              <a:t>EMT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61071" y="1859890"/>
            <a:ext cx="12801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(disc +1.2, ext +1.6)</a:t>
            </a:r>
          </a:p>
        </p:txBody>
      </p:sp>
      <p:sp>
        <p:nvSpPr>
          <p:cNvPr id="54" name="Diamond 53"/>
          <p:cNvSpPr/>
          <p:nvPr/>
        </p:nvSpPr>
        <p:spPr>
          <a:xfrm>
            <a:off x="1809832" y="1555200"/>
            <a:ext cx="90000" cy="90000"/>
          </a:xfrm>
          <a:prstGeom prst="diamond">
            <a:avLst/>
          </a:prstGeom>
          <a:solidFill>
            <a:srgbClr val="8A2B4C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64560" y="1527048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8A2B4C"/>
                </a:solidFill>
                <a:latin typeface="Arial"/>
              </a:rPr>
              <a:t>CD8-cytotoxic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64560" y="1645920"/>
            <a:ext cx="12801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(disc -0.2, ext +2.0)</a:t>
            </a:r>
          </a:p>
        </p:txBody>
      </p:sp>
      <p:sp>
        <p:nvSpPr>
          <p:cNvPr id="57" name="Diamond 56"/>
          <p:cNvSpPr/>
          <p:nvPr/>
        </p:nvSpPr>
        <p:spPr>
          <a:xfrm>
            <a:off x="1956558" y="2191622"/>
            <a:ext cx="90000" cy="90000"/>
          </a:xfrm>
          <a:prstGeom prst="diamond">
            <a:avLst/>
          </a:prstGeom>
          <a:solidFill>
            <a:srgbClr val="8A2B4C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11286" y="2163470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8A2B4C"/>
                </a:solidFill>
                <a:latin typeface="Arial"/>
              </a:rPr>
              <a:t>T-cell infiltration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11286" y="2282342"/>
            <a:ext cx="12801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(disc +0.1, ext +0.8)</a:t>
            </a:r>
          </a:p>
        </p:txBody>
      </p:sp>
      <p:sp>
        <p:nvSpPr>
          <p:cNvPr id="60" name="Diamond 59"/>
          <p:cNvSpPr/>
          <p:nvPr/>
        </p:nvSpPr>
        <p:spPr>
          <a:xfrm>
            <a:off x="2312892" y="2498861"/>
            <a:ext cx="90000" cy="90000"/>
          </a:xfrm>
          <a:prstGeom prst="diamond">
            <a:avLst/>
          </a:prstGeom>
          <a:solidFill>
            <a:srgbClr val="8A2B4C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67620" y="2470709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8A2B4C"/>
                </a:solidFill>
                <a:latin typeface="Arial"/>
              </a:rPr>
              <a:t>B-cell infiltration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67620" y="2589581"/>
            <a:ext cx="12801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(disc +0.7, ext +0.3)</a:t>
            </a:r>
          </a:p>
        </p:txBody>
      </p:sp>
      <p:sp>
        <p:nvSpPr>
          <p:cNvPr id="63" name="Diamond 62"/>
          <p:cNvSpPr/>
          <p:nvPr/>
        </p:nvSpPr>
        <p:spPr>
          <a:xfrm>
            <a:off x="1794832" y="832454"/>
            <a:ext cx="120000" cy="120000"/>
          </a:xfrm>
          <a:prstGeom prst="diamond">
            <a:avLst/>
          </a:prstGeom>
          <a:solidFill>
            <a:srgbClr val="D4A3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982848" y="819302"/>
            <a:ext cx="14630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CD8-cyt ★ +Akiyoshi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82848" y="938174"/>
            <a:ext cx="14630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D4A300"/>
                </a:solidFill>
                <a:latin typeface="Arial"/>
              </a:rPr>
              <a:t>(disc -0.2, 6-src ext +3.3)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00600" y="594360"/>
            <a:ext cx="1097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222222"/>
                </a:solidFill>
                <a:latin typeface="Arial"/>
              </a:rPr>
              <a:t>Marker</a:t>
            </a:r>
          </a:p>
        </p:txBody>
      </p:sp>
      <p:sp>
        <p:nvSpPr>
          <p:cNvPr id="67" name="Oval 66"/>
          <p:cNvSpPr/>
          <p:nvPr/>
        </p:nvSpPr>
        <p:spPr>
          <a:xfrm>
            <a:off x="4838752" y="760528"/>
            <a:ext cx="70000" cy="70000"/>
          </a:xfrm>
          <a:prstGeom prst="ellipse">
            <a:avLst/>
          </a:prstGeom>
          <a:solidFill>
            <a:srgbClr val="0E4A6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01768" y="731520"/>
            <a:ext cx="9144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Thread 1</a:t>
            </a:r>
          </a:p>
        </p:txBody>
      </p:sp>
      <p:sp>
        <p:nvSpPr>
          <p:cNvPr id="69" name="Diamond 68"/>
          <p:cNvSpPr/>
          <p:nvPr/>
        </p:nvSpPr>
        <p:spPr>
          <a:xfrm>
            <a:off x="4838752" y="943408"/>
            <a:ext cx="70000" cy="70000"/>
          </a:xfrm>
          <a:prstGeom prst="diamond">
            <a:avLst/>
          </a:prstGeom>
          <a:solidFill>
            <a:srgbClr val="8A2B4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01768" y="914400"/>
            <a:ext cx="9144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Thread 2</a:t>
            </a:r>
          </a:p>
        </p:txBody>
      </p:sp>
      <p:sp>
        <p:nvSpPr>
          <p:cNvPr id="71" name="Diamond 70"/>
          <p:cNvSpPr/>
          <p:nvPr/>
        </p:nvSpPr>
        <p:spPr>
          <a:xfrm>
            <a:off x="4828752" y="1116288"/>
            <a:ext cx="90000" cy="90000"/>
          </a:xfrm>
          <a:prstGeom prst="diamond">
            <a:avLst/>
          </a:prstGeom>
          <a:solidFill>
            <a:srgbClr val="D4A300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01768" y="1097280"/>
            <a:ext cx="1097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Akiyoshi-aug.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7160" y="3794760"/>
            <a:ext cx="5669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Arial"/>
              </a:rPr>
              <a:t>Dashed vertical/horizontal lines = Z = ±1.96 (P = 0.05 threshold). Dashed diagonal = y = x.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7160" y="3950208"/>
            <a:ext cx="5669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1">
                <a:solidFill>
                  <a:srgbClr val="D4A300"/>
                </a:solidFill>
                <a:latin typeface="Arial"/>
              </a:rPr>
              <a:t>CD8-cytotoxic sits in the UL (external-only) quadrant in discovery (n=33 under-powered for immune), but Akiyoshi-augmented moves toward 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