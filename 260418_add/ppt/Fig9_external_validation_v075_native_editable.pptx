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03120" y="548640"/>
            <a:ext cx="306324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03120" y="3566160"/>
            <a:ext cx="3063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20937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83777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10022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72862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99106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61946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88191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51031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7275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40115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6360" y="35661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0" y="36210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49040"/>
            <a:ext cx="30632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Stouffer pooled Z (predicted-direction-oriented)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10022" y="548640"/>
            <a:ext cx="0" cy="30175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64627" y="548640"/>
            <a:ext cx="0" cy="301752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55416" y="548640"/>
            <a:ext cx="0" cy="301752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81747" y="566928"/>
            <a:ext cx="3657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999999"/>
                </a:solidFill>
                <a:latin typeface="Arial"/>
              </a:rPr>
              <a:t>P=0.05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594360"/>
            <a:ext cx="5029200" cy="201168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12648"/>
            <a:ext cx="4937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0E4A68"/>
                </a:solidFill>
                <a:latin typeface="Arial"/>
              </a:rPr>
              <a:t>Thread 1 — tumor-intrinsic  (N = 518, 5 long-course nCRT cohorts)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87782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</a:t>
            </a:r>
          </a:p>
        </p:txBody>
      </p:sp>
      <p:sp>
        <p:nvSpPr>
          <p:cNvPr id="25" name="Oval 24"/>
          <p:cNvSpPr/>
          <p:nvPr/>
        </p:nvSpPr>
        <p:spPr>
          <a:xfrm>
            <a:off x="3562782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57376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05614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11394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06936" y="94212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4632420" y="915120"/>
            <a:ext cx="90000" cy="90000"/>
          </a:xfrm>
          <a:prstGeom prst="diamond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84124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E4A68"/>
                </a:solidFill>
                <a:latin typeface="Arial"/>
              </a:rPr>
              <a:t>Z = +3.17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95097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 = 0.002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84124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" y="115214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</a:t>
            </a:r>
          </a:p>
        </p:txBody>
      </p:sp>
      <p:sp>
        <p:nvSpPr>
          <p:cNvPr id="35" name="Oval 34"/>
          <p:cNvSpPr/>
          <p:nvPr/>
        </p:nvSpPr>
        <p:spPr>
          <a:xfrm>
            <a:off x="3653460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6121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35568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80364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46573" y="12164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4655983" y="1189440"/>
            <a:ext cx="90000" cy="90000"/>
          </a:xfrm>
          <a:prstGeom prst="diamond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111556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E4A68"/>
                </a:solidFill>
                <a:latin typeface="Arial"/>
              </a:rPr>
              <a:t>Z = +3.21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122529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 = 0.001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111556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" y="142646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</a:t>
            </a:r>
          </a:p>
        </p:txBody>
      </p:sp>
      <p:sp>
        <p:nvSpPr>
          <p:cNvPr id="45" name="Oval 44"/>
          <p:cNvSpPr/>
          <p:nvPr/>
        </p:nvSpPr>
        <p:spPr>
          <a:xfrm>
            <a:off x="3485058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70327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889117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97405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627399" y="14907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iamond 49"/>
          <p:cNvSpPr/>
          <p:nvPr/>
        </p:nvSpPr>
        <p:spPr>
          <a:xfrm>
            <a:off x="4408568" y="1463760"/>
            <a:ext cx="90000" cy="90000"/>
          </a:xfrm>
          <a:prstGeom prst="diamond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138988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E4A68"/>
                </a:solidFill>
                <a:latin typeface="Arial"/>
              </a:rPr>
              <a:t>Z = +2.79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149961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 = 0.005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60" y="138988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592" y="170078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</a:t>
            </a:r>
          </a:p>
        </p:txBody>
      </p:sp>
      <p:sp>
        <p:nvSpPr>
          <p:cNvPr id="55" name="Oval 54"/>
          <p:cNvSpPr/>
          <p:nvPr/>
        </p:nvSpPr>
        <p:spPr>
          <a:xfrm>
            <a:off x="2163755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672929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905614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432293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23087" y="17650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iamond 59"/>
          <p:cNvSpPr/>
          <p:nvPr/>
        </p:nvSpPr>
        <p:spPr>
          <a:xfrm>
            <a:off x="3713448" y="1738080"/>
            <a:ext cx="90000" cy="90000"/>
          </a:xfrm>
          <a:prstGeom prst="diamond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0" y="166420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+1.61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0" y="177393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0.106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60" y="166420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" y="2240280"/>
            <a:ext cx="5029200" cy="201168"/>
          </a:xfrm>
          <a:prstGeom prst="rect">
            <a:avLst/>
          </a:prstGeom>
          <a:solidFill>
            <a:srgbClr val="F2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" y="2258568"/>
            <a:ext cx="4937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1">
                <a:solidFill>
                  <a:srgbClr val="8A2B4C"/>
                </a:solidFill>
                <a:latin typeface="Arial"/>
              </a:rPr>
              <a:t>Thread 2 — immune  (N = 518, 5 cohorts  ·  +Akiyoshi N = 816, 6 sources)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4592" y="252374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 (5 cohorts)</a:t>
            </a:r>
          </a:p>
        </p:txBody>
      </p:sp>
      <p:sp>
        <p:nvSpPr>
          <p:cNvPr id="67" name="Oval 66"/>
          <p:cNvSpPr/>
          <p:nvPr/>
        </p:nvSpPr>
        <p:spPr>
          <a:xfrm>
            <a:off x="3109393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819192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212712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6057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24525" y="25880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iamond 71"/>
          <p:cNvSpPr/>
          <p:nvPr/>
        </p:nvSpPr>
        <p:spPr>
          <a:xfrm>
            <a:off x="3943191" y="2561040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0" y="248716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8A2B4C"/>
                </a:solidFill>
                <a:latin typeface="Arial"/>
              </a:rPr>
              <a:t>Z = +2.00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0" y="259689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 = 0.046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23560" y="248716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4592" y="279806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D4A300"/>
                </a:solidFill>
                <a:latin typeface="Arial"/>
              </a:rPr>
              <a:t>CD8-cytotoxic + Akiyoshi 2023  ★</a:t>
            </a:r>
          </a:p>
        </p:txBody>
      </p:sp>
      <p:sp>
        <p:nvSpPr>
          <p:cNvPr id="77" name="Oval 76"/>
          <p:cNvSpPr/>
          <p:nvPr/>
        </p:nvSpPr>
        <p:spPr>
          <a:xfrm>
            <a:off x="3109393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19192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212712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6057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624525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447349" y="286236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iamond 82"/>
          <p:cNvSpPr/>
          <p:nvPr/>
        </p:nvSpPr>
        <p:spPr>
          <a:xfrm>
            <a:off x="4693110" y="2825360"/>
            <a:ext cx="110000" cy="110000"/>
          </a:xfrm>
          <a:prstGeom prst="diamond">
            <a:avLst/>
          </a:prstGeom>
          <a:solidFill>
            <a:srgbClr val="D4A30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0" y="276148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+3.29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80" y="287121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23560" y="276148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★★★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592" y="307238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</a:t>
            </a:r>
          </a:p>
        </p:txBody>
      </p:sp>
      <p:sp>
        <p:nvSpPr>
          <p:cNvPr id="88" name="Oval 87"/>
          <p:cNvSpPr/>
          <p:nvPr/>
        </p:nvSpPr>
        <p:spPr>
          <a:xfrm>
            <a:off x="2811452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327936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6628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477312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939695" y="313668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iamond 92"/>
          <p:cNvSpPr/>
          <p:nvPr/>
        </p:nvSpPr>
        <p:spPr>
          <a:xfrm>
            <a:off x="3259853" y="3109680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12080" y="303580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+0.84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12080" y="314553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0.399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23560" y="303580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4592" y="3346704"/>
            <a:ext cx="1920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</a:t>
            </a:r>
          </a:p>
        </p:txBody>
      </p:sp>
      <p:sp>
        <p:nvSpPr>
          <p:cNvPr id="98" name="Oval 97"/>
          <p:cNvSpPr/>
          <p:nvPr/>
        </p:nvSpPr>
        <p:spPr>
          <a:xfrm>
            <a:off x="2526465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119525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443679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236956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606981" y="341100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iamond 102"/>
          <p:cNvSpPr/>
          <p:nvPr/>
        </p:nvSpPr>
        <p:spPr>
          <a:xfrm>
            <a:off x="2929965" y="3384000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12080" y="331012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+0.28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12080" y="341985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0.781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23560" y="3310128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7160" y="3703320"/>
            <a:ext cx="8229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Per-cohort Z:</a:t>
            </a:r>
          </a:p>
        </p:txBody>
      </p:sp>
      <p:sp>
        <p:nvSpPr>
          <p:cNvPr id="108" name="Oval 107"/>
          <p:cNvSpPr/>
          <p:nvPr/>
        </p:nvSpPr>
        <p:spPr>
          <a:xfrm>
            <a:off x="80796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6868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GSE35452 (46)</a:t>
            </a:r>
          </a:p>
        </p:txBody>
      </p:sp>
      <p:sp>
        <p:nvSpPr>
          <p:cNvPr id="110" name="Oval 109"/>
          <p:cNvSpPr/>
          <p:nvPr/>
        </p:nvSpPr>
        <p:spPr>
          <a:xfrm>
            <a:off x="167664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A6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73736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GSE45404 (80)</a:t>
            </a:r>
          </a:p>
        </p:txBody>
      </p:sp>
      <p:sp>
        <p:nvSpPr>
          <p:cNvPr id="112" name="Oval 111"/>
          <p:cNvSpPr/>
          <p:nvPr/>
        </p:nvSpPr>
        <p:spPr>
          <a:xfrm>
            <a:off x="254532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A8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60604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GSE56699 (44)</a:t>
            </a:r>
          </a:p>
        </p:txBody>
      </p:sp>
      <p:sp>
        <p:nvSpPr>
          <p:cNvPr id="114" name="Oval 113"/>
          <p:cNvSpPr/>
          <p:nvPr/>
        </p:nvSpPr>
        <p:spPr>
          <a:xfrm>
            <a:off x="341400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3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7472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GSE133057 (33)</a:t>
            </a:r>
          </a:p>
        </p:txBody>
      </p:sp>
      <p:sp>
        <p:nvSpPr>
          <p:cNvPr id="116" name="Oval 115"/>
          <p:cNvSpPr/>
          <p:nvPr/>
        </p:nvSpPr>
        <p:spPr>
          <a:xfrm>
            <a:off x="428268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F3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4340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GSE87211 (353)</a:t>
            </a:r>
          </a:p>
        </p:txBody>
      </p:sp>
      <p:sp>
        <p:nvSpPr>
          <p:cNvPr id="118" name="Oval 117"/>
          <p:cNvSpPr/>
          <p:nvPr/>
        </p:nvSpPr>
        <p:spPr>
          <a:xfrm>
            <a:off x="5151360" y="376147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212080" y="370332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GSE216616 Akiyoshi '23 (298)</a:t>
            </a:r>
          </a:p>
        </p:txBody>
      </p:sp>
      <p:sp>
        <p:nvSpPr>
          <p:cNvPr id="120" name="Diamond 119"/>
          <p:cNvSpPr/>
          <p:nvPr/>
        </p:nvSpPr>
        <p:spPr>
          <a:xfrm>
            <a:off x="787960" y="3896920"/>
            <a:ext cx="70000" cy="70000"/>
          </a:xfrm>
          <a:prstGeom prst="diamond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4400" y="3858768"/>
            <a:ext cx="11887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pooled Stouffer Z (T1)</a:t>
            </a:r>
          </a:p>
        </p:txBody>
      </p:sp>
      <p:sp>
        <p:nvSpPr>
          <p:cNvPr id="122" name="Diamond 121"/>
          <p:cNvSpPr/>
          <p:nvPr/>
        </p:nvSpPr>
        <p:spPr>
          <a:xfrm>
            <a:off x="2022400" y="3896920"/>
            <a:ext cx="70000" cy="70000"/>
          </a:xfrm>
          <a:prstGeom prst="diamond">
            <a:avLst/>
          </a:prstGeom>
          <a:solidFill>
            <a:srgbClr val="8A2B4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48840" y="3858768"/>
            <a:ext cx="11887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pooled Z (T2)</a:t>
            </a:r>
          </a:p>
        </p:txBody>
      </p:sp>
      <p:sp>
        <p:nvSpPr>
          <p:cNvPr id="124" name="Diamond 123"/>
          <p:cNvSpPr/>
          <p:nvPr/>
        </p:nvSpPr>
        <p:spPr>
          <a:xfrm>
            <a:off x="2972520" y="3886920"/>
            <a:ext cx="90000" cy="90000"/>
          </a:xfrm>
          <a:prstGeom prst="diamond">
            <a:avLst/>
          </a:prstGeom>
          <a:solidFill>
            <a:srgbClr val="D4A3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154680" y="3858768"/>
            <a:ext cx="21031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Akiyoshi-augmented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0" y="731520"/>
            <a:ext cx="411480" cy="391886"/>
          </a:xfrm>
          <a:prstGeom prst="rect">
            <a:avLst/>
          </a:prstGeom>
          <a:solidFill>
            <a:srgbClr val="A8D1C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731520"/>
            <a:ext cx="411480" cy="391886"/>
          </a:xfrm>
          <a:prstGeom prst="rect">
            <a:avLst/>
          </a:prstGeom>
          <a:solidFill>
            <a:srgbClr val="73B4A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8892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222222"/>
                </a:solidFill>
                <a:latin typeface="Arial"/>
              </a:rPr>
              <a:t>+0.34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4096" y="995390"/>
            <a:ext cx="1371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222222"/>
                </a:solidFill>
                <a:latin typeface="Arial"/>
              </a:rPr>
              <a:t>*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731520"/>
            <a:ext cx="411480" cy="391886"/>
          </a:xfrm>
          <a:prstGeom prst="rect">
            <a:avLst/>
          </a:prstGeom>
          <a:solidFill>
            <a:srgbClr val="7BB9B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731520"/>
            <a:ext cx="411480" cy="391886"/>
          </a:xfrm>
          <a:prstGeom prst="rect">
            <a:avLst/>
          </a:prstGeom>
          <a:solidFill>
            <a:srgbClr val="EBF4F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731520"/>
            <a:ext cx="411480" cy="391886"/>
          </a:xfrm>
          <a:prstGeom prst="rect">
            <a:avLst/>
          </a:prstGeom>
          <a:solidFill>
            <a:srgbClr val="C6E1D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85431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123406"/>
            <a:ext cx="411480" cy="391886"/>
          </a:xfrm>
          <a:prstGeom prst="rect">
            <a:avLst/>
          </a:prstGeom>
          <a:solidFill>
            <a:srgbClr val="84BDB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1123406"/>
            <a:ext cx="411480" cy="391886"/>
          </a:xfrm>
          <a:prstGeom prst="rect">
            <a:avLst/>
          </a:prstGeom>
          <a:solidFill>
            <a:srgbClr val="77B7A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123406"/>
            <a:ext cx="411480" cy="391886"/>
          </a:xfrm>
          <a:prstGeom prst="rect">
            <a:avLst/>
          </a:prstGeom>
          <a:solidFill>
            <a:srgbClr val="0A7D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+0.66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1387276"/>
            <a:ext cx="1371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222222"/>
                </a:solidFill>
                <a:latin typeface="Arial"/>
              </a:rPr>
              <a:t>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1123406"/>
            <a:ext cx="411480" cy="391886"/>
          </a:xfrm>
          <a:prstGeom prst="rect">
            <a:avLst/>
          </a:prstGeom>
          <a:solidFill>
            <a:srgbClr val="8CC2B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1123406"/>
            <a:ext cx="411480" cy="391886"/>
          </a:xfrm>
          <a:prstGeom prst="rect">
            <a:avLst/>
          </a:prstGeom>
          <a:solidFill>
            <a:srgbClr val="B8D9D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1246197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1515291"/>
            <a:ext cx="411480" cy="391886"/>
          </a:xfrm>
          <a:prstGeom prst="rect">
            <a:avLst/>
          </a:prstGeom>
          <a:solidFill>
            <a:srgbClr val="AED4C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1515291"/>
            <a:ext cx="411480" cy="391886"/>
          </a:xfrm>
          <a:prstGeom prst="rect">
            <a:avLst/>
          </a:prstGeom>
          <a:solidFill>
            <a:srgbClr val="A2CDC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515291"/>
            <a:ext cx="411480" cy="391886"/>
          </a:xfrm>
          <a:prstGeom prst="rect">
            <a:avLst/>
          </a:prstGeom>
          <a:solidFill>
            <a:srgbClr val="469C9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+0.45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1515291"/>
            <a:ext cx="411480" cy="391886"/>
          </a:xfrm>
          <a:prstGeom prst="rect">
            <a:avLst/>
          </a:prstGeom>
          <a:solidFill>
            <a:srgbClr val="8CC2B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1515291"/>
            <a:ext cx="411480" cy="391886"/>
          </a:xfrm>
          <a:prstGeom prst="rect">
            <a:avLst/>
          </a:prstGeom>
          <a:solidFill>
            <a:srgbClr val="CCE4E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1638082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1907177"/>
            <a:ext cx="411480" cy="391886"/>
          </a:xfrm>
          <a:prstGeom prst="rect">
            <a:avLst/>
          </a:prstGeom>
          <a:solidFill>
            <a:srgbClr val="F0CFC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8920" y="1907177"/>
            <a:ext cx="411480" cy="391886"/>
          </a:xfrm>
          <a:prstGeom prst="rect">
            <a:avLst/>
          </a:prstGeom>
          <a:solidFill>
            <a:srgbClr val="FAEFE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1907177"/>
            <a:ext cx="411480" cy="391886"/>
          </a:xfrm>
          <a:prstGeom prst="rect">
            <a:avLst/>
          </a:prstGeom>
          <a:solidFill>
            <a:srgbClr val="5AA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-0.40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1907177"/>
            <a:ext cx="411480" cy="391886"/>
          </a:xfrm>
          <a:prstGeom prst="rect">
            <a:avLst/>
          </a:prstGeom>
          <a:solidFill>
            <a:srgbClr val="B0D5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1907177"/>
            <a:ext cx="411480" cy="391886"/>
          </a:xfrm>
          <a:prstGeom prst="rect">
            <a:avLst/>
          </a:prstGeom>
          <a:solidFill>
            <a:srgbClr val="BADA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20299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-0.17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0" y="2299063"/>
            <a:ext cx="411480" cy="391886"/>
          </a:xfrm>
          <a:prstGeom prst="rect">
            <a:avLst/>
          </a:prstGeom>
          <a:solidFill>
            <a:srgbClr val="DEEDE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4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88920" y="2299063"/>
            <a:ext cx="411480" cy="391886"/>
          </a:xfrm>
          <a:prstGeom prst="rect">
            <a:avLst/>
          </a:prstGeom>
          <a:solidFill>
            <a:srgbClr val="6CB1A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892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2299063"/>
            <a:ext cx="411480" cy="391886"/>
          </a:xfrm>
          <a:prstGeom prst="rect">
            <a:avLst/>
          </a:prstGeom>
          <a:solidFill>
            <a:srgbClr val="F4F9F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11880" y="2299063"/>
            <a:ext cx="411480" cy="391886"/>
          </a:xfrm>
          <a:prstGeom prst="rect">
            <a:avLst/>
          </a:prstGeom>
          <a:solidFill>
            <a:srgbClr val="FAF0E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-0.04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0" y="2299063"/>
            <a:ext cx="411480" cy="391886"/>
          </a:xfrm>
          <a:prstGeom prst="rect">
            <a:avLst/>
          </a:prstGeom>
          <a:solidFill>
            <a:srgbClr val="C3DFD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23360" y="242185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2690949"/>
            <a:ext cx="411480" cy="391886"/>
          </a:xfrm>
          <a:prstGeom prst="rect">
            <a:avLst/>
          </a:prstGeom>
          <a:solidFill>
            <a:srgbClr val="EFF6F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2690949"/>
            <a:ext cx="411480" cy="391886"/>
          </a:xfrm>
          <a:prstGeom prst="rect">
            <a:avLst/>
          </a:prstGeom>
          <a:solidFill>
            <a:srgbClr val="9FCCC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2690949"/>
            <a:ext cx="411480" cy="391886"/>
          </a:xfrm>
          <a:prstGeom prst="rect">
            <a:avLst/>
          </a:prstGeom>
          <a:solidFill>
            <a:srgbClr val="AAD2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11880" y="2690949"/>
            <a:ext cx="411480" cy="391886"/>
          </a:xfrm>
          <a:prstGeom prst="rect">
            <a:avLst/>
          </a:prstGeom>
          <a:solidFill>
            <a:srgbClr val="E8B2A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1188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-0.24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2690949"/>
            <a:ext cx="411480" cy="391886"/>
          </a:xfrm>
          <a:prstGeom prst="rect">
            <a:avLst/>
          </a:prstGeom>
          <a:solidFill>
            <a:srgbClr val="EBF4F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0" y="28137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0" y="3082834"/>
            <a:ext cx="411480" cy="391886"/>
          </a:xfrm>
          <a:prstGeom prst="rect">
            <a:avLst/>
          </a:prstGeom>
          <a:solidFill>
            <a:srgbClr val="F9EDE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7744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3082834"/>
            <a:ext cx="411480" cy="391886"/>
          </a:xfrm>
          <a:prstGeom prst="rect">
            <a:avLst/>
          </a:prstGeom>
          <a:solidFill>
            <a:srgbClr val="D2E7E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8892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0" y="3082834"/>
            <a:ext cx="411480" cy="391886"/>
          </a:xfrm>
          <a:prstGeom prst="rect">
            <a:avLst/>
          </a:prstGeom>
          <a:solidFill>
            <a:srgbClr val="A1CDC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+0.23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11880" y="3082834"/>
            <a:ext cx="411480" cy="391886"/>
          </a:xfrm>
          <a:prstGeom prst="rect">
            <a:avLst/>
          </a:prstGeom>
          <a:solidFill>
            <a:srgbClr val="D1E6E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1188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23360" y="3082834"/>
            <a:ext cx="411480" cy="391886"/>
          </a:xfrm>
          <a:prstGeom prst="rect">
            <a:avLst/>
          </a:prstGeom>
          <a:solidFill>
            <a:srgbClr val="FDFAF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23360" y="3205625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" y="854311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 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2880" y="1246197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 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" y="1638082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 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2880" y="2029968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 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" y="2421854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 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2880" y="2813739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 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" y="3205625"/>
            <a:ext cx="21488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 ↑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7170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2E86AB"/>
                </a:solidFill>
                <a:latin typeface="Arial"/>
              </a:rPr>
              <a:t>GSE35452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1742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46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8318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6502C"/>
                </a:solidFill>
                <a:latin typeface="Arial"/>
              </a:rPr>
              <a:t>GSE45404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2890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80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9466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5A8261"/>
                </a:solidFill>
                <a:latin typeface="Arial"/>
              </a:rPr>
              <a:t>GSE56699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4038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72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0614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E39A1E"/>
                </a:solidFill>
                <a:latin typeface="Arial"/>
              </a:rPr>
              <a:t>GSE133057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5186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33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17620" y="411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2F3080"/>
                </a:solidFill>
                <a:latin typeface="Arial"/>
              </a:rPr>
              <a:t>GSE87211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63340" y="548640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N = 363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41148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Pooled Z (5-cohort)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54864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66666"/>
                </a:solidFill>
                <a:latin typeface="Arial"/>
              </a:rPr>
              <a:t>(5-cohort N = 518)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0" y="817735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0" y="936607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P = 0.002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1209621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+3.21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0" y="1328493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P = 0.001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0" y="1601506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+2.79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0" y="1720378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P = 0.005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0" y="1993392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+1.61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0" y="2112264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66666"/>
                </a:solidFill>
                <a:latin typeface="Arial"/>
              </a:rPr>
              <a:t>P = 0.106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0" y="2385278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+2.00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0" y="2504150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P = 0.046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0" y="2777163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+0.84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0" y="2896035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66666"/>
                </a:solidFill>
                <a:latin typeface="Arial"/>
              </a:rPr>
              <a:t>P = 0.399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0" y="3169049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0" y="3287921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66666"/>
                </a:solidFill>
                <a:latin typeface="Arial"/>
              </a:rPr>
              <a:t>P = 0.781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77440" y="3675888"/>
            <a:ext cx="53435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428875" y="3675888"/>
            <a:ext cx="53435" cy="128016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480310" y="3675888"/>
            <a:ext cx="53435" cy="128016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531745" y="3675888"/>
            <a:ext cx="53435" cy="128016"/>
          </a:xfrm>
          <a:prstGeom prst="rect">
            <a:avLst/>
          </a:prstGeom>
          <a:solidFill>
            <a:srgbClr val="CD5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583180" y="3675888"/>
            <a:ext cx="53435" cy="128016"/>
          </a:xfrm>
          <a:prstGeom prst="rect">
            <a:avLst/>
          </a:prstGeom>
          <a:solidFill>
            <a:srgbClr val="D06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634615" y="3675888"/>
            <a:ext cx="53435" cy="128016"/>
          </a:xfrm>
          <a:prstGeom prst="rect">
            <a:avLst/>
          </a:prstGeom>
          <a:solidFill>
            <a:srgbClr val="D36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686050" y="3675888"/>
            <a:ext cx="53435" cy="128016"/>
          </a:xfrm>
          <a:prstGeom prst="rect">
            <a:avLst/>
          </a:prstGeom>
          <a:solidFill>
            <a:srgbClr val="D67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737485" y="3675888"/>
            <a:ext cx="53435" cy="128016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88920" y="3675888"/>
            <a:ext cx="53435" cy="128016"/>
          </a:xfrm>
          <a:prstGeom prst="rect">
            <a:avLst/>
          </a:prstGeom>
          <a:solidFill>
            <a:srgbClr val="DC8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840355" y="3675888"/>
            <a:ext cx="53435" cy="128016"/>
          </a:xfrm>
          <a:prstGeom prst="rect">
            <a:avLst/>
          </a:prstGeom>
          <a:solidFill>
            <a:srgbClr val="DF9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891790" y="3675888"/>
            <a:ext cx="53435" cy="128016"/>
          </a:xfrm>
          <a:prstGeom prst="rect">
            <a:avLst/>
          </a:prstGeom>
          <a:solidFill>
            <a:srgbClr val="E2A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943225" y="3675888"/>
            <a:ext cx="53435" cy="128016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994660" y="3675888"/>
            <a:ext cx="53435" cy="128016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046095" y="3675888"/>
            <a:ext cx="53435" cy="128016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097530" y="3675888"/>
            <a:ext cx="53435" cy="128016"/>
          </a:xfrm>
          <a:prstGeom prst="rect">
            <a:avLst/>
          </a:prstGeom>
          <a:solidFill>
            <a:srgbClr val="EE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148965" y="3675888"/>
            <a:ext cx="53435" cy="128016"/>
          </a:xfrm>
          <a:prstGeom prst="rect">
            <a:avLst/>
          </a:prstGeom>
          <a:solidFill>
            <a:srgbClr val="F1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200400" y="3675888"/>
            <a:ext cx="53435" cy="128016"/>
          </a:xfrm>
          <a:prstGeom prst="rect">
            <a:avLst/>
          </a:prstGeom>
          <a:solidFill>
            <a:srgbClr val="F4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251835" y="3675888"/>
            <a:ext cx="53435" cy="128016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303270" y="3675888"/>
            <a:ext cx="53435" cy="128016"/>
          </a:xfrm>
          <a:prstGeom prst="rect">
            <a:avLst/>
          </a:prstGeom>
          <a:solidFill>
            <a:srgbClr val="FA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354705" y="3675888"/>
            <a:ext cx="53435" cy="128016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406140" y="3675888"/>
            <a:ext cx="53435" cy="128016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457575" y="3675888"/>
            <a:ext cx="53435" cy="128016"/>
          </a:xfrm>
          <a:prstGeom prst="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509010" y="3675888"/>
            <a:ext cx="53435" cy="128016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560445" y="3675888"/>
            <a:ext cx="53435" cy="128016"/>
          </a:xfrm>
          <a:prstGeom prst="rect">
            <a:avLst/>
          </a:prstGeom>
          <a:solidFill>
            <a:srgbClr val="D3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611880" y="3675888"/>
            <a:ext cx="53435" cy="128016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63315" y="3675888"/>
            <a:ext cx="53435" cy="128016"/>
          </a:xfrm>
          <a:prstGeom prst="rect">
            <a:avLst/>
          </a:prstGeom>
          <a:solidFill>
            <a:srgbClr val="B9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714750" y="3675888"/>
            <a:ext cx="53435" cy="128016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766185" y="3675888"/>
            <a:ext cx="53435" cy="128016"/>
          </a:xfrm>
          <a:prstGeom prst="rect">
            <a:avLst/>
          </a:prstGeom>
          <a:solidFill>
            <a:srgbClr val="A0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817620" y="3675888"/>
            <a:ext cx="53435" cy="128016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869055" y="3675888"/>
            <a:ext cx="53435" cy="128016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920490" y="3675888"/>
            <a:ext cx="53435" cy="128016"/>
          </a:xfrm>
          <a:prstGeom prst="rect">
            <a:avLst/>
          </a:prstGeom>
          <a:solidFill>
            <a:srgbClr val="7B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971925" y="3675888"/>
            <a:ext cx="53435" cy="128016"/>
          </a:xfrm>
          <a:prstGeom prst="rect">
            <a:avLst/>
          </a:prstGeom>
          <a:solidFill>
            <a:srgbClr val="6E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023360" y="3675888"/>
            <a:ext cx="53435" cy="128016"/>
          </a:xfrm>
          <a:prstGeom prst="rect">
            <a:avLst/>
          </a:prstGeom>
          <a:solidFill>
            <a:srgbClr val="61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074795" y="3675888"/>
            <a:ext cx="53435" cy="128016"/>
          </a:xfrm>
          <a:prstGeom prst="rect">
            <a:avLst/>
          </a:prstGeom>
          <a:solidFill>
            <a:srgbClr val="55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126230" y="3675888"/>
            <a:ext cx="53435" cy="128016"/>
          </a:xfrm>
          <a:prstGeom prst="rect">
            <a:avLst/>
          </a:prstGeom>
          <a:solidFill>
            <a:srgbClr val="48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177665" y="3675888"/>
            <a:ext cx="53435" cy="128016"/>
          </a:xfrm>
          <a:prstGeom prst="rect">
            <a:avLst/>
          </a:prstGeom>
          <a:solidFill>
            <a:srgbClr val="3C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229100" y="3675888"/>
            <a:ext cx="53435" cy="128016"/>
          </a:xfrm>
          <a:prstGeom prst="rect">
            <a:avLst/>
          </a:prstGeom>
          <a:solidFill>
            <a:srgbClr val="2F9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280535" y="3675888"/>
            <a:ext cx="53435" cy="128016"/>
          </a:xfrm>
          <a:prstGeom prst="rect">
            <a:avLst/>
          </a:prstGeom>
          <a:solidFill>
            <a:srgbClr val="238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331970" y="3675888"/>
            <a:ext cx="53435" cy="128016"/>
          </a:xfrm>
          <a:prstGeom prst="rect">
            <a:avLst/>
          </a:prstGeom>
          <a:solidFill>
            <a:srgbClr val="16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383405" y="3675888"/>
            <a:ext cx="53435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377440" y="3675888"/>
            <a:ext cx="2057400" cy="128016"/>
          </a:xfrm>
          <a:prstGeom prst="rect">
            <a:avLst/>
          </a:prstGeom>
          <a:noFill/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212848" y="3813904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−0.6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241548" y="3813904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70248" y="3813904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+0.6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377440" y="3547872"/>
            <a:ext cx="20574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Δ (good − bad) re-oriented by predicted direction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7160" y="3840480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Arial"/>
              </a:rPr>
              <a:t>* = per-cohort Mann-Whitney P &lt; 0.05. Pooled Z values gold-highlighted when |Z| ≥ 1.96 (P &lt; 0.05).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74519" y="3520440"/>
            <a:ext cx="30175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64791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78023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68295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81527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71799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85031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75303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8535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78807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39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82311" y="3566160"/>
            <a:ext cx="21945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703320"/>
            <a:ext cx="301752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Number of primary cohorts (of 5)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79" y="685800"/>
            <a:ext cx="0" cy="2834640"/>
          </a:xfrm>
          <a:prstGeom prst="line">
            <a:avLst/>
          </a:prstGeom>
          <a:ln w="10160">
            <a:solidFill>
              <a:srgbClr val="2222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63239" y="704088"/>
            <a:ext cx="6400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888888"/>
                </a:solidFill>
                <a:latin typeface="Arial"/>
              </a:rPr>
              <a:t>chance (2.5)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766790"/>
            <a:ext cx="603504" cy="242969"/>
          </a:xfrm>
          <a:prstGeom prst="rect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78023" y="766790"/>
            <a:ext cx="2414016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78023" y="815122"/>
            <a:ext cx="241401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805978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778546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89741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1171739"/>
            <a:ext cx="603504" cy="242969"/>
          </a:xfrm>
          <a:prstGeom prst="rect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78023" y="1171739"/>
            <a:ext cx="2414016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8023" y="1220071"/>
            <a:ext cx="241401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1210927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1183495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+3.21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1302367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1576687"/>
            <a:ext cx="3017520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1625019"/>
            <a:ext cx="3017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1615875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 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1588443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+2.79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1707315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1981636"/>
            <a:ext cx="1810512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74519" y="2029968"/>
            <a:ext cx="181051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85031" y="1981636"/>
            <a:ext cx="1207008" cy="242969"/>
          </a:xfrm>
          <a:prstGeom prst="rect">
            <a:avLst/>
          </a:prstGeom>
          <a:solidFill>
            <a:srgbClr val="E4A8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85031" y="2029968"/>
            <a:ext cx="12070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2020824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 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59" y="1993392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+1.61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59" y="2112264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0.106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2386585"/>
            <a:ext cx="2414016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4519" y="2434917"/>
            <a:ext cx="241401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88535" y="2386585"/>
            <a:ext cx="603504" cy="242969"/>
          </a:xfrm>
          <a:prstGeom prst="rect">
            <a:avLst/>
          </a:prstGeom>
          <a:solidFill>
            <a:srgbClr val="E4A8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2425773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 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59" y="2398341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Z = +2.00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59" y="2517213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0.046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2791533"/>
            <a:ext cx="2414016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2839865"/>
            <a:ext cx="2414016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88535" y="2791533"/>
            <a:ext cx="603504" cy="242969"/>
          </a:xfrm>
          <a:prstGeom prst="rect">
            <a:avLst/>
          </a:prstGeom>
          <a:solidFill>
            <a:srgbClr val="E4A8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2830721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 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59" y="2803289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+0.84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59" y="2922161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0.399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19" y="3196482"/>
            <a:ext cx="1810512" cy="242969"/>
          </a:xfrm>
          <a:prstGeom prst="rect">
            <a:avLst/>
          </a:prstGeom>
          <a:solidFill>
            <a:srgbClr val="90C4B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74519" y="3244814"/>
            <a:ext cx="181051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5031" y="3196482"/>
            <a:ext cx="1207008" cy="242969"/>
          </a:xfrm>
          <a:prstGeom prst="rect">
            <a:avLst/>
          </a:prstGeom>
          <a:solidFill>
            <a:srgbClr val="E4A89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85031" y="3244814"/>
            <a:ext cx="12070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3235670"/>
            <a:ext cx="1673351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 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59" y="3208238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Z = +0.28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37759" y="3327110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0.781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" y="3749039"/>
            <a:ext cx="146304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" y="3739039"/>
            <a:ext cx="13258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predicted dir., P&lt;0.05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749039"/>
            <a:ext cx="146304" cy="109728"/>
          </a:xfrm>
          <a:prstGeom prst="rect">
            <a:avLst/>
          </a:prstGeom>
          <a:solidFill>
            <a:srgbClr val="90C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739039"/>
            <a:ext cx="13258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predicted dir., trend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63240" y="3749039"/>
            <a:ext cx="146304" cy="109728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36976" y="3739039"/>
            <a:ext cx="13258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opposite dir., trend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26280" y="3749039"/>
            <a:ext cx="146304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00016" y="3739039"/>
            <a:ext cx="13258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opposite dir., P&lt;0.05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3" name="Rectangle 2"/>
          <p:cNvSpPr/>
          <p:nvPr/>
        </p:nvSpPr>
        <p:spPr>
          <a:xfrm>
            <a:off x="3110623" y="502920"/>
            <a:ext cx="1187057" cy="1119226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02920"/>
            <a:ext cx="2013343" cy="1119226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10623" y="1622146"/>
            <a:ext cx="1187057" cy="1898294"/>
          </a:xfrm>
          <a:prstGeom prst="rect">
            <a:avLst/>
          </a:prstGeom>
          <a:solidFill>
            <a:srgbClr val="E9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97280" y="502920"/>
            <a:ext cx="0" cy="301752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3520440"/>
            <a:ext cx="320040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88225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69353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60704" y="32461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317296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70116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51244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0704" y="269748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" y="262432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2007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33135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0704" y="214884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2" y="207568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33898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5026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0704" y="160020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4672" y="152704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15789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96917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60704" y="10515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97840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0" y="352044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78808" y="356616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60704" y="5029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4672" y="42976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70116" y="502920"/>
            <a:ext cx="0" cy="301752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97280" y="2697480"/>
            <a:ext cx="3200400" cy="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10623" y="502920"/>
            <a:ext cx="0" cy="301752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7280" y="1622146"/>
            <a:ext cx="3200400" cy="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97280" y="502920"/>
            <a:ext cx="3200400" cy="3017520"/>
          </a:xfrm>
          <a:prstGeom prst="line">
            <a:avLst/>
          </a:prstGeom>
          <a:ln w="5080">
            <a:solidFill>
              <a:srgbClr val="9999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50276" y="612648"/>
            <a:ext cx="14630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1">
                <a:solidFill>
                  <a:srgbClr val="0A7D6E"/>
                </a:solidFill>
                <a:latin typeface="Arial"/>
              </a:rPr>
              <a:t>UR  reproducible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3658" y="612648"/>
            <a:ext cx="14630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1">
                <a:solidFill>
                  <a:srgbClr val="D4A300"/>
                </a:solidFill>
                <a:latin typeface="Arial"/>
              </a:rPr>
              <a:t>UL  external-only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0276" y="3410712"/>
            <a:ext cx="14630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1">
                <a:solidFill>
                  <a:srgbClr val="0066CC"/>
                </a:solidFill>
                <a:latin typeface="Arial"/>
              </a:rPr>
              <a:t>LR  discovery-only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3721608"/>
            <a:ext cx="32004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Discovery Stouffer-style Z  (n = 33 pre, MW-derived)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320040" y="1097280"/>
            <a:ext cx="365760" cy="182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External pooled Stouffer Z (5-cohort primary)</a:t>
            </a:r>
          </a:p>
        </p:txBody>
      </p:sp>
      <p:sp>
        <p:nvSpPr>
          <p:cNvPr id="42" name="Oval 41"/>
          <p:cNvSpPr/>
          <p:nvPr/>
        </p:nvSpPr>
        <p:spPr>
          <a:xfrm>
            <a:off x="3384893" y="916291"/>
            <a:ext cx="84000" cy="84000"/>
          </a:xfrm>
          <a:prstGeom prst="ellipse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36621" y="885139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DSB / HDR repair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6621" y="1004011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+2.5, ext +3.2)</a:t>
            </a:r>
          </a:p>
        </p:txBody>
      </p:sp>
      <p:sp>
        <p:nvSpPr>
          <p:cNvPr id="45" name="Oval 44"/>
          <p:cNvSpPr/>
          <p:nvPr/>
        </p:nvSpPr>
        <p:spPr>
          <a:xfrm>
            <a:off x="3175285" y="894346"/>
            <a:ext cx="84000" cy="84000"/>
          </a:xfrm>
          <a:prstGeom prst="ellipse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27013" y="863194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Tumor cell-cycle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7013" y="982066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+2.1, ext +3.2)</a:t>
            </a:r>
          </a:p>
        </p:txBody>
      </p:sp>
      <p:sp>
        <p:nvSpPr>
          <p:cNvPr id="48" name="Oval 47"/>
          <p:cNvSpPr/>
          <p:nvPr/>
        </p:nvSpPr>
        <p:spPr>
          <a:xfrm>
            <a:off x="3259128" y="1124774"/>
            <a:ext cx="84000" cy="84000"/>
          </a:xfrm>
          <a:prstGeom prst="ellipse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10856" y="1093622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E2F / MYC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0856" y="1212494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+2.3, ext +2.8)</a:t>
            </a:r>
          </a:p>
        </p:txBody>
      </p:sp>
      <p:sp>
        <p:nvSpPr>
          <p:cNvPr id="51" name="Oval 50"/>
          <p:cNvSpPr/>
          <p:nvPr/>
        </p:nvSpPr>
        <p:spPr>
          <a:xfrm>
            <a:off x="2609343" y="1772170"/>
            <a:ext cx="84000" cy="84000"/>
          </a:xfrm>
          <a:prstGeom prst="ellipse">
            <a:avLst/>
          </a:prstGeom>
          <a:solidFill>
            <a:srgbClr val="0E4A6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61071" y="1741018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EMT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1071" y="185989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+1.2, ext +1.6)</a:t>
            </a:r>
          </a:p>
        </p:txBody>
      </p:sp>
      <p:sp>
        <p:nvSpPr>
          <p:cNvPr id="54" name="Diamond 53"/>
          <p:cNvSpPr/>
          <p:nvPr/>
        </p:nvSpPr>
        <p:spPr>
          <a:xfrm>
            <a:off x="1809832" y="1555200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64560" y="1527048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8A2B4C"/>
                </a:solidFill>
                <a:latin typeface="Arial"/>
              </a:rPr>
              <a:t>CD8-cytotoxic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64560" y="164592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-0.2, ext +2.0)</a:t>
            </a:r>
          </a:p>
        </p:txBody>
      </p:sp>
      <p:sp>
        <p:nvSpPr>
          <p:cNvPr id="57" name="Diamond 56"/>
          <p:cNvSpPr/>
          <p:nvPr/>
        </p:nvSpPr>
        <p:spPr>
          <a:xfrm>
            <a:off x="1956558" y="2191622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11286" y="216347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8A2B4C"/>
                </a:solidFill>
                <a:latin typeface="Arial"/>
              </a:rPr>
              <a:t>T-cell infiltration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11286" y="2282342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+0.1, ext +0.8)</a:t>
            </a:r>
          </a:p>
        </p:txBody>
      </p:sp>
      <p:sp>
        <p:nvSpPr>
          <p:cNvPr id="60" name="Diamond 59"/>
          <p:cNvSpPr/>
          <p:nvPr/>
        </p:nvSpPr>
        <p:spPr>
          <a:xfrm>
            <a:off x="2312892" y="2498861"/>
            <a:ext cx="90000" cy="90000"/>
          </a:xfrm>
          <a:prstGeom prst="diamond">
            <a:avLst/>
          </a:prstGeom>
          <a:solidFill>
            <a:srgbClr val="8A2B4C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7620" y="2470709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8A2B4C"/>
                </a:solidFill>
                <a:latin typeface="Arial"/>
              </a:rPr>
              <a:t>B-cell infiltration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7620" y="2589581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(disc +0.7, ext +0.3)</a:t>
            </a:r>
          </a:p>
        </p:txBody>
      </p:sp>
      <p:sp>
        <p:nvSpPr>
          <p:cNvPr id="63" name="Diamond 62"/>
          <p:cNvSpPr/>
          <p:nvPr/>
        </p:nvSpPr>
        <p:spPr>
          <a:xfrm>
            <a:off x="1794832" y="832454"/>
            <a:ext cx="120000" cy="120000"/>
          </a:xfrm>
          <a:prstGeom prst="diamond">
            <a:avLst/>
          </a:prstGeom>
          <a:solidFill>
            <a:srgbClr val="D4A3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82848" y="819302"/>
            <a:ext cx="14630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CD8-cyt ★ +Akiyoshi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82848" y="938174"/>
            <a:ext cx="14630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D4A300"/>
                </a:solidFill>
                <a:latin typeface="Arial"/>
              </a:rPr>
              <a:t>(disc -0.2, 6-src ext +3.3)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0600" y="594360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Marker</a:t>
            </a:r>
          </a:p>
        </p:txBody>
      </p:sp>
      <p:sp>
        <p:nvSpPr>
          <p:cNvPr id="67" name="Oval 66"/>
          <p:cNvSpPr/>
          <p:nvPr/>
        </p:nvSpPr>
        <p:spPr>
          <a:xfrm>
            <a:off x="4838752" y="760528"/>
            <a:ext cx="70000" cy="70000"/>
          </a:xfrm>
          <a:prstGeom prst="ellipse">
            <a:avLst/>
          </a:prstGeom>
          <a:solidFill>
            <a:srgbClr val="0E4A6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01768" y="731520"/>
            <a:ext cx="9144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Thread 1</a:t>
            </a:r>
          </a:p>
        </p:txBody>
      </p:sp>
      <p:sp>
        <p:nvSpPr>
          <p:cNvPr id="69" name="Diamond 68"/>
          <p:cNvSpPr/>
          <p:nvPr/>
        </p:nvSpPr>
        <p:spPr>
          <a:xfrm>
            <a:off x="4838752" y="943408"/>
            <a:ext cx="70000" cy="70000"/>
          </a:xfrm>
          <a:prstGeom prst="diamond">
            <a:avLst/>
          </a:prstGeom>
          <a:solidFill>
            <a:srgbClr val="8A2B4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01768" y="914400"/>
            <a:ext cx="9144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Thread 2</a:t>
            </a:r>
          </a:p>
        </p:txBody>
      </p:sp>
      <p:sp>
        <p:nvSpPr>
          <p:cNvPr id="71" name="Diamond 70"/>
          <p:cNvSpPr/>
          <p:nvPr/>
        </p:nvSpPr>
        <p:spPr>
          <a:xfrm>
            <a:off x="4828752" y="1116288"/>
            <a:ext cx="90000" cy="90000"/>
          </a:xfrm>
          <a:prstGeom prst="diamond">
            <a:avLst/>
          </a:prstGeom>
          <a:solidFill>
            <a:srgbClr val="D4A30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01768" y="1097280"/>
            <a:ext cx="1097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Akiyoshi-aug.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7160" y="379476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Arial"/>
              </a:rPr>
              <a:t>Dashed vertical/horizontal lines = Z = ±1.96 (P = 0.05 threshold). Dashed diagonal = y = x.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7160" y="3950208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D4A300"/>
                </a:solidFill>
                <a:latin typeface="Arial"/>
              </a:rPr>
              <a:t>CD8-cytotoxic sits in the UL (external-only) quadrant in discovery (n=33 under-powered for immune), but Akiyoshi-augmented moves toward 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3035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SC-RT-matched external validation — GSE254249 (Gao et al. Cancer Cell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303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1">
                <a:solidFill>
                  <a:srgbClr val="666666"/>
                </a:solidFill>
                <a:latin typeface="Arial"/>
              </a:rPr>
              <a:t>n = 8 post-TNT bulk RNA-seq  ·  SC-RT 5×5 Gy + FOLFOXIRI  ·  5 CR vs 3 non-CR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1765" y="640080"/>
            <a:ext cx="1621715" cy="2331720"/>
          </a:xfrm>
          <a:prstGeom prst="rect">
            <a:avLst/>
          </a:prstGeom>
          <a:solidFill>
            <a:srgbClr val="D6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20240" y="640080"/>
            <a:ext cx="1441525" cy="2331720"/>
          </a:xfrm>
          <a:prstGeom prst="rect">
            <a:avLst/>
          </a:prstGeom>
          <a:solidFill>
            <a:srgbClr val="F4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920240" y="2971800"/>
            <a:ext cx="3063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61765" y="640080"/>
            <a:ext cx="0" cy="23317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10335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7455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0812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77932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11288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28408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61765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78885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12241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29361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62718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79838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13194" y="29718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30314" y="3026664"/>
            <a:ext cx="3657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54680"/>
            <a:ext cx="30632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Post-TNT Δ = z-score(good) − z-score(bad)   (predicted-direction-oriented)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2908" y="548640"/>
            <a:ext cx="13716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1">
                <a:solidFill>
                  <a:srgbClr val="0A7D6E"/>
                </a:solidFill>
                <a:latin typeface="Arial"/>
              </a:rPr>
              <a:t>predicted-direction zone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548640"/>
            <a:ext cx="11887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1">
                <a:solidFill>
                  <a:srgbClr val="C53E1F"/>
                </a:solidFill>
                <a:latin typeface="Arial"/>
              </a:rPr>
              <a:t>← opposite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" y="733479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DSB / HDR repair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1765" y="776631"/>
            <a:ext cx="848697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24430" y="788631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4291772" y="784631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687759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+0.94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797487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0.071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687759"/>
            <a:ext cx="1828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4A300"/>
                </a:solidFill>
                <a:latin typeface="Arial"/>
              </a:rPr>
              <a:t>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973183"/>
            <a:ext cx="3063240" cy="33310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" y="1066582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Tumor cell-cycle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1765" y="1109734"/>
            <a:ext cx="816263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24357" y="1121734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4303784" y="1117734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1020862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+0.91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1130590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0.393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" y="1399685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E2F / MYC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61765" y="1442837"/>
            <a:ext cx="805452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42411" y="1454837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4177651" y="1450837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1353965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+0.89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1463693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0.143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1639389"/>
            <a:ext cx="3063240" cy="33310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1732788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4A68"/>
                </a:solidFill>
                <a:latin typeface="Arial"/>
              </a:rPr>
              <a:t>EMT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61765" y="1775940"/>
            <a:ext cx="15316" cy="600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71000" y="1787940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iamond 49"/>
          <p:cNvSpPr/>
          <p:nvPr/>
        </p:nvSpPr>
        <p:spPr>
          <a:xfrm>
            <a:off x="3823276" y="1783940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1687068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-0.02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1796796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1.000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" y="2065891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CD8-cytotoxic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61765" y="2109043"/>
            <a:ext cx="611747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333176" y="2121043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iamond 55"/>
          <p:cNvSpPr/>
          <p:nvPr/>
        </p:nvSpPr>
        <p:spPr>
          <a:xfrm>
            <a:off x="4327810" y="2117043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2020171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+0.68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2129899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0.571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2305595"/>
            <a:ext cx="3063240" cy="33310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6304" y="2398994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T-cell infiltration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61765" y="2442146"/>
            <a:ext cx="1137903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47858" y="2454146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iamond 62"/>
          <p:cNvSpPr/>
          <p:nvPr/>
        </p:nvSpPr>
        <p:spPr>
          <a:xfrm>
            <a:off x="3592032" y="2450146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2353274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 = +1.26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2463002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D4A300"/>
                </a:solidFill>
                <a:latin typeface="Arial"/>
              </a:rPr>
              <a:t>P = 0.036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2120" y="2353274"/>
            <a:ext cx="18288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4A300"/>
                </a:solidFill>
                <a:latin typeface="Arial"/>
              </a:rPr>
              <a:t>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6304" y="2732097"/>
            <a:ext cx="17373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A2B4C"/>
                </a:solidFill>
                <a:latin typeface="Arial"/>
              </a:rPr>
              <a:t>B-cell infiltration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61765" y="2775249"/>
            <a:ext cx="941496" cy="60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520519" y="2787249"/>
            <a:ext cx="36000" cy="36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iamond 69"/>
          <p:cNvSpPr/>
          <p:nvPr/>
        </p:nvSpPr>
        <p:spPr>
          <a:xfrm>
            <a:off x="3423854" y="2783249"/>
            <a:ext cx="44000" cy="44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A2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0" y="2686377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 = +1.04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2796105"/>
            <a:ext cx="6583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666666"/>
                </a:solidFill>
                <a:latin typeface="Arial"/>
              </a:rPr>
              <a:t>P = 0.393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3127248"/>
            <a:ext cx="530352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3154680"/>
            <a:ext cx="5120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Three-regimen regimen-agnostic convergence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3328416"/>
            <a:ext cx="5120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• Discovery SC-RT + FOLFOX/CAPOX (N=33 pre-RT): LASSO AUC 0.745 [0.56, 0.90]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3465576"/>
            <a:ext cx="5120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• LC-CRT + concurrent capecitabine (N=518–816): T1 DSB Z=+3.17, cellcycle Z=+3.21, E2F/MYC Z=+2.79; T2 CD8 Z=+3.29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3602736"/>
            <a:ext cx="5120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• SC-RT + FOLFOXIRI (N=8 post-TNT): 7/7 signatures concordant  —  binomial sign P = 0.016  —  Tcell_infil MW P = 0.036 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3739896"/>
            <a:ext cx="5120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1">
                <a:solidFill>
                  <a:srgbClr val="222222"/>
                </a:solidFill>
                <a:latin typeface="Arial"/>
              </a:rPr>
              <a:t>Baseline predictor biology reproduces across both RT fractionation and chemo-timing/backbone axes.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" y="3904488"/>
            <a:ext cx="9144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Markers: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3232" y="3922776"/>
            <a:ext cx="146304" cy="6400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112" y="3895344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0">
                <a:solidFill>
                  <a:srgbClr val="222222"/>
                </a:solidFill>
                <a:latin typeface="Arial"/>
              </a:rPr>
              <a:t>SC-RT Δ (bar)</a:t>
            </a:r>
          </a:p>
        </p:txBody>
      </p:sp>
      <p:sp>
        <p:nvSpPr>
          <p:cNvPr id="82" name="Oval 81"/>
          <p:cNvSpPr/>
          <p:nvPr/>
        </p:nvSpPr>
        <p:spPr>
          <a:xfrm>
            <a:off x="1813800" y="3944352"/>
            <a:ext cx="30000" cy="30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01952" y="3895344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0">
                <a:solidFill>
                  <a:srgbClr val="222222"/>
                </a:solidFill>
                <a:latin typeface="Arial"/>
              </a:rPr>
              <a:t>Discovery Δ (circle)</a:t>
            </a:r>
          </a:p>
        </p:txBody>
      </p:sp>
      <p:sp>
        <p:nvSpPr>
          <p:cNvPr id="84" name="Diamond 83"/>
          <p:cNvSpPr/>
          <p:nvPr/>
        </p:nvSpPr>
        <p:spPr>
          <a:xfrm>
            <a:off x="2999520" y="3941352"/>
            <a:ext cx="36000" cy="36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0" y="3895344"/>
            <a:ext cx="16459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 i="0">
                <a:solidFill>
                  <a:srgbClr val="222222"/>
                </a:solidFill>
                <a:latin typeface="Arial"/>
              </a:rPr>
              <a:t>LC-CRT pooled Z / 3 (diamond)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