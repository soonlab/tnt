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80" y="274320"/>
            <a:ext cx="237744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310896"/>
            <a:ext cx="23774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N = 35 patients enrolled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502920"/>
            <a:ext cx="23774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MSS LARC, clinical T2-T4
receiving TNT at SNUH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749808"/>
            <a:ext cx="0" cy="2743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371600" y="1024128"/>
            <a:ext cx="1600200" cy="301752"/>
          </a:xfrm>
          <a:prstGeom prst="line">
            <a:avLst/>
          </a:prstGeom>
          <a:ln w="1016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971800" y="1024128"/>
            <a:ext cx="1645920" cy="301752"/>
          </a:xfrm>
          <a:prstGeom prst="line">
            <a:avLst/>
          </a:prstGeom>
          <a:ln w="1016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11480" y="1211580"/>
            <a:ext cx="1920240" cy="868680"/>
          </a:xfrm>
          <a:prstGeom prst="rect">
            <a:avLst/>
          </a:prstGeom>
          <a:solidFill>
            <a:srgbClr val="FFFFFF"/>
          </a:solidFill>
          <a:ln w="1143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48156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WES (total 77)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440180"/>
            <a:ext cx="192024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normal (blood): 28
pre-CRT tumor: 35
post-CRT tumor: 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211580"/>
            <a:ext cx="1920240" cy="868680"/>
          </a:xfrm>
          <a:prstGeom prst="rect">
            <a:avLst/>
          </a:prstGeom>
          <a:solidFill>
            <a:srgbClr val="FFFFFF"/>
          </a:solidFill>
          <a:ln w="1143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248156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C53E1F"/>
                </a:solidFill>
                <a:latin typeface="Arial"/>
              </a:rPr>
              <a:t>RNA-seq (total 56)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440180"/>
            <a:ext cx="192024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normal (PBMC): 10
pre-CRT tumor: 33
post-CRT tumor: 13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71600" y="2084831"/>
            <a:ext cx="0" cy="292609"/>
          </a:xfrm>
          <a:prstGeom prst="line">
            <a:avLst/>
          </a:prstGeom>
          <a:ln w="762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4340" y="2446020"/>
            <a:ext cx="1874519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" y="2482596"/>
            <a:ext cx="187451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WES analytic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" y="2674620"/>
            <a:ext cx="1874519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T–N matched pairs: 41
paired pre/post: 14 subjects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17720" y="2084831"/>
            <a:ext cx="0" cy="292609"/>
          </a:xfrm>
          <a:prstGeom prst="line">
            <a:avLst/>
          </a:prstGeom>
          <a:ln w="762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80460" y="2446020"/>
            <a:ext cx="1874519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0460" y="2482596"/>
            <a:ext cx="187451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C53E1F"/>
                </a:solidFill>
                <a:latin typeface="Arial"/>
              </a:rPr>
              <a:t>RNA analytic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0460" y="2674620"/>
            <a:ext cx="1874519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paired pre/post: 12 subjects
(used in all paired-analysis figures)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71600" y="2944368"/>
            <a:ext cx="0" cy="301752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17720" y="2944368"/>
            <a:ext cx="0" cy="301752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71600" y="3246120"/>
            <a:ext cx="3246120" cy="0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994660" y="3246120"/>
            <a:ext cx="0" cy="274320"/>
          </a:xfrm>
          <a:prstGeom prst="line">
            <a:avLst/>
          </a:prstGeom>
          <a:ln w="1016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42900" y="3566159"/>
            <a:ext cx="530352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" y="3602735"/>
            <a:ext cx="5303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D4A300"/>
                </a:solidFill>
                <a:latin typeface="Arial"/>
              </a:rPr>
              <a:t>Multi-omics integration (36 features, LASSO, cascade, directional coherence)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" y="3794759"/>
            <a:ext cx="5303520" cy="914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Per-analysis counts reconciled against Figs 2–9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" y="3959352"/>
            <a:ext cx="57607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555555"/>
                </a:solidFill>
                <a:latin typeface="Arial"/>
              </a:rPr>
              <a:t>All counts derived from clinical_master.tsv + wes_inventory.tsv + rna_inventory.tsv in analysis/00_cohort/.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Rectangle 2"/>
          <p:cNvSpPr/>
          <p:nvPr/>
        </p:nvSpPr>
        <p:spPr>
          <a:xfrm>
            <a:off x="507920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9449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0978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2507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4037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5566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095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68624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20153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1682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23211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4741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6270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77799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29328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0857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32386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83915" y="777240"/>
            <a:ext cx="141529" cy="164592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35445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6974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38503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90032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1561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93090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44619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6149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47678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99207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0736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02265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53794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05323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56853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08382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59911" y="777240"/>
            <a:ext cx="141529" cy="1645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7920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9449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978" y="960120"/>
            <a:ext cx="141529" cy="164592"/>
          </a:xfrm>
          <a:prstGeom prst="rect">
            <a:avLst/>
          </a:prstGeom>
          <a:solidFill>
            <a:srgbClr val="B45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2507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14037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65566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17095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568624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20153" y="960120"/>
            <a:ext cx="141529" cy="164592"/>
          </a:xfrm>
          <a:prstGeom prst="rect">
            <a:avLst/>
          </a:prstGeom>
          <a:solidFill>
            <a:srgbClr val="B45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71682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023211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74741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26270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477799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29328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80857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32386" y="960120"/>
            <a:ext cx="141529" cy="164592"/>
          </a:xfrm>
          <a:prstGeom prst="rect">
            <a:avLst/>
          </a:prstGeom>
          <a:solidFill>
            <a:srgbClr val="B45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83915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35445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86974" y="960120"/>
            <a:ext cx="141529" cy="164592"/>
          </a:xfrm>
          <a:prstGeom prst="rect">
            <a:avLst/>
          </a:prstGeom>
          <a:solidFill>
            <a:srgbClr val="B45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38503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90032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841561" y="960120"/>
            <a:ext cx="141529" cy="164592"/>
          </a:xfrm>
          <a:prstGeom prst="rect">
            <a:avLst/>
          </a:prstGeom>
          <a:solidFill>
            <a:srgbClr val="B45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993090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44619" y="960120"/>
            <a:ext cx="141529" cy="164592"/>
          </a:xfrm>
          <a:prstGeom prst="rect">
            <a:avLst/>
          </a:prstGeom>
          <a:solidFill>
            <a:srgbClr val="B45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96149" y="960120"/>
            <a:ext cx="141529" cy="164592"/>
          </a:xfrm>
          <a:prstGeom prst="rect">
            <a:avLst/>
          </a:prstGeom>
          <a:solidFill>
            <a:srgbClr val="B45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47678" y="960120"/>
            <a:ext cx="141529" cy="164592"/>
          </a:xfrm>
          <a:prstGeom prst="rect">
            <a:avLst/>
          </a:prstGeom>
          <a:solidFill>
            <a:srgbClr val="B45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99207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50736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02265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53794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205323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356853" y="960120"/>
            <a:ext cx="141529" cy="164592"/>
          </a:xfrm>
          <a:prstGeom prst="rect">
            <a:avLst/>
          </a:prstGeom>
          <a:solidFill>
            <a:srgbClr val="366D96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508382" y="960120"/>
            <a:ext cx="141529" cy="164592"/>
          </a:xfrm>
          <a:prstGeom prst="rect">
            <a:avLst/>
          </a:prstGeom>
          <a:solidFill>
            <a:srgbClr val="B45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659911" y="960120"/>
            <a:ext cx="141529" cy="164592"/>
          </a:xfrm>
          <a:prstGeom prst="rect">
            <a:avLst/>
          </a:prstGeom>
          <a:solidFill>
            <a:srgbClr val="B45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07920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9449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10978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62507" y="1143000"/>
            <a:ext cx="141529" cy="164592"/>
          </a:xfrm>
          <a:prstGeom prst="rect">
            <a:avLst/>
          </a:prstGeom>
          <a:solidFill>
            <a:srgbClr val="214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14037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265566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17095" y="1143000"/>
            <a:ext cx="141529" cy="164592"/>
          </a:xfrm>
          <a:prstGeom prst="rect">
            <a:avLst/>
          </a:prstGeom>
          <a:solidFill>
            <a:srgbClr val="A8C8E1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568624" y="1143000"/>
            <a:ext cx="141529" cy="164592"/>
          </a:xfrm>
          <a:prstGeom prst="rect">
            <a:avLst/>
          </a:prstGeom>
          <a:solidFill>
            <a:srgbClr val="7DA7C8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720153" y="1143000"/>
            <a:ext cx="141529" cy="164592"/>
          </a:xfrm>
          <a:prstGeom prst="rect">
            <a:avLst/>
          </a:prstGeom>
          <a:solidFill>
            <a:srgbClr val="A8C8E1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71682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023211" y="1143000"/>
            <a:ext cx="141529" cy="164592"/>
          </a:xfrm>
          <a:prstGeom prst="rect">
            <a:avLst/>
          </a:prstGeom>
          <a:solidFill>
            <a:srgbClr val="A8C8E1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174741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326270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477799" y="1143000"/>
            <a:ext cx="141529" cy="164592"/>
          </a:xfrm>
          <a:prstGeom prst="rect">
            <a:avLst/>
          </a:prstGeom>
          <a:solidFill>
            <a:srgbClr val="214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629328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80857" y="1143000"/>
            <a:ext cx="141529" cy="164592"/>
          </a:xfrm>
          <a:prstGeom prst="rect">
            <a:avLst/>
          </a:prstGeom>
          <a:solidFill>
            <a:srgbClr val="7DA7C8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932386" y="1143000"/>
            <a:ext cx="141529" cy="164592"/>
          </a:xfrm>
          <a:prstGeom prst="rect">
            <a:avLst/>
          </a:prstGeom>
          <a:solidFill>
            <a:srgbClr val="A8C8E1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083915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35445" y="1143000"/>
            <a:ext cx="141529" cy="164592"/>
          </a:xfrm>
          <a:prstGeom prst="rect">
            <a:avLst/>
          </a:prstGeom>
          <a:solidFill>
            <a:srgbClr val="A8C8E1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386974" y="1143000"/>
            <a:ext cx="141529" cy="164592"/>
          </a:xfrm>
          <a:prstGeom prst="rect">
            <a:avLst/>
          </a:prstGeom>
          <a:solidFill>
            <a:srgbClr val="214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538503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690032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841561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993090" y="1143000"/>
            <a:ext cx="141529" cy="164592"/>
          </a:xfrm>
          <a:prstGeom prst="rect">
            <a:avLst/>
          </a:prstGeom>
          <a:solidFill>
            <a:srgbClr val="214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144619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296149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447678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599207" y="1143000"/>
            <a:ext cx="141529" cy="164592"/>
          </a:xfrm>
          <a:prstGeom prst="rect">
            <a:avLst/>
          </a:prstGeom>
          <a:solidFill>
            <a:srgbClr val="214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750736" y="1143000"/>
            <a:ext cx="141529" cy="164592"/>
          </a:xfrm>
          <a:prstGeom prst="rect">
            <a:avLst/>
          </a:prstGeom>
          <a:solidFill>
            <a:srgbClr val="214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902265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053794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205323" y="1143000"/>
            <a:ext cx="141529" cy="164592"/>
          </a:xfrm>
          <a:prstGeom prst="rect">
            <a:avLst/>
          </a:prstGeom>
          <a:solidFill>
            <a:srgbClr val="214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356853" y="1143000"/>
            <a:ext cx="141529" cy="164592"/>
          </a:xfrm>
          <a:prstGeom prst="rect">
            <a:avLst/>
          </a:prstGeom>
          <a:solidFill>
            <a:srgbClr val="214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508382" y="1143000"/>
            <a:ext cx="141529" cy="164592"/>
          </a:xfrm>
          <a:prstGeom prst="rect">
            <a:avLst/>
          </a:prstGeom>
          <a:solidFill>
            <a:srgbClr val="457A9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659911" y="1143000"/>
            <a:ext cx="141529" cy="164592"/>
          </a:xfrm>
          <a:prstGeom prst="rect">
            <a:avLst/>
          </a:prstGeom>
          <a:solidFill>
            <a:srgbClr val="214A70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7920" y="2438400"/>
            <a:ext cx="141529" cy="5334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59449" y="1934633"/>
            <a:ext cx="141529" cy="10371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10978" y="2142067"/>
            <a:ext cx="141529" cy="829733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2507" y="2053167"/>
            <a:ext cx="141529" cy="918633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14037" y="1638300"/>
            <a:ext cx="141529" cy="13335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65566" y="2201333"/>
            <a:ext cx="141529" cy="7704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095" y="1964267"/>
            <a:ext cx="141529" cy="1007533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68624" y="2319867"/>
            <a:ext cx="141529" cy="651933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20153" y="1697567"/>
            <a:ext cx="141529" cy="1274233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871682" y="1816100"/>
            <a:ext cx="141529" cy="11557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23211" y="1934633"/>
            <a:ext cx="141529" cy="10371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174741" y="2112433"/>
            <a:ext cx="141529" cy="8593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326270" y="2112433"/>
            <a:ext cx="141529" cy="8593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477799" y="2349500"/>
            <a:ext cx="141529" cy="6223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629328" y="1905000"/>
            <a:ext cx="141529" cy="10668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780857" y="1934633"/>
            <a:ext cx="141529" cy="10371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932386" y="2023533"/>
            <a:ext cx="141529" cy="9482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083915" y="2319867"/>
            <a:ext cx="141529" cy="651933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235445" y="1638300"/>
            <a:ext cx="141529" cy="13335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386974" y="2823633"/>
            <a:ext cx="141529" cy="1481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538503" y="2260600"/>
            <a:ext cx="141529" cy="7112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690032" y="2053167"/>
            <a:ext cx="141529" cy="918633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841561" y="1756833"/>
            <a:ext cx="141529" cy="12149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993090" y="1993900"/>
            <a:ext cx="141529" cy="9779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144619" y="1519767"/>
            <a:ext cx="141529" cy="1452033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296149" y="1993900"/>
            <a:ext cx="141529" cy="9779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447678" y="2527300"/>
            <a:ext cx="141529" cy="4445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599207" y="2082800"/>
            <a:ext cx="141529" cy="8890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50736" y="2023533"/>
            <a:ext cx="141529" cy="9482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02265" y="2171700"/>
            <a:ext cx="141529" cy="8001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53794" y="2349500"/>
            <a:ext cx="141529" cy="622300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205323" y="1667933"/>
            <a:ext cx="141529" cy="13038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356853" y="2468033"/>
            <a:ext cx="141529" cy="5037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508382" y="1697567"/>
            <a:ext cx="141529" cy="1274233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659911" y="1756833"/>
            <a:ext cx="141529" cy="1214967"/>
          </a:xfrm>
          <a:prstGeom prst="rect">
            <a:avLst/>
          </a:prstGeom>
          <a:solidFill>
            <a:srgbClr val="444455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87245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38774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90303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41832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93361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44890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14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396419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16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547949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17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699478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851007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23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002536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24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154065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25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305594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27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457123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30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608653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31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760182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911711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28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063240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29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214769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366298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517827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7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669357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820886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15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972415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18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123944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19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275473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21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427002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22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78531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26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730061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33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881590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34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033119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184648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11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336177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13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487706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32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639235" y="30358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555555"/>
                </a:solidFill>
                <a:latin typeface="Arial"/>
              </a:rPr>
              <a:t>35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1440" y="1371600"/>
            <a:ext cx="3840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83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" y="2880360"/>
            <a:ext cx="3840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29</a:t>
            </a:r>
          </a:p>
        </p:txBody>
      </p:sp>
      <p:sp>
        <p:nvSpPr>
          <p:cNvPr id="180" name="TextBox 179"/>
          <p:cNvSpPr txBox="1"/>
          <p:nvPr/>
        </p:nvSpPr>
        <p:spPr>
          <a:xfrm rot="16200000">
            <a:off x="91440" y="1920240"/>
            <a:ext cx="32004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Age (yrs)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1440" y="822960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222222"/>
                </a:solidFill>
                <a:latin typeface="Arial"/>
              </a:rPr>
              <a:t>response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1440" y="1005840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222222"/>
                </a:solidFill>
                <a:latin typeface="Arial"/>
              </a:rPr>
              <a:t>sex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1440" y="1188720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222222"/>
                </a:solidFill>
                <a:latin typeface="Arial"/>
              </a:rPr>
              <a:t>cT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65760" y="3337560"/>
            <a:ext cx="118872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12064" y="3327560"/>
            <a:ext cx="5486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good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005840" y="3337560"/>
            <a:ext cx="118872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152144" y="3327560"/>
            <a:ext cx="5486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bad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737360" y="3337560"/>
            <a:ext cx="118872" cy="91440"/>
          </a:xfrm>
          <a:prstGeom prst="rect">
            <a:avLst/>
          </a:prstGeom>
          <a:solidFill>
            <a:srgbClr val="366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883664" y="332756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M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103120" y="3337560"/>
            <a:ext cx="118872" cy="91440"/>
          </a:xfrm>
          <a:prstGeom prst="rect">
            <a:avLst/>
          </a:prstGeom>
          <a:solidFill>
            <a:srgbClr val="B45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249424" y="332756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F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697480" y="3337560"/>
            <a:ext cx="91440" cy="91440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2807208" y="3327560"/>
            <a:ext cx="4114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T2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182112" y="3337560"/>
            <a:ext cx="91440" cy="91440"/>
          </a:xfrm>
          <a:prstGeom prst="rect">
            <a:avLst/>
          </a:prstGeom>
          <a:solidFill>
            <a:srgbClr val="7DA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291840" y="3327560"/>
            <a:ext cx="4114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T2/T3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666744" y="3337560"/>
            <a:ext cx="91440" cy="91440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776472" y="3327560"/>
            <a:ext cx="4114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T3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151376" y="3337560"/>
            <a:ext cx="91440" cy="91440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261104" y="3327560"/>
            <a:ext cx="4114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T4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37160" y="3611880"/>
            <a:ext cx="566928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555555"/>
                </a:solidFill>
                <a:latin typeface="Arial"/>
              </a:rPr>
              <a:t>Per-patient clinical waterfall (n = 35); subjects sorted by final TNT response then subject_id.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37160" y="3794760"/>
            <a:ext cx="566928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Responders: good n = 18, bad n = 17. Age median = 61; range 34–78.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