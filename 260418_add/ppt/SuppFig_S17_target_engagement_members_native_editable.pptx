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37660" y="365760"/>
            <a:ext cx="0" cy="3429000"/>
          </a:xfrm>
          <a:prstGeom prst="line">
            <a:avLst/>
          </a:prstGeom>
          <a:ln w="101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560320" y="3794760"/>
            <a:ext cx="315468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60320" y="3794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23160" y="38496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-6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86100" y="3794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48940" y="38496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-4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3794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74720" y="38496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-2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37660" y="3794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00500" y="38496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+0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3794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6280" y="38496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89220" y="3794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52060" y="38496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+4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15000" y="379476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77840" y="384962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+6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995928"/>
            <a:ext cx="3154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← bad (predicted-direction count)     good (predicted-direction count)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384316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>
                <a:solidFill>
                  <a:srgbClr val="222222"/>
                </a:solidFill>
                <a:latin typeface="Arial"/>
              </a:rPr>
              <a:t>▸ DSB / HDR repair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7660" y="414169"/>
            <a:ext cx="131445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8686" y="393460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23210" y="414169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7178" y="393460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586022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DNA Double-Strand Break Repa…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7660" y="615875"/>
            <a:ext cx="131445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8686" y="595166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23210" y="615875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7178" y="595166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787728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HDR Thru Homologous Recombin…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37660" y="817581"/>
            <a:ext cx="131445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8686" y="796872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23210" y="817581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7178" y="796872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989434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Homology Directed Repair R-H…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37660" y="1019287"/>
            <a:ext cx="131445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8686" y="998578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23210" y="1019287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7178" y="99857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" y="1191140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Processing Of DNA Double-Str…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37660" y="1220993"/>
            <a:ext cx="105156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5796" y="120028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23210" y="1220993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7178" y="1200284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1392846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>
                <a:solidFill>
                  <a:srgbClr val="222222"/>
                </a:solidFill>
                <a:latin typeface="Arial"/>
              </a:rPr>
              <a:t>▸ Tumor cell-cycle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37660" y="1422699"/>
            <a:ext cx="105156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5796" y="1401990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23210" y="1422699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7178" y="1401990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" y="1594552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Cell Cycle Checkpoints R-HSA…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37660" y="1624405"/>
            <a:ext cx="105156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5796" y="1603696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23210" y="1624405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67178" y="1603696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" y="1796258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G2-M Checkpoint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37660" y="1826111"/>
            <a:ext cx="105156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25796" y="1805402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23210" y="1826111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7178" y="1805402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" y="1997964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M Phase R-HSA-68886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37660" y="2027817"/>
            <a:ext cx="131445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8686" y="2007108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23210" y="2027817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67178" y="2007108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" y="2199669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Mitotic G2-G2/M Phases R-HSA…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37660" y="2229522"/>
            <a:ext cx="105156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25796" y="2208813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23210" y="2229522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7178" y="2208813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" y="2401375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S Phase R-HSA-69242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37660" y="2431228"/>
            <a:ext cx="105156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25796" y="2410519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23210" y="2431228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567178" y="2410519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8600" y="2603081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>
                <a:solidFill>
                  <a:srgbClr val="222222"/>
                </a:solidFill>
                <a:latin typeface="Arial"/>
              </a:rPr>
              <a:t>▸ E2F / MYC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37660" y="2632934"/>
            <a:ext cx="131445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8686" y="2612225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23210" y="2632934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67178" y="2612225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8600" y="2804787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E2F Targets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37660" y="2834640"/>
            <a:ext cx="105156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25796" y="2813931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4/6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23210" y="2834640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67178" y="2813931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8600" y="3006493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Myc Targets V1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37660" y="3036346"/>
            <a:ext cx="157734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51576" y="3015637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6/6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23210" y="3036346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67178" y="3015637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8600" y="3208199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Myc Targets V2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37660" y="3238052"/>
            <a:ext cx="131445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8686" y="3217343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5/6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823210" y="3238052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567178" y="3217343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600" y="3409905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>
                <a:solidFill>
                  <a:srgbClr val="222222"/>
                </a:solidFill>
                <a:latin typeface="Arial"/>
              </a:rPr>
              <a:t>▸ EMT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37660" y="3439758"/>
            <a:ext cx="157734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751576" y="3419049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6/6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823210" y="3439758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67178" y="3419049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8600" y="3611611"/>
            <a:ext cx="22860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  Epithelial Mesenchymal Trans…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37660" y="3641464"/>
            <a:ext cx="1577340" cy="104887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751576" y="3620755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6/6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23210" y="3641464"/>
            <a:ext cx="1314450" cy="104887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567178" y="3620755"/>
            <a:ext cx="2560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C53E1F"/>
                </a:solidFill>
                <a:latin typeface="Arial"/>
              </a:rPr>
              <a:t>5/6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737360" y="3840480"/>
            <a:ext cx="146304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901952" y="383048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good  →  predicted direction count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7360" y="3968496"/>
            <a:ext cx="146304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901952" y="3959352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>bad  ←  predicted direction count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37160" y="3977639"/>
            <a:ext cx="56692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666666"/>
                </a:solidFill>
                <a:latin typeface="Arial"/>
              </a:rPr>
              <a:t>▸ = composite (4 Thread-1 factors); unprefixed rows = member ssGSEA pathways (13 total)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0" y="411480"/>
            <a:ext cx="304800" cy="190948"/>
          </a:xfrm>
          <a:prstGeom prst="rect">
            <a:avLst/>
          </a:prstGeom>
          <a:solidFill>
            <a:srgbClr val="138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16480" y="411480"/>
            <a:ext cx="304800" cy="190948"/>
          </a:xfrm>
          <a:prstGeom prst="rect">
            <a:avLst/>
          </a:prstGeom>
          <a:solidFill>
            <a:srgbClr val="72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21280" y="411480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411480"/>
            <a:ext cx="304800" cy="190948"/>
          </a:xfrm>
          <a:prstGeom prst="rect">
            <a:avLst/>
          </a:prstGeom>
          <a:solidFill>
            <a:srgbClr val="E5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30880" y="411480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35680" y="411480"/>
            <a:ext cx="304800" cy="190948"/>
          </a:xfrm>
          <a:prstGeom prst="rect">
            <a:avLst/>
          </a:prstGeom>
          <a:solidFill>
            <a:srgbClr val="FD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0" y="411480"/>
            <a:ext cx="304800" cy="190948"/>
          </a:xfrm>
          <a:prstGeom prst="rect">
            <a:avLst/>
          </a:prstGeom>
          <a:solidFill>
            <a:srgbClr val="66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45280" y="411480"/>
            <a:ext cx="304800" cy="190948"/>
          </a:xfrm>
          <a:prstGeom prst="rect">
            <a:avLst/>
          </a:prstGeom>
          <a:solidFill>
            <a:srgbClr val="9CC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0080" y="411480"/>
            <a:ext cx="304800" cy="190948"/>
          </a:xfrm>
          <a:prstGeom prst="rect">
            <a:avLst/>
          </a:prstGeom>
          <a:solidFill>
            <a:srgbClr val="84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411480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59680" y="411480"/>
            <a:ext cx="304800" cy="190948"/>
          </a:xfrm>
          <a:prstGeom prst="rect">
            <a:avLst/>
          </a:prstGeom>
          <a:solidFill>
            <a:srgbClr val="3292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64480" y="411480"/>
            <a:ext cx="304800" cy="190948"/>
          </a:xfrm>
          <a:prstGeom prst="rect">
            <a:avLst/>
          </a:prstGeom>
          <a:solidFill>
            <a:srgbClr val="EF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602428"/>
            <a:ext cx="304800" cy="190948"/>
          </a:xfrm>
          <a:prstGeom prst="rect">
            <a:avLst/>
          </a:prstGeom>
          <a:solidFill>
            <a:srgbClr val="26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6480" y="602428"/>
            <a:ext cx="304800" cy="190948"/>
          </a:xfrm>
          <a:prstGeom prst="rect">
            <a:avLst/>
          </a:prstGeom>
          <a:solidFill>
            <a:srgbClr val="61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21280" y="602428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602428"/>
            <a:ext cx="304800" cy="190948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30880" y="602428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35680" y="602428"/>
            <a:ext cx="304800" cy="190948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0" y="602428"/>
            <a:ext cx="304800" cy="190948"/>
          </a:xfrm>
          <a:prstGeom prst="rect">
            <a:avLst/>
          </a:prstGeom>
          <a:solidFill>
            <a:srgbClr val="88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45280" y="602428"/>
            <a:ext cx="304800" cy="190948"/>
          </a:xfrm>
          <a:prstGeom prst="rect">
            <a:avLst/>
          </a:prstGeom>
          <a:solidFill>
            <a:srgbClr val="9CC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0080" y="602428"/>
            <a:ext cx="304800" cy="190948"/>
          </a:xfrm>
          <a:prstGeom prst="rect">
            <a:avLst/>
          </a:prstGeom>
          <a:solidFill>
            <a:srgbClr val="93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602428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59680" y="602428"/>
            <a:ext cx="304800" cy="190948"/>
          </a:xfrm>
          <a:prstGeom prst="rect">
            <a:avLst/>
          </a:prstGeom>
          <a:solidFill>
            <a:srgbClr val="37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64480" y="602428"/>
            <a:ext cx="304800" cy="190948"/>
          </a:xfrm>
          <a:prstGeom prst="rect">
            <a:avLst/>
          </a:prstGeom>
          <a:solidFill>
            <a:srgbClr val="F1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1680" y="793376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16480" y="793376"/>
            <a:ext cx="304800" cy="190948"/>
          </a:xfrm>
          <a:prstGeom prst="rect">
            <a:avLst/>
          </a:prstGeom>
          <a:solidFill>
            <a:srgbClr val="469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21280" y="793376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26080" y="793376"/>
            <a:ext cx="304800" cy="190948"/>
          </a:xfrm>
          <a:prstGeom prst="rect">
            <a:avLst/>
          </a:prstGeom>
          <a:solidFill>
            <a:srgbClr val="FA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30880" y="793376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35680" y="793376"/>
            <a:ext cx="304800" cy="190948"/>
          </a:xfrm>
          <a:prstGeom prst="rect">
            <a:avLst/>
          </a:prstGeom>
          <a:solidFill>
            <a:srgbClr val="F4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0" y="793376"/>
            <a:ext cx="304800" cy="190948"/>
          </a:xfrm>
          <a:prstGeom prst="rect">
            <a:avLst/>
          </a:prstGeom>
          <a:solidFill>
            <a:srgbClr val="3F9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45280" y="793376"/>
            <a:ext cx="304800" cy="190948"/>
          </a:xfrm>
          <a:prstGeom prst="rect">
            <a:avLst/>
          </a:prstGeom>
          <a:solidFill>
            <a:srgbClr val="98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50080" y="793376"/>
            <a:ext cx="304800" cy="190948"/>
          </a:xfrm>
          <a:prstGeom prst="rect">
            <a:avLst/>
          </a:prstGeom>
          <a:solidFill>
            <a:srgbClr val="63AC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793376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59680" y="793376"/>
            <a:ext cx="304800" cy="190948"/>
          </a:xfrm>
          <a:prstGeom prst="rect">
            <a:avLst/>
          </a:prstGeom>
          <a:solidFill>
            <a:srgbClr val="158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64480" y="793376"/>
            <a:ext cx="304800" cy="190948"/>
          </a:xfrm>
          <a:prstGeom prst="rect">
            <a:avLst/>
          </a:prstGeom>
          <a:solidFill>
            <a:srgbClr val="F3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11680" y="984324"/>
            <a:ext cx="304800" cy="190948"/>
          </a:xfrm>
          <a:prstGeom prst="rect">
            <a:avLst/>
          </a:prstGeom>
          <a:solidFill>
            <a:srgbClr val="0D7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16480" y="984324"/>
            <a:ext cx="304800" cy="190948"/>
          </a:xfrm>
          <a:prstGeom prst="rect">
            <a:avLst/>
          </a:prstGeom>
          <a:solidFill>
            <a:srgbClr val="7EBA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21280" y="984324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26080" y="984324"/>
            <a:ext cx="304800" cy="190948"/>
          </a:xfrm>
          <a:prstGeom prst="rect">
            <a:avLst/>
          </a:prstGeom>
          <a:solidFill>
            <a:srgbClr val="E29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30880" y="984324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35680" y="984324"/>
            <a:ext cx="304800" cy="190948"/>
          </a:xfrm>
          <a:prstGeom prst="rect">
            <a:avLst/>
          </a:prstGeom>
          <a:solidFill>
            <a:srgbClr val="F6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40480" y="984324"/>
            <a:ext cx="304800" cy="190948"/>
          </a:xfrm>
          <a:prstGeom prst="rect">
            <a:avLst/>
          </a:prstGeom>
          <a:solidFill>
            <a:srgbClr val="62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45280" y="984324"/>
            <a:ext cx="304800" cy="190948"/>
          </a:xfrm>
          <a:prstGeom prst="rect">
            <a:avLst/>
          </a:prstGeom>
          <a:solidFill>
            <a:srgbClr val="95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50080" y="984324"/>
            <a:ext cx="304800" cy="190948"/>
          </a:xfrm>
          <a:prstGeom prst="rect">
            <a:avLst/>
          </a:prstGeom>
          <a:solidFill>
            <a:srgbClr val="80B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54880" y="984324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59680" y="984324"/>
            <a:ext cx="304800" cy="190948"/>
          </a:xfrm>
          <a:prstGeom prst="rect">
            <a:avLst/>
          </a:prstGeom>
          <a:solidFill>
            <a:srgbClr val="288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64480" y="984324"/>
            <a:ext cx="304800" cy="190948"/>
          </a:xfrm>
          <a:prstGeom prst="rect">
            <a:avLst/>
          </a:prstGeom>
          <a:solidFill>
            <a:srgbClr val="F0C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11680" y="1175272"/>
            <a:ext cx="304800" cy="190948"/>
          </a:xfrm>
          <a:prstGeom prst="rect">
            <a:avLst/>
          </a:prstGeom>
          <a:solidFill>
            <a:srgbClr val="3D9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16480" y="1175272"/>
            <a:ext cx="304800" cy="190948"/>
          </a:xfrm>
          <a:prstGeom prst="rect">
            <a:avLst/>
          </a:prstGeom>
          <a:solidFill>
            <a:srgbClr val="A1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21280" y="1175272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26080" y="1175272"/>
            <a:ext cx="304800" cy="190948"/>
          </a:xfrm>
          <a:prstGeom prst="rect">
            <a:avLst/>
          </a:prstGeom>
          <a:solidFill>
            <a:srgbClr val="CE5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30880" y="1175272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35680" y="1175272"/>
            <a:ext cx="304800" cy="190948"/>
          </a:xfrm>
          <a:prstGeom prst="rect">
            <a:avLst/>
          </a:prstGeom>
          <a:solidFill>
            <a:srgbClr val="FB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840480" y="1175272"/>
            <a:ext cx="304800" cy="190948"/>
          </a:xfrm>
          <a:prstGeom prst="rect">
            <a:avLst/>
          </a:prstGeom>
          <a:solidFill>
            <a:srgbClr val="72B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45280" y="1175272"/>
            <a:ext cx="304800" cy="190948"/>
          </a:xfrm>
          <a:prstGeom prst="rect">
            <a:avLst/>
          </a:prstGeom>
          <a:solidFill>
            <a:srgbClr val="A6C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50080" y="1175272"/>
            <a:ext cx="304800" cy="190948"/>
          </a:xfrm>
          <a:prstGeom prst="rect">
            <a:avLst/>
          </a:prstGeom>
          <a:solidFill>
            <a:srgbClr val="9BC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54880" y="1175272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59680" y="1175272"/>
            <a:ext cx="304800" cy="190948"/>
          </a:xfrm>
          <a:prstGeom prst="rect">
            <a:avLst/>
          </a:prstGeom>
          <a:solidFill>
            <a:srgbClr val="54A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4480" y="1175272"/>
            <a:ext cx="304800" cy="190948"/>
          </a:xfrm>
          <a:prstGeom prst="rect">
            <a:avLst/>
          </a:prstGeom>
          <a:solidFill>
            <a:srgbClr val="E8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11680" y="1366221"/>
            <a:ext cx="304800" cy="190948"/>
          </a:xfrm>
          <a:prstGeom prst="rect">
            <a:avLst/>
          </a:prstGeom>
          <a:solidFill>
            <a:srgbClr val="319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316480" y="1366221"/>
            <a:ext cx="304800" cy="190948"/>
          </a:xfrm>
          <a:prstGeom prst="rect">
            <a:avLst/>
          </a:prstGeom>
          <a:solidFill>
            <a:srgbClr val="59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21280" y="1366221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926080" y="1366221"/>
            <a:ext cx="304800" cy="190948"/>
          </a:xfrm>
          <a:prstGeom prst="rect">
            <a:avLst/>
          </a:prstGeom>
          <a:solidFill>
            <a:srgbClr val="F0D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30880" y="1366221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535680" y="1366221"/>
            <a:ext cx="304800" cy="190948"/>
          </a:xfrm>
          <a:prstGeom prst="rect">
            <a:avLst/>
          </a:prstGeom>
          <a:solidFill>
            <a:srgbClr val="F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40480" y="1366221"/>
            <a:ext cx="304800" cy="190948"/>
          </a:xfrm>
          <a:prstGeom prst="rect">
            <a:avLst/>
          </a:prstGeom>
          <a:solidFill>
            <a:srgbClr val="2D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45280" y="1366221"/>
            <a:ext cx="304800" cy="190948"/>
          </a:xfrm>
          <a:prstGeom prst="rect">
            <a:avLst/>
          </a:prstGeom>
          <a:solidFill>
            <a:srgbClr val="74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50080" y="1366221"/>
            <a:ext cx="304800" cy="190948"/>
          </a:xfrm>
          <a:prstGeom prst="rect">
            <a:avLst/>
          </a:prstGeom>
          <a:solidFill>
            <a:srgbClr val="9CC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54880" y="1366221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059680" y="1366221"/>
            <a:ext cx="304800" cy="190948"/>
          </a:xfrm>
          <a:prstGeom prst="rect">
            <a:avLst/>
          </a:prstGeom>
          <a:solidFill>
            <a:srgbClr val="0F7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364480" y="1366221"/>
            <a:ext cx="304800" cy="190948"/>
          </a:xfrm>
          <a:prstGeom prst="rect">
            <a:avLst/>
          </a:prstGeom>
          <a:solidFill>
            <a:srgbClr val="E8B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011680" y="1557169"/>
            <a:ext cx="304800" cy="190948"/>
          </a:xfrm>
          <a:prstGeom prst="rect">
            <a:avLst/>
          </a:prstGeom>
          <a:solidFill>
            <a:srgbClr val="359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316480" y="1557169"/>
            <a:ext cx="304800" cy="190948"/>
          </a:xfrm>
          <a:prstGeom prst="rect">
            <a:avLst/>
          </a:prstGeom>
          <a:solidFill>
            <a:srgbClr val="67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21280" y="1557169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926080" y="1557169"/>
            <a:ext cx="304800" cy="190948"/>
          </a:xfrm>
          <a:prstGeom prst="rect">
            <a:avLst/>
          </a:prstGeom>
          <a:solidFill>
            <a:srgbClr val="ECC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30880" y="1557169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535680" y="1557169"/>
            <a:ext cx="304800" cy="190948"/>
          </a:xfrm>
          <a:prstGeom prst="rect">
            <a:avLst/>
          </a:prstGeom>
          <a:solidFill>
            <a:srgbClr val="FC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840480" y="1557169"/>
            <a:ext cx="304800" cy="190948"/>
          </a:xfrm>
          <a:prstGeom prst="rect">
            <a:avLst/>
          </a:prstGeom>
          <a:solidFill>
            <a:srgbClr val="288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145280" y="1557169"/>
            <a:ext cx="304800" cy="190948"/>
          </a:xfrm>
          <a:prstGeom prst="rect">
            <a:avLst/>
          </a:prstGeom>
          <a:solidFill>
            <a:srgbClr val="8C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450080" y="1557169"/>
            <a:ext cx="304800" cy="190948"/>
          </a:xfrm>
          <a:prstGeom prst="rect">
            <a:avLst/>
          </a:prstGeom>
          <a:solidFill>
            <a:srgbClr val="9ECB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754880" y="1557169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059680" y="1557169"/>
            <a:ext cx="304800" cy="190948"/>
          </a:xfrm>
          <a:prstGeom prst="rect">
            <a:avLst/>
          </a:prstGeom>
          <a:solidFill>
            <a:srgbClr val="1F8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364480" y="1557169"/>
            <a:ext cx="304800" cy="190948"/>
          </a:xfrm>
          <a:prstGeom prst="rect">
            <a:avLst/>
          </a:prstGeom>
          <a:solidFill>
            <a:srgbClr val="E7B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011680" y="1748117"/>
            <a:ext cx="304800" cy="190948"/>
          </a:xfrm>
          <a:prstGeom prst="rect">
            <a:avLst/>
          </a:prstGeom>
          <a:solidFill>
            <a:srgbClr val="319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316480" y="1748117"/>
            <a:ext cx="304800" cy="190948"/>
          </a:xfrm>
          <a:prstGeom prst="rect">
            <a:avLst/>
          </a:prstGeom>
          <a:solidFill>
            <a:srgbClr val="59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21280" y="1748117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926080" y="1748117"/>
            <a:ext cx="304800" cy="190948"/>
          </a:xfrm>
          <a:prstGeom prst="rect">
            <a:avLst/>
          </a:prstGeom>
          <a:solidFill>
            <a:srgbClr val="EFC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30880" y="1748117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535680" y="1748117"/>
            <a:ext cx="304800" cy="190948"/>
          </a:xfrm>
          <a:prstGeom prst="rect">
            <a:avLst/>
          </a:prstGeom>
          <a:solidFill>
            <a:srgbClr val="F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840480" y="1748117"/>
            <a:ext cx="304800" cy="190948"/>
          </a:xfrm>
          <a:prstGeom prst="rect">
            <a:avLst/>
          </a:prstGeom>
          <a:solidFill>
            <a:srgbClr val="178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145280" y="1748117"/>
            <a:ext cx="304800" cy="190948"/>
          </a:xfrm>
          <a:prstGeom prst="rect">
            <a:avLst/>
          </a:prstGeom>
          <a:solidFill>
            <a:srgbClr val="85BE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50080" y="1748117"/>
            <a:ext cx="304800" cy="190948"/>
          </a:xfrm>
          <a:prstGeom prst="rect">
            <a:avLst/>
          </a:prstGeom>
          <a:solidFill>
            <a:srgbClr val="94C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754880" y="1748117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059680" y="1748117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364480" y="1748117"/>
            <a:ext cx="304800" cy="190948"/>
          </a:xfrm>
          <a:prstGeom prst="rect">
            <a:avLst/>
          </a:prstGeom>
          <a:solidFill>
            <a:srgbClr val="E2A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011680" y="1939065"/>
            <a:ext cx="304800" cy="190948"/>
          </a:xfrm>
          <a:prstGeom prst="rect">
            <a:avLst/>
          </a:prstGeom>
          <a:solidFill>
            <a:srgbClr val="379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316480" y="1939065"/>
            <a:ext cx="304800" cy="190948"/>
          </a:xfrm>
          <a:prstGeom prst="rect">
            <a:avLst/>
          </a:prstGeom>
          <a:solidFill>
            <a:srgbClr val="50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621280" y="1939065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926080" y="1939065"/>
            <a:ext cx="304800" cy="190948"/>
          </a:xfrm>
          <a:prstGeom prst="rect">
            <a:avLst/>
          </a:prstGeom>
          <a:solidFill>
            <a:srgbClr val="F4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230880" y="1939065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535680" y="1939065"/>
            <a:ext cx="304800" cy="190948"/>
          </a:xfrm>
          <a:prstGeom prst="rect">
            <a:avLst/>
          </a:prstGeom>
          <a:solidFill>
            <a:srgbClr val="F5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840480" y="1939065"/>
            <a:ext cx="304800" cy="190948"/>
          </a:xfrm>
          <a:prstGeom prst="rect">
            <a:avLst/>
          </a:prstGeom>
          <a:solidFill>
            <a:srgbClr val="2D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145280" y="1939065"/>
            <a:ext cx="304800" cy="190948"/>
          </a:xfrm>
          <a:prstGeom prst="rect">
            <a:avLst/>
          </a:prstGeom>
          <a:solidFill>
            <a:srgbClr val="6F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450080" y="1939065"/>
            <a:ext cx="304800" cy="190948"/>
          </a:xfrm>
          <a:prstGeom prst="rect">
            <a:avLst/>
          </a:prstGeom>
          <a:solidFill>
            <a:srgbClr val="8AC1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754880" y="1939065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059680" y="1939065"/>
            <a:ext cx="304800" cy="190948"/>
          </a:xfrm>
          <a:prstGeom prst="rect">
            <a:avLst/>
          </a:prstGeom>
          <a:solidFill>
            <a:srgbClr val="1C8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364480" y="1939065"/>
            <a:ext cx="304800" cy="190948"/>
          </a:xfrm>
          <a:prstGeom prst="rect">
            <a:avLst/>
          </a:prstGeom>
          <a:solidFill>
            <a:srgbClr val="EDC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011680" y="2130014"/>
            <a:ext cx="304800" cy="190948"/>
          </a:xfrm>
          <a:prstGeom prst="rect">
            <a:avLst/>
          </a:prstGeom>
          <a:solidFill>
            <a:srgbClr val="49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316480" y="2130014"/>
            <a:ext cx="304800" cy="190948"/>
          </a:xfrm>
          <a:prstGeom prst="rect">
            <a:avLst/>
          </a:prstGeom>
          <a:solidFill>
            <a:srgbClr val="55A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621280" y="2130014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926080" y="2130014"/>
            <a:ext cx="304800" cy="190948"/>
          </a:xfrm>
          <a:prstGeom prst="rect">
            <a:avLst/>
          </a:prstGeom>
          <a:solidFill>
            <a:srgbClr val="F3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230880" y="2130014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535680" y="2130014"/>
            <a:ext cx="304800" cy="190948"/>
          </a:xfrm>
          <a:prstGeom prst="rect">
            <a:avLst/>
          </a:prstGeom>
          <a:solidFill>
            <a:srgbClr val="FD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840480" y="2130014"/>
            <a:ext cx="304800" cy="190948"/>
          </a:xfrm>
          <a:prstGeom prst="rect">
            <a:avLst/>
          </a:prstGeom>
          <a:solidFill>
            <a:srgbClr val="1B8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145280" y="2130014"/>
            <a:ext cx="304800" cy="190948"/>
          </a:xfrm>
          <a:prstGeom prst="rect">
            <a:avLst/>
          </a:prstGeom>
          <a:solidFill>
            <a:srgbClr val="56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450080" y="2130014"/>
            <a:ext cx="304800" cy="190948"/>
          </a:xfrm>
          <a:prstGeom prst="rect">
            <a:avLst/>
          </a:prstGeom>
          <a:solidFill>
            <a:srgbClr val="B2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754880" y="2130014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059680" y="2130014"/>
            <a:ext cx="304800" cy="190948"/>
          </a:xfrm>
          <a:prstGeom prst="rect">
            <a:avLst/>
          </a:prstGeom>
          <a:solidFill>
            <a:srgbClr val="0F7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364480" y="2130014"/>
            <a:ext cx="304800" cy="190948"/>
          </a:xfrm>
          <a:prstGeom prst="rect">
            <a:avLst/>
          </a:prstGeom>
          <a:solidFill>
            <a:srgbClr val="EA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011680" y="2320962"/>
            <a:ext cx="304800" cy="190948"/>
          </a:xfrm>
          <a:prstGeom prst="rect">
            <a:avLst/>
          </a:prstGeom>
          <a:solidFill>
            <a:srgbClr val="118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316480" y="2320962"/>
            <a:ext cx="304800" cy="190948"/>
          </a:xfrm>
          <a:prstGeom prst="rect">
            <a:avLst/>
          </a:prstGeom>
          <a:solidFill>
            <a:srgbClr val="5BA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621280" y="2320962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926080" y="2320962"/>
            <a:ext cx="304800" cy="190948"/>
          </a:xfrm>
          <a:prstGeom prst="rect">
            <a:avLst/>
          </a:prstGeom>
          <a:solidFill>
            <a:srgbClr val="F1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230880" y="2320962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535680" y="2320962"/>
            <a:ext cx="304800" cy="190948"/>
          </a:xfrm>
          <a:prstGeom prst="rect">
            <a:avLst/>
          </a:prstGeom>
          <a:solidFill>
            <a:srgbClr val="FA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840480" y="2320962"/>
            <a:ext cx="304800" cy="190948"/>
          </a:xfrm>
          <a:prstGeom prst="rect">
            <a:avLst/>
          </a:prstGeom>
          <a:solidFill>
            <a:srgbClr val="58A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145280" y="2320962"/>
            <a:ext cx="304800" cy="190948"/>
          </a:xfrm>
          <a:prstGeom prst="rect">
            <a:avLst/>
          </a:prstGeom>
          <a:solidFill>
            <a:srgbClr val="71B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50080" y="2320962"/>
            <a:ext cx="304800" cy="190948"/>
          </a:xfrm>
          <a:prstGeom prst="rect">
            <a:avLst/>
          </a:prstGeom>
          <a:solidFill>
            <a:srgbClr val="9FC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754880" y="2320962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059680" y="2320962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364480" y="2320962"/>
            <a:ext cx="304800" cy="190948"/>
          </a:xfrm>
          <a:prstGeom prst="rect">
            <a:avLst/>
          </a:prstGeom>
          <a:solidFill>
            <a:srgbClr val="E7B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011680" y="2511910"/>
            <a:ext cx="304800" cy="190948"/>
          </a:xfrm>
          <a:prstGeom prst="rect">
            <a:avLst/>
          </a:prstGeom>
          <a:solidFill>
            <a:srgbClr val="148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316480" y="2511910"/>
            <a:ext cx="304800" cy="190948"/>
          </a:xfrm>
          <a:prstGeom prst="rect">
            <a:avLst/>
          </a:prstGeom>
          <a:solidFill>
            <a:srgbClr val="72B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621280" y="2511910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926080" y="2511910"/>
            <a:ext cx="304800" cy="190948"/>
          </a:xfrm>
          <a:prstGeom prst="rect">
            <a:avLst/>
          </a:prstGeom>
          <a:solidFill>
            <a:srgbClr val="F9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230880" y="2511910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535680" y="2511910"/>
            <a:ext cx="304800" cy="190948"/>
          </a:xfrm>
          <a:prstGeom prst="rect">
            <a:avLst/>
          </a:prstGeom>
          <a:solidFill>
            <a:srgbClr val="FD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840480" y="2511910"/>
            <a:ext cx="304800" cy="190948"/>
          </a:xfrm>
          <a:prstGeom prst="rect">
            <a:avLst/>
          </a:prstGeom>
          <a:solidFill>
            <a:srgbClr val="8FC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145280" y="2511910"/>
            <a:ext cx="304800" cy="190948"/>
          </a:xfrm>
          <a:prstGeom prst="rect">
            <a:avLst/>
          </a:prstGeom>
          <a:solidFill>
            <a:srgbClr val="90C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450080" y="2511910"/>
            <a:ext cx="304800" cy="190948"/>
          </a:xfrm>
          <a:prstGeom prst="rect">
            <a:avLst/>
          </a:prstGeom>
          <a:solidFill>
            <a:srgbClr val="BD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754880" y="2511910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059680" y="2511910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64480" y="2511910"/>
            <a:ext cx="304800" cy="190948"/>
          </a:xfrm>
          <a:prstGeom prst="rect">
            <a:avLst/>
          </a:prstGeom>
          <a:solidFill>
            <a:srgbClr val="E19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011680" y="2702858"/>
            <a:ext cx="304800" cy="190948"/>
          </a:xfrm>
          <a:prstGeom prst="rect">
            <a:avLst/>
          </a:prstGeom>
          <a:solidFill>
            <a:srgbClr val="1C8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316480" y="2702858"/>
            <a:ext cx="304800" cy="190948"/>
          </a:xfrm>
          <a:prstGeom prst="rect">
            <a:avLst/>
          </a:prstGeom>
          <a:solidFill>
            <a:srgbClr val="52A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621280" y="2702858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926080" y="2702858"/>
            <a:ext cx="304800" cy="190948"/>
          </a:xfrm>
          <a:prstGeom prst="rect">
            <a:avLst/>
          </a:prstGeom>
          <a:solidFill>
            <a:srgbClr val="F1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230880" y="2702858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535680" y="2702858"/>
            <a:ext cx="304800" cy="190948"/>
          </a:xfrm>
          <a:prstGeom prst="rect">
            <a:avLst/>
          </a:prstGeom>
          <a:solidFill>
            <a:srgbClr val="FD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840480" y="2702858"/>
            <a:ext cx="304800" cy="190948"/>
          </a:xfrm>
          <a:prstGeom prst="rect">
            <a:avLst/>
          </a:prstGeom>
          <a:solidFill>
            <a:srgbClr val="19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145280" y="2702858"/>
            <a:ext cx="304800" cy="190948"/>
          </a:xfrm>
          <a:prstGeom prst="rect">
            <a:avLst/>
          </a:prstGeom>
          <a:solidFill>
            <a:srgbClr val="91C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450080" y="2702858"/>
            <a:ext cx="304800" cy="190948"/>
          </a:xfrm>
          <a:prstGeom prst="rect">
            <a:avLst/>
          </a:prstGeom>
          <a:solidFill>
            <a:srgbClr val="98C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754880" y="2702858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059680" y="2702858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5364480" y="2702858"/>
            <a:ext cx="304800" cy="190948"/>
          </a:xfrm>
          <a:prstGeom prst="rect">
            <a:avLst/>
          </a:prstGeom>
          <a:solidFill>
            <a:srgbClr val="E6AE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011680" y="2893807"/>
            <a:ext cx="304800" cy="190948"/>
          </a:xfrm>
          <a:prstGeom prst="rect">
            <a:avLst/>
          </a:prstGeom>
          <a:solidFill>
            <a:srgbClr val="228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316480" y="2893807"/>
            <a:ext cx="304800" cy="190948"/>
          </a:xfrm>
          <a:prstGeom prst="rect">
            <a:avLst/>
          </a:prstGeom>
          <a:solidFill>
            <a:srgbClr val="64A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621280" y="2893807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926080" y="2893807"/>
            <a:ext cx="304800" cy="190948"/>
          </a:xfrm>
          <a:prstGeom prst="rect">
            <a:avLst/>
          </a:prstGeom>
          <a:solidFill>
            <a:srgbClr val="ED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230880" y="2893807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535680" y="2893807"/>
            <a:ext cx="304800" cy="190948"/>
          </a:xfrm>
          <a:prstGeom prst="rect">
            <a:avLst/>
          </a:prstGeom>
          <a:solidFill>
            <a:srgbClr val="FC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840480" y="2893807"/>
            <a:ext cx="304800" cy="190948"/>
          </a:xfrm>
          <a:prstGeom prst="rect">
            <a:avLst/>
          </a:prstGeom>
          <a:solidFill>
            <a:srgbClr val="9DCB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145280" y="2893807"/>
            <a:ext cx="304800" cy="190948"/>
          </a:xfrm>
          <a:prstGeom prst="rect">
            <a:avLst/>
          </a:prstGeom>
          <a:solidFill>
            <a:srgbClr val="92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450080" y="2893807"/>
            <a:ext cx="304800" cy="190948"/>
          </a:xfrm>
          <a:prstGeom prst="rect">
            <a:avLst/>
          </a:prstGeom>
          <a:solidFill>
            <a:srgbClr val="CA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754880" y="2893807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059680" y="2893807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5364480" y="2893807"/>
            <a:ext cx="304800" cy="190948"/>
          </a:xfrm>
          <a:prstGeom prst="rect">
            <a:avLst/>
          </a:prstGeom>
          <a:solidFill>
            <a:srgbClr val="E19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011680" y="3084755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316480" y="3084755"/>
            <a:ext cx="304800" cy="190948"/>
          </a:xfrm>
          <a:prstGeom prst="rect">
            <a:avLst/>
          </a:prstGeom>
          <a:solidFill>
            <a:srgbClr val="A1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621280" y="3084755"/>
            <a:ext cx="304800" cy="190948"/>
          </a:xfrm>
          <a:prstGeom prst="rect">
            <a:avLst/>
          </a:prstGeom>
          <a:solidFill>
            <a:srgbClr val="0C7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926080" y="3084755"/>
            <a:ext cx="304800" cy="190948"/>
          </a:xfrm>
          <a:prstGeom prst="rect">
            <a:avLst/>
          </a:prstGeom>
          <a:solidFill>
            <a:srgbClr val="C8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230880" y="3084755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535680" y="3084755"/>
            <a:ext cx="304800" cy="190948"/>
          </a:xfrm>
          <a:prstGeom prst="rect">
            <a:avLst/>
          </a:prstGeom>
          <a:solidFill>
            <a:srgbClr val="FB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840480" y="3084755"/>
            <a:ext cx="304800" cy="190948"/>
          </a:xfrm>
          <a:prstGeom prst="rect">
            <a:avLst/>
          </a:prstGeom>
          <a:solidFill>
            <a:srgbClr val="F7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145280" y="3084755"/>
            <a:ext cx="304800" cy="190948"/>
          </a:xfrm>
          <a:prstGeom prst="rect">
            <a:avLst/>
          </a:prstGeom>
          <a:solidFill>
            <a:srgbClr val="8C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450080" y="3084755"/>
            <a:ext cx="304800" cy="190948"/>
          </a:xfrm>
          <a:prstGeom prst="rect">
            <a:avLst/>
          </a:prstGeom>
          <a:solidFill>
            <a:srgbClr val="D7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754880" y="3084755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059680" y="3084755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5364480" y="3084755"/>
            <a:ext cx="304800" cy="190948"/>
          </a:xfrm>
          <a:prstGeom prst="rect">
            <a:avLst/>
          </a:prstGeom>
          <a:solidFill>
            <a:srgbClr val="DA8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011680" y="3275703"/>
            <a:ext cx="304800" cy="190948"/>
          </a:xfrm>
          <a:prstGeom prst="rect">
            <a:avLst/>
          </a:prstGeom>
          <a:solidFill>
            <a:srgbClr val="1B8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2316480" y="3275703"/>
            <a:ext cx="304800" cy="190948"/>
          </a:xfrm>
          <a:prstGeom prst="rect">
            <a:avLst/>
          </a:prstGeom>
          <a:solidFill>
            <a:srgbClr val="B2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621280" y="3275703"/>
            <a:ext cx="304800" cy="190948"/>
          </a:xfrm>
          <a:prstGeom prst="rect">
            <a:avLst/>
          </a:prstGeom>
          <a:solidFill>
            <a:srgbClr val="BA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926080" y="3275703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230880" y="3275703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35680" y="3275703"/>
            <a:ext cx="304800" cy="190948"/>
          </a:xfrm>
          <a:prstGeom prst="rect">
            <a:avLst/>
          </a:prstGeom>
          <a:solidFill>
            <a:srgbClr val="94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840480" y="3275703"/>
            <a:ext cx="304800" cy="190948"/>
          </a:xfrm>
          <a:prstGeom prst="rect">
            <a:avLst/>
          </a:prstGeom>
          <a:solidFill>
            <a:srgbClr val="9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145280" y="3275703"/>
            <a:ext cx="304800" cy="190948"/>
          </a:xfrm>
          <a:prstGeom prst="rect">
            <a:avLst/>
          </a:prstGeom>
          <a:solidFill>
            <a:srgbClr val="A1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450080" y="3275703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754880" y="3275703"/>
            <a:ext cx="304800" cy="190948"/>
          </a:xfrm>
          <a:prstGeom prst="rect">
            <a:avLst/>
          </a:prstGeom>
          <a:solidFill>
            <a:srgbClr val="DC8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9680" y="3275703"/>
            <a:ext cx="304800" cy="190948"/>
          </a:xfrm>
          <a:prstGeom prst="rect">
            <a:avLst/>
          </a:prstGeom>
          <a:solidFill>
            <a:srgbClr val="AB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364480" y="3275703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2011680" y="3466651"/>
            <a:ext cx="304800" cy="190948"/>
          </a:xfrm>
          <a:prstGeom prst="rect">
            <a:avLst/>
          </a:prstGeom>
          <a:solidFill>
            <a:srgbClr val="1B8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316480" y="3466651"/>
            <a:ext cx="304800" cy="190948"/>
          </a:xfrm>
          <a:prstGeom prst="rect">
            <a:avLst/>
          </a:prstGeom>
          <a:solidFill>
            <a:srgbClr val="B2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2621280" y="3466651"/>
            <a:ext cx="304800" cy="190948"/>
          </a:xfrm>
          <a:prstGeom prst="rect">
            <a:avLst/>
          </a:prstGeom>
          <a:solidFill>
            <a:srgbClr val="BA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2926080" y="3466651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3230880" y="3466651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3535680" y="3466651"/>
            <a:ext cx="304800" cy="190948"/>
          </a:xfrm>
          <a:prstGeom prst="rect">
            <a:avLst/>
          </a:prstGeom>
          <a:solidFill>
            <a:srgbClr val="94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3840480" y="3466651"/>
            <a:ext cx="304800" cy="190948"/>
          </a:xfrm>
          <a:prstGeom prst="rect">
            <a:avLst/>
          </a:prstGeom>
          <a:solidFill>
            <a:srgbClr val="9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145280" y="3466651"/>
            <a:ext cx="304800" cy="190948"/>
          </a:xfrm>
          <a:prstGeom prst="rect">
            <a:avLst/>
          </a:prstGeom>
          <a:solidFill>
            <a:srgbClr val="A1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450080" y="3466651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754880" y="3466651"/>
            <a:ext cx="304800" cy="190948"/>
          </a:xfrm>
          <a:prstGeom prst="rect">
            <a:avLst/>
          </a:prstGeom>
          <a:solidFill>
            <a:srgbClr val="DC8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059680" y="3466651"/>
            <a:ext cx="304800" cy="190948"/>
          </a:xfrm>
          <a:prstGeom prst="rect">
            <a:avLst/>
          </a:prstGeom>
          <a:solidFill>
            <a:srgbClr val="AB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364480" y="3466651"/>
            <a:ext cx="304800" cy="19094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28600" y="442946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>
                <a:solidFill>
                  <a:srgbClr val="222222"/>
                </a:solidFill>
                <a:latin typeface="Arial"/>
              </a:rPr>
              <a:t>▸ DSB / HDR repair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28600" y="633894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DNA Double-Strand Break Repai…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28600" y="824842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HDR Thru Homologous Recombina…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28600" y="1015790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Homology Directed Repair R-HS…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28600" y="1206739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Processing Of DNA Double-Stra…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28600" y="1397687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>
                <a:solidFill>
                  <a:srgbClr val="222222"/>
                </a:solidFill>
                <a:latin typeface="Arial"/>
              </a:rPr>
              <a:t>▸ Tumor cell-cycle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28600" y="1588635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Cell Cycle Checkpoints R-HSA-…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28600" y="1779583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G2-M Checkpoint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28600" y="1970532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M Phase R-HSA-68886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28600" y="2161480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Mitotic G2-G2/M Phases R-HSA-…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28600" y="2352428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S Phase R-HSA-69242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28600" y="2543376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>
                <a:solidFill>
                  <a:srgbClr val="222222"/>
                </a:solidFill>
                <a:latin typeface="Arial"/>
              </a:rPr>
              <a:t>▸ E2F / MYC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28600" y="2734324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E2F Targets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28600" y="2925273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Myc Targets V1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28600" y="3116221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Myc Targets V2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28600" y="3307169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>
                <a:solidFill>
                  <a:srgbClr val="222222"/>
                </a:solidFill>
                <a:latin typeface="Arial"/>
              </a:rPr>
              <a:t>▸ EMT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28600" y="3498117"/>
            <a:ext cx="173736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222222"/>
                </a:solidFill>
                <a:latin typeface="Arial"/>
              </a:rPr>
              <a:t>Epithelial Mesenchymal Transi…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9994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A7D6E"/>
                </a:solidFill>
                <a:latin typeface="Arial"/>
              </a:rPr>
              <a:t>2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3042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6090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A7D6E"/>
                </a:solidFill>
                <a:latin typeface="Arial"/>
              </a:rPr>
              <a:t>6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9138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A7D6E"/>
                </a:solidFill>
                <a:latin typeface="Arial"/>
              </a:rPr>
              <a:t>8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2186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A7D6E"/>
                </a:solidFill>
                <a:latin typeface="Arial"/>
              </a:rPr>
              <a:t>9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5234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A7D6E"/>
                </a:solidFill>
                <a:latin typeface="Arial"/>
              </a:rPr>
              <a:t>14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8282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C53E1F"/>
                </a:solidFill>
                <a:latin typeface="Arial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1330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4378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C53E1F"/>
                </a:solidFill>
                <a:latin typeface="Arial"/>
              </a:rPr>
              <a:t>7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7426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0474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C53E1F"/>
                </a:solidFill>
                <a:latin typeface="Arial"/>
              </a:rPr>
              <a:t>12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352288" y="3685032"/>
            <a:ext cx="329184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C53E1F"/>
                </a:solidFill>
                <a:latin typeface="Arial"/>
              </a:rPr>
              <a:t>13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3840480" y="411480"/>
            <a:ext cx="0" cy="324612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2011680" y="246888"/>
            <a:ext cx="18288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A7D6E"/>
                </a:solidFill>
                <a:latin typeface="Arial"/>
              </a:rPr>
              <a:t>good (n=6)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840480" y="246888"/>
            <a:ext cx="18288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C53E1F"/>
                </a:solidFill>
                <a:latin typeface="Arial"/>
              </a:rPr>
              <a:t>bad (n=6)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011680" y="3840480"/>
            <a:ext cx="36576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222"/>
                </a:solidFill>
                <a:latin typeface="Arial"/>
              </a:rPr>
              <a:t>Subject ID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833872" y="502920"/>
            <a:ext cx="164592" cy="2486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833872" y="525780"/>
            <a:ext cx="164592" cy="24860"/>
          </a:xfrm>
          <a:prstGeom prst="rect">
            <a:avLst/>
          </a:prstGeom>
          <a:solidFill>
            <a:srgbClr val="168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833872" y="548640"/>
            <a:ext cx="164592" cy="24860"/>
          </a:xfrm>
          <a:prstGeom prst="rect">
            <a:avLst/>
          </a:prstGeom>
          <a:solidFill>
            <a:srgbClr val="238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5833872" y="571500"/>
            <a:ext cx="164592" cy="24860"/>
          </a:xfrm>
          <a:prstGeom prst="rect">
            <a:avLst/>
          </a:prstGeom>
          <a:solidFill>
            <a:srgbClr val="2F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5833872" y="594360"/>
            <a:ext cx="164592" cy="24860"/>
          </a:xfrm>
          <a:prstGeom prst="rect">
            <a:avLst/>
          </a:prstGeom>
          <a:solidFill>
            <a:srgbClr val="3C9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833872" y="617220"/>
            <a:ext cx="164592" cy="24860"/>
          </a:xfrm>
          <a:prstGeom prst="rect">
            <a:avLst/>
          </a:prstGeom>
          <a:solidFill>
            <a:srgbClr val="48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833872" y="640080"/>
            <a:ext cx="164592" cy="24860"/>
          </a:xfrm>
          <a:prstGeom prst="rect">
            <a:avLst/>
          </a:prstGeom>
          <a:solidFill>
            <a:srgbClr val="55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833872" y="662940"/>
            <a:ext cx="164592" cy="24860"/>
          </a:xfrm>
          <a:prstGeom prst="rect">
            <a:avLst/>
          </a:prstGeom>
          <a:solidFill>
            <a:srgbClr val="61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833872" y="685800"/>
            <a:ext cx="164592" cy="24860"/>
          </a:xfrm>
          <a:prstGeom prst="rect">
            <a:avLst/>
          </a:prstGeom>
          <a:solidFill>
            <a:srgbClr val="6E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833872" y="708660"/>
            <a:ext cx="164592" cy="24860"/>
          </a:xfrm>
          <a:prstGeom prst="rect">
            <a:avLst/>
          </a:prstGeom>
          <a:solidFill>
            <a:srgbClr val="7B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5833872" y="731520"/>
            <a:ext cx="164592" cy="24860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833872" y="754380"/>
            <a:ext cx="164592" cy="24860"/>
          </a:xfrm>
          <a:prstGeom prst="rect">
            <a:avLst/>
          </a:prstGeom>
          <a:solidFill>
            <a:srgbClr val="94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833872" y="777240"/>
            <a:ext cx="164592" cy="24860"/>
          </a:xfrm>
          <a:prstGeom prst="rect">
            <a:avLst/>
          </a:prstGeom>
          <a:solidFill>
            <a:srgbClr val="A0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833872" y="800100"/>
            <a:ext cx="164592" cy="24860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5833872" y="822960"/>
            <a:ext cx="164592" cy="24860"/>
          </a:xfrm>
          <a:prstGeom prst="rect">
            <a:avLst/>
          </a:prstGeom>
          <a:solidFill>
            <a:srgbClr val="B9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5833872" y="845820"/>
            <a:ext cx="164592" cy="24860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5833872" y="868680"/>
            <a:ext cx="164592" cy="24860"/>
          </a:xfrm>
          <a:prstGeom prst="rect">
            <a:avLst/>
          </a:prstGeom>
          <a:solidFill>
            <a:srgbClr val="D3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5833872" y="891540"/>
            <a:ext cx="164592" cy="24860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5833872" y="914400"/>
            <a:ext cx="164592" cy="24860"/>
          </a:xfrm>
          <a:prstGeom prst="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5833872" y="937260"/>
            <a:ext cx="164592" cy="24860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5833872" y="960120"/>
            <a:ext cx="164592" cy="24860"/>
          </a:xfrm>
          <a:prstGeom prst="rect">
            <a:avLst/>
          </a:prstGeom>
          <a:solidFill>
            <a:srgbClr val="FD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5833872" y="982980"/>
            <a:ext cx="164592" cy="24860"/>
          </a:xfrm>
          <a:prstGeom prst="rect">
            <a:avLst/>
          </a:prstGeom>
          <a:solidFill>
            <a:srgbClr val="FA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5833872" y="1005840"/>
            <a:ext cx="164592" cy="24860"/>
          </a:xfrm>
          <a:prstGeom prst="rect">
            <a:avLst/>
          </a:prstGeom>
          <a:solidFill>
            <a:srgbClr val="F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833872" y="1028700"/>
            <a:ext cx="164592" cy="24860"/>
          </a:xfrm>
          <a:prstGeom prst="rect">
            <a:avLst/>
          </a:prstGeom>
          <a:solidFill>
            <a:srgbClr val="F4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5833872" y="1051560"/>
            <a:ext cx="164592" cy="24860"/>
          </a:xfrm>
          <a:prstGeom prst="rect">
            <a:avLst/>
          </a:prstGeom>
          <a:solidFill>
            <a:srgbClr val="F1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5833872" y="1074420"/>
            <a:ext cx="164592" cy="24860"/>
          </a:xfrm>
          <a:prstGeom prst="rect">
            <a:avLst/>
          </a:prstGeom>
          <a:solidFill>
            <a:srgbClr val="EEC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5833872" y="1097280"/>
            <a:ext cx="164592" cy="24860"/>
          </a:xfrm>
          <a:prstGeom prst="rect">
            <a:avLst/>
          </a:prstGeom>
          <a:solidFill>
            <a:srgbClr val="EBB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5833872" y="1120140"/>
            <a:ext cx="164592" cy="24860"/>
          </a:xfrm>
          <a:prstGeom prst="rect">
            <a:avLst/>
          </a:prstGeom>
          <a:solidFill>
            <a:srgbClr val="E8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5833872" y="1143000"/>
            <a:ext cx="164592" cy="24860"/>
          </a:xfrm>
          <a:prstGeom prst="rect">
            <a:avLst/>
          </a:prstGeom>
          <a:solidFill>
            <a:srgbClr val="E5A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5833872" y="1165860"/>
            <a:ext cx="164592" cy="24860"/>
          </a:xfrm>
          <a:prstGeom prst="rect">
            <a:avLst/>
          </a:prstGeom>
          <a:solidFill>
            <a:srgbClr val="E2A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5833872" y="1188720"/>
            <a:ext cx="164592" cy="24860"/>
          </a:xfrm>
          <a:prstGeom prst="rect">
            <a:avLst/>
          </a:prstGeom>
          <a:solidFill>
            <a:srgbClr val="DF97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5833872" y="1211580"/>
            <a:ext cx="164592" cy="24860"/>
          </a:xfrm>
          <a:prstGeom prst="rect">
            <a:avLst/>
          </a:prstGeom>
          <a:solidFill>
            <a:srgbClr val="DC8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5833872" y="1234440"/>
            <a:ext cx="164592" cy="24860"/>
          </a:xfrm>
          <a:prstGeom prst="rect">
            <a:avLst/>
          </a:prstGeom>
          <a:solidFill>
            <a:srgbClr val="D9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5833872" y="1257300"/>
            <a:ext cx="164592" cy="24860"/>
          </a:xfrm>
          <a:prstGeom prst="rect">
            <a:avLst/>
          </a:prstGeom>
          <a:solidFill>
            <a:srgbClr val="D67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833872" y="1280160"/>
            <a:ext cx="164592" cy="24860"/>
          </a:xfrm>
          <a:prstGeom prst="rect">
            <a:avLst/>
          </a:prstGeom>
          <a:solidFill>
            <a:srgbClr val="D36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5833872" y="1303020"/>
            <a:ext cx="164592" cy="24860"/>
          </a:xfrm>
          <a:prstGeom prst="rect">
            <a:avLst/>
          </a:prstGeom>
          <a:solidFill>
            <a:srgbClr val="D06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5833872" y="1325880"/>
            <a:ext cx="164592" cy="24860"/>
          </a:xfrm>
          <a:prstGeom prst="rect">
            <a:avLst/>
          </a:prstGeom>
          <a:solidFill>
            <a:srgbClr val="CD5B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5833872" y="1348740"/>
            <a:ext cx="164592" cy="24860"/>
          </a:xfrm>
          <a:prstGeom prst="rect">
            <a:avLst/>
          </a:prstGeom>
          <a:solidFill>
            <a:srgbClr val="CA5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5833872" y="1371600"/>
            <a:ext cx="164592" cy="24860"/>
          </a:xfrm>
          <a:prstGeom prst="rect">
            <a:avLst/>
          </a:prstGeom>
          <a:solidFill>
            <a:srgbClr val="C74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5833872" y="1394460"/>
            <a:ext cx="164592" cy="24860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5833872" y="502920"/>
            <a:ext cx="164592" cy="914400"/>
          </a:xfrm>
          <a:prstGeom prst="rect">
            <a:avLst/>
          </a:prstGeom>
          <a:noFill/>
          <a:ln w="50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5559552" y="393192"/>
            <a:ext cx="713232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222222"/>
                </a:solidFill>
                <a:latin typeface="Arial"/>
              </a:rPr>
              <a:t>Δ vs predicted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016752" y="466344"/>
            <a:ext cx="2743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A7D6E"/>
                </a:solidFill>
                <a:latin typeface="Arial"/>
              </a:rPr>
              <a:t>pred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6016752" y="1344168"/>
            <a:ext cx="2743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C53E1F"/>
                </a:solidFill>
                <a:latin typeface="Arial"/>
              </a:rPr>
              <a:t>opp.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016752" y="905256"/>
            <a:ext cx="27432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37160" y="3931920"/>
            <a:ext cx="566928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666666"/>
                </a:solidFill>
                <a:latin typeface="Arial"/>
              </a:rPr>
              <a:t>Cells coloured by Δ (post − pre) re-oriented by predicted direction: teal = moved in predicted direction, coral = opposite.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