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40480" y="365760"/>
            <a:ext cx="0" cy="35204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3886200"/>
            <a:ext cx="329184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5740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0604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5468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0332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5196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3886200"/>
            <a:ext cx="0" cy="2743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49240" y="392277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050792"/>
            <a:ext cx="3291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← bad responders (predicted direction)    good responders →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80706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7520" y="380706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339536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IGHV3-38-3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357824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339536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339536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3953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47129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447129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405959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24247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405959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405959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05959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513552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513552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472382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IGHV2-26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490670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472382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472382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7238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79976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17520" y="579976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538806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IGHV4-30-4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57094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538806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1488" y="538806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53880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646399"/>
            <a:ext cx="164592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0" y="646399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605229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D4A300"/>
                </a:solidFill>
                <a:latin typeface="Arial"/>
              </a:rPr>
              <a:t>★ IGHV6-1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623517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4688" y="605229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6/6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7168" y="605229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120" y="605229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P=0.06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712823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712823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71653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IGHV3-48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0160" y="689941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0368" y="671653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87168" y="671653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32120" y="671653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779246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0" y="779246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738076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IGHV3-49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80160" y="756364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30368" y="738076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7168" y="738076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2120" y="73807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845669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0" y="845669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" y="804499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0160" y="822787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0368" y="804499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87168" y="804499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2120" y="804499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912093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43200" y="912093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" y="870923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IGHV3-69-1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80160" y="889211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30368" y="870923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87168" y="870923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32120" y="870923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978516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743200" y="978516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2880" y="937346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IGHV3-53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80160" y="955634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30368" y="937346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87168" y="937346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32120" y="93734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1044940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743200" y="1044940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2880" y="1003770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IGHV5-51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80160" y="1022058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30368" y="1003770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87168" y="1003770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32120" y="1003770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1111363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0" y="1111363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2880" y="1070193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IGHV4-59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280160" y="1088481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30368" y="1070193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87168" y="1070193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32120" y="1070193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1177786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43200" y="1177786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2880" y="1136616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D4A300"/>
                </a:solidFill>
                <a:latin typeface="Arial"/>
              </a:rPr>
              <a:t>★ IGHV3-74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80160" y="1154904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30368" y="1136616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87168" y="1136616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32120" y="113661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1244210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743200" y="1244210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82880" y="1203040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IGHV3-13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80160" y="1221328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230368" y="1203040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87168" y="1203040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32120" y="1203040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1310633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017520" y="1310633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82880" y="1269463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IGHV3-15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80160" y="1287751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956048" y="1269463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61488" y="1269463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532120" y="1269463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1377057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017520" y="1377057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82880" y="1335887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280160" y="1354175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956048" y="1335887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61488" y="1335887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532120" y="1335887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1443480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017520" y="1443480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82880" y="1402310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IGHV3-62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280160" y="1420598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956048" y="1402310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61488" y="1402310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32120" y="1402310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840480" y="1509903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017520" y="1509903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82880" y="1468733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IGHV4-61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80160" y="1487021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56048" y="1468733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61488" y="1468733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532120" y="1468733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840480" y="1576327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017520" y="1576327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82880" y="1535157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IGHV3-20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280160" y="1553445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956048" y="1535157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61488" y="1535157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532120" y="1535157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840480" y="1642750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017520" y="1642750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82880" y="1601580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IGHV1-24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280160" y="1619868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956048" y="1601580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61488" y="1601580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532120" y="1601580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840480" y="1709174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743200" y="1709174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82880" y="1668004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IGHV1-46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280160" y="1686292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956048" y="1668004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487168" y="1668004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532120" y="1668004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840480" y="1775597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743200" y="1775597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82880" y="1734427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IGHV1-18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280160" y="1752715"/>
            <a:ext cx="109728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956048" y="1734427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487168" y="1734427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532120" y="1734427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840480" y="1842020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017520" y="1842020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82880" y="1800850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IGHV4-30-2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280160" y="1819138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81728" y="1800850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761488" y="1800850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532120" y="1800850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840480" y="1908444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017520" y="1908444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82880" y="1867274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IGHV4-31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280160" y="1885562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956048" y="1867274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761488" y="1867274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32120" y="1867274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0" y="1974867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743200" y="1974867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82880" y="1933697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IGHV3-73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280160" y="1951985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956048" y="1933697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487168" y="1933697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532120" y="1933697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840480" y="2041291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743200" y="2041291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82880" y="2000121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IGHV3-35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280160" y="2018409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956048" y="2000121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487168" y="2000121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532120" y="2000121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840480" y="2107714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743200" y="2107714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82880" y="2066544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IGHV4-39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280160" y="2084832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956048" y="2066544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487168" y="2066544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532120" y="2066544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840480" y="2174137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743200" y="2174137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82880" y="2132967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IGHV4-28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280160" y="2151255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956048" y="2132967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487168" y="2132967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532120" y="2132967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840480" y="2240561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743200" y="2240561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82880" y="2199391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IGHV3-72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280160" y="2217679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956048" y="2199391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487168" y="2199391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532120" y="2199391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3840480" y="2306984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743200" y="2306984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82880" y="2265814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IGHV1-58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280160" y="2284102"/>
            <a:ext cx="109728" cy="8229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956048" y="2265814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487168" y="2265814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532120" y="2265814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840480" y="2373408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743200" y="2373408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82880" y="2332238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IGHV1-69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280160" y="2350526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956048" y="2332238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487168" y="2332238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532120" y="2332238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840480" y="2439831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743200" y="2439831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82880" y="2398661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IGHV3-23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280160" y="2416949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956048" y="2398661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487168" y="2398661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32120" y="2398661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3840480" y="2506254"/>
            <a:ext cx="137160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468880" y="2506254"/>
            <a:ext cx="137160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82880" y="2465084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IGHV1-2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280160" y="2483372"/>
            <a:ext cx="109728" cy="82296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5230368" y="2465084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212848" y="2465084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532120" y="2465084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840480" y="2572678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2743200" y="2572678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82880" y="2531508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IGHV3-64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280160" y="2549796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956048" y="2531508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487168" y="2531508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532120" y="2531508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3840480" y="2639101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3017520" y="2639101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82880" y="2597931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IGHV3-64D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280160" y="2616219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681728" y="2597931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761488" y="2597931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532120" y="2597931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840480" y="2705525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743200" y="2705525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82880" y="2664355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D4A300"/>
                </a:solidFill>
                <a:latin typeface="Arial"/>
              </a:rPr>
              <a:t>★ IGHV3-7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280160" y="2682643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956048" y="2664355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487168" y="2664355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532120" y="2664355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3840480" y="2771948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017520" y="2771948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82880" y="2730778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IGHV3-33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280160" y="2749066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4681728" y="2730778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761488" y="2730778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5532120" y="2730778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840480" y="2838371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2743200" y="2838371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82880" y="2797201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IGHV5-10-1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280160" y="2815489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4956048" y="2797201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487168" y="2797201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532120" y="2797201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3840480" y="2904795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743200" y="2904795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82880" y="2863625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IGHV4-4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280160" y="2881913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956048" y="2863625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2487168" y="2863625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532120" y="2863625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3840480" y="2971218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743200" y="2971218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82880" y="2930048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IGHV4-34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280160" y="2948336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4956048" y="2930048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487168" y="2930048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532120" y="2930048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P=0.57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0480" y="3037642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017520" y="3037642"/>
            <a:ext cx="82296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82880" y="2996472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IGHV4-38-2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280160" y="3014760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681728" y="2996472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2761488" y="2996472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3/6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532120" y="299647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3840480" y="3104065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2743200" y="3104065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182880" y="3062895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IGHV5-78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280160" y="3081183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956048" y="3062895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487168" y="3062895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5532120" y="3062895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840480" y="3170488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2743200" y="3170488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82880" y="3129318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IGHV2-70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280160" y="3147606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4681728" y="3129318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487168" y="3129318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5532120" y="3129318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3840480" y="3236912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2743200" y="3236912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82880" y="3195742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IGHV3-30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280160" y="3214030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4681728" y="3195742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487168" y="3195742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532120" y="319574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3840480" y="3303335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743200" y="3303335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182880" y="3262165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IGHV3-21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280160" y="3280453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4681728" y="3262165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2487168" y="3262165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5532120" y="3262165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3840480" y="3369759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743200" y="3369759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82880" y="3328589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IGHV3-47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280160" y="3346877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4681728" y="3328589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2487168" y="3328589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532120" y="3328589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3840480" y="3436182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2743200" y="3436182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182880" y="3395012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IGHV3-43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280160" y="3413300"/>
            <a:ext cx="109728" cy="8229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4681728" y="3395012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2487168" y="3395012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5532120" y="339501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3840480" y="3502605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2468880" y="3502605"/>
            <a:ext cx="137160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182880" y="3461435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IGHV1-8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280160" y="3479723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956048" y="3461435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2212848" y="3461435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5532120" y="3461435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3840480" y="3569029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468880" y="3569029"/>
            <a:ext cx="137160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82880" y="3527859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IGHV3-11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1280160" y="3546147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4956048" y="3527859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2212848" y="3527859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5532120" y="3527859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P=1.00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3840480" y="3635452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468880" y="3635452"/>
            <a:ext cx="137160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82880" y="3594282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IGHV2-5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1280160" y="3612570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4956048" y="3594282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212848" y="3594282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5532120" y="359428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3840480" y="3701876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2743200" y="3701876"/>
            <a:ext cx="109728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182880" y="3660706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IGHV3-25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1280160" y="3678994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4681728" y="3660706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2487168" y="3660706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4/6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5532120" y="366070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P=0.52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3840480" y="3768299"/>
            <a:ext cx="82296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468880" y="3768299"/>
            <a:ext cx="137160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182880" y="3727129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IGHV3-30-3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1280160" y="3745417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4681728" y="3727129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3/6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2212848" y="3727129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532120" y="3727129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P=0.24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3840480" y="3834722"/>
            <a:ext cx="1097280" cy="365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194560" y="3834722"/>
            <a:ext cx="1645920" cy="3653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82880" y="3793552"/>
            <a:ext cx="10515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222222"/>
                </a:solidFill>
                <a:latin typeface="Arial"/>
              </a:rPr>
              <a:t>IGHV3-66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1280160" y="3811840"/>
            <a:ext cx="109728" cy="8229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4956048" y="3793552"/>
            <a:ext cx="256032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938528" y="3793552"/>
            <a:ext cx="237744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6/6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532120" y="379355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P=0.45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280160" y="3758184"/>
            <a:ext cx="8229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222222"/>
                </a:solidFill>
                <a:latin typeface="Arial"/>
              </a:rPr>
              <a:t>pattern chip: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280160" y="3886200"/>
            <a:ext cx="91440" cy="6400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1408176" y="3877056"/>
            <a:ext cx="1005840" cy="822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222222"/>
                </a:solidFill>
                <a:latin typeface="Arial"/>
              </a:rPr>
              <a:t>good coherent, bad mixed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1280160" y="3968496"/>
            <a:ext cx="91440" cy="6400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1408176" y="3959352"/>
            <a:ext cx="1005840" cy="822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222222"/>
                </a:solidFill>
                <a:latin typeface="Arial"/>
              </a:rPr>
              <a:t>bad coherent, good mixed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1280160" y="4050792"/>
            <a:ext cx="91440" cy="64008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1408176" y="4041648"/>
            <a:ext cx="1005840" cy="822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222222"/>
                </a:solidFill>
                <a:latin typeface="Arial"/>
              </a:rPr>
              <a:t>both coherent, same direction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1280160" y="4133088"/>
            <a:ext cx="91440" cy="6400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1408176" y="4123944"/>
            <a:ext cx="1005840" cy="822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222222"/>
                </a:solidFill>
                <a:latin typeface="Arial"/>
              </a:rPr>
              <a:t>both coherent, opposite direction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1280160" y="4215384"/>
            <a:ext cx="91440" cy="6400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1408176" y="4206240"/>
            <a:ext cx="1005840" cy="822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222222"/>
                </a:solidFill>
                <a:latin typeface="Arial"/>
              </a:rPr>
              <a:t>both mixed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37160" y="393192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555555"/>
                </a:solidFill>
                <a:latin typeface="Arial"/>
              </a:rPr>
              <a:t>53 coverage-filtered V-genes, ordered by coherence_gap (good_majority − bad_majority) descending. P highlighted if Fisher ≤ 0.10.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502920"/>
            <a:ext cx="0" cy="320040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1520" y="3703320"/>
            <a:ext cx="384048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71174" y="37033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4014" y="374904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358694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9768" y="3522934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69443" y="37033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32283" y="374904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" y="3005051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2941043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67712" y="37033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30552" y="374904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" y="24231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2359152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5981" y="37033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28821" y="374904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" y="1841269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1777261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64250" y="37033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27090" y="374904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" y="1259378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9768" y="119537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62519" y="37033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25359" y="3749040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4944" y="677487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9768" y="613479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04488"/>
            <a:ext cx="3840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bad-group majority fraction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274320" y="1280160"/>
            <a:ext cx="365760" cy="1645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good-group majority fraction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71174" y="561109"/>
            <a:ext cx="3630999" cy="3025833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1948" y="660027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524" y="623163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IGHV3-38-3</a:t>
            </a:r>
          </a:p>
        </p:txBody>
      </p:sp>
      <p:sp>
        <p:nvSpPr>
          <p:cNvPr id="34" name="Oval 33"/>
          <p:cNvSpPr/>
          <p:nvPr/>
        </p:nvSpPr>
        <p:spPr>
          <a:xfrm>
            <a:off x="1563110" y="680083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17686" y="643219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IGHV1-45</a:t>
            </a:r>
          </a:p>
        </p:txBody>
      </p:sp>
      <p:sp>
        <p:nvSpPr>
          <p:cNvPr id="36" name="Oval 35"/>
          <p:cNvSpPr/>
          <p:nvPr/>
        </p:nvSpPr>
        <p:spPr>
          <a:xfrm>
            <a:off x="831907" y="1613036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483" y="1576172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IGHV2-26</a:t>
            </a:r>
          </a:p>
        </p:txBody>
      </p:sp>
      <p:sp>
        <p:nvSpPr>
          <p:cNvPr id="38" name="Oval 37"/>
          <p:cNvSpPr/>
          <p:nvPr/>
        </p:nvSpPr>
        <p:spPr>
          <a:xfrm>
            <a:off x="867939" y="1649818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515" y="1612954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IGHV4-30-4</a:t>
            </a:r>
          </a:p>
        </p:txBody>
      </p:sp>
      <p:sp>
        <p:nvSpPr>
          <p:cNvPr id="40" name="Oval 39"/>
          <p:cNvSpPr/>
          <p:nvPr/>
        </p:nvSpPr>
        <p:spPr>
          <a:xfrm>
            <a:off x="1995490" y="640884"/>
            <a:ext cx="56000" cy="56000"/>
          </a:xfrm>
          <a:prstGeom prst="ellipse">
            <a:avLst/>
          </a:prstGeom>
          <a:solidFill>
            <a:srgbClr val="0A7D6E"/>
          </a:solidFill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60066" y="61402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IGHV6-1</a:t>
            </a:r>
          </a:p>
        </p:txBody>
      </p:sp>
      <p:sp>
        <p:nvSpPr>
          <p:cNvPr id="42" name="Oval 41"/>
          <p:cNvSpPr/>
          <p:nvPr/>
        </p:nvSpPr>
        <p:spPr>
          <a:xfrm>
            <a:off x="2033828" y="1625799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88404" y="1588935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IGHV3-48</a:t>
            </a:r>
          </a:p>
        </p:txBody>
      </p:sp>
      <p:sp>
        <p:nvSpPr>
          <p:cNvPr id="44" name="Oval 43"/>
          <p:cNvSpPr/>
          <p:nvPr/>
        </p:nvSpPr>
        <p:spPr>
          <a:xfrm>
            <a:off x="2006585" y="1644288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61161" y="1607424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IGHV3-49</a:t>
            </a:r>
          </a:p>
        </p:txBody>
      </p:sp>
      <p:sp>
        <p:nvSpPr>
          <p:cNvPr id="46" name="Oval 45"/>
          <p:cNvSpPr/>
          <p:nvPr/>
        </p:nvSpPr>
        <p:spPr>
          <a:xfrm>
            <a:off x="2005845" y="1625153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60421" y="1588289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IGHV3-9</a:t>
            </a:r>
          </a:p>
        </p:txBody>
      </p:sp>
      <p:sp>
        <p:nvSpPr>
          <p:cNvPr id="48" name="Oval 47"/>
          <p:cNvSpPr/>
          <p:nvPr/>
        </p:nvSpPr>
        <p:spPr>
          <a:xfrm>
            <a:off x="2023532" y="1631572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78108" y="1594708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IGHV3-69-1</a:t>
            </a:r>
          </a:p>
        </p:txBody>
      </p:sp>
      <p:sp>
        <p:nvSpPr>
          <p:cNvPr id="50" name="Oval 49"/>
          <p:cNvSpPr/>
          <p:nvPr/>
        </p:nvSpPr>
        <p:spPr>
          <a:xfrm>
            <a:off x="1998016" y="1607705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2592" y="1570841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IGHV3-53</a:t>
            </a:r>
          </a:p>
        </p:txBody>
      </p:sp>
      <p:sp>
        <p:nvSpPr>
          <p:cNvPr id="52" name="Oval 51"/>
          <p:cNvSpPr/>
          <p:nvPr/>
        </p:nvSpPr>
        <p:spPr>
          <a:xfrm>
            <a:off x="2033671" y="1640896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88247" y="1604032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IGHV5-51</a:t>
            </a:r>
          </a:p>
        </p:txBody>
      </p:sp>
      <p:sp>
        <p:nvSpPr>
          <p:cNvPr id="54" name="Oval 53"/>
          <p:cNvSpPr/>
          <p:nvPr/>
        </p:nvSpPr>
        <p:spPr>
          <a:xfrm>
            <a:off x="2032404" y="1631049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86980" y="1594185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IGHV4-59</a:t>
            </a:r>
          </a:p>
        </p:txBody>
      </p:sp>
      <p:sp>
        <p:nvSpPr>
          <p:cNvPr id="56" name="Oval 55"/>
          <p:cNvSpPr/>
          <p:nvPr/>
        </p:nvSpPr>
        <p:spPr>
          <a:xfrm>
            <a:off x="2021474" y="1611520"/>
            <a:ext cx="56000" cy="56000"/>
          </a:xfrm>
          <a:prstGeom prst="ellipse">
            <a:avLst/>
          </a:prstGeom>
          <a:solidFill>
            <a:srgbClr val="0A7D6E"/>
          </a:solidFill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86050" y="1584656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IGHV3-74</a:t>
            </a:r>
          </a:p>
        </p:txBody>
      </p:sp>
      <p:sp>
        <p:nvSpPr>
          <p:cNvPr id="58" name="Oval 57"/>
          <p:cNvSpPr/>
          <p:nvPr/>
        </p:nvSpPr>
        <p:spPr>
          <a:xfrm>
            <a:off x="2014792" y="1642492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69368" y="1605628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IGHV3-13</a:t>
            </a:r>
          </a:p>
        </p:txBody>
      </p:sp>
      <p:sp>
        <p:nvSpPr>
          <p:cNvPr id="60" name="Oval 59"/>
          <p:cNvSpPr/>
          <p:nvPr/>
        </p:nvSpPr>
        <p:spPr>
          <a:xfrm>
            <a:off x="835979" y="2590126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0555" y="2553262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IGHV3-15</a:t>
            </a:r>
          </a:p>
        </p:txBody>
      </p:sp>
      <p:sp>
        <p:nvSpPr>
          <p:cNvPr id="62" name="Oval 61"/>
          <p:cNvSpPr/>
          <p:nvPr/>
        </p:nvSpPr>
        <p:spPr>
          <a:xfrm>
            <a:off x="836002" y="2596998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578" y="2560134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IGHV1-3</a:t>
            </a:r>
          </a:p>
        </p:txBody>
      </p:sp>
      <p:sp>
        <p:nvSpPr>
          <p:cNvPr id="64" name="Oval 63"/>
          <p:cNvSpPr/>
          <p:nvPr/>
        </p:nvSpPr>
        <p:spPr>
          <a:xfrm>
            <a:off x="874979" y="2582392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555" y="2545528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IGHV3-62</a:t>
            </a:r>
          </a:p>
        </p:txBody>
      </p:sp>
      <p:sp>
        <p:nvSpPr>
          <p:cNvPr id="66" name="Oval 65"/>
          <p:cNvSpPr/>
          <p:nvPr/>
        </p:nvSpPr>
        <p:spPr>
          <a:xfrm>
            <a:off x="847839" y="2594694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2415" y="255783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IGHV4-61</a:t>
            </a:r>
          </a:p>
        </p:txBody>
      </p:sp>
      <p:sp>
        <p:nvSpPr>
          <p:cNvPr id="68" name="Oval 67"/>
          <p:cNvSpPr/>
          <p:nvPr/>
        </p:nvSpPr>
        <p:spPr>
          <a:xfrm>
            <a:off x="871639" y="2585566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6215" y="2548702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IGHV3-20</a:t>
            </a:r>
          </a:p>
        </p:txBody>
      </p:sp>
      <p:sp>
        <p:nvSpPr>
          <p:cNvPr id="70" name="Oval 69"/>
          <p:cNvSpPr/>
          <p:nvPr/>
        </p:nvSpPr>
        <p:spPr>
          <a:xfrm>
            <a:off x="853277" y="2588257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7853" y="2551393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IGHV1-24</a:t>
            </a:r>
          </a:p>
        </p:txBody>
      </p:sp>
      <p:sp>
        <p:nvSpPr>
          <p:cNvPr id="72" name="Oval 71"/>
          <p:cNvSpPr/>
          <p:nvPr/>
        </p:nvSpPr>
        <p:spPr>
          <a:xfrm>
            <a:off x="1995002" y="1834716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49578" y="1797852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IGHV1-46</a:t>
            </a:r>
          </a:p>
        </p:txBody>
      </p:sp>
      <p:sp>
        <p:nvSpPr>
          <p:cNvPr id="74" name="Oval 73"/>
          <p:cNvSpPr/>
          <p:nvPr/>
        </p:nvSpPr>
        <p:spPr>
          <a:xfrm>
            <a:off x="1996931" y="1813229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1507" y="1776365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IGHV1-18</a:t>
            </a:r>
          </a:p>
        </p:txBody>
      </p:sp>
      <p:sp>
        <p:nvSpPr>
          <p:cNvPr id="76" name="Oval 75"/>
          <p:cNvSpPr/>
          <p:nvPr/>
        </p:nvSpPr>
        <p:spPr>
          <a:xfrm>
            <a:off x="853094" y="2986374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7670" y="294951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IGHV4-30-2</a:t>
            </a:r>
          </a:p>
        </p:txBody>
      </p:sp>
      <p:sp>
        <p:nvSpPr>
          <p:cNvPr id="78" name="Oval 77"/>
          <p:cNvSpPr/>
          <p:nvPr/>
        </p:nvSpPr>
        <p:spPr>
          <a:xfrm>
            <a:off x="1533929" y="2621104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88505" y="258424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IGHV4-31</a:t>
            </a:r>
          </a:p>
        </p:txBody>
      </p:sp>
      <p:sp>
        <p:nvSpPr>
          <p:cNvPr id="80" name="Oval 79"/>
          <p:cNvSpPr/>
          <p:nvPr/>
        </p:nvSpPr>
        <p:spPr>
          <a:xfrm>
            <a:off x="2028345" y="2620231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82921" y="2583367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IGHV3-73</a:t>
            </a:r>
          </a:p>
        </p:txBody>
      </p:sp>
      <p:sp>
        <p:nvSpPr>
          <p:cNvPr id="82" name="Oval 81"/>
          <p:cNvSpPr/>
          <p:nvPr/>
        </p:nvSpPr>
        <p:spPr>
          <a:xfrm>
            <a:off x="1998307" y="2609402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2883" y="2572538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IGHV3-35</a:t>
            </a:r>
          </a:p>
        </p:txBody>
      </p:sp>
      <p:sp>
        <p:nvSpPr>
          <p:cNvPr id="84" name="Oval 83"/>
          <p:cNvSpPr/>
          <p:nvPr/>
        </p:nvSpPr>
        <p:spPr>
          <a:xfrm>
            <a:off x="2007498" y="2601009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62074" y="2564145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IGHV4-39</a:t>
            </a:r>
          </a:p>
        </p:txBody>
      </p:sp>
      <p:sp>
        <p:nvSpPr>
          <p:cNvPr id="86" name="Oval 85"/>
          <p:cNvSpPr/>
          <p:nvPr/>
        </p:nvSpPr>
        <p:spPr>
          <a:xfrm>
            <a:off x="2036384" y="2588923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90960" y="2552059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IGHV4-28</a:t>
            </a:r>
          </a:p>
        </p:txBody>
      </p:sp>
      <p:sp>
        <p:nvSpPr>
          <p:cNvPr id="88" name="Oval 87"/>
          <p:cNvSpPr/>
          <p:nvPr/>
        </p:nvSpPr>
        <p:spPr>
          <a:xfrm>
            <a:off x="2027283" y="2583609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81859" y="2546745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IGHV3-72</a:t>
            </a:r>
          </a:p>
        </p:txBody>
      </p:sp>
      <p:sp>
        <p:nvSpPr>
          <p:cNvPr id="90" name="Oval 89"/>
          <p:cNvSpPr/>
          <p:nvPr/>
        </p:nvSpPr>
        <p:spPr>
          <a:xfrm>
            <a:off x="2939869" y="1844754"/>
            <a:ext cx="36000" cy="36000"/>
          </a:xfrm>
          <a:prstGeom prst="ellipse">
            <a:avLst/>
          </a:prstGeom>
          <a:solidFill>
            <a:srgbClr val="C5A57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4445" y="180789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IGHV1-58</a:t>
            </a:r>
          </a:p>
        </p:txBody>
      </p:sp>
      <p:sp>
        <p:nvSpPr>
          <p:cNvPr id="92" name="Oval 91"/>
          <p:cNvSpPr/>
          <p:nvPr/>
        </p:nvSpPr>
        <p:spPr>
          <a:xfrm>
            <a:off x="2013349" y="2599859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67925" y="2562995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IGHV1-69</a:t>
            </a:r>
          </a:p>
        </p:txBody>
      </p:sp>
      <p:sp>
        <p:nvSpPr>
          <p:cNvPr id="94" name="Oval 93"/>
          <p:cNvSpPr/>
          <p:nvPr/>
        </p:nvSpPr>
        <p:spPr>
          <a:xfrm>
            <a:off x="2007490" y="2581561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62066" y="2544697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IGHV3-23</a:t>
            </a:r>
          </a:p>
        </p:txBody>
      </p:sp>
      <p:sp>
        <p:nvSpPr>
          <p:cNvPr id="96" name="Oval 95"/>
          <p:cNvSpPr/>
          <p:nvPr/>
        </p:nvSpPr>
        <p:spPr>
          <a:xfrm>
            <a:off x="3177290" y="1634951"/>
            <a:ext cx="36000" cy="36000"/>
          </a:xfrm>
          <a:prstGeom prst="ellipse">
            <a:avLst/>
          </a:prstGeom>
          <a:solidFill>
            <a:srgbClr val="7FB06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31866" y="1598087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IGHV1-2</a:t>
            </a:r>
          </a:p>
        </p:txBody>
      </p:sp>
      <p:sp>
        <p:nvSpPr>
          <p:cNvPr id="98" name="Oval 97"/>
          <p:cNvSpPr/>
          <p:nvPr/>
        </p:nvSpPr>
        <p:spPr>
          <a:xfrm>
            <a:off x="2014926" y="2611774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69502" y="257491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IGHV3-64</a:t>
            </a:r>
          </a:p>
        </p:txBody>
      </p:sp>
      <p:sp>
        <p:nvSpPr>
          <p:cNvPr id="100" name="Oval 99"/>
          <p:cNvSpPr/>
          <p:nvPr/>
        </p:nvSpPr>
        <p:spPr>
          <a:xfrm>
            <a:off x="1545172" y="2992218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599748" y="2955354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IGHV3-64D</a:t>
            </a:r>
          </a:p>
        </p:txBody>
      </p:sp>
      <p:sp>
        <p:nvSpPr>
          <p:cNvPr id="102" name="Oval 101"/>
          <p:cNvSpPr/>
          <p:nvPr/>
        </p:nvSpPr>
        <p:spPr>
          <a:xfrm>
            <a:off x="2019428" y="2608203"/>
            <a:ext cx="56000" cy="56000"/>
          </a:xfrm>
          <a:prstGeom prst="ellipse">
            <a:avLst/>
          </a:prstGeom>
          <a:solidFill>
            <a:srgbClr val="CCCCCC"/>
          </a:solidFill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84004" y="2581339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IGHV3-7</a:t>
            </a:r>
          </a:p>
        </p:txBody>
      </p:sp>
      <p:sp>
        <p:nvSpPr>
          <p:cNvPr id="104" name="Oval 103"/>
          <p:cNvSpPr/>
          <p:nvPr/>
        </p:nvSpPr>
        <p:spPr>
          <a:xfrm>
            <a:off x="849851" y="3547892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4427" y="3511028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IGHV3-33</a:t>
            </a:r>
          </a:p>
        </p:txBody>
      </p:sp>
      <p:sp>
        <p:nvSpPr>
          <p:cNvPr id="106" name="Oval 105"/>
          <p:cNvSpPr/>
          <p:nvPr/>
        </p:nvSpPr>
        <p:spPr>
          <a:xfrm>
            <a:off x="2026947" y="2600431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81523" y="2563567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IGHV5-10-1</a:t>
            </a:r>
          </a:p>
        </p:txBody>
      </p:sp>
      <p:sp>
        <p:nvSpPr>
          <p:cNvPr id="108" name="Oval 107"/>
          <p:cNvSpPr/>
          <p:nvPr/>
        </p:nvSpPr>
        <p:spPr>
          <a:xfrm>
            <a:off x="2033969" y="2597265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88545" y="2560401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IGHV4-4</a:t>
            </a:r>
          </a:p>
        </p:txBody>
      </p:sp>
      <p:sp>
        <p:nvSpPr>
          <p:cNvPr id="110" name="Oval 109"/>
          <p:cNvSpPr/>
          <p:nvPr/>
        </p:nvSpPr>
        <p:spPr>
          <a:xfrm>
            <a:off x="2010924" y="2579114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065500" y="254225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IGHV4-34</a:t>
            </a:r>
          </a:p>
        </p:txBody>
      </p:sp>
      <p:sp>
        <p:nvSpPr>
          <p:cNvPr id="112" name="Oval 111"/>
          <p:cNvSpPr/>
          <p:nvPr/>
        </p:nvSpPr>
        <p:spPr>
          <a:xfrm>
            <a:off x="1549485" y="3575404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04061" y="353854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IGHV4-38-2</a:t>
            </a:r>
          </a:p>
        </p:txBody>
      </p:sp>
      <p:sp>
        <p:nvSpPr>
          <p:cNvPr id="114" name="Oval 113"/>
          <p:cNvSpPr/>
          <p:nvPr/>
        </p:nvSpPr>
        <p:spPr>
          <a:xfrm>
            <a:off x="2960329" y="2615247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14905" y="2578383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IGHV5-78</a:t>
            </a:r>
          </a:p>
        </p:txBody>
      </p:sp>
      <p:sp>
        <p:nvSpPr>
          <p:cNvPr id="116" name="Oval 115"/>
          <p:cNvSpPr/>
          <p:nvPr/>
        </p:nvSpPr>
        <p:spPr>
          <a:xfrm>
            <a:off x="2003918" y="3573191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058494" y="3536327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IGHV2-70</a:t>
            </a:r>
          </a:p>
        </p:txBody>
      </p:sp>
      <p:sp>
        <p:nvSpPr>
          <p:cNvPr id="118" name="Oval 117"/>
          <p:cNvSpPr/>
          <p:nvPr/>
        </p:nvSpPr>
        <p:spPr>
          <a:xfrm>
            <a:off x="2030875" y="3557973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085451" y="3521109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IGHV3-30</a:t>
            </a:r>
          </a:p>
        </p:txBody>
      </p:sp>
      <p:sp>
        <p:nvSpPr>
          <p:cNvPr id="120" name="Oval 119"/>
          <p:cNvSpPr/>
          <p:nvPr/>
        </p:nvSpPr>
        <p:spPr>
          <a:xfrm>
            <a:off x="2009853" y="3584482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64429" y="3547618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IGHV3-21</a:t>
            </a:r>
          </a:p>
        </p:txBody>
      </p:sp>
      <p:sp>
        <p:nvSpPr>
          <p:cNvPr id="122" name="Oval 121"/>
          <p:cNvSpPr/>
          <p:nvPr/>
        </p:nvSpPr>
        <p:spPr>
          <a:xfrm>
            <a:off x="2020686" y="3569376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075262" y="3532512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IGHV3-47</a:t>
            </a:r>
          </a:p>
        </p:txBody>
      </p:sp>
      <p:sp>
        <p:nvSpPr>
          <p:cNvPr id="124" name="Oval 123"/>
          <p:cNvSpPr/>
          <p:nvPr/>
        </p:nvSpPr>
        <p:spPr>
          <a:xfrm>
            <a:off x="2024897" y="3569440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079473" y="3532576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IGHV3-43</a:t>
            </a:r>
          </a:p>
        </p:txBody>
      </p:sp>
      <p:sp>
        <p:nvSpPr>
          <p:cNvPr id="126" name="Oval 125"/>
          <p:cNvSpPr/>
          <p:nvPr/>
        </p:nvSpPr>
        <p:spPr>
          <a:xfrm>
            <a:off x="3202726" y="2610693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257302" y="2573829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IGHV1-8</a:t>
            </a:r>
          </a:p>
        </p:txBody>
      </p:sp>
      <p:sp>
        <p:nvSpPr>
          <p:cNvPr id="128" name="Oval 127"/>
          <p:cNvSpPr/>
          <p:nvPr/>
        </p:nvSpPr>
        <p:spPr>
          <a:xfrm>
            <a:off x="3160351" y="2583027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14927" y="2546163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IGHV3-11</a:t>
            </a:r>
          </a:p>
        </p:txBody>
      </p:sp>
      <p:sp>
        <p:nvSpPr>
          <p:cNvPr id="130" name="Oval 129"/>
          <p:cNvSpPr/>
          <p:nvPr/>
        </p:nvSpPr>
        <p:spPr>
          <a:xfrm>
            <a:off x="3182798" y="2613738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237374" y="2576874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IGHV2-5</a:t>
            </a:r>
          </a:p>
        </p:txBody>
      </p:sp>
      <p:sp>
        <p:nvSpPr>
          <p:cNvPr id="132" name="Oval 131"/>
          <p:cNvSpPr/>
          <p:nvPr/>
        </p:nvSpPr>
        <p:spPr>
          <a:xfrm>
            <a:off x="2928276" y="2995431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2852" y="2958567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IGHV3-25</a:t>
            </a:r>
          </a:p>
        </p:txBody>
      </p:sp>
      <p:sp>
        <p:nvSpPr>
          <p:cNvPr id="134" name="Oval 133"/>
          <p:cNvSpPr/>
          <p:nvPr/>
        </p:nvSpPr>
        <p:spPr>
          <a:xfrm>
            <a:off x="3192601" y="3000177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247177" y="2963313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IGHV3-30-3</a:t>
            </a:r>
          </a:p>
        </p:txBody>
      </p:sp>
      <p:sp>
        <p:nvSpPr>
          <p:cNvPr id="136" name="Oval 135"/>
          <p:cNvSpPr/>
          <p:nvPr/>
        </p:nvSpPr>
        <p:spPr>
          <a:xfrm>
            <a:off x="4361589" y="2585024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416165" y="2548160"/>
            <a:ext cx="5943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444444"/>
                </a:solidFill>
                <a:latin typeface="Arial"/>
              </a:rPr>
              <a:t>IGHV3-66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09160" y="448056"/>
            <a:ext cx="11887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Pattern</a:t>
            </a:r>
          </a:p>
        </p:txBody>
      </p:sp>
      <p:sp>
        <p:nvSpPr>
          <p:cNvPr id="139" name="Oval 138"/>
          <p:cNvSpPr/>
          <p:nvPr/>
        </p:nvSpPr>
        <p:spPr>
          <a:xfrm>
            <a:off x="4764312" y="631224"/>
            <a:ext cx="36000" cy="36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873752" y="576072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good coherent,
bad mixed</a:t>
            </a:r>
          </a:p>
        </p:txBody>
      </p:sp>
      <p:sp>
        <p:nvSpPr>
          <p:cNvPr id="141" name="Oval 140"/>
          <p:cNvSpPr/>
          <p:nvPr/>
        </p:nvSpPr>
        <p:spPr>
          <a:xfrm>
            <a:off x="4764312" y="850680"/>
            <a:ext cx="36000" cy="36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873752" y="795528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bad coherent,
good mixed</a:t>
            </a:r>
          </a:p>
        </p:txBody>
      </p:sp>
      <p:sp>
        <p:nvSpPr>
          <p:cNvPr id="143" name="Oval 142"/>
          <p:cNvSpPr/>
          <p:nvPr/>
        </p:nvSpPr>
        <p:spPr>
          <a:xfrm>
            <a:off x="4764312" y="1070136"/>
            <a:ext cx="36000" cy="36000"/>
          </a:xfrm>
          <a:prstGeom prst="ellipse">
            <a:avLst/>
          </a:prstGeom>
          <a:solidFill>
            <a:srgbClr val="7FB06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873752" y="1014984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both coherent,
same direction</a:t>
            </a:r>
          </a:p>
        </p:txBody>
      </p:sp>
      <p:sp>
        <p:nvSpPr>
          <p:cNvPr id="145" name="Oval 144"/>
          <p:cNvSpPr/>
          <p:nvPr/>
        </p:nvSpPr>
        <p:spPr>
          <a:xfrm>
            <a:off x="4764312" y="1289592"/>
            <a:ext cx="36000" cy="36000"/>
          </a:xfrm>
          <a:prstGeom prst="ellipse">
            <a:avLst/>
          </a:prstGeom>
          <a:solidFill>
            <a:srgbClr val="C5A57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873752" y="1234440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both coherent,
opposite direction</a:t>
            </a:r>
          </a:p>
        </p:txBody>
      </p:sp>
      <p:sp>
        <p:nvSpPr>
          <p:cNvPr id="147" name="Oval 146"/>
          <p:cNvSpPr/>
          <p:nvPr/>
        </p:nvSpPr>
        <p:spPr>
          <a:xfrm>
            <a:off x="4764312" y="1509048"/>
            <a:ext cx="36000" cy="36000"/>
          </a:xfrm>
          <a:prstGeom prst="ellipse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873752" y="145389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both mixed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37160" y="393192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Each point = one of 53 coverage-filtered V-genes. Points above the y=x diagonal = more coherent in good responders. Highlighted V-genes appear in Main Fig 7 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