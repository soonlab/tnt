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03120" y="3337560"/>
            <a:ext cx="31089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03120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984248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47257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28385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91394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72522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35531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16659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79669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60797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3806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4934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67943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9071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3375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93208" y="338328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520440"/>
            <a:ext cx="31089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Stouffer pooled Z (oriented)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35531" y="502920"/>
            <a:ext cx="0" cy="28346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06040" y="502920"/>
            <a:ext cx="0" cy="283464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65023" y="502920"/>
            <a:ext cx="0" cy="283464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" y="73494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 ↑</a:t>
            </a:r>
          </a:p>
        </p:txBody>
      </p:sp>
      <p:sp>
        <p:nvSpPr>
          <p:cNvPr id="25" name="Diamond 24"/>
          <p:cNvSpPr/>
          <p:nvPr/>
        </p:nvSpPr>
        <p:spPr>
          <a:xfrm>
            <a:off x="4803446" y="694949"/>
            <a:ext cx="80000" cy="8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4877988" y="85954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66179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5-c Z = +3.17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81724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666666"/>
                </a:solidFill>
                <a:latin typeface="Arial"/>
              </a:rPr>
              <a:t>9-c Z = +3.34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108927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 ↑</a:t>
            </a:r>
          </a:p>
        </p:txBody>
      </p:sp>
      <p:sp>
        <p:nvSpPr>
          <p:cNvPr id="30" name="Diamond 29"/>
          <p:cNvSpPr/>
          <p:nvPr/>
        </p:nvSpPr>
        <p:spPr>
          <a:xfrm>
            <a:off x="4821212" y="1049279"/>
            <a:ext cx="80000" cy="8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4877689" y="121387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01612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5-c Z = +3.21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117157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666666"/>
                </a:solidFill>
                <a:latin typeface="Arial"/>
              </a:rPr>
              <a:t>9-c Z = +3.34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144360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 ↑</a:t>
            </a:r>
          </a:p>
        </p:txBody>
      </p:sp>
      <p:sp>
        <p:nvSpPr>
          <p:cNvPr id="35" name="Diamond 34"/>
          <p:cNvSpPr/>
          <p:nvPr/>
        </p:nvSpPr>
        <p:spPr>
          <a:xfrm>
            <a:off x="4634674" y="1403609"/>
            <a:ext cx="80000" cy="8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4689641" y="156820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137045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5-c Z = +2.79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152590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666666"/>
                </a:solidFill>
                <a:latin typeface="Arial"/>
              </a:rPr>
              <a:t>9-c Z = +2.91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179793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 ↓</a:t>
            </a:r>
          </a:p>
        </p:txBody>
      </p:sp>
      <p:sp>
        <p:nvSpPr>
          <p:cNvPr id="40" name="Diamond 39"/>
          <p:cNvSpPr/>
          <p:nvPr/>
        </p:nvSpPr>
        <p:spPr>
          <a:xfrm>
            <a:off x="4110592" y="1757939"/>
            <a:ext cx="80000" cy="8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4126669" y="192253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172478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5-c Z = +1.61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188023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9-c Z = +1.65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215226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↑</a:t>
            </a:r>
          </a:p>
        </p:txBody>
      </p:sp>
      <p:sp>
        <p:nvSpPr>
          <p:cNvPr id="45" name="Diamond 44"/>
          <p:cNvSpPr/>
          <p:nvPr/>
        </p:nvSpPr>
        <p:spPr>
          <a:xfrm>
            <a:off x="4283806" y="2112269"/>
            <a:ext cx="80000" cy="8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iamond 45"/>
          <p:cNvSpPr/>
          <p:nvPr/>
        </p:nvSpPr>
        <p:spPr>
          <a:xfrm>
            <a:off x="4333918" y="227686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57800" y="207911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5-c Z = +2.00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223456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666666"/>
                </a:solidFill>
                <a:latin typeface="Arial"/>
              </a:rPr>
              <a:t>9-c Z = +2.11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250659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 ↑</a:t>
            </a:r>
          </a:p>
        </p:txBody>
      </p:sp>
      <p:sp>
        <p:nvSpPr>
          <p:cNvPr id="50" name="Diamond 49"/>
          <p:cNvSpPr/>
          <p:nvPr/>
        </p:nvSpPr>
        <p:spPr>
          <a:xfrm>
            <a:off x="3768607" y="2466599"/>
            <a:ext cx="80000" cy="8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iamond 50"/>
          <p:cNvSpPr/>
          <p:nvPr/>
        </p:nvSpPr>
        <p:spPr>
          <a:xfrm>
            <a:off x="3845324" y="263119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243344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5-c Z = +0.84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258889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9-c Z = +1.01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2860929"/>
            <a:ext cx="19019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 ↑</a:t>
            </a:r>
          </a:p>
        </p:txBody>
      </p:sp>
      <p:sp>
        <p:nvSpPr>
          <p:cNvPr id="55" name="Diamond 54"/>
          <p:cNvSpPr/>
          <p:nvPr/>
        </p:nvSpPr>
        <p:spPr>
          <a:xfrm>
            <a:off x="3519890" y="2820929"/>
            <a:ext cx="80000" cy="8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3571493" y="2985521"/>
            <a:ext cx="80000" cy="8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57800" y="2787777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5-c Z = +0.28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2943225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9-c Z = +0.40</a:t>
            </a:r>
          </a:p>
        </p:txBody>
      </p:sp>
      <p:sp>
        <p:nvSpPr>
          <p:cNvPr id="59" name="Diamond 58"/>
          <p:cNvSpPr/>
          <p:nvPr/>
        </p:nvSpPr>
        <p:spPr>
          <a:xfrm>
            <a:off x="472920" y="3627600"/>
            <a:ext cx="60000" cy="6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3606880"/>
            <a:ext cx="14630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5-cohort primary (N = 518)</a:t>
            </a:r>
          </a:p>
        </p:txBody>
      </p:sp>
      <p:sp>
        <p:nvSpPr>
          <p:cNvPr id="61" name="Diamond 60"/>
          <p:cNvSpPr/>
          <p:nvPr/>
        </p:nvSpPr>
        <p:spPr>
          <a:xfrm>
            <a:off x="472920" y="3792192"/>
            <a:ext cx="60000" cy="600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3767328"/>
            <a:ext cx="14630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9-cohort unrestricted (N = 721)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" y="3977639"/>
            <a:ext cx="56692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Restriction to 5 concordant cohorts (≥3/4 Thread-1 features in discovery direction) sharpens the pooled Z for every signature.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108960"/>
            <a:ext cx="429768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206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5636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2834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+2.0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264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4462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6090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+3.0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0520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7718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+3.5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148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9346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+4.0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60" y="310896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09744" y="315468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42976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6-source pooled Stouffer Z (CD8-cytotoxic)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99058" y="457200"/>
            <a:ext cx="0" cy="265176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738" y="475488"/>
            <a:ext cx="54864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999999"/>
                </a:solidFill>
                <a:latin typeface="Arial"/>
              </a:rPr>
              <a:t>P=0.05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605028"/>
            <a:ext cx="18288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1">
                <a:solidFill>
                  <a:srgbClr val="555555"/>
                </a:solidFill>
                <a:latin typeface="Arial"/>
              </a:rPr>
              <a:t>5-cohort only (no Akiyoshi)</a:t>
            </a:r>
          </a:p>
        </p:txBody>
      </p:sp>
      <p:sp>
        <p:nvSpPr>
          <p:cNvPr id="22" name="Diamond 21"/>
          <p:cNvSpPr/>
          <p:nvPr/>
        </p:nvSpPr>
        <p:spPr>
          <a:xfrm>
            <a:off x="1316360" y="638180"/>
            <a:ext cx="80000" cy="80000"/>
          </a:xfrm>
          <a:prstGeom prst="diamond">
            <a:avLst/>
          </a:prstGeom>
          <a:solidFill>
            <a:srgbClr val="99999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605028"/>
            <a:ext cx="9144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Z = 2.00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982980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cytolytic activity (GZMA×PRF1)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1110996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777777"/>
                </a:solidFill>
                <a:latin typeface="Arial"/>
              </a:rPr>
              <a:t>eFig 4B, TRG1/2 vs TRG3/4 P=0.005</a:t>
            </a:r>
          </a:p>
        </p:txBody>
      </p:sp>
      <p:sp>
        <p:nvSpPr>
          <p:cNvPr id="26" name="Diamond 25"/>
          <p:cNvSpPr/>
          <p:nvPr/>
        </p:nvSpPr>
        <p:spPr>
          <a:xfrm>
            <a:off x="3156677" y="1070140"/>
            <a:ext cx="100000" cy="100000"/>
          </a:xfrm>
          <a:prstGeom prst="diamond">
            <a:avLst/>
          </a:prstGeom>
          <a:solidFill>
            <a:srgbClr val="D4A300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010412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1129284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&lt; 10⁻³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1424940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222222"/>
                </a:solidFill>
                <a:latin typeface="Arial"/>
              </a:rPr>
              <a:t>effector memory CD8 ssGSEA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1552956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777777"/>
                </a:solidFill>
                <a:latin typeface="Arial"/>
              </a:rPr>
              <a:t>eFig 8, P&lt;0.001</a:t>
            </a:r>
          </a:p>
        </p:txBody>
      </p:sp>
      <p:sp>
        <p:nvSpPr>
          <p:cNvPr id="31" name="Diamond 30"/>
          <p:cNvSpPr/>
          <p:nvPr/>
        </p:nvSpPr>
        <p:spPr>
          <a:xfrm>
            <a:off x="3634164" y="1522100"/>
            <a:ext cx="80000" cy="80000"/>
          </a:xfrm>
          <a:prstGeom prst="diamond">
            <a:avLst/>
          </a:prstGeom>
          <a:solidFill>
            <a:srgbClr val="6A4C93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1452372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6A4C93"/>
                </a:solidFill>
                <a:latin typeface="Arial"/>
              </a:rPr>
              <a:t>Z = +3.62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1571244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A4C93"/>
                </a:solidFill>
                <a:latin typeface="Arial"/>
              </a:rPr>
              <a:t>P &lt; 10⁻³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1866900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222222"/>
                </a:solidFill>
                <a:latin typeface="Arial"/>
              </a:rPr>
              <a:t>MCP-counter cytotoxic lymphocyte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1994916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777777"/>
                </a:solidFill>
                <a:latin typeface="Arial"/>
              </a:rPr>
              <a:t>eFig 4A, P=0.005</a:t>
            </a:r>
          </a:p>
        </p:txBody>
      </p:sp>
      <p:sp>
        <p:nvSpPr>
          <p:cNvPr id="36" name="Diamond 35"/>
          <p:cNvSpPr/>
          <p:nvPr/>
        </p:nvSpPr>
        <p:spPr>
          <a:xfrm>
            <a:off x="3166677" y="1964060"/>
            <a:ext cx="80000" cy="80000"/>
          </a:xfrm>
          <a:prstGeom prst="diamond">
            <a:avLst/>
          </a:prstGeom>
          <a:solidFill>
            <a:srgbClr val="6A4C93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1894332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6A4C93"/>
                </a:solidFill>
                <a:latin typeface="Arial"/>
              </a:rPr>
              <a:t>Z = +3.29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2013204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A4C93"/>
                </a:solidFill>
                <a:latin typeface="Arial"/>
              </a:rPr>
              <a:t>P &lt; 10⁻³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2308860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222222"/>
                </a:solidFill>
                <a:latin typeface="Arial"/>
              </a:rPr>
              <a:t>activated CD8 ssGSEA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2436876"/>
            <a:ext cx="1828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777777"/>
                </a:solidFill>
                <a:latin typeface="Arial"/>
              </a:rPr>
              <a:t>eFig 8, P=0.03</a:t>
            </a:r>
          </a:p>
        </p:txBody>
      </p:sp>
      <p:sp>
        <p:nvSpPr>
          <p:cNvPr id="41" name="Diamond 40"/>
          <p:cNvSpPr/>
          <p:nvPr/>
        </p:nvSpPr>
        <p:spPr>
          <a:xfrm>
            <a:off x="2612618" y="2406020"/>
            <a:ext cx="80000" cy="80000"/>
          </a:xfrm>
          <a:prstGeom prst="diamond">
            <a:avLst/>
          </a:prstGeom>
          <a:solidFill>
            <a:srgbClr val="6A4C93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2336292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6A4C93"/>
                </a:solidFill>
                <a:latin typeface="Arial"/>
              </a:rPr>
              <a:t>Z = +2.90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2455164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A4C93"/>
                </a:solidFill>
                <a:latin typeface="Arial"/>
              </a:rPr>
              <a:t>P = 0.004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3566160"/>
            <a:ext cx="56692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All four Akiyoshi alternative statistics give 6-source pooled Z &gt; +2.15; primary (cytolytic activity) gives Z = +3.29 (P = 0.001).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3749039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D4A300"/>
                </a:solidFill>
                <a:latin typeface="Arial"/>
              </a:rPr>
              <a:t>Result is robust to choice of Akiyoshi statistic.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