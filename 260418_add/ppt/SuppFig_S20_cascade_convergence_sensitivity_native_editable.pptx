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057400" y="411480"/>
            <a:ext cx="0" cy="3108960"/>
          </a:xfrm>
          <a:prstGeom prst="line">
            <a:avLst/>
          </a:prstGeom>
          <a:ln w="38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57400" y="3520440"/>
            <a:ext cx="310896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57400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20240" y="356616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-1.0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97480" y="356616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74720" y="356616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89120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51960" y="356616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66360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0" y="356616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721608"/>
            <a:ext cx="31089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Spearman r  (baseline × cascade Δ, n = 12 paired)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11880" y="411480"/>
            <a:ext cx="0" cy="310896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13478" y="411480"/>
            <a:ext cx="0" cy="310896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10282" y="411480"/>
            <a:ext cx="0" cy="310896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39158" y="393192"/>
            <a:ext cx="54864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" b="0" i="1">
                <a:solidFill>
                  <a:srgbClr val="999999"/>
                </a:solidFill>
                <a:latin typeface="Arial"/>
              </a:rPr>
              <a:t>|r| ≈ 0.58
(P = 0.05)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1880" y="454660"/>
            <a:ext cx="868954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465834" y="43966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39979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Myc Targets V2 → IGH_n 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9979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r=+0.56 P=0.06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11880" y="541020"/>
            <a:ext cx="847192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444072" y="52602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48615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DNA Double-Strand Br → IGH_n 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8615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r=+0.55 P=0.07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11880" y="627380"/>
            <a:ext cx="836310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433190" y="61238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57251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DNA Repair R-HSA-738 → IGH_n 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57251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r=+0.54 P=0.07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842412" y="713740"/>
            <a:ext cx="769468" cy="0"/>
          </a:xfrm>
          <a:prstGeom prst="line">
            <a:avLst/>
          </a:prstGeom>
          <a:ln w="889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27412" y="69874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65887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frac_amp → Treg 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65887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r=-0.49 P=0.10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861066" y="800100"/>
            <a:ext cx="750814" cy="0"/>
          </a:xfrm>
          <a:prstGeom prst="line">
            <a:avLst/>
          </a:prstGeom>
          <a:ln w="889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846066" y="78510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74523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MHC_II → CD8_cytotoxic 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74523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r=-0.48 P=0.11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11880" y="886460"/>
            <a:ext cx="694853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291733" y="87146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83159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MSI_pct → Treg 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83159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r=+0.45 P=0.17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11880" y="972820"/>
            <a:ext cx="609356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206236" y="95782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91795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DNA Double-Strand Br → Treg 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91795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r=+0.39 P=0.21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3032059" y="1059180"/>
            <a:ext cx="579821" cy="0"/>
          </a:xfrm>
          <a:prstGeom prst="line">
            <a:avLst/>
          </a:prstGeom>
          <a:ln w="889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017059" y="104418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" y="100431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MSI_pct → CD8_cytotoxic 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100431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r=-0.37 P=0.26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3046049" y="1145540"/>
            <a:ext cx="565831" cy="0"/>
          </a:xfrm>
          <a:prstGeom prst="line">
            <a:avLst/>
          </a:prstGeom>
          <a:ln w="889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3031049" y="113054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" y="109067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MHC_II → MHC_II 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109067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r=-0.36 P=0.25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611880" y="1231900"/>
            <a:ext cx="544068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4140948" y="121690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" y="117703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DNA Repair R-HSA-738 → Treg 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117703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r=+0.35 P=0.27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611880" y="1318260"/>
            <a:ext cx="500543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097423" y="130326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126339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Myc Targets V2 → Treg 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126339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r=+0.32 P=0.31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611880" y="1404620"/>
            <a:ext cx="489661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4086541" y="138962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2880" y="134975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HDR Thru Homologous  → IGH_n 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80" y="134975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r=+0.32 P=0.32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611880" y="1490980"/>
            <a:ext cx="478780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075660" y="147598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80" y="143611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E2F Targets → IGH_n 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12080" y="143611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r=+0.31 P=0.33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611880" y="1577340"/>
            <a:ext cx="478780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4075660" y="156234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2880" y="152247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G2-M Checkpoint → IGH_n 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12080" y="152247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r=+0.31 P=0.33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611880" y="1663700"/>
            <a:ext cx="457017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053897" y="164870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2880" y="160883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DNA Double-Strand Br → MHC_II 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12080" y="160883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r=+0.29 P=0.35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611880" y="1750060"/>
            <a:ext cx="446136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4043016" y="173506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2880" y="169519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DNA Repair R-HSA-738 → MHC_II 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12080" y="169519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r=+0.29 P=0.37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611880" y="1836420"/>
            <a:ext cx="380848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3977728" y="182142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82880" y="178155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Myc Targets V2 → MHC_II 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12080" y="178155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r=+0.24 P=0.44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611880" y="1922780"/>
            <a:ext cx="348204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3945084" y="190778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2880" y="186791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MSI_pct → IGH_n 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12080" y="186791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r=+0.22 P=0.51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611880" y="2009140"/>
            <a:ext cx="293797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3890677" y="199414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2880" y="195427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HDR Thru Homologous  → Treg 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12080" y="195427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r=+0.19 P=0.56</a:t>
            </a:r>
          </a:p>
        </p:txBody>
      </p:sp>
      <p:cxnSp>
        <p:nvCxnSpPr>
          <p:cNvPr id="96" name="Connector 95"/>
          <p:cNvCxnSpPr/>
          <p:nvPr/>
        </p:nvCxnSpPr>
        <p:spPr>
          <a:xfrm flipH="1">
            <a:off x="3327410" y="2095500"/>
            <a:ext cx="284470" cy="0"/>
          </a:xfrm>
          <a:prstGeom prst="line">
            <a:avLst/>
          </a:prstGeom>
          <a:ln w="889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3312410" y="208050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2880" y="204063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frac_amp → MHC_II 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12080" y="204063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r=-0.18 P=0.57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3611880" y="2181860"/>
            <a:ext cx="272034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3868914" y="216686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82880" y="212699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MHC_II → IGH_n 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12080" y="212699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r=+0.17 P=0.59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611880" y="2268220"/>
            <a:ext cx="272034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3868914" y="225322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82880" y="221335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frac_amp → CD8_cytotoxic 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12080" y="221335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r=+0.17 P=0.59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3611880" y="2354580"/>
            <a:ext cx="239390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3836270" y="233958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2880" y="229971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E2F Targets → Treg Δ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12080" y="229971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r=+0.15 P=0.63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3611880" y="2440940"/>
            <a:ext cx="239390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3836270" y="242594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82880" y="238607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G2-M Checkpoint → Treg Δ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12080" y="238607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r=+0.15 P=0.63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3611880" y="2527300"/>
            <a:ext cx="231618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3828498" y="251230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82880" y="247243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MSI_pct → MHC_II 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12080" y="247243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r=+0.15 P=0.66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3611880" y="2613660"/>
            <a:ext cx="195864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3792744" y="259866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82880" y="255879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E2F Targets → CD8_cytotoxic Δ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212080" y="255879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r=+0.13 P=0.70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3611880" y="2700020"/>
            <a:ext cx="195864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3792744" y="268502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82880" y="264515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HDR Thru Homologous  → CD8_cytotoxic Δ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212080" y="264515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r=+0.13 P=0.70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3611880" y="2786380"/>
            <a:ext cx="195864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3792744" y="277138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82880" y="273151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G2-M Checkpoint → CD8_cytotoxic 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212080" y="273151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r=+0.13 P=0.70</a:t>
            </a:r>
          </a:p>
        </p:txBody>
      </p:sp>
      <p:cxnSp>
        <p:nvCxnSpPr>
          <p:cNvPr id="132" name="Connector 131"/>
          <p:cNvCxnSpPr/>
          <p:nvPr/>
        </p:nvCxnSpPr>
        <p:spPr>
          <a:xfrm flipH="1">
            <a:off x="3470422" y="2872740"/>
            <a:ext cx="141458" cy="0"/>
          </a:xfrm>
          <a:prstGeom prst="line">
            <a:avLst/>
          </a:prstGeom>
          <a:ln w="889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3455422" y="285774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82880" y="281787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MHC_II → Treg Δ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212080" y="281787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r=-0.09 P=0.78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3611880" y="2959100"/>
            <a:ext cx="141458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3738338" y="294410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82880" y="290423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HDR Thru Homologous  → MHC_II Δ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212080" y="290423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r=+0.09 P=0.78</a:t>
            </a:r>
          </a:p>
        </p:txBody>
      </p:sp>
      <p:cxnSp>
        <p:nvCxnSpPr>
          <p:cNvPr id="140" name="Connector 139"/>
          <p:cNvCxnSpPr/>
          <p:nvPr/>
        </p:nvCxnSpPr>
        <p:spPr>
          <a:xfrm flipH="1">
            <a:off x="3489076" y="3045460"/>
            <a:ext cx="122804" cy="0"/>
          </a:xfrm>
          <a:prstGeom prst="line">
            <a:avLst/>
          </a:prstGeom>
          <a:ln w="889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3474076" y="303046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82880" y="299059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frac_amp → IGH_n 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212080" y="299059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r=-0.08 P=0.81</a:t>
            </a:r>
          </a:p>
        </p:txBody>
      </p:sp>
      <p:cxnSp>
        <p:nvCxnSpPr>
          <p:cNvPr id="144" name="Connector 143"/>
          <p:cNvCxnSpPr/>
          <p:nvPr/>
        </p:nvCxnSpPr>
        <p:spPr>
          <a:xfrm flipH="1">
            <a:off x="3503066" y="3131820"/>
            <a:ext cx="108814" cy="0"/>
          </a:xfrm>
          <a:prstGeom prst="line">
            <a:avLst/>
          </a:prstGeom>
          <a:ln w="889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3488066" y="311682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82880" y="307695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DNA Double-Strand Br → CD8_cytotoxic Δ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212080" y="307695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r=-0.07 P=0.83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3611880" y="3218180"/>
            <a:ext cx="43525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3640405" y="320318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82880" y="316331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Myc Targets V2 → CD8_cytotoxic 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212080" y="316331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r=+0.03 P=0.93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3611880" y="3304540"/>
            <a:ext cx="32644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3629524" y="328954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82880" y="324967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G2-M Checkpoint → MHC_II 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212080" y="324967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r=+0.02 P=0.95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3611880" y="3390900"/>
            <a:ext cx="32644" cy="0"/>
          </a:xfrm>
          <a:prstGeom prst="line">
            <a:avLst/>
          </a:prstGeom>
          <a:ln w="889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3629524" y="337590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82880" y="333603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E2F Targets → MHC_II Δ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212080" y="333603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r=+0.02 P=0.95</a:t>
            </a:r>
          </a:p>
        </p:txBody>
      </p:sp>
      <p:cxnSp>
        <p:nvCxnSpPr>
          <p:cNvPr id="160" name="Connector 159"/>
          <p:cNvCxnSpPr/>
          <p:nvPr/>
        </p:nvCxnSpPr>
        <p:spPr>
          <a:xfrm flipH="1">
            <a:off x="3600999" y="3477260"/>
            <a:ext cx="10881" cy="0"/>
          </a:xfrm>
          <a:prstGeom prst="line">
            <a:avLst/>
          </a:prstGeom>
          <a:ln w="889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3585999" y="3462260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82880" y="3422396"/>
            <a:ext cx="1856232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00" b="0" i="0">
                <a:solidFill>
                  <a:srgbClr val="222222"/>
                </a:solidFill>
                <a:latin typeface="Arial"/>
              </a:rPr>
              <a:t>DNA Repair R-HSA-738 → CD8_cytotoxic 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212080" y="3422396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r=-0.01 P=0.98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82880" y="22860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82880" y="228600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0 / 36 pairs  P &lt; 0.05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82880" y="411480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555555"/>
                </a:solidFill>
                <a:latin typeface="Arial"/>
              </a:rPr>
              <a:t>(1.8 expected by chance)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37160" y="3675887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555555"/>
                </a:solidFill>
                <a:latin typeface="Arial"/>
              </a:rPr>
              <a:t>Pre-specified 36-pair test: 9 baseline Thread-1 features × 4 cascade Δ features, n = 12 paired subjects.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37160" y="3822191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|r| at n = 12 needs ≈ 0.58 for P &lt; 0.05; the largest observed |r| is ≈ 0.56 → absence of association, not under-power.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457200"/>
            <a:ext cx="5577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Purity-adjusted paired Δ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9875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Treg signature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05840"/>
            <a:ext cx="3657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{'feature': 'Treg', 'n_good_paired': 7, 'n_bad_paired': 7, 'delta_raw_good_med': 1.2562022145822849, 'delta_raw_bad_med': 0.0283650348653587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45920"/>
            <a:ext cx="9875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MHC-II signature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3657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{'feature': 'MHC_II', 'n_good_paired': 7, 'n_bad_paired': 7, 'delta_raw_good_med': 1.2261001756391727, 'delta_raw_bad_med': 0.36262819616056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286000"/>
            <a:ext cx="9875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 exhaustion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3657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{'feature': 'CD8_exhaustion', 'n_good_paired': 7, 'n_bad_paired': 7, 'delta_raw_good_med': 0.99802778209904, 'delta_raw_bad_med': -0.0982643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926080"/>
            <a:ext cx="9875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IGH clonotypes (B-cell)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26080"/>
            <a:ext cx="3657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555555"/>
                </a:solidFill>
                <a:latin typeface="Arial"/>
              </a:rPr>
              <a:t>{'feature': 'IGH_n', 'n_good_paired': 7, 'n_bad_paired': 7, 'delta_raw_good_med': 1424.5, 'delta_raw_bad_med': 7.5, 'MW_p_raw': 0.2402597402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