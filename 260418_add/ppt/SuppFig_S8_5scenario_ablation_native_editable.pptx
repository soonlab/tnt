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463040" y="3474720"/>
            <a:ext cx="365760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6304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23040" y="318211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09981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23040" y="259689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251460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2304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23040" y="1426463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1344167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3040" y="841247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400" y="758951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67328"/>
            <a:ext cx="3657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Ablation scenario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59436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Nested outer-LOOCV AUC (ElasticNet)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63040" y="3182112"/>
            <a:ext cx="3657600" cy="0"/>
          </a:xfrm>
          <a:prstGeom prst="line">
            <a:avLst/>
          </a:prstGeom>
          <a:ln w="508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652138" y="2091854"/>
            <a:ext cx="353324" cy="1382866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1828800" y="1075334"/>
            <a:ext cx="0" cy="2106778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03800" y="107533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03800" y="3182112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508760" y="1863254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0.686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Baseline
(37 feat.)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83658" y="1747747"/>
            <a:ext cx="353324" cy="1726973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560320" y="872264"/>
            <a:ext cx="0" cy="1939406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535320" y="87226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35320" y="2811670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240280" y="1519147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0.745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Drop CD8-prolif
(36 feat.) 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5178" y="2091854"/>
            <a:ext cx="353324" cy="1382866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3291840" y="1075334"/>
            <a:ext cx="0" cy="2106778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266840" y="107533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66840" y="3182112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971800" y="1863254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0.686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Add 3 immune
(40 feat.)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6698" y="1881762"/>
            <a:ext cx="353324" cy="1592958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023360" y="910303"/>
            <a:ext cx="0" cy="207927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998360" y="910303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998360" y="2989575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703320" y="1653162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0.722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Swap CD8 prolif→cyt
(37 feat.)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8218" y="1805098"/>
            <a:ext cx="353324" cy="1669622"/>
          </a:xfrm>
          <a:prstGeom prst="rect">
            <a:avLst/>
          </a:prstGeom>
          <a:solidFill>
            <a:srgbClr val="77777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4754880" y="886894"/>
            <a:ext cx="0" cy="200261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29880" y="88689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729880" y="2889504"/>
            <a:ext cx="5000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434840" y="1576498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0.735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3524720"/>
            <a:ext cx="10058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Drop + add
(39 feat.)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" y="3977640"/>
            <a:ext cx="5669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★ the improvement comes from removing the cell-cycle-contaminated CD8-proliferation signature, not from adding purified immune signatures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556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5270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9689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6829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144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9544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93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507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False-positive rate</a:t>
            </a:r>
          </a:p>
        </p:txBody>
      </p:sp>
      <p:sp>
        <p:nvSpPr>
          <p:cNvPr id="30" name="TextBox 2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True-positive rate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14400" y="548640"/>
            <a:ext cx="4206240" cy="2926080"/>
          </a:xfrm>
          <a:prstGeom prst="line">
            <a:avLst/>
          </a:prstGeom>
          <a:ln w="508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" y="3474720"/>
            <a:ext cx="247425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161825" y="3149600"/>
            <a:ext cx="0" cy="32512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61825" y="3149600"/>
            <a:ext cx="247426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409251" y="2336800"/>
            <a:ext cx="0" cy="81280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9251" y="2336800"/>
            <a:ext cx="247426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56677" y="1849120"/>
            <a:ext cx="0" cy="48768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56677" y="1849120"/>
            <a:ext cx="989704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46381" y="1524000"/>
            <a:ext cx="0" cy="32512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46381" y="1524000"/>
            <a:ext cx="494851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141232" y="873760"/>
            <a:ext cx="0" cy="65024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141232" y="873760"/>
            <a:ext cx="742278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883510" y="711200"/>
            <a:ext cx="247426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130936" y="548640"/>
            <a:ext cx="0" cy="16256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130936" y="548640"/>
            <a:ext cx="989704" cy="0"/>
          </a:xfrm>
          <a:prstGeom prst="line">
            <a:avLst/>
          </a:prstGeom>
          <a:ln w="1143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17520" y="758952"/>
            <a:ext cx="274320" cy="0"/>
          </a:xfrm>
          <a:prstGeom prst="line">
            <a:avLst/>
          </a:prstGeom>
          <a:ln w="1270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337560" y="685800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Baseline (37 feat.)  (AUC 0.686)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388658" y="873760"/>
            <a:ext cx="0" cy="48768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88658" y="873760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883510" y="711200"/>
            <a:ext cx="494852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378362" y="548640"/>
            <a:ext cx="0" cy="16256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378362" y="548640"/>
            <a:ext cx="742278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17520" y="960120"/>
            <a:ext cx="274320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337560" y="886968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★ Drop CD8-prolif (36 feat.) ★  (AUC 0.745)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914400" y="3474720"/>
            <a:ext cx="247425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161825" y="3149600"/>
            <a:ext cx="0" cy="32512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61825" y="3149600"/>
            <a:ext cx="247426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409251" y="2336800"/>
            <a:ext cx="0" cy="81280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409251" y="2336800"/>
            <a:ext cx="247426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656677" y="1849120"/>
            <a:ext cx="0" cy="48768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656677" y="1849120"/>
            <a:ext cx="989704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646381" y="1524000"/>
            <a:ext cx="0" cy="32512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646381" y="1524000"/>
            <a:ext cx="494851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141232" y="873760"/>
            <a:ext cx="0" cy="65024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141232" y="873760"/>
            <a:ext cx="742278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883510" y="711200"/>
            <a:ext cx="247426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0936" y="548640"/>
            <a:ext cx="0" cy="16256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130936" y="548640"/>
            <a:ext cx="989704" cy="0"/>
          </a:xfrm>
          <a:prstGeom prst="line">
            <a:avLst/>
          </a:prstGeom>
          <a:ln w="1143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17520" y="1161288"/>
            <a:ext cx="274320" cy="0"/>
          </a:xfrm>
          <a:prstGeom prst="line">
            <a:avLst/>
          </a:prstGeom>
          <a:ln w="12700">
            <a:solidFill>
              <a:srgbClr val="7799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3337560" y="1088136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Add 3 immune (40 feat.)  (AUC 0.686)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88658" y="1036320"/>
            <a:ext cx="0" cy="32512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388658" y="1036320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883510" y="87376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883510" y="873760"/>
            <a:ext cx="494852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378362" y="71120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378362" y="711200"/>
            <a:ext cx="742278" cy="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120640" y="548640"/>
            <a:ext cx="0" cy="162560"/>
          </a:xfrm>
          <a:prstGeom prst="line">
            <a:avLst/>
          </a:prstGeom>
          <a:ln w="1143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017520" y="1362456"/>
            <a:ext cx="274320" cy="0"/>
          </a:xfrm>
          <a:prstGeom prst="line">
            <a:avLst/>
          </a:prstGeom>
          <a:ln w="12700">
            <a:solidFill>
              <a:srgbClr val="C5A5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337560" y="1289304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Swap CD8 prolif→cyt (37 feat.)  (AUC 0.722)</a:t>
            </a:r>
          </a:p>
        </p:txBody>
      </p:sp>
      <p:cxnSp>
        <p:nvCxnSpPr>
          <p:cNvPr id="105" name="Connector 104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388658" y="1036320"/>
            <a:ext cx="0" cy="32512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388658" y="1036320"/>
            <a:ext cx="247426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636084" y="87376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636084" y="87376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130936" y="71120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4130936" y="71120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625788" y="548640"/>
            <a:ext cx="0" cy="16256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4625788" y="548640"/>
            <a:ext cx="494852" cy="0"/>
          </a:xfrm>
          <a:prstGeom prst="line">
            <a:avLst/>
          </a:prstGeom>
          <a:ln w="1143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17520" y="1563624"/>
            <a:ext cx="274320" cy="0"/>
          </a:xfrm>
          <a:prstGeom prst="line">
            <a:avLst/>
          </a:prstGeom>
          <a:ln w="12700">
            <a:solidFill>
              <a:srgbClr val="A24E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3337560" y="1490472"/>
            <a:ext cx="23774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Drop + add (39 feat.)  (AUC 0.735)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440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Subjects, ordered by predicted probability</a:t>
            </a:r>
          </a:p>
        </p:txBody>
      </p:sp>
      <p:sp>
        <p:nvSpPr>
          <p:cNvPr id="20" name="TextBox 1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Predicted P(good)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2011680"/>
            <a:ext cx="420624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140640" y="1920240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0.5 threshold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216" y="2758576"/>
            <a:ext cx="98546" cy="716144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76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5394" y="2753829"/>
            <a:ext cx="98546" cy="72089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493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65572" y="2621041"/>
            <a:ext cx="98546" cy="85367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511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5751" y="2602061"/>
            <a:ext cx="98546" cy="872659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85751" y="2602061"/>
            <a:ext cx="98546" cy="872659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61872" y="2455757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05929" y="2588353"/>
            <a:ext cx="98546" cy="886367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4547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26107" y="2553215"/>
            <a:ext cx="98546" cy="921505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6565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6285" y="2525542"/>
            <a:ext cx="98546" cy="94917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6285" y="2525542"/>
            <a:ext cx="98546" cy="94917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2406" y="237923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8583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66464" y="2475021"/>
            <a:ext cx="98546" cy="99969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0600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86642" y="2417458"/>
            <a:ext cx="98546" cy="105726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2618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06820" y="2273589"/>
            <a:ext cx="98546" cy="120113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06820" y="2273589"/>
            <a:ext cx="98546" cy="120113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82941" y="212728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636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26999" y="2272993"/>
            <a:ext cx="98546" cy="1201727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26999" y="2272993"/>
            <a:ext cx="98546" cy="1201727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03120" y="2126689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6654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7177" y="2147043"/>
            <a:ext cx="98546" cy="1327677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7177" y="2147043"/>
            <a:ext cx="98546" cy="1327677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23298" y="2000739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8672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67355" y="2077451"/>
            <a:ext cx="98546" cy="139726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0690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87533" y="1959619"/>
            <a:ext cx="98546" cy="151510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87533" y="1959619"/>
            <a:ext cx="98546" cy="151510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3654" y="181331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2707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07712" y="1942548"/>
            <a:ext cx="98546" cy="153217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07712" y="1942548"/>
            <a:ext cx="98546" cy="153217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83833" y="179624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4725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27890" y="1924828"/>
            <a:ext cx="98546" cy="154989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27890" y="1924828"/>
            <a:ext cx="98546" cy="154989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4011" y="177852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6743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848068" y="1904546"/>
            <a:ext cx="98546" cy="157017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8761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68247" y="1870041"/>
            <a:ext cx="98546" cy="160467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968247" y="1870041"/>
            <a:ext cx="98546" cy="1604679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944368" y="1723737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88425" y="1849532"/>
            <a:ext cx="98546" cy="1625188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088425" y="1849532"/>
            <a:ext cx="98546" cy="162518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64546" y="170322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2797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8603" y="1848709"/>
            <a:ext cx="98546" cy="162601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4814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28781" y="1745079"/>
            <a:ext cx="98546" cy="172964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328781" y="1745079"/>
            <a:ext cx="98546" cy="172964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04902" y="159877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6832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448960" y="1740655"/>
            <a:ext cx="98546" cy="1734065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48960" y="1740655"/>
            <a:ext cx="98546" cy="1734065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25081" y="1594351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8850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69138" y="1720764"/>
            <a:ext cx="98546" cy="175395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0868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89316" y="1702302"/>
            <a:ext cx="98546" cy="177241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2886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09495" y="1693599"/>
            <a:ext cx="98546" cy="178112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74904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929673" y="1637866"/>
            <a:ext cx="98546" cy="183685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86921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049851" y="1576072"/>
            <a:ext cx="98546" cy="1898648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049851" y="1576072"/>
            <a:ext cx="98546" cy="189864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025972" y="142976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8939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170029" y="1573876"/>
            <a:ext cx="98546" cy="190084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10957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90208" y="1527756"/>
            <a:ext cx="98546" cy="194696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2975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410386" y="1442514"/>
            <a:ext cx="98546" cy="203220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34993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30564" y="1412949"/>
            <a:ext cx="98546" cy="206177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47010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650743" y="1321088"/>
            <a:ext cx="98546" cy="215363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50743" y="1321088"/>
            <a:ext cx="98546" cy="215363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626864" y="117478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9028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770921" y="1233174"/>
            <a:ext cx="98546" cy="224154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71046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891099" y="1217942"/>
            <a:ext cx="98546" cy="225677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83064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11277" y="1161735"/>
            <a:ext cx="98546" cy="2312985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95082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24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749040" y="603504"/>
            <a:ext cx="1325880" cy="365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49040" y="630936"/>
            <a:ext cx="1325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21/35 correct @ 0.5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749040" y="786384"/>
            <a:ext cx="1325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D4A300"/>
                </a:solidFill>
                <a:latin typeface="Arial"/>
              </a:rPr>
              <a:t>accuracy = 0.60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24128" y="594360"/>
            <a:ext cx="146304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207008" y="584360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true label: good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487168" y="594360"/>
            <a:ext cx="146304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651760" y="584360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true label: bad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50208" y="584360"/>
            <a:ext cx="18288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✗ / gold border = misclassified at P = 0.5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