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9552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0" y="411480"/>
            <a:ext cx="402336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0" y="6766560"/>
            <a:ext cx="402336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823115" y="411480"/>
            <a:ext cx="173717" cy="6355080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09974" y="411480"/>
            <a:ext cx="0" cy="635508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7160" y="411480"/>
            <a:ext cx="2743200" cy="1016812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428292"/>
            <a:ext cx="2743200" cy="762609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2190902"/>
            <a:ext cx="2743200" cy="254203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2445105"/>
            <a:ext cx="2743200" cy="508406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2953512"/>
            <a:ext cx="2743200" cy="762609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3716121"/>
            <a:ext cx="2743200" cy="508406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4224528"/>
            <a:ext cx="2743200" cy="1016812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" y="5241340"/>
            <a:ext cx="2743200" cy="254203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" y="5495544"/>
            <a:ext cx="2743200" cy="508406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" y="6003950"/>
            <a:ext cx="2743200" cy="762609"/>
          </a:xfrm>
          <a:prstGeom prst="rect">
            <a:avLst/>
          </a:prstGeom>
          <a:solidFill>
            <a:srgbClr val="FA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172809" y="676656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89929" y="683971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41391" y="676656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58511" y="683971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09974" y="676656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27094" y="683971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78556" y="676656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95676" y="683971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47138" y="676656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64258" y="683971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7040880"/>
            <a:ext cx="4023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Δ z-score (good − poor), 95 % bootstrap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18288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82880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95 % 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82880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182880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P (MW)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8288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q (BH)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86600" y="365760"/>
            <a:ext cx="283464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64592" y="483717"/>
            <a:ext cx="109728" cy="109728"/>
          </a:xfrm>
          <a:prstGeom prst="rect">
            <a:avLst/>
          </a:prstGeom>
          <a:solidFill>
            <a:srgbClr val="0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56285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057A64"/>
                </a:solidFill>
                <a:latin typeface="Arial"/>
              </a:rPr>
              <a:t>Cytotoxic T-cell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" y="456285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CD8 proliferation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971469" y="538581"/>
            <a:ext cx="1804254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877092" y="503581"/>
            <a:ext cx="70000" cy="7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456285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56285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[+0.04, +1.07]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56285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59" y="456285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A7D6E"/>
                </a:solidFill>
                <a:latin typeface="Arial"/>
              </a:rPr>
              <a:t>0.0351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56285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79" y="456285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B58900"/>
                </a:solidFill>
                <a:latin typeface="Arial"/>
              </a:rPr>
              <a:t>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" y="737920"/>
            <a:ext cx="109728" cy="109728"/>
          </a:xfrm>
          <a:prstGeom prst="rect">
            <a:avLst/>
          </a:prstGeom>
          <a:solidFill>
            <a:srgbClr val="0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53312" y="710488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CD8 exhaustion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26226" y="792784"/>
            <a:ext cx="1791624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822150" y="768784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86600" y="710488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710488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[-0.51, +0.52]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710488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59" y="710488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0.288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71048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" y="992124"/>
            <a:ext cx="109728" cy="109728"/>
          </a:xfrm>
          <a:prstGeom prst="rect">
            <a:avLst/>
          </a:prstGeom>
          <a:solidFill>
            <a:srgbClr val="0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53312" y="964692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Cytolytic activity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687600" y="1046988"/>
            <a:ext cx="2054284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601513" y="1022988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86600" y="964692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964692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[-0.70, +0.48]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96469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3959" y="964692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0.305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964692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" y="1246327"/>
            <a:ext cx="109728" cy="109728"/>
          </a:xfrm>
          <a:prstGeom prst="rect">
            <a:avLst/>
          </a:prstGeom>
          <a:solidFill>
            <a:srgbClr val="0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53312" y="1218895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CD8 activation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046377" y="1301191"/>
            <a:ext cx="1914338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4931661" y="1277191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6600" y="1218895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1218895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[-0.50, +0.60]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1218895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141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3959" y="1218895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0.871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1218895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500530"/>
            <a:ext cx="109728" cy="109728"/>
          </a:xfrm>
          <a:prstGeom prst="rect">
            <a:avLst/>
          </a:prstGeom>
          <a:solidFill>
            <a:srgbClr val="00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147309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00567D"/>
                </a:solidFill>
                <a:latin typeface="Arial"/>
              </a:rPr>
              <a:t>Antigen presentation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53312" y="1473098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MHC-II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065053" y="1555394"/>
            <a:ext cx="1953042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3946411" y="1531394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86600" y="1473098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-0.54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89520" y="1473098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[-1.06, +0.06]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58200" y="1473098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86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23959" y="1473098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0.0746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18320" y="147309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754733"/>
            <a:ext cx="109728" cy="109728"/>
          </a:xfrm>
          <a:prstGeom prst="rect">
            <a:avLst/>
          </a:prstGeom>
          <a:solidFill>
            <a:srgbClr val="00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53312" y="1727301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NLRC5 · HLA · IFNG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155506" y="1809597"/>
            <a:ext cx="17479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936421" y="1785597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86600" y="1727301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89520" y="1727301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[-0.43, +0.57]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58200" y="1727301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23959" y="1727301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0.871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18320" y="1727301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592" y="2008936"/>
            <a:ext cx="109728" cy="109728"/>
          </a:xfrm>
          <a:prstGeom prst="rect">
            <a:avLst/>
          </a:prstGeom>
          <a:solidFill>
            <a:srgbClr val="00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53312" y="1981504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Antigen presentation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339089" y="2063800"/>
            <a:ext cx="1357229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967725" y="2039800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86600" y="1981504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89520" y="1981504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[-0.33, +0.45]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58200" y="198150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133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23959" y="1981504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0.928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18320" y="198150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64592" y="2263140"/>
            <a:ext cx="109728" cy="109728"/>
          </a:xfrm>
          <a:prstGeom prst="rect">
            <a:avLst/>
          </a:prstGeom>
          <a:solidFill>
            <a:srgbClr val="009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0040" y="223570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0099B8"/>
                </a:solidFill>
                <a:latin typeface="Arial"/>
              </a:rPr>
              <a:t>IFN response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53312" y="2235708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IFN-γ (Ayers 18)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933965" y="2318004"/>
            <a:ext cx="1826125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4758049" y="2294004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86600" y="2235708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520" y="2235708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[-0.56, +0.49]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58200" y="2235708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122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23959" y="2235708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0.627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18320" y="223570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0.906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4592" y="2517343"/>
            <a:ext cx="109728" cy="109728"/>
          </a:xfrm>
          <a:prstGeom prst="rect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0040" y="2489911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D4A300"/>
                </a:solidFill>
                <a:latin typeface="Arial"/>
              </a:rPr>
              <a:t>B-cell / TLS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53312" y="2489911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B cell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4465815" y="2572207"/>
            <a:ext cx="159680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5252654" y="2548207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86600" y="2489911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89520" y="2489911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[-0.26, +0.66]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58200" y="2489911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175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23959" y="2489911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0.165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18320" y="2489911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64592" y="2771546"/>
            <a:ext cx="109728" cy="109728"/>
          </a:xfrm>
          <a:prstGeom prst="rect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53312" y="2744114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TLS (Cabrita)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4063314" y="2826410"/>
            <a:ext cx="1503360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4804032" y="2802410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86600" y="2744114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89520" y="2744114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[-0.49, +0.38]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458200" y="274411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138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823959" y="2744114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18320" y="274411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64592" y="3025749"/>
            <a:ext cx="109728" cy="109728"/>
          </a:xfrm>
          <a:prstGeom prst="rect">
            <a:avLst/>
          </a:prstGeom>
          <a:solidFill>
            <a:srgbClr val="D96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2998317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D96125"/>
                </a:solidFill>
                <a:latin typeface="Arial"/>
              </a:rPr>
              <a:t>Innate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53312" y="2998317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Macrophage M2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3565947" y="3080613"/>
            <a:ext cx="1933429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4457467" y="3056613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086600" y="2998317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-0.25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589520" y="2998317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[-0.77, +0.34]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58200" y="2998317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100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823959" y="2998317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0.201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418320" y="2998317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" y="3279952"/>
            <a:ext cx="109728" cy="109728"/>
          </a:xfrm>
          <a:prstGeom prst="rect">
            <a:avLst/>
          </a:prstGeom>
          <a:solidFill>
            <a:srgbClr val="D96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353312" y="3252520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NK cell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3678376" y="3334816"/>
            <a:ext cx="1880620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4574361" y="3310816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086600" y="32525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589520" y="3252520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[-0.71, +0.37]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458200" y="3252520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823959" y="3252520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0.358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418320" y="325252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64592" y="3534156"/>
            <a:ext cx="109728" cy="109728"/>
          </a:xfrm>
          <a:prstGeom prst="rect">
            <a:avLst/>
          </a:prstGeom>
          <a:solidFill>
            <a:srgbClr val="D96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353312" y="3506724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Macrophage M1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4109592" y="3589020"/>
            <a:ext cx="1652113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4849754" y="3565020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086600" y="3506724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589520" y="3506724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[-0.46, +0.49]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458200" y="35067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123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823959" y="3506724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0.653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418320" y="350672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0.906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64592" y="3788359"/>
            <a:ext cx="109728" cy="109728"/>
          </a:xfrm>
          <a:prstGeom prst="rect">
            <a:avLst/>
          </a:prstGeom>
          <a:solidFill>
            <a:srgbClr val="7A3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20040" y="3760927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7A3AAD"/>
                </a:solidFill>
                <a:latin typeface="Arial"/>
              </a:rPr>
              <a:t>Regulatory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53312" y="3760927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Checkpoint inhibitory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3940792" y="3843223"/>
            <a:ext cx="1931414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4809920" y="3819223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086600" y="3760927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589520" y="3760927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[-0.56, +0.55]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458200" y="3760927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123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823959" y="3760927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0.653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418320" y="3760927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0.906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4592" y="4042562"/>
            <a:ext cx="109728" cy="109728"/>
          </a:xfrm>
          <a:prstGeom prst="rect">
            <a:avLst/>
          </a:prstGeom>
          <a:solidFill>
            <a:srgbClr val="7A3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353312" y="4015130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4170862" y="4097426"/>
            <a:ext cx="1840126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Oval 168"/>
          <p:cNvSpPr/>
          <p:nvPr/>
        </p:nvSpPr>
        <p:spPr>
          <a:xfrm>
            <a:off x="5002086" y="4073426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086600" y="401513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+0.07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589520" y="4015130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[-0.43, +0.63]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458200" y="4015130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123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823959" y="4015130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0.653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418320" y="401513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0.906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64592" y="4296765"/>
            <a:ext cx="109728" cy="109728"/>
          </a:xfrm>
          <a:prstGeom prst="rect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20040" y="4269333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B03219"/>
                </a:solidFill>
                <a:latin typeface="Arial"/>
              </a:rPr>
              <a:t>Stromal/EMT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353312" y="4269333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CAF — myCAF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3545726" y="4351629"/>
            <a:ext cx="1816188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4466240" y="4327629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086600" y="4269333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-0.24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589520" y="4269333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[-0.79, +0.26]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458200" y="4269333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103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823959" y="4269333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0.242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418320" y="4269333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64592" y="4550968"/>
            <a:ext cx="109728" cy="109728"/>
          </a:xfrm>
          <a:prstGeom prst="rect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353312" y="4523536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EMT (Mak)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3879123" y="4605832"/>
            <a:ext cx="1425135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4566544" y="4581832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086600" y="4523536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-0.18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589520" y="4523536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[-0.59, +0.23]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458200" y="4523536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110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823959" y="4523536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0.358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418320" y="4523536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64592" y="4805172"/>
            <a:ext cx="109728" cy="109728"/>
          </a:xfrm>
          <a:prstGeom prst="rect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353312" y="4777740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TGF-β (Mariathasan)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3591674" y="4860036"/>
            <a:ext cx="1723736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4490230" y="4836036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086600" y="477774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-0.23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589520" y="4777740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[-0.76, +0.23]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58200" y="4777740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116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823959" y="4777740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0.482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418320" y="477774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0.902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64592" y="5059375"/>
            <a:ext cx="109728" cy="109728"/>
          </a:xfrm>
          <a:prstGeom prst="rect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353312" y="5031943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CAF — iCAF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4085394" y="5114239"/>
            <a:ext cx="1430694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/>
          <p:cNvSpPr/>
          <p:nvPr/>
        </p:nvSpPr>
        <p:spPr>
          <a:xfrm>
            <a:off x="4759577" y="5090239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086600" y="5031943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-0.07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89520" y="5031943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[-0.47, +0.35]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458200" y="5031943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128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823959" y="5031943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0.787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418320" y="5031943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64592" y="5313578"/>
            <a:ext cx="109728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320040" y="5286146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0E2A47"/>
                </a:solidFill>
                <a:latin typeface="Arial"/>
              </a:rPr>
              <a:t>Hypoxia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353312" y="5286146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Hypoxia (Buffa)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4670401" y="5368442"/>
            <a:ext cx="1231945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5244212" y="5344442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7086600" y="5286146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589520" y="5286146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[-0.14, +0.57]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458200" y="5286146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166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823959" y="5286146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0.288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418320" y="5286146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64592" y="5567781"/>
            <a:ext cx="109728" cy="109728"/>
          </a:xfrm>
          <a:prstGeom prst="rect">
            <a:avLst/>
          </a:prstGeom>
          <a:solidFill>
            <a:srgbClr val="5A6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20040" y="5540349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5A6772"/>
                </a:solidFill>
                <a:latin typeface="Arial"/>
              </a:rPr>
              <a:t>Other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353312" y="5540349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Stemness (mRNAsi proxy)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4880841" y="5622645"/>
            <a:ext cx="723008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Oval 225"/>
          <p:cNvSpPr/>
          <p:nvPr/>
        </p:nvSpPr>
        <p:spPr>
          <a:xfrm>
            <a:off x="5198594" y="5598645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086600" y="5540349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+0.18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589520" y="5540349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[-0.02, +0.40]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458200" y="5540349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177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823959" y="5540349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0.145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9418320" y="5540349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0.814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64592" y="5821984"/>
            <a:ext cx="109728" cy="109728"/>
          </a:xfrm>
          <a:prstGeom prst="rect">
            <a:avLst/>
          </a:prstGeom>
          <a:solidFill>
            <a:srgbClr val="5A6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353312" y="5794552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Epithelial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4508515" y="5876848"/>
            <a:ext cx="1735323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234"/>
          <p:cNvSpPr/>
          <p:nvPr/>
        </p:nvSpPr>
        <p:spPr>
          <a:xfrm>
            <a:off x="5328273" y="5852848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086600" y="5794552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589520" y="5794552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[-0.23, +0.77]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458200" y="579455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159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823959" y="5794552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0.418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418320" y="5794552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0.87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64592" y="6076188"/>
            <a:ext cx="109728" cy="109728"/>
          </a:xfrm>
          <a:prstGeom prst="rect">
            <a:avLst/>
          </a:prstGeom>
          <a:solidFill>
            <a:srgbClr val="B58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20040" y="6048756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B58900"/>
                </a:solidFill>
                <a:latin typeface="Arial"/>
              </a:rPr>
              <a:t>Purified immune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353312" y="6048756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58900"/>
                </a:solidFill>
                <a:latin typeface="Arial"/>
              </a:rPr>
              <a:t>B-cell infiltration ★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4093107" y="6131052"/>
            <a:ext cx="2282269" cy="0"/>
          </a:xfrm>
          <a:prstGeom prst="line">
            <a:avLst/>
          </a:prstGeom>
          <a:ln w="22860">
            <a:solidFill>
              <a:srgbClr val="B58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5204257" y="6107052"/>
            <a:ext cx="48000" cy="48000"/>
          </a:xfrm>
          <a:prstGeom prst="ellipse">
            <a:avLst/>
          </a:prstGeom>
          <a:solidFill>
            <a:srgbClr val="B58900"/>
          </a:solidFill>
          <a:ln w="16510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7086600" y="6048756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+0.18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589520" y="6048756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[-0.47, +0.84]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458200" y="6048756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155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8823959" y="6048756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0.505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418320" y="6048756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0.902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64592" y="6330391"/>
            <a:ext cx="109728" cy="109728"/>
          </a:xfrm>
          <a:prstGeom prst="rect">
            <a:avLst/>
          </a:prstGeom>
          <a:solidFill>
            <a:srgbClr val="B58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353312" y="6302959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58900"/>
                </a:solidFill>
                <a:latin typeface="Arial"/>
              </a:rPr>
              <a:t>CD8 cytotoxic ★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3643146" y="6385255"/>
            <a:ext cx="2598347" cy="0"/>
          </a:xfrm>
          <a:prstGeom prst="line">
            <a:avLst/>
          </a:prstGeom>
          <a:ln w="22860">
            <a:solidFill>
              <a:srgbClr val="B58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/>
          <p:cNvSpPr/>
          <p:nvPr/>
        </p:nvSpPr>
        <p:spPr>
          <a:xfrm>
            <a:off x="4863825" y="6361255"/>
            <a:ext cx="48000" cy="48000"/>
          </a:xfrm>
          <a:prstGeom prst="ellipse">
            <a:avLst/>
          </a:prstGeom>
          <a:solidFill>
            <a:srgbClr val="B58900"/>
          </a:solidFill>
          <a:ln w="16510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086600" y="6302959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-0.01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589520" y="6302959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[-0.73, +0.77]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458200" y="6302959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142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823959" y="6302959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0.843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418320" y="6302959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64592" y="6584594"/>
            <a:ext cx="109728" cy="109728"/>
          </a:xfrm>
          <a:prstGeom prst="rect">
            <a:avLst/>
          </a:prstGeom>
          <a:solidFill>
            <a:srgbClr val="B58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353312" y="6557162"/>
            <a:ext cx="1508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58900"/>
                </a:solidFill>
                <a:latin typeface="Arial"/>
              </a:rPr>
              <a:t>T-cell infiltration ★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3843771" y="6639458"/>
            <a:ext cx="2212471" cy="0"/>
          </a:xfrm>
          <a:prstGeom prst="line">
            <a:avLst/>
          </a:prstGeom>
          <a:ln w="22860">
            <a:solidFill>
              <a:srgbClr val="B58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4893669" y="6615458"/>
            <a:ext cx="48000" cy="48000"/>
          </a:xfrm>
          <a:prstGeom prst="ellipse">
            <a:avLst/>
          </a:prstGeom>
          <a:solidFill>
            <a:srgbClr val="B58900"/>
          </a:solidFill>
          <a:ln w="16510">
            <a:solidFill>
              <a:srgbClr val="B58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7086600" y="6557162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589520" y="6557162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[-0.61, +0.66]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458200" y="655716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134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823959" y="6557162"/>
            <a:ext cx="5943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418320" y="6557162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0.957</a:t>
            </a:r>
          </a:p>
        </p:txBody>
      </p:sp>
      <p:sp>
        <p:nvSpPr>
          <p:cNvPr id="269" name="Oval 268"/>
          <p:cNvSpPr/>
          <p:nvPr/>
        </p:nvSpPr>
        <p:spPr>
          <a:xfrm>
            <a:off x="3078960" y="7440648"/>
            <a:ext cx="60000" cy="60000"/>
          </a:xfrm>
          <a:prstGeom prst="ellipse">
            <a:avLst/>
          </a:prstGeom>
          <a:solidFill>
            <a:srgbClr val="B589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3246120" y="7406640"/>
            <a:ext cx="5486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B58900"/>
                </a:solidFill>
                <a:latin typeface="Arial"/>
              </a:rPr>
              <a:t>★ purified immune signatures — CD8 cytotoxic / T-cell infiltration / B-cell infiltration, externally validated in §3.12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3108960" y="7662672"/>
            <a:ext cx="128016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3291840" y="7635240"/>
            <a:ext cx="18288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Δ &gt; 0 (good-enriched)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74920" y="7662672"/>
            <a:ext cx="128016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257800" y="7635240"/>
            <a:ext cx="18288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Δ &lt; 0 (poor-enriched)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6949440" y="7662672"/>
            <a:ext cx="182880" cy="91440"/>
          </a:xfrm>
          <a:prstGeom prst="rect">
            <a:avLst/>
          </a:prstGeom>
          <a:solidFill>
            <a:srgbClr val="E8EBE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7178040" y="7635240"/>
            <a:ext cx="22860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±0.05 no-effect zone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108960" y="7845552"/>
            <a:ext cx="66751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Stars: ★ P &lt; 0.05 · ★★ P &lt; 0.01 · ★★★ P &lt; 0.001  ·  q = Benjamini–Hochberg FDR across 25 signatures  ·  Δ = mean(good) − mean(poor) on per-sample z-score; 1,000× bootstrap 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