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515600" cy="71323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325880" y="5897880"/>
            <a:ext cx="8595360" cy="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325880" y="502920"/>
            <a:ext cx="0" cy="5394960"/>
          </a:xfrm>
          <a:prstGeom prst="line">
            <a:avLst/>
          </a:prstGeom>
          <a:ln w="762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594485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11605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37510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54630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80535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97655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-1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23560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40680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66585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83705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09610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26730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+2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52635" y="5897880"/>
            <a:ext cx="0" cy="4572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469755" y="5952744"/>
            <a:ext cx="36576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0" i="0">
                <a:solidFill>
                  <a:srgbClr val="0E2A47"/>
                </a:solidFill>
                <a:latin typeface="Arial"/>
              </a:rPr>
              <a:t>+3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80160" y="5897880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5815584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280160" y="4860387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4778091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80160" y="3822895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3740599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10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280160" y="2785403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2703107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15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80160" y="1747910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1665614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20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80160" y="710418"/>
            <a:ext cx="45720" cy="0"/>
          </a:xfrm>
          <a:prstGeom prst="line">
            <a:avLst/>
          </a:prstGeom>
          <a:ln w="508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628122"/>
            <a:ext cx="34747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0" i="0">
                <a:solidFill>
                  <a:srgbClr val="0E2A47"/>
                </a:solidFill>
                <a:latin typeface="Arial"/>
              </a:rPr>
              <a:t>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6153912"/>
            <a:ext cx="85953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2A47"/>
                </a:solidFill>
                <a:latin typeface="Arial"/>
              </a:rPr>
              <a:t>NES (normalised enrichment score)</a:t>
            </a:r>
          </a:p>
        </p:txBody>
      </p:sp>
      <p:sp>
        <p:nvSpPr>
          <p:cNvPr id="31" name="TextBox 30"/>
          <p:cNvSpPr txBox="1"/>
          <p:nvPr/>
        </p:nvSpPr>
        <p:spPr>
          <a:xfrm rot="16200000">
            <a:off x="182880" y="3099816"/>
            <a:ext cx="128016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E2A47"/>
                </a:solidFill>
                <a:latin typeface="Arial"/>
              </a:rPr>
              <a:t>−log₁₀(BH padj)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23560" y="502920"/>
            <a:ext cx="0" cy="5394960"/>
          </a:xfrm>
          <a:prstGeom prst="line">
            <a:avLst/>
          </a:prstGeom>
          <a:ln w="7620">
            <a:solidFill>
              <a:srgbClr val="0E2A4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325880" y="5627918"/>
            <a:ext cx="8595360" cy="0"/>
          </a:xfrm>
          <a:prstGeom prst="line">
            <a:avLst/>
          </a:prstGeom>
          <a:ln w="7620">
            <a:solidFill>
              <a:srgbClr val="777777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99032" y="5445038"/>
            <a:ext cx="9144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777777"/>
                </a:solidFill>
                <a:latin typeface="Arial"/>
              </a:rPr>
              <a:t>BH padj = 0.05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325880" y="5772953"/>
            <a:ext cx="8595360" cy="0"/>
          </a:xfrm>
          <a:prstGeom prst="line">
            <a:avLst/>
          </a:prstGeom>
          <a:ln w="5080">
            <a:solidFill>
              <a:srgbClr val="C0C6C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99032" y="5590073"/>
            <a:ext cx="91440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0" i="1">
                <a:solidFill>
                  <a:srgbClr val="C0C6CF"/>
                </a:solidFill>
                <a:latin typeface="Arial"/>
              </a:rPr>
              <a:t>BH padj = 0.25</a:t>
            </a:r>
          </a:p>
        </p:txBody>
      </p:sp>
      <p:sp>
        <p:nvSpPr>
          <p:cNvPr id="37" name="Oval 36"/>
          <p:cNvSpPr/>
          <p:nvPr/>
        </p:nvSpPr>
        <p:spPr>
          <a:xfrm>
            <a:off x="3812145" y="5754104"/>
            <a:ext cx="60000" cy="60000"/>
          </a:xfrm>
          <a:prstGeom prst="ellipse">
            <a:avLst/>
          </a:prstGeom>
          <a:solidFill>
            <a:srgbClr val="B03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19785" y="5757937"/>
            <a:ext cx="60000" cy="60000"/>
          </a:xfrm>
          <a:prstGeom prst="ellipse">
            <a:avLst/>
          </a:prstGeom>
          <a:solidFill>
            <a:srgbClr val="C11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36448" y="5757937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937863" y="5770832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070723" y="5778372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091651" y="5796147"/>
            <a:ext cx="60000" cy="60000"/>
          </a:xfrm>
          <a:prstGeom prst="ellipse">
            <a:avLst/>
          </a:prstGeom>
          <a:solidFill>
            <a:srgbClr val="C11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015352" y="5810213"/>
            <a:ext cx="60000" cy="60000"/>
          </a:xfrm>
          <a:prstGeom prst="ellipse">
            <a:avLst/>
          </a:prstGeom>
          <a:solidFill>
            <a:srgbClr val="00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49961" y="5810213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60973" y="5813305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181077" y="5813305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254452" y="5834179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248020" y="5834179"/>
            <a:ext cx="60000" cy="60000"/>
          </a:xfrm>
          <a:prstGeom prst="ellipse">
            <a:avLst/>
          </a:prstGeom>
          <a:solidFill>
            <a:srgbClr val="C11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287943" y="5840166"/>
            <a:ext cx="60000" cy="60000"/>
          </a:xfrm>
          <a:prstGeom prst="ellipse">
            <a:avLst/>
          </a:prstGeom>
          <a:solidFill>
            <a:srgbClr val="C11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94504" y="5841145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348361" y="5846643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04978" y="5858159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378120" y="5858159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476450" y="5858159"/>
            <a:ext cx="60000" cy="60000"/>
          </a:xfrm>
          <a:prstGeom prst="ellipse">
            <a:avLst/>
          </a:prstGeom>
          <a:solidFill>
            <a:srgbClr val="B03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521125" y="5862703"/>
            <a:ext cx="60000" cy="60000"/>
          </a:xfrm>
          <a:prstGeom prst="ellipse">
            <a:avLst/>
          </a:prstGeom>
          <a:solidFill>
            <a:srgbClr val="B03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721815" y="5862703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477279" y="5865121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524947" y="5866145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26166" y="5867327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534131" y="5867327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588063" y="5867327"/>
            <a:ext cx="60000" cy="60000"/>
          </a:xfrm>
          <a:prstGeom prst="ellipse">
            <a:avLst/>
          </a:prstGeom>
          <a:solidFill>
            <a:srgbClr val="C11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597575" y="5867327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717101" y="5867327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742021" y="5867327"/>
            <a:ext cx="60000" cy="60000"/>
          </a:xfrm>
          <a:prstGeom prst="ellipse">
            <a:avLst/>
          </a:prstGeom>
          <a:solidFill>
            <a:srgbClr val="A6A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057985" y="5813554"/>
            <a:ext cx="60000" cy="60000"/>
          </a:xfrm>
          <a:prstGeom prst="ellipse">
            <a:avLst/>
          </a:prstGeom>
          <a:solidFill>
            <a:srgbClr val="C11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4514903" y="5867880"/>
            <a:ext cx="60000" cy="60000"/>
          </a:xfrm>
          <a:prstGeom prst="ellipse">
            <a:avLst/>
          </a:prstGeom>
          <a:solidFill>
            <a:srgbClr val="C114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306507" y="996987"/>
            <a:ext cx="92000" cy="9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881032" y="3079651"/>
            <a:ext cx="92000" cy="9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47091" y="3419108"/>
            <a:ext cx="92000" cy="9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2677037" y="4167042"/>
            <a:ext cx="92000" cy="9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578156" y="4795551"/>
            <a:ext cx="92000" cy="9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177562" y="5052866"/>
            <a:ext cx="92000" cy="9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885636" y="5174462"/>
            <a:ext cx="92000" cy="9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683546" y="5376860"/>
            <a:ext cx="92000" cy="9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598654" y="5509204"/>
            <a:ext cx="92000" cy="9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05398" y="5521191"/>
            <a:ext cx="92000" cy="9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713739" y="5642870"/>
            <a:ext cx="92000" cy="9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730148" y="5642870"/>
            <a:ext cx="92000" cy="9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767612" y="5642870"/>
            <a:ext cx="92000" cy="9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797134" y="5655728"/>
            <a:ext cx="92000" cy="9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23389" y="5675817"/>
            <a:ext cx="92000" cy="92000"/>
          </a:xfrm>
          <a:prstGeom prst="ellipse">
            <a:avLst/>
          </a:prstGeom>
          <a:solidFill>
            <a:srgbClr val="C11456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619548" y="5675817"/>
            <a:ext cx="92000" cy="9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27695" y="5675817"/>
            <a:ext cx="92000" cy="9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25079" y="5686289"/>
            <a:ext cx="92000" cy="92000"/>
          </a:xfrm>
          <a:prstGeom prst="ellipse">
            <a:avLst/>
          </a:prstGeom>
          <a:solidFill>
            <a:srgbClr val="C11456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96056" y="5689352"/>
            <a:ext cx="92000" cy="92000"/>
          </a:xfrm>
          <a:prstGeom prst="ellipse">
            <a:avLst/>
          </a:prstGeom>
          <a:solidFill>
            <a:srgbClr val="C11456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784669" y="5701540"/>
            <a:ext cx="92000" cy="9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98854" y="5701540"/>
            <a:ext cx="92000" cy="92000"/>
          </a:xfrm>
          <a:prstGeom prst="ellipse">
            <a:avLst/>
          </a:prstGeom>
          <a:solidFill>
            <a:srgbClr val="A6ADB5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915034" y="5701540"/>
            <a:ext cx="92000" cy="92000"/>
          </a:xfrm>
          <a:prstGeom prst="ellipse">
            <a:avLst/>
          </a:prstGeom>
          <a:solidFill>
            <a:srgbClr val="C11456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570700" y="4534860"/>
            <a:ext cx="92000" cy="92000"/>
          </a:xfrm>
          <a:prstGeom prst="ellipse">
            <a:avLst/>
          </a:prstGeom>
          <a:solidFill>
            <a:srgbClr val="00567D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333430" y="4709492"/>
            <a:ext cx="92000" cy="9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116950" y="4970268"/>
            <a:ext cx="92000" cy="9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317206" y="4990004"/>
            <a:ext cx="92000" cy="9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746043" y="5036371"/>
            <a:ext cx="92000" cy="9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103248" y="5142733"/>
            <a:ext cx="92000" cy="9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808087" y="5160430"/>
            <a:ext cx="92000" cy="9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414787" y="5162320"/>
            <a:ext cx="92000" cy="92000"/>
          </a:xfrm>
          <a:prstGeom prst="ellipse">
            <a:avLst/>
          </a:prstGeom>
          <a:solidFill>
            <a:srgbClr val="C11456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911473" y="5181498"/>
            <a:ext cx="92000" cy="9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989471" y="5181498"/>
            <a:ext cx="92000" cy="92000"/>
          </a:xfrm>
          <a:prstGeom prst="ellipse">
            <a:avLst/>
          </a:prstGeom>
          <a:solidFill>
            <a:srgbClr val="057A64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871067" y="5279634"/>
            <a:ext cx="92000" cy="92000"/>
          </a:xfrm>
          <a:prstGeom prst="ellipse">
            <a:avLst/>
          </a:prstGeom>
          <a:solidFill>
            <a:srgbClr val="C11456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147045" y="5279634"/>
            <a:ext cx="92000" cy="92000"/>
          </a:xfrm>
          <a:prstGeom prst="ellipse">
            <a:avLst/>
          </a:prstGeom>
          <a:solidFill>
            <a:srgbClr val="C11456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037796" y="5316663"/>
            <a:ext cx="92000" cy="9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250727" y="5460893"/>
            <a:ext cx="92000" cy="9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576971" y="5658330"/>
            <a:ext cx="92000" cy="92000"/>
          </a:xfrm>
          <a:prstGeom prst="ellipse">
            <a:avLst/>
          </a:prstGeom>
          <a:solidFill>
            <a:srgbClr val="B03219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716041" y="5689196"/>
            <a:ext cx="92000" cy="92000"/>
          </a:xfrm>
          <a:prstGeom prst="ellipse">
            <a:avLst/>
          </a:prstGeom>
          <a:solidFill>
            <a:srgbClr val="00567D"/>
          </a:solidFill>
          <a:ln w="508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280507" y="970987"/>
            <a:ext cx="144000" cy="144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855032" y="3053651"/>
            <a:ext cx="144000" cy="144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8721091" y="3393108"/>
            <a:ext cx="144000" cy="144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651037" y="4141042"/>
            <a:ext cx="144000" cy="144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8552156" y="4769551"/>
            <a:ext cx="144000" cy="144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8544700" y="4508860"/>
            <a:ext cx="144000" cy="144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8307430" y="4683492"/>
            <a:ext cx="144000" cy="144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8291206" y="4964004"/>
            <a:ext cx="144000" cy="144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720043" y="5010371"/>
            <a:ext cx="144000" cy="144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782087" y="5134430"/>
            <a:ext cx="144000" cy="144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388787" y="5136320"/>
            <a:ext cx="144000" cy="144000"/>
          </a:xfrm>
          <a:prstGeom prst="ellipse">
            <a:avLst/>
          </a:prstGeom>
          <a:noFill/>
          <a:ln w="1397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425659" y="932544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57A64"/>
                </a:solidFill>
                <a:latin typeface="Arial"/>
              </a:rPr>
              <a:t>E2F Targets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000184" y="3028812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57A64"/>
                </a:solidFill>
                <a:latin typeface="Arial"/>
              </a:rPr>
              <a:t>G2M Checkpoint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866243" y="3419070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57A64"/>
                </a:solidFill>
                <a:latin typeface="Arial"/>
              </a:rPr>
              <a:t>Myc Targets V1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95405" y="4147284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B03219"/>
                </a:solidFill>
                <a:latin typeface="Arial"/>
              </a:rPr>
              <a:t>Epithelial Mesenchymal Transition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89852" y="4471180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0567D"/>
                </a:solidFill>
                <a:latin typeface="Arial"/>
              </a:rPr>
              <a:t>HDR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97308" y="4762381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57A64"/>
                </a:solidFill>
                <a:latin typeface="Arial"/>
              </a:rPr>
              <a:t>Myc Targets V2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452582" y="4680455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57A64"/>
                </a:solidFill>
                <a:latin typeface="Arial"/>
              </a:rPr>
              <a:t>Mitotic prometaphase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436358" y="4932229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57A64"/>
                </a:solidFill>
                <a:latin typeface="Arial"/>
              </a:rPr>
              <a:t>Spindle checkpoint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64411" y="5030330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B03219"/>
                </a:solidFill>
                <a:latin typeface="Arial"/>
              </a:rPr>
              <a:t>Collagen assembly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236102" y="4908347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57A64"/>
                </a:solidFill>
                <a:latin typeface="Arial"/>
              </a:rPr>
              <a:t>Metaphase-anaphase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533939" y="5125379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C11456"/>
                </a:solidFill>
                <a:latin typeface="Arial"/>
              </a:rPr>
              <a:t>CD22 BCR reg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595930" y="5027220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B03219"/>
                </a:solidFill>
                <a:latin typeface="Arial"/>
              </a:rPr>
              <a:t>Myogenesis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226455" y="5127035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B03219"/>
                </a:solidFill>
                <a:latin typeface="Arial"/>
              </a:rPr>
              <a:t>Elastic fibre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222400" y="5123392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57A64"/>
                </a:solidFill>
                <a:latin typeface="Arial"/>
              </a:rPr>
              <a:t>G1-S transition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329841" y="5175751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B03219"/>
                </a:solidFill>
                <a:latin typeface="Arial"/>
              </a:rPr>
              <a:t>ECM proteoglycans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108623" y="5195410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57A64"/>
                </a:solidFill>
                <a:latin typeface="Arial"/>
              </a:rPr>
              <a:t>G2/M phase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004788" y="5127889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57A64"/>
                </a:solidFill>
                <a:latin typeface="Arial"/>
              </a:rPr>
              <a:t>Mitotic Spindle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66197" y="5265851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C11456"/>
                </a:solidFill>
                <a:latin typeface="Arial"/>
              </a:rPr>
              <a:t>BCR → 2nd messengers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456164" y="5307170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B03219"/>
                </a:solidFill>
                <a:latin typeface="Arial"/>
              </a:rPr>
              <a:t>Collagen degradation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990219" y="5233827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C11456"/>
                </a:solidFill>
                <a:latin typeface="Arial"/>
              </a:rPr>
              <a:t>BCR signaling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802698" y="5304843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A6ADB5"/>
                </a:solidFill>
                <a:latin typeface="Arial"/>
              </a:rPr>
              <a:t>Mtorc1 Signaling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669095" y="5476352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B03219"/>
                </a:solidFill>
                <a:latin typeface="Arial"/>
              </a:rPr>
              <a:t>Collagen formation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24550" y="5475896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A6ADB5"/>
                </a:solidFill>
                <a:latin typeface="Arial"/>
              </a:rPr>
              <a:t>Unfolded Protein Response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017022" y="5465311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B03219"/>
                </a:solidFill>
                <a:latin typeface="Arial"/>
              </a:rPr>
              <a:t>Apical Junction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132107" y="5650971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A6ADB5"/>
                </a:solidFill>
                <a:latin typeface="Arial"/>
              </a:rPr>
              <a:t>Uv Response Dn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995339" y="5638842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B03219"/>
                </a:solidFill>
                <a:latin typeface="Arial"/>
              </a:rPr>
              <a:t>Integrin–cell surface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148516" y="5613136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A6ADB5"/>
                </a:solidFill>
                <a:latin typeface="Arial"/>
              </a:rPr>
              <a:t>Hypoxia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185980" y="5640312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A6ADB5"/>
                </a:solidFill>
                <a:latin typeface="Arial"/>
              </a:rPr>
              <a:t>Xenobiotic Metabolism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215502" y="5586308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A6ADB5"/>
                </a:solidFill>
                <a:latin typeface="Arial"/>
              </a:rPr>
              <a:t>Kras Signaling Up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835193" y="5680670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0567D"/>
                </a:solidFill>
                <a:latin typeface="Arial"/>
              </a:rPr>
              <a:t>MMR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037916" y="5637347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A6ADB5"/>
                </a:solidFill>
                <a:latin typeface="Arial"/>
              </a:rPr>
              <a:t>Wnt Beta Catenin Signaling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241757" y="5611842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C11456"/>
                </a:solidFill>
                <a:latin typeface="Arial"/>
              </a:rPr>
              <a:t>Inflammatory Response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246063" y="5663110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A6ADB5"/>
                </a:solidFill>
                <a:latin typeface="Arial"/>
              </a:rPr>
              <a:t>Adipogenesis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243447" y="5697968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C11456"/>
                </a:solidFill>
                <a:latin typeface="Arial"/>
              </a:rPr>
              <a:t>Interferon Alpha Response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314424" y="5635848"/>
            <a:ext cx="1554480" cy="14630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1" i="0">
                <a:solidFill>
                  <a:srgbClr val="C11456"/>
                </a:solidFill>
                <a:latin typeface="Arial"/>
              </a:rPr>
              <a:t>Complement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6429375" y="718718"/>
            <a:ext cx="3148050" cy="0"/>
          </a:xfrm>
          <a:prstGeom prst="line">
            <a:avLst/>
          </a:prstGeom>
          <a:ln w="2794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ight Triangle 151"/>
          <p:cNvSpPr/>
          <p:nvPr/>
        </p:nvSpPr>
        <p:spPr>
          <a:xfrm>
            <a:off x="9547425" y="688718"/>
            <a:ext cx="60000" cy="60000"/>
          </a:xfrm>
          <a:prstGeom prst="rtTriangl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429375" y="444398"/>
            <a:ext cx="314805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Enriched in Good responders</a:t>
            </a:r>
          </a:p>
        </p:txBody>
      </p:sp>
      <p:cxnSp>
        <p:nvCxnSpPr>
          <p:cNvPr id="154" name="Connector 153"/>
          <p:cNvCxnSpPr/>
          <p:nvPr/>
        </p:nvCxnSpPr>
        <p:spPr>
          <a:xfrm flipH="1">
            <a:off x="1669694" y="718718"/>
            <a:ext cx="3148051" cy="0"/>
          </a:xfrm>
          <a:prstGeom prst="line">
            <a:avLst/>
          </a:prstGeom>
          <a:ln w="2794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ight Triangle 154"/>
          <p:cNvSpPr/>
          <p:nvPr/>
        </p:nvSpPr>
        <p:spPr>
          <a:xfrm rot="10800000">
            <a:off x="1639694" y="688718"/>
            <a:ext cx="60000" cy="60000"/>
          </a:xfrm>
          <a:prstGeom prst="rtTriangl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669694" y="444398"/>
            <a:ext cx="3148051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Enriched in Poor responders</a:t>
            </a:r>
          </a:p>
        </p:txBody>
      </p:sp>
      <p:sp>
        <p:nvSpPr>
          <p:cNvPr id="157" name="Oval 156"/>
          <p:cNvSpPr/>
          <p:nvPr/>
        </p:nvSpPr>
        <p:spPr>
          <a:xfrm>
            <a:off x="1437040" y="6521104"/>
            <a:ext cx="52000" cy="52000"/>
          </a:xfrm>
          <a:prstGeom prst="ellipse">
            <a:avLst/>
          </a:prstGeom>
          <a:solidFill>
            <a:srgbClr val="057A64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600200" y="6464808"/>
            <a:ext cx="1158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Cell cycle</a:t>
            </a:r>
          </a:p>
        </p:txBody>
      </p:sp>
      <p:sp>
        <p:nvSpPr>
          <p:cNvPr id="159" name="Oval 158"/>
          <p:cNvSpPr/>
          <p:nvPr/>
        </p:nvSpPr>
        <p:spPr>
          <a:xfrm>
            <a:off x="2869600" y="6521104"/>
            <a:ext cx="52000" cy="52000"/>
          </a:xfrm>
          <a:prstGeom prst="ellipse">
            <a:avLst/>
          </a:prstGeom>
          <a:solidFill>
            <a:srgbClr val="00567D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032760" y="6464808"/>
            <a:ext cx="1158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DNA repair</a:t>
            </a:r>
          </a:p>
        </p:txBody>
      </p:sp>
      <p:sp>
        <p:nvSpPr>
          <p:cNvPr id="161" name="Oval 160"/>
          <p:cNvSpPr/>
          <p:nvPr/>
        </p:nvSpPr>
        <p:spPr>
          <a:xfrm>
            <a:off x="4302160" y="6521104"/>
            <a:ext cx="52000" cy="52000"/>
          </a:xfrm>
          <a:prstGeom prst="ellipse">
            <a:avLst/>
          </a:prstGeom>
          <a:solidFill>
            <a:srgbClr val="C11456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465320" y="6464808"/>
            <a:ext cx="1158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Immune</a:t>
            </a:r>
          </a:p>
        </p:txBody>
      </p:sp>
      <p:sp>
        <p:nvSpPr>
          <p:cNvPr id="163" name="Oval 162"/>
          <p:cNvSpPr/>
          <p:nvPr/>
        </p:nvSpPr>
        <p:spPr>
          <a:xfrm>
            <a:off x="5734720" y="6521104"/>
            <a:ext cx="52000" cy="52000"/>
          </a:xfrm>
          <a:prstGeom prst="ellipse">
            <a:avLst/>
          </a:prstGeom>
          <a:solidFill>
            <a:srgbClr val="B03219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897880" y="6464808"/>
            <a:ext cx="1158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EMT / Stromal</a:t>
            </a:r>
          </a:p>
        </p:txBody>
      </p:sp>
      <p:sp>
        <p:nvSpPr>
          <p:cNvPr id="165" name="Oval 164"/>
          <p:cNvSpPr/>
          <p:nvPr/>
        </p:nvSpPr>
        <p:spPr>
          <a:xfrm>
            <a:off x="7171280" y="6525104"/>
            <a:ext cx="44000" cy="44000"/>
          </a:xfrm>
          <a:prstGeom prst="ellipse">
            <a:avLst/>
          </a:prstGeom>
          <a:solidFill>
            <a:srgbClr val="A6ADB5"/>
          </a:solidFill>
          <a:ln w="3810">
            <a:solidFill>
              <a:srgbClr val="0E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7330440" y="6464808"/>
            <a:ext cx="1158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Other Hallmark</a:t>
            </a:r>
          </a:p>
        </p:txBody>
      </p:sp>
      <p:sp>
        <p:nvSpPr>
          <p:cNvPr id="167" name="Oval 166"/>
          <p:cNvSpPr/>
          <p:nvPr/>
        </p:nvSpPr>
        <p:spPr>
          <a:xfrm>
            <a:off x="8595840" y="6517104"/>
            <a:ext cx="60000" cy="60000"/>
          </a:xfrm>
          <a:prstGeom prst="ellipse">
            <a:avLst/>
          </a:prstGeom>
          <a:noFill/>
          <a:ln w="12700">
            <a:solidFill>
              <a:srgbClr val="D4A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8763000" y="6464808"/>
            <a:ext cx="115824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0" i="0">
                <a:solidFill>
                  <a:srgbClr val="0E2A47"/>
                </a:solidFill>
                <a:latin typeface="Arial"/>
              </a:rPr>
              <a:t>|NES| ≥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