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515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325880" y="5897880"/>
            <a:ext cx="859536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325880" y="502920"/>
            <a:ext cx="0" cy="539496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491175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308295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17652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134772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44129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61249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70606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87726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97083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14203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60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40680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50036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67156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76513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093633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02990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0110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29467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746587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755944" y="589788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73064" y="595274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80160" y="589788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81558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280160" y="5263178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5180882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80160" y="4628477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4546181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280160" y="399377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3911480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280160" y="3359075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14400" y="3276779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80160" y="272437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264207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280160" y="208967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200737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280160" y="145497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0" y="137267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280160" y="82027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73797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6153912"/>
            <a:ext cx="85953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log₂ fold change (good vs poor)</a:t>
            </a:r>
          </a:p>
        </p:txBody>
      </p:sp>
      <p:sp>
        <p:nvSpPr>
          <p:cNvPr id="45" name="TextBox 44"/>
          <p:cNvSpPr txBox="1"/>
          <p:nvPr/>
        </p:nvSpPr>
        <p:spPr>
          <a:xfrm rot="16200000">
            <a:off x="182880" y="3099816"/>
            <a:ext cx="1280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−log₁₀(p-value)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23560" y="502920"/>
            <a:ext cx="0" cy="5394960"/>
          </a:xfrm>
          <a:prstGeom prst="line">
            <a:avLst/>
          </a:prstGeom>
          <a:ln w="7620">
            <a:solidFill>
              <a:srgbClr val="0E2A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25880" y="4628477"/>
            <a:ext cx="8595360" cy="0"/>
          </a:xfrm>
          <a:prstGeom prst="line">
            <a:avLst/>
          </a:prstGeom>
          <a:ln w="7620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371600" y="4445597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P = 0.01</a:t>
            </a:r>
          </a:p>
        </p:txBody>
      </p:sp>
      <p:sp>
        <p:nvSpPr>
          <p:cNvPr id="49" name="Oval 48"/>
          <p:cNvSpPr/>
          <p:nvPr/>
        </p:nvSpPr>
        <p:spPr>
          <a:xfrm>
            <a:off x="5614893" y="58780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27212" y="53712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21984" y="58446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460496" y="5590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410187" y="57327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597524" y="58646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156853" y="56370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47631" y="58196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805320" y="58258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634800" y="5858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570790" y="58314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737295" y="56004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161824" y="5523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780614" y="54841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245259" y="54634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70058" y="56061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110529" y="56503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536858" y="5769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462230" y="58244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688783" y="57812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273172" y="55111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79827" y="51471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6787" y="5488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12345" y="4906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655405" y="58557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687587" y="54687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302313" y="54057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758538" y="52404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871163" y="57068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194363" y="5291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438074" y="57254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727041" y="56370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626642" y="58592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527448" y="57653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66398" y="56922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567965" y="58520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790673" y="55169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82511" y="57533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649728" y="5868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663636" y="5779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887789" y="57752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907351" y="5082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12556" y="50783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23394" y="58357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82732" y="55961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678353" y="58525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779035" y="54835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984766" y="5409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606503" y="58802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79701" y="58203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532648" y="57983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521549" y="5849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479840" y="56408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747324" y="53333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03221" y="57511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956387" y="5331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666119" y="5797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744619" y="56744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909476" y="54810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753662" y="55893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215623" y="55318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300925" y="54293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117590" y="57813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962523" y="57001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556682" y="5816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736382" y="5441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559981" y="57632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727560" y="57095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469662" y="5716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669516" y="5804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784835" y="56734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656778" y="58257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345935" y="5756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444552" y="56968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515421" y="5743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830319" y="58179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857223" y="55465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367874" y="56328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362404" y="5689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839925" y="53347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719441" y="56267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209372" y="56618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507819" y="57578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84657" y="5835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558823" y="5824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374056" y="56903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460007" y="52927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4041535" y="4751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5716447" y="57381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963896" y="57910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356217" y="54057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5287815" y="5596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5520166" y="57411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5758856" y="5329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43204" y="54000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679093" y="57857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98417" y="5819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839801" y="55771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397369" y="57898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578207" y="58613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05828" y="5637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5561052" y="58058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40506" y="5844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856579" y="5537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563484" y="58621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261915" y="4945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5598463" y="5881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862114" y="55894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5569474" y="5771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320040" y="56141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835249" y="58298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4851803" y="54047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142488" y="51795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5712338" y="58068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4860351" y="53907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039890" y="57335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490286" y="58133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5024196" y="54456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343525" y="55985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609968" y="58832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273689" y="5598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5286018" y="53477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500400" y="56274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5756915" y="54820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465676" y="5645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969826" y="5317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675961" y="5783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5472958" y="56838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5348340" y="51733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6357765" y="57638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5735925" y="55081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5533248" y="5809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5388510" y="55466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5553421" y="5787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436668" y="57465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380973" y="57773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350707" y="5631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5295981" y="56903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432748" y="57686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5620843" y="58652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5680947" y="58468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736935" y="57622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5571395" y="5848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5101909" y="56806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4924239" y="53419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740853" y="55250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542535" y="5782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5670743" y="57636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5805116" y="5564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6744361" y="5376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5728431" y="5700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5458031" y="5716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747660" y="54774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5781311" y="57359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715982" y="5836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5485710" y="56809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5566654" y="57800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846123" y="5222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503195" y="57630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807899" y="53539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573362" y="58643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533408" y="57371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865708" y="57789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5692328" y="57399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5837542" y="53197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6052669" y="52682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5538672" y="58453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188945" y="56167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935303" y="54912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5613206" y="58822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5765832" y="5760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5626168" y="58611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4948377" y="5545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5287483" y="56775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238988" y="56844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5476265" y="5791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6936168" y="5333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904652" y="55739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6120435" y="5746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5486795" y="58096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792429" y="57603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468068" y="56452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76070" y="57863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6059843" y="58127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5609411" y="58837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5169635" y="56536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5625099" y="58671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908855" y="54321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6103777" y="53517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046667" y="52384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331690" y="54985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63711" y="53448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6024538" y="5019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5117974" y="56822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32931" y="54705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688504" y="58323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895806" y="53763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5683386" y="5759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727928" y="55492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846936" y="5578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826135" y="57568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942918" y="5582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176289" y="51745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535757" y="58466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392882" y="55832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476029" y="56914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6163814" y="56083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004023" y="53394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5666699" y="58334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5818691" y="56119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459396" y="57761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707823" y="5708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718331" y="55799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903506" y="57753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527465" y="58115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5711840" y="57724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5660054" y="57917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301670" y="5451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396676" y="57606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294205" y="56109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293355" y="58102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4672814" y="5166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5624416" y="5874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155360" y="52485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182897" y="5288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5646587" y="57753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902565" y="5552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5516568" y="58437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5076942" y="56782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5446653" y="55971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866699" y="5300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628413" y="58737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98133" y="52752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4714899" y="55112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666275" y="5823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741687" y="54477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600291" y="58722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5584017" y="5874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5693607" y="57618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077874" y="53985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243" y="53355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32362" y="5744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851745" y="4876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814333" y="56282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795223" y="56862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686196" y="5780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460085" y="56412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5289360" y="56355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5177948" y="54722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650893" y="58210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5385127" y="5707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162809" y="58099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6074679" y="4667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182901" y="53865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123890" y="54966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637390" y="5809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6407641" y="52895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5967948" y="5390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872390" y="5305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115697" y="51824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5536931" y="5776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5938992" y="5508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5683283" y="5764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064506" y="56745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5693964" y="56535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5349673" y="52677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5622714" y="5860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5595569" y="58624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5955757" y="56738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5507094" y="56995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5730306" y="56101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333220" y="56990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5693521" y="58433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5723530" y="5798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5667982" y="57795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4762933" y="5577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5336120" y="56792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996558" y="55095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5698695" y="56690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5418951" y="57007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5453292" y="5716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5155961" y="5749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5533901" y="58156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5583793" y="58608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5305857" y="5656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5546335" y="57743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5673601" y="58255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5774566" y="5491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5350446" y="58452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5186344" y="54688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5047540" y="57189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6119762" y="57450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5532827" y="5861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5732045" y="57559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5673176" y="56716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5687772" y="57958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5526111" y="57371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5666821" y="58218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967758" y="5711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5769659" y="57208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5779705" y="53564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5332867" y="57763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6809611" y="52073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5650339" y="58553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501838" y="57755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956183" y="54832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4873616" y="52939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051269" y="57284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5783194" y="54188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6045292" y="56447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5767077" y="55301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5607059" y="5882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4500866" y="53622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5699411" y="57861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5027064" y="54436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5670522" y="57991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5205444" y="52663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6179752" y="53457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4957002" y="5619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5113642" y="55345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5694737" y="5825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5440438" y="5732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5571149" y="58664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5824352" y="56946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5614024" y="58761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5222303" y="55971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632092" y="54967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5612734" y="5882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4877655" y="5518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5489018" y="5763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5199058" y="55243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5204759" y="48826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6212893" y="52842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5221969" y="54054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5553014" y="5787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5268177" y="56454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5612447" y="58764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5082613" y="57506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4342630" y="51520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5821175" y="4795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5863951" y="5454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5748763" y="5551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5499718" y="56663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5613573" y="58821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5129343" y="56304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016292" y="5136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5884032" y="57585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5851401" y="5741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5246203" y="53926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5659625" y="5865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5730434" y="55862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5539624" y="56670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5431939" y="56289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5744838" y="5644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4741684" y="49658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5704207" y="56908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5654295" y="58420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5478020" y="5714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5529209" y="58294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5345173" y="5648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5500919" y="5662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5131333" y="55233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5537461" y="58261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5349327" y="57746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5533071" y="57568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5534042" y="56940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4942812" y="55045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5940437" y="58088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5512083" y="5721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5538381" y="5716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5350151" y="5823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6211399" y="55153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5687777" y="57174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5977592" y="55977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5795311" y="52604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5637537" y="58552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5041509" y="54439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5553743" y="5837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5474346" y="57609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5815945" y="55643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4782584" y="50567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5600677" y="58782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5973452" y="56641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5246736" y="54269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5529668" y="58422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5574548" y="58245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5648909" y="58325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5993120" y="57827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5683459" y="5721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5607508" y="5882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4235134" y="48634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4774920" y="54524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5452144" y="56568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5769274" y="5686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5318395" y="56708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5404092" y="52834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5629152" y="58545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5296300" y="55755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5610232" y="58829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5716756" y="57769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5613768" y="58772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5885236" y="5758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5760849" y="58068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4960788" y="51959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4736503" y="53439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5910114" y="5059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5258167" y="54750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5760344" y="57930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5633072" y="5867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6227689" y="57686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5672116" y="5834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5941413" y="57990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5531466" y="57975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5544792" y="57919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5192744" y="56926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5674238" y="57282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5751011" y="56883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5590779" y="58581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6118181" y="5484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6270492" y="5629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6057633" y="54819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5521151" y="57142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6156739" y="46584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5943167" y="57246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5519385" y="56848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4686620" y="4808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5227847" y="52640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5798280" y="55320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5746430" y="58027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5865950" y="5761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5308503" y="55020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5719219" y="57864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6257893" y="56611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4648873" y="54695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5104983" y="55517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5612783" y="58760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5687901" y="5857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5846905" y="57600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5791981" y="56262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5961098" y="5698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5628581" y="58659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5593921" y="58575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5762416" y="58023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5459428" y="57794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5455441" y="5805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6511472" y="49402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5555648" y="57962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5770279" y="57516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5656579" y="58514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6102454" y="52914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5470077" y="58207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5526614" y="57780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4893150" y="52900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5934938" y="57582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5481870" y="57774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5646177" y="57675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4960038" y="53562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5322919" y="5692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5452823" y="55975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5452171" y="5723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5252813" y="55883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5985153" y="47886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5667081" y="57053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5653096" y="57924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5685096" y="5775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6003101" y="54537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5734800" y="56082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5658931" y="58323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4190567" y="54881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5004412" y="54155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5325398" y="5561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5175521" y="5561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5522357" y="57767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5249846" y="5382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5515488" y="5633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5184383" y="57369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5451785" y="58630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8213454" y="54355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5520118" y="5710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5758694" y="55058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5489579" y="56760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5712409" y="5742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6051571" y="5611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5967284" y="5645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5609293" y="58833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5255901" y="57895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5829135" y="54351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963296" y="53983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5716481" y="56334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982725" y="53529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6093821" y="50451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5330305" y="56307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5487112" y="5844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5424464" y="58260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5604913" y="58767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5492307" y="57173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5216960" y="55836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5528276" y="58476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5765745" y="53996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5185967" y="55949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5127660" y="47910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5501442" y="57783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5579689" y="58270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5903191" y="57627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6393106" y="57038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4403417" y="54516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5702527" y="5699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5700316" y="58065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5659344" y="57752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5171097" y="5269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5927159" y="54470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5730614" y="5700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5615359" y="58779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5509025" y="58084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6208782" y="52037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7471411" y="55696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4735899" y="54083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756292" y="57065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5350630" y="52047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4743708" y="54959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707839" y="5691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122845" y="57394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5361412" y="56884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4511888" y="55699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5045708" y="5627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3429606" y="54261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5570597" y="58211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5784790" y="58302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5430749" y="54798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5506355" y="57103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5669075" y="58655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5331455" y="57832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6777685" y="5371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6120481" y="55495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5383200" y="53619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5413097" y="57340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6855321" y="5271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5517934" y="57745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5522900" y="57380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5272305" y="52568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5546503" y="5788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5388523" y="57181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5126490" y="5410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5274320" y="50065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5375171" y="54132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5604885" y="58774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5685496" y="57577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5080421" y="56061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5996000" y="5757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6122695" y="54232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5726348" y="54726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4937791" y="55616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6060166" y="54346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5267798" y="57228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6112187" y="5649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5585118" y="58589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6007438" y="54973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909431" y="55209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4882163" y="49929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5651610" y="5805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5882869" y="52840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5528014" y="57308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5708161" y="58328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5612478" y="58797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5614222" y="58753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636146" y="58449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6252468" y="56807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5769414" y="5633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5670403" y="5777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5830178" y="5793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5333366" y="51554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5519304" y="57397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5817511" y="5267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5477741" y="57532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5715062" y="58599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6043702" y="5573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5218236" y="57415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5977922" y="54878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535398" y="56878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5394869" y="56230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5570612" y="58506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5643072" y="5868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5211607" y="55110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5630033" y="5861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260647" y="50957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5546694" y="57731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5211369" y="57147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6120396" y="5733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5965806" y="5544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5564512" y="58690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5853428" y="51276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5311498" y="5102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5651048" y="57715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5597437" y="58659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5303265" y="55207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585992" y="58521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5668454" y="58078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5874561" y="48970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5554718" y="57719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5836091" y="5101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4893330" y="55180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6616282" y="56346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5520322" y="58447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5582284" y="5847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5357820" y="5698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5125222" y="52342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4962642" y="53057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5297666" y="54283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5550205" y="57930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4917426" y="57486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4868358" y="53242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6053922" y="49643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5405666" y="5809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5684564" y="58276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5464712" y="58547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5302925" y="56072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5071105" y="5276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6210246" y="5658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5901878" y="57429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5550961" y="58393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5675331" y="57696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5225554" y="5755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5729104" y="55732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5714480" y="56666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5535833" y="58023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5563276" y="5818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5599174" y="58627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5503907" y="58258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5840971" y="5747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5683421" y="56917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985127" y="5572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5105620" y="5591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5377521" y="55849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5701960" y="57135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4909783" y="5347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5767597" y="53000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5457824" y="5635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5617118" y="58660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5835366" y="56181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5295727" y="4925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5229177" y="5652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938542" y="54297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5861463" y="5748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6168948" y="5456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5467954" y="55673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5595308" y="58780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6220508" y="55426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5594219" y="58556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5747567" y="56603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4123266" y="53314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4975337" y="5683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643880" y="5840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5339114" y="57621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5715641" y="55474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5487186" y="57902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3532065" y="50234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6436216" y="54701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5963488" y="54756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5679910" y="57705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5138666" y="5712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5262798" y="56049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6200477" y="48375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5766755" y="54931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5488241" y="56247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5562564" y="58059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5904004" y="53177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4677146" y="54155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5367989" y="56112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5549786" y="57609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5949423" y="57063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5246727" y="51008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5567975" y="5873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5682809" y="57620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5510966" y="5840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5949028" y="51736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5907594" y="57066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5603783" y="58775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5085324" y="57337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5047131" y="55196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5612793" y="58795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6298889" y="5342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5979259" y="5756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5535731" y="58494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5663897" y="58419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5944663" y="51730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5599731" y="58803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5544449" y="58365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6101886" y="52852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5933110" y="53916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5859231" y="54454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6011915" y="4980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5487060" y="5794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6687373" y="57133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5541098" y="57936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5520878" y="57398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6100808" y="56050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5712666" y="55353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5652896" y="58408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5566741" y="58054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5101833" y="5572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5685320" y="58321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5769443" y="56930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5664148" y="58432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5384501" y="56236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5792456" y="56095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5194627" y="5560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5810211" y="56075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5386587" y="56097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5424749" y="5474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5447079" y="55993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5773676" y="5865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4986821" y="57817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5510392" y="57288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5973617" y="56889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5479781" y="57131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6051549" y="49079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6916465" y="56891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5565650" y="58645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5677046" y="58317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5776770" y="5763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5491387" y="5673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5285181" y="53888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5715628" y="5836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5608898" y="58834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5594360" y="58750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5060063" y="57307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5422349" y="58136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5594901" y="58518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5666870" y="57334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5734126" y="58519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5858171" y="58108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6017550" y="51093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5713941" y="5564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8312696" y="51396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5245744" y="53648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5941949" y="56664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5264787" y="57155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5568023" y="58458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5464085" y="58014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5636994" y="58656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5899808" y="58446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5865464" y="5283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5170089" y="54778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5646597" y="58493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5616501" y="58783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6206270" y="486508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5831521" y="542434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5996712" y="58024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4433113" y="54380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5604212" y="58731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4682147" y="57160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5799119" y="57975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5530185" y="57964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6404546" y="51878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5531263" y="58307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5582898" y="58582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5697305" y="58206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5739883" y="5691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5913338" y="50754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6108586" y="5537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5957539" y="55263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5728980" y="55507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5504866" y="57192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5023099" y="58081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5575956" y="58651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5444557" y="57793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5569578" y="57811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5721337" y="56428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5761982" y="54507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5805953" y="5547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5517420" y="57338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5214075" y="54305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5155071" y="52720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5459101" y="5830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5479743" y="5766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6031101" y="55233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5624695" y="58427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5655504" y="58371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5526324" y="56951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5521041" y="57571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4537559" y="54579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5880701" y="56660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5792479" y="57639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6036617" y="54649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5735555" y="58197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5732041" y="53815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6112613" y="55542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4775109" y="56380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6141870" y="54802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5422524" y="54316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5484814" y="57849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5400626" y="58011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5439362" y="58120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5622749" y="58687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5514241" y="57119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5723702" y="56650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5670690" y="57804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6483686" y="57581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5776249" y="5619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5894053" y="53773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5616064" y="58705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5692216" y="57741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5486728" y="56412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5202401" y="56534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5462950" y="58015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5444861" y="57589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5506737" y="57140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5724986" y="5713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5879803" y="54631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5782949" y="58305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5450526" y="57336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5701440" y="58560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5541477" y="58077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4982071" y="56157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6163374" y="55542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5362386" y="56731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5541260" y="5793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6172678" y="55204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4849737" y="57193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5401806" y="54881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5426906" y="5699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5658573" y="57800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5477685" y="5697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5499752" y="57890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5345138" y="57206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5175793" y="54304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5811571" y="56214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6030038" y="54473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6208507" y="53729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5588174" y="58713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5798506" y="58606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5387592" y="5671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5383164" y="48555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4638747" y="52536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5766313" y="5754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6255303" y="53068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4673079" y="55111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4402249" y="5232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5356939" y="55334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6344051" y="56510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5521981" y="57722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5407368" y="57518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5402592" y="57898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4734248" y="52417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5741494" y="58002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4997752" y="5453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5534586" y="57425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5291326" y="57284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5702790" y="57738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5498755" y="57494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5422307" y="54385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5378795" y="54056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6477630" y="4938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5080855" y="53422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5638413" y="58556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5497207" y="57501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5001543" y="50535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5257660" y="56450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5673953" y="58000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5646119" y="58305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xfrm>
            <a:off x="5529624" y="58322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xfrm>
            <a:off x="5423715" y="56162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5682817" y="57747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xfrm>
            <a:off x="5463070" y="563025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xfrm>
            <a:off x="5387930" y="57962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5724888" y="58003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xfrm>
            <a:off x="5770817" y="57705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xfrm>
            <a:off x="5303811" y="52001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xfrm>
            <a:off x="6642131" y="55432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xfrm>
            <a:off x="5643776" y="58011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xfrm>
            <a:off x="5591540" y="58554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xfrm>
            <a:off x="5791160" y="55730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xfrm>
            <a:off x="5637274" y="5821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5548813" y="57923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5592249" y="58656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5889233" y="56274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xfrm>
            <a:off x="5749513" y="53705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xfrm>
            <a:off x="4881945" y="57579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xfrm>
            <a:off x="5863758" y="58045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xfrm>
            <a:off x="5263534" y="5448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5634013" y="58605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xfrm>
            <a:off x="4634628" y="55528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xfrm>
            <a:off x="5696299" y="57828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xfrm>
            <a:off x="5736318" y="56390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xfrm>
            <a:off x="5495607" y="580406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xfrm>
            <a:off x="6099841" y="52807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xfrm>
            <a:off x="5839762" y="53959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xfrm>
            <a:off x="5790264" y="52958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xfrm>
            <a:off x="5372177" y="52947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xfrm>
            <a:off x="5688623" y="56718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xfrm>
            <a:off x="5191963" y="50847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5811285" y="5761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5188727" y="57422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5038838" y="57526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xfrm>
            <a:off x="5880810" y="58023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xfrm>
            <a:off x="5908628" y="57040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xfrm>
            <a:off x="5499637" y="57408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xfrm>
            <a:off x="5668996" y="56881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xfrm>
            <a:off x="5785642" y="58391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xfrm>
            <a:off x="5860392" y="51485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xfrm>
            <a:off x="5037958" y="55733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xfrm>
            <a:off x="5749517" y="583455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xfrm>
            <a:off x="6386366" y="56535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xfrm>
            <a:off x="5704739" y="57881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xfrm>
            <a:off x="5573986" y="583051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5370039" y="57482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5578825" y="5878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5324328" y="57274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xfrm>
            <a:off x="5857615" y="57628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xfrm>
            <a:off x="5600081" y="58737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xfrm>
            <a:off x="5718602" y="57487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xfrm>
            <a:off x="5518881" y="56743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xfrm>
            <a:off x="5676079" y="58270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xfrm>
            <a:off x="5558854" y="5769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xfrm>
            <a:off x="5777331" y="5755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xfrm>
            <a:off x="5543047" y="5777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xfrm>
            <a:off x="5328102" y="56355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xfrm>
            <a:off x="5546802" y="58168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xfrm>
            <a:off x="5395287" y="57253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5539183" y="57772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5478794" y="54866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5106332" y="53840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xfrm>
            <a:off x="5610676" y="58836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xfrm>
            <a:off x="5588633" y="586429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xfrm>
            <a:off x="5844775" y="51319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xfrm>
            <a:off x="5759295" y="55981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xfrm>
            <a:off x="5374853" y="53736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xfrm>
            <a:off x="5734504" y="58182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xfrm>
            <a:off x="4932105" y="49269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xfrm>
            <a:off x="5303043" y="56810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xfrm>
            <a:off x="5711030" y="55946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xfrm>
            <a:off x="5641161" y="58105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xfrm>
            <a:off x="6040691" y="57465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5674180" y="57203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5356441" y="57296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5608422" y="588161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5428523" y="56801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xfrm>
            <a:off x="5566270" y="58499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xfrm>
            <a:off x="5451230" y="56531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4655563" y="50681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5749437" y="56719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5596462" y="58762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4690797" y="54718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xfrm>
            <a:off x="5595023" y="58673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xfrm>
            <a:off x="5192163" y="55651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5385016" y="547454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xfrm>
            <a:off x="5614822" y="5874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5546093" y="56981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4739912" y="56378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5920610" y="58121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xfrm>
            <a:off x="5551224" y="58213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5991753" y="5495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xfrm>
            <a:off x="5723960" y="56842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xfrm>
            <a:off x="5674937" y="57798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5768464" y="56132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xfrm>
            <a:off x="5408803" y="55997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xfrm>
            <a:off x="5610594" y="58827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5512696" y="57026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5880824" y="47511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5638347" y="58537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5937385" y="56573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5664803" y="58110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5552090" y="58651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5643986" y="5794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xfrm>
            <a:off x="5933618" y="56269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xfrm>
            <a:off x="5615778" y="58767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xfrm>
            <a:off x="5702069" y="576845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xfrm>
            <a:off x="5585580" y="58521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xfrm>
            <a:off x="5483683" y="57277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xfrm>
            <a:off x="5169591" y="55109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xfrm>
            <a:off x="5689208" y="57274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xfrm>
            <a:off x="5684491" y="57802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xfrm>
            <a:off x="6296409" y="541178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xfrm>
            <a:off x="4740860" y="569673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xfrm>
            <a:off x="5956713" y="525045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5497032" y="58440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5992172" y="562209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xfrm>
            <a:off x="4003384" y="53577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Oval 1026"/>
          <p:cNvSpPr/>
          <p:nvPr/>
        </p:nvSpPr>
        <p:spPr>
          <a:xfrm>
            <a:off x="5783233" y="55647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Oval 1027"/>
          <p:cNvSpPr/>
          <p:nvPr/>
        </p:nvSpPr>
        <p:spPr>
          <a:xfrm>
            <a:off x="5968773" y="53547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Oval 1028"/>
          <p:cNvSpPr/>
          <p:nvPr/>
        </p:nvSpPr>
        <p:spPr>
          <a:xfrm>
            <a:off x="5646623" y="58295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Oval 1029"/>
          <p:cNvSpPr/>
          <p:nvPr/>
        </p:nvSpPr>
        <p:spPr>
          <a:xfrm>
            <a:off x="5541921" y="57612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Oval 1030"/>
          <p:cNvSpPr/>
          <p:nvPr/>
        </p:nvSpPr>
        <p:spPr>
          <a:xfrm>
            <a:off x="5643990" y="582064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Oval 1031"/>
          <p:cNvSpPr/>
          <p:nvPr/>
        </p:nvSpPr>
        <p:spPr>
          <a:xfrm>
            <a:off x="6294593" y="50945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Oval 1032"/>
          <p:cNvSpPr/>
          <p:nvPr/>
        </p:nvSpPr>
        <p:spPr>
          <a:xfrm>
            <a:off x="5886107" y="51308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Oval 1033"/>
          <p:cNvSpPr/>
          <p:nvPr/>
        </p:nvSpPr>
        <p:spPr>
          <a:xfrm>
            <a:off x="6182529" y="55322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Oval 1034"/>
          <p:cNvSpPr/>
          <p:nvPr/>
        </p:nvSpPr>
        <p:spPr>
          <a:xfrm>
            <a:off x="5467281" y="56535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Oval 1035"/>
          <p:cNvSpPr/>
          <p:nvPr/>
        </p:nvSpPr>
        <p:spPr>
          <a:xfrm>
            <a:off x="5599495" y="5866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Oval 1036"/>
          <p:cNvSpPr/>
          <p:nvPr/>
        </p:nvSpPr>
        <p:spPr>
          <a:xfrm>
            <a:off x="5636738" y="58512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xfrm>
            <a:off x="5479881" y="58381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xfrm>
            <a:off x="5219082" y="48841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xfrm>
            <a:off x="5619055" y="58679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Oval 1040"/>
          <p:cNvSpPr/>
          <p:nvPr/>
        </p:nvSpPr>
        <p:spPr>
          <a:xfrm>
            <a:off x="4768248" y="563160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Oval 1041"/>
          <p:cNvSpPr/>
          <p:nvPr/>
        </p:nvSpPr>
        <p:spPr>
          <a:xfrm>
            <a:off x="5788736" y="57565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Oval 1042"/>
          <p:cNvSpPr/>
          <p:nvPr/>
        </p:nvSpPr>
        <p:spPr>
          <a:xfrm>
            <a:off x="5069154" y="54760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Oval 1043"/>
          <p:cNvSpPr/>
          <p:nvPr/>
        </p:nvSpPr>
        <p:spPr>
          <a:xfrm>
            <a:off x="5703822" y="56019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Oval 1044"/>
          <p:cNvSpPr/>
          <p:nvPr/>
        </p:nvSpPr>
        <p:spPr>
          <a:xfrm>
            <a:off x="5341512" y="568870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Oval 1045"/>
          <p:cNvSpPr/>
          <p:nvPr/>
        </p:nvSpPr>
        <p:spPr>
          <a:xfrm>
            <a:off x="5558142" y="58279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Oval 1046"/>
          <p:cNvSpPr/>
          <p:nvPr/>
        </p:nvSpPr>
        <p:spPr>
          <a:xfrm>
            <a:off x="5638897" y="58555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Oval 1047"/>
          <p:cNvSpPr/>
          <p:nvPr/>
        </p:nvSpPr>
        <p:spPr>
          <a:xfrm>
            <a:off x="5766980" y="57831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Oval 1048"/>
          <p:cNvSpPr/>
          <p:nvPr/>
        </p:nvSpPr>
        <p:spPr>
          <a:xfrm>
            <a:off x="5529257" y="57368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Oval 1049"/>
          <p:cNvSpPr/>
          <p:nvPr/>
        </p:nvSpPr>
        <p:spPr>
          <a:xfrm>
            <a:off x="5774420" y="553896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Oval 1050"/>
          <p:cNvSpPr/>
          <p:nvPr/>
        </p:nvSpPr>
        <p:spPr>
          <a:xfrm>
            <a:off x="5453767" y="58209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xfrm>
            <a:off x="5838817" y="5779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5304715" y="56414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5577763" y="5848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xfrm>
            <a:off x="5124658" y="55687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Oval 1055"/>
          <p:cNvSpPr/>
          <p:nvPr/>
        </p:nvSpPr>
        <p:spPr>
          <a:xfrm>
            <a:off x="5434788" y="5782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Oval 1056"/>
          <p:cNvSpPr/>
          <p:nvPr/>
        </p:nvSpPr>
        <p:spPr>
          <a:xfrm>
            <a:off x="5122962" y="55414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Oval 1057"/>
          <p:cNvSpPr/>
          <p:nvPr/>
        </p:nvSpPr>
        <p:spPr>
          <a:xfrm>
            <a:off x="4577842" y="49351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Oval 1058"/>
          <p:cNvSpPr/>
          <p:nvPr/>
        </p:nvSpPr>
        <p:spPr>
          <a:xfrm>
            <a:off x="6018806" y="566103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Oval 1059"/>
          <p:cNvSpPr/>
          <p:nvPr/>
        </p:nvSpPr>
        <p:spPr>
          <a:xfrm>
            <a:off x="5545380" y="58125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Oval 1060"/>
          <p:cNvSpPr/>
          <p:nvPr/>
        </p:nvSpPr>
        <p:spPr>
          <a:xfrm>
            <a:off x="5791897" y="56680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Oval 1061"/>
          <p:cNvSpPr/>
          <p:nvPr/>
        </p:nvSpPr>
        <p:spPr>
          <a:xfrm>
            <a:off x="6086055" y="57749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Oval 1062"/>
          <p:cNvSpPr/>
          <p:nvPr/>
        </p:nvSpPr>
        <p:spPr>
          <a:xfrm>
            <a:off x="5496373" y="585433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Oval 1063"/>
          <p:cNvSpPr/>
          <p:nvPr/>
        </p:nvSpPr>
        <p:spPr>
          <a:xfrm>
            <a:off x="5663496" y="57652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Oval 1064"/>
          <p:cNvSpPr/>
          <p:nvPr/>
        </p:nvSpPr>
        <p:spPr>
          <a:xfrm>
            <a:off x="5444101" y="57548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xfrm>
            <a:off x="5633924" y="5860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xfrm>
            <a:off x="6831561" y="56204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xfrm>
            <a:off x="5515961" y="57816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Oval 1068"/>
          <p:cNvSpPr/>
          <p:nvPr/>
        </p:nvSpPr>
        <p:spPr>
          <a:xfrm>
            <a:off x="5428459" y="55592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Oval 1069"/>
          <p:cNvSpPr/>
          <p:nvPr/>
        </p:nvSpPr>
        <p:spPr>
          <a:xfrm>
            <a:off x="6119722" y="51772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Oval 1070"/>
          <p:cNvSpPr/>
          <p:nvPr/>
        </p:nvSpPr>
        <p:spPr>
          <a:xfrm>
            <a:off x="5505701" y="57415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Oval 1071"/>
          <p:cNvSpPr/>
          <p:nvPr/>
        </p:nvSpPr>
        <p:spPr>
          <a:xfrm>
            <a:off x="5535788" y="580774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Oval 1072"/>
          <p:cNvSpPr/>
          <p:nvPr/>
        </p:nvSpPr>
        <p:spPr>
          <a:xfrm>
            <a:off x="6035255" y="51743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Oval 1073"/>
          <p:cNvSpPr/>
          <p:nvPr/>
        </p:nvSpPr>
        <p:spPr>
          <a:xfrm>
            <a:off x="5662805" y="584697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Oval 1074"/>
          <p:cNvSpPr/>
          <p:nvPr/>
        </p:nvSpPr>
        <p:spPr>
          <a:xfrm>
            <a:off x="5671018" y="5831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Oval 1075"/>
          <p:cNvSpPr/>
          <p:nvPr/>
        </p:nvSpPr>
        <p:spPr>
          <a:xfrm>
            <a:off x="5503683" y="56383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Oval 1076"/>
          <p:cNvSpPr/>
          <p:nvPr/>
        </p:nvSpPr>
        <p:spPr>
          <a:xfrm>
            <a:off x="5866702" y="57606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Oval 1077"/>
          <p:cNvSpPr/>
          <p:nvPr/>
        </p:nvSpPr>
        <p:spPr>
          <a:xfrm>
            <a:off x="5410548" y="56965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Oval 1078"/>
          <p:cNvSpPr/>
          <p:nvPr/>
        </p:nvSpPr>
        <p:spPr>
          <a:xfrm>
            <a:off x="5592526" y="585683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Oval 1079"/>
          <p:cNvSpPr/>
          <p:nvPr/>
        </p:nvSpPr>
        <p:spPr>
          <a:xfrm>
            <a:off x="4979881" y="54938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Oval 1080"/>
          <p:cNvSpPr/>
          <p:nvPr/>
        </p:nvSpPr>
        <p:spPr>
          <a:xfrm>
            <a:off x="5255997" y="57789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xfrm>
            <a:off x="5732237" y="57768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Oval 1082"/>
          <p:cNvSpPr/>
          <p:nvPr/>
        </p:nvSpPr>
        <p:spPr>
          <a:xfrm>
            <a:off x="5822740" y="58465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Oval 1083"/>
          <p:cNvSpPr/>
          <p:nvPr/>
        </p:nvSpPr>
        <p:spPr>
          <a:xfrm>
            <a:off x="8186288" y="516879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xfrm>
            <a:off x="5657734" y="58413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Oval 1085"/>
          <p:cNvSpPr/>
          <p:nvPr/>
        </p:nvSpPr>
        <p:spPr>
          <a:xfrm>
            <a:off x="5083337" y="55421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Oval 1086"/>
          <p:cNvSpPr/>
          <p:nvPr/>
        </p:nvSpPr>
        <p:spPr>
          <a:xfrm>
            <a:off x="5337065" y="575521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xfrm>
            <a:off x="5876889" y="57380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Oval 1088"/>
          <p:cNvSpPr/>
          <p:nvPr/>
        </p:nvSpPr>
        <p:spPr>
          <a:xfrm>
            <a:off x="5973865" y="57218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Oval 1089"/>
          <p:cNvSpPr/>
          <p:nvPr/>
        </p:nvSpPr>
        <p:spPr>
          <a:xfrm>
            <a:off x="5587277" y="5847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xfrm>
            <a:off x="5714394" y="56948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Oval 1091"/>
          <p:cNvSpPr/>
          <p:nvPr/>
        </p:nvSpPr>
        <p:spPr>
          <a:xfrm>
            <a:off x="5815182" y="54807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Oval 1092"/>
          <p:cNvSpPr/>
          <p:nvPr/>
        </p:nvSpPr>
        <p:spPr>
          <a:xfrm>
            <a:off x="5663191" y="58055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xfrm>
            <a:off x="5684234" y="582985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Oval 1094"/>
          <p:cNvSpPr/>
          <p:nvPr/>
        </p:nvSpPr>
        <p:spPr>
          <a:xfrm>
            <a:off x="5428432" y="561764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Oval 1095"/>
          <p:cNvSpPr/>
          <p:nvPr/>
        </p:nvSpPr>
        <p:spPr>
          <a:xfrm>
            <a:off x="5380234" y="52490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xfrm>
            <a:off x="5926187" y="510673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Oval 1097"/>
          <p:cNvSpPr/>
          <p:nvPr/>
        </p:nvSpPr>
        <p:spPr>
          <a:xfrm>
            <a:off x="5978529" y="57842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Oval 1098"/>
          <p:cNvSpPr/>
          <p:nvPr/>
        </p:nvSpPr>
        <p:spPr>
          <a:xfrm>
            <a:off x="5893386" y="580556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xfrm>
            <a:off x="6256763" y="521387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Oval 1100"/>
          <p:cNvSpPr/>
          <p:nvPr/>
        </p:nvSpPr>
        <p:spPr>
          <a:xfrm>
            <a:off x="5017060" y="54759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Oval 1101"/>
          <p:cNvSpPr/>
          <p:nvPr/>
        </p:nvSpPr>
        <p:spPr>
          <a:xfrm>
            <a:off x="4954218" y="54310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xfrm>
            <a:off x="4858509" y="530978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Oval 1103"/>
          <p:cNvSpPr/>
          <p:nvPr/>
        </p:nvSpPr>
        <p:spPr>
          <a:xfrm>
            <a:off x="5612902" y="587891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Oval 1104"/>
          <p:cNvSpPr/>
          <p:nvPr/>
        </p:nvSpPr>
        <p:spPr>
          <a:xfrm>
            <a:off x="5326521" y="57396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xfrm>
            <a:off x="5264105" y="56643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Oval 1106"/>
          <p:cNvSpPr/>
          <p:nvPr/>
        </p:nvSpPr>
        <p:spPr>
          <a:xfrm>
            <a:off x="5549486" y="57499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Oval 1107"/>
          <p:cNvSpPr/>
          <p:nvPr/>
        </p:nvSpPr>
        <p:spPr>
          <a:xfrm>
            <a:off x="5575540" y="585438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xfrm>
            <a:off x="5804667" y="5581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Oval 1109"/>
          <p:cNvSpPr/>
          <p:nvPr/>
        </p:nvSpPr>
        <p:spPr>
          <a:xfrm>
            <a:off x="5618831" y="58666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Oval 1110"/>
          <p:cNvSpPr/>
          <p:nvPr/>
        </p:nvSpPr>
        <p:spPr>
          <a:xfrm>
            <a:off x="5944622" y="56016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Oval 1111"/>
          <p:cNvSpPr/>
          <p:nvPr/>
        </p:nvSpPr>
        <p:spPr>
          <a:xfrm>
            <a:off x="5704651" y="57190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Oval 1112"/>
          <p:cNvSpPr/>
          <p:nvPr/>
        </p:nvSpPr>
        <p:spPr>
          <a:xfrm>
            <a:off x="5952537" y="51707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Oval 1113"/>
          <p:cNvSpPr/>
          <p:nvPr/>
        </p:nvSpPr>
        <p:spPr>
          <a:xfrm>
            <a:off x="5772304" y="55683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Oval 1114"/>
          <p:cNvSpPr/>
          <p:nvPr/>
        </p:nvSpPr>
        <p:spPr>
          <a:xfrm>
            <a:off x="5490020" y="57840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Oval 1115"/>
          <p:cNvSpPr/>
          <p:nvPr/>
        </p:nvSpPr>
        <p:spPr>
          <a:xfrm>
            <a:off x="5717368" y="5659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Oval 1116"/>
          <p:cNvSpPr/>
          <p:nvPr/>
        </p:nvSpPr>
        <p:spPr>
          <a:xfrm>
            <a:off x="5694542" y="58055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Oval 1117"/>
          <p:cNvSpPr/>
          <p:nvPr/>
        </p:nvSpPr>
        <p:spPr>
          <a:xfrm>
            <a:off x="5704378" y="56436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Oval 1118"/>
          <p:cNvSpPr/>
          <p:nvPr/>
        </p:nvSpPr>
        <p:spPr>
          <a:xfrm>
            <a:off x="5650530" y="5828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Oval 1119"/>
          <p:cNvSpPr/>
          <p:nvPr/>
        </p:nvSpPr>
        <p:spPr>
          <a:xfrm>
            <a:off x="5363885" y="57203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Oval 1120"/>
          <p:cNvSpPr/>
          <p:nvPr/>
        </p:nvSpPr>
        <p:spPr>
          <a:xfrm>
            <a:off x="5590266" y="58627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Oval 1121"/>
          <p:cNvSpPr/>
          <p:nvPr/>
        </p:nvSpPr>
        <p:spPr>
          <a:xfrm>
            <a:off x="5503029" y="578850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Oval 1122"/>
          <p:cNvSpPr/>
          <p:nvPr/>
        </p:nvSpPr>
        <p:spPr>
          <a:xfrm>
            <a:off x="6751484" y="56607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Oval 1123"/>
          <p:cNvSpPr/>
          <p:nvPr/>
        </p:nvSpPr>
        <p:spPr>
          <a:xfrm>
            <a:off x="5006651" y="560663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Oval 1124"/>
          <p:cNvSpPr/>
          <p:nvPr/>
        </p:nvSpPr>
        <p:spPr>
          <a:xfrm>
            <a:off x="5377973" y="55705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Oval 1125"/>
          <p:cNvSpPr/>
          <p:nvPr/>
        </p:nvSpPr>
        <p:spPr>
          <a:xfrm>
            <a:off x="5692968" y="573497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Oval 1126"/>
          <p:cNvSpPr/>
          <p:nvPr/>
        </p:nvSpPr>
        <p:spPr>
          <a:xfrm>
            <a:off x="5737319" y="56228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Oval 1127"/>
          <p:cNvSpPr/>
          <p:nvPr/>
        </p:nvSpPr>
        <p:spPr>
          <a:xfrm>
            <a:off x="5275651" y="57070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Oval 1128"/>
          <p:cNvSpPr/>
          <p:nvPr/>
        </p:nvSpPr>
        <p:spPr>
          <a:xfrm>
            <a:off x="4943704" y="55921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Oval 1129"/>
          <p:cNvSpPr/>
          <p:nvPr/>
        </p:nvSpPr>
        <p:spPr>
          <a:xfrm>
            <a:off x="5589564" y="58746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Oval 1130"/>
          <p:cNvSpPr/>
          <p:nvPr/>
        </p:nvSpPr>
        <p:spPr>
          <a:xfrm>
            <a:off x="5365475" y="57264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Oval 1131"/>
          <p:cNvSpPr/>
          <p:nvPr/>
        </p:nvSpPr>
        <p:spPr>
          <a:xfrm>
            <a:off x="5893247" y="52858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Oval 1132"/>
          <p:cNvSpPr/>
          <p:nvPr/>
        </p:nvSpPr>
        <p:spPr>
          <a:xfrm>
            <a:off x="6045724" y="57866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Oval 1133"/>
          <p:cNvSpPr/>
          <p:nvPr/>
        </p:nvSpPr>
        <p:spPr>
          <a:xfrm>
            <a:off x="5424380" y="58311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Oval 1134"/>
          <p:cNvSpPr/>
          <p:nvPr/>
        </p:nvSpPr>
        <p:spPr>
          <a:xfrm>
            <a:off x="5125419" y="54383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Oval 1135"/>
          <p:cNvSpPr/>
          <p:nvPr/>
        </p:nvSpPr>
        <p:spPr>
          <a:xfrm>
            <a:off x="6020653" y="49371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Oval 1136"/>
          <p:cNvSpPr/>
          <p:nvPr/>
        </p:nvSpPr>
        <p:spPr>
          <a:xfrm>
            <a:off x="5395871" y="53306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Oval 1137"/>
          <p:cNvSpPr/>
          <p:nvPr/>
        </p:nvSpPr>
        <p:spPr>
          <a:xfrm>
            <a:off x="5513562" y="576104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Oval 1138"/>
          <p:cNvSpPr/>
          <p:nvPr/>
        </p:nvSpPr>
        <p:spPr>
          <a:xfrm>
            <a:off x="5688976" y="575683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Oval 1139"/>
          <p:cNvSpPr/>
          <p:nvPr/>
        </p:nvSpPr>
        <p:spPr>
          <a:xfrm>
            <a:off x="5714346" y="5790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Oval 1140"/>
          <p:cNvSpPr/>
          <p:nvPr/>
        </p:nvSpPr>
        <p:spPr>
          <a:xfrm>
            <a:off x="5628952" y="586840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Oval 1141"/>
          <p:cNvSpPr/>
          <p:nvPr/>
        </p:nvSpPr>
        <p:spPr>
          <a:xfrm>
            <a:off x="5898025" y="582462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Oval 1142"/>
          <p:cNvSpPr/>
          <p:nvPr/>
        </p:nvSpPr>
        <p:spPr>
          <a:xfrm>
            <a:off x="5540038" y="56895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Oval 1143"/>
          <p:cNvSpPr/>
          <p:nvPr/>
        </p:nvSpPr>
        <p:spPr>
          <a:xfrm>
            <a:off x="5681069" y="5792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Oval 1144"/>
          <p:cNvSpPr/>
          <p:nvPr/>
        </p:nvSpPr>
        <p:spPr>
          <a:xfrm>
            <a:off x="5214568" y="47544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Oval 1145"/>
          <p:cNvSpPr/>
          <p:nvPr/>
        </p:nvSpPr>
        <p:spPr>
          <a:xfrm>
            <a:off x="6994375" y="54496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Oval 1146"/>
          <p:cNvSpPr/>
          <p:nvPr/>
        </p:nvSpPr>
        <p:spPr>
          <a:xfrm>
            <a:off x="6122497" y="528915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Oval 1147"/>
          <p:cNvSpPr/>
          <p:nvPr/>
        </p:nvSpPr>
        <p:spPr>
          <a:xfrm>
            <a:off x="5830244" y="53376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Oval 1148"/>
          <p:cNvSpPr/>
          <p:nvPr/>
        </p:nvSpPr>
        <p:spPr>
          <a:xfrm>
            <a:off x="5526959" y="57586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Oval 1149"/>
          <p:cNvSpPr/>
          <p:nvPr/>
        </p:nvSpPr>
        <p:spPr>
          <a:xfrm>
            <a:off x="5022050" y="53050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Oval 1150"/>
          <p:cNvSpPr/>
          <p:nvPr/>
        </p:nvSpPr>
        <p:spPr>
          <a:xfrm>
            <a:off x="5038170" y="569910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Oval 1151"/>
          <p:cNvSpPr/>
          <p:nvPr/>
        </p:nvSpPr>
        <p:spPr>
          <a:xfrm>
            <a:off x="5674757" y="585600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Oval 1152"/>
          <p:cNvSpPr/>
          <p:nvPr/>
        </p:nvSpPr>
        <p:spPr>
          <a:xfrm>
            <a:off x="5496167" y="56595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Oval 1153"/>
          <p:cNvSpPr/>
          <p:nvPr/>
        </p:nvSpPr>
        <p:spPr>
          <a:xfrm>
            <a:off x="5610768" y="588199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Oval 1154"/>
          <p:cNvSpPr/>
          <p:nvPr/>
        </p:nvSpPr>
        <p:spPr>
          <a:xfrm>
            <a:off x="5936909" y="48223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Oval 1155"/>
          <p:cNvSpPr/>
          <p:nvPr/>
        </p:nvSpPr>
        <p:spPr>
          <a:xfrm>
            <a:off x="5653109" y="58706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Oval 1156"/>
          <p:cNvSpPr/>
          <p:nvPr/>
        </p:nvSpPr>
        <p:spPr>
          <a:xfrm>
            <a:off x="5697691" y="57669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Oval 1157"/>
          <p:cNvSpPr/>
          <p:nvPr/>
        </p:nvSpPr>
        <p:spPr>
          <a:xfrm>
            <a:off x="5301159" y="534349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Oval 1158"/>
          <p:cNvSpPr/>
          <p:nvPr/>
        </p:nvSpPr>
        <p:spPr>
          <a:xfrm>
            <a:off x="6163978" y="56471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Oval 1159"/>
          <p:cNvSpPr/>
          <p:nvPr/>
        </p:nvSpPr>
        <p:spPr>
          <a:xfrm>
            <a:off x="5773509" y="54234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Oval 1160"/>
          <p:cNvSpPr/>
          <p:nvPr/>
        </p:nvSpPr>
        <p:spPr>
          <a:xfrm>
            <a:off x="5589632" y="58717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Oval 1161"/>
          <p:cNvSpPr/>
          <p:nvPr/>
        </p:nvSpPr>
        <p:spPr>
          <a:xfrm>
            <a:off x="5766590" y="581526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Oval 1162"/>
          <p:cNvSpPr/>
          <p:nvPr/>
        </p:nvSpPr>
        <p:spPr>
          <a:xfrm>
            <a:off x="5857446" y="55256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Oval 1163"/>
          <p:cNvSpPr/>
          <p:nvPr/>
        </p:nvSpPr>
        <p:spPr>
          <a:xfrm>
            <a:off x="5428407" y="57293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Oval 1164"/>
          <p:cNvSpPr/>
          <p:nvPr/>
        </p:nvSpPr>
        <p:spPr>
          <a:xfrm>
            <a:off x="5588480" y="585258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Oval 1165"/>
          <p:cNvSpPr/>
          <p:nvPr/>
        </p:nvSpPr>
        <p:spPr>
          <a:xfrm>
            <a:off x="5593615" y="58680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Oval 1166"/>
          <p:cNvSpPr/>
          <p:nvPr/>
        </p:nvSpPr>
        <p:spPr>
          <a:xfrm>
            <a:off x="5885143" y="552317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Oval 1167"/>
          <p:cNvSpPr/>
          <p:nvPr/>
        </p:nvSpPr>
        <p:spPr>
          <a:xfrm>
            <a:off x="5757481" y="564161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Oval 1168"/>
          <p:cNvSpPr/>
          <p:nvPr/>
        </p:nvSpPr>
        <p:spPr>
          <a:xfrm>
            <a:off x="5732089" y="55903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xfrm>
            <a:off x="5775504" y="54723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Oval 1170"/>
          <p:cNvSpPr/>
          <p:nvPr/>
        </p:nvSpPr>
        <p:spPr>
          <a:xfrm>
            <a:off x="5399337" y="55493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Oval 1171"/>
          <p:cNvSpPr/>
          <p:nvPr/>
        </p:nvSpPr>
        <p:spPr>
          <a:xfrm>
            <a:off x="6014958" y="53942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xfrm>
            <a:off x="5435525" y="549866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Oval 1173"/>
          <p:cNvSpPr/>
          <p:nvPr/>
        </p:nvSpPr>
        <p:spPr>
          <a:xfrm>
            <a:off x="5415594" y="554805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Oval 1174"/>
          <p:cNvSpPr/>
          <p:nvPr/>
        </p:nvSpPr>
        <p:spPr>
          <a:xfrm>
            <a:off x="5561729" y="583331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xfrm>
            <a:off x="5801127" y="523012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Oval 1176"/>
          <p:cNvSpPr/>
          <p:nvPr/>
        </p:nvSpPr>
        <p:spPr>
          <a:xfrm>
            <a:off x="5673899" y="583016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Oval 1177"/>
          <p:cNvSpPr/>
          <p:nvPr/>
        </p:nvSpPr>
        <p:spPr>
          <a:xfrm>
            <a:off x="5488526" y="5819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xfrm>
            <a:off x="5407057" y="560100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Oval 1179"/>
          <p:cNvSpPr/>
          <p:nvPr/>
        </p:nvSpPr>
        <p:spPr>
          <a:xfrm>
            <a:off x="5341988" y="53313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Oval 1180"/>
          <p:cNvSpPr/>
          <p:nvPr/>
        </p:nvSpPr>
        <p:spPr>
          <a:xfrm>
            <a:off x="5934718" y="560281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xfrm>
            <a:off x="5782390" y="53740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Oval 1182"/>
          <p:cNvSpPr/>
          <p:nvPr/>
        </p:nvSpPr>
        <p:spPr>
          <a:xfrm>
            <a:off x="5406765" y="575847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Oval 1183"/>
          <p:cNvSpPr/>
          <p:nvPr/>
        </p:nvSpPr>
        <p:spPr>
          <a:xfrm>
            <a:off x="6349971" y="53096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xfrm>
            <a:off x="5958729" y="567092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Oval 1185"/>
          <p:cNvSpPr/>
          <p:nvPr/>
        </p:nvSpPr>
        <p:spPr>
          <a:xfrm>
            <a:off x="5905123" y="56610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Oval 1186"/>
          <p:cNvSpPr/>
          <p:nvPr/>
        </p:nvSpPr>
        <p:spPr>
          <a:xfrm>
            <a:off x="5417394" y="55082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xfrm>
            <a:off x="5999816" y="57929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Oval 1188"/>
          <p:cNvSpPr/>
          <p:nvPr/>
        </p:nvSpPr>
        <p:spPr>
          <a:xfrm>
            <a:off x="5032886" y="571880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Oval 1189"/>
          <p:cNvSpPr/>
          <p:nvPr/>
        </p:nvSpPr>
        <p:spPr>
          <a:xfrm>
            <a:off x="4768096" y="51432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xfrm>
            <a:off x="4745894" y="504139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Oval 1191"/>
          <p:cNvSpPr/>
          <p:nvPr/>
        </p:nvSpPr>
        <p:spPr>
          <a:xfrm>
            <a:off x="5585128" y="583798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Oval 1192"/>
          <p:cNvSpPr/>
          <p:nvPr/>
        </p:nvSpPr>
        <p:spPr>
          <a:xfrm>
            <a:off x="5518951" y="58438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xfrm>
            <a:off x="5640254" y="58493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Oval 1194"/>
          <p:cNvSpPr/>
          <p:nvPr/>
        </p:nvSpPr>
        <p:spPr>
          <a:xfrm>
            <a:off x="5200981" y="573603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Oval 1195"/>
          <p:cNvSpPr/>
          <p:nvPr/>
        </p:nvSpPr>
        <p:spPr>
          <a:xfrm>
            <a:off x="5680576" y="582393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xfrm>
            <a:off x="5498403" y="57909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Oval 1197"/>
          <p:cNvSpPr/>
          <p:nvPr/>
        </p:nvSpPr>
        <p:spPr>
          <a:xfrm>
            <a:off x="5836524" y="528195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Oval 1198"/>
          <p:cNvSpPr/>
          <p:nvPr/>
        </p:nvSpPr>
        <p:spPr>
          <a:xfrm>
            <a:off x="3959475" y="553602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xfrm>
            <a:off x="5602659" y="58745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Oval 1200"/>
          <p:cNvSpPr/>
          <p:nvPr/>
        </p:nvSpPr>
        <p:spPr>
          <a:xfrm>
            <a:off x="5561657" y="581029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Oval 1201"/>
          <p:cNvSpPr/>
          <p:nvPr/>
        </p:nvSpPr>
        <p:spPr>
          <a:xfrm>
            <a:off x="5573456" y="585147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xfrm>
            <a:off x="5563755" y="579830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Oval 1203"/>
          <p:cNvSpPr/>
          <p:nvPr/>
        </p:nvSpPr>
        <p:spPr>
          <a:xfrm>
            <a:off x="3807805" y="519512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Oval 1204"/>
          <p:cNvSpPr/>
          <p:nvPr/>
        </p:nvSpPr>
        <p:spPr>
          <a:xfrm>
            <a:off x="5730344" y="583847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Oval 1205"/>
          <p:cNvSpPr/>
          <p:nvPr/>
        </p:nvSpPr>
        <p:spPr>
          <a:xfrm>
            <a:off x="5352171" y="562204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Oval 1206"/>
          <p:cNvSpPr/>
          <p:nvPr/>
        </p:nvSpPr>
        <p:spPr>
          <a:xfrm>
            <a:off x="4915174" y="485598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Oval 1207"/>
          <p:cNvSpPr/>
          <p:nvPr/>
        </p:nvSpPr>
        <p:spPr>
          <a:xfrm>
            <a:off x="6108913" y="57751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Oval 1208"/>
          <p:cNvSpPr/>
          <p:nvPr/>
        </p:nvSpPr>
        <p:spPr>
          <a:xfrm>
            <a:off x="5092539" y="537458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Oval 1209"/>
          <p:cNvSpPr/>
          <p:nvPr/>
        </p:nvSpPr>
        <p:spPr>
          <a:xfrm>
            <a:off x="5537698" y="584276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Oval 1210"/>
          <p:cNvSpPr/>
          <p:nvPr/>
        </p:nvSpPr>
        <p:spPr>
          <a:xfrm>
            <a:off x="5514337" y="56202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Oval 1211"/>
          <p:cNvSpPr/>
          <p:nvPr/>
        </p:nvSpPr>
        <p:spPr>
          <a:xfrm>
            <a:off x="5783363" y="579157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Oval 1212"/>
          <p:cNvSpPr/>
          <p:nvPr/>
        </p:nvSpPr>
        <p:spPr>
          <a:xfrm>
            <a:off x="5342164" y="55744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Oval 1213"/>
          <p:cNvSpPr/>
          <p:nvPr/>
        </p:nvSpPr>
        <p:spPr>
          <a:xfrm>
            <a:off x="5909406" y="54879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Oval 1214"/>
          <p:cNvSpPr/>
          <p:nvPr/>
        </p:nvSpPr>
        <p:spPr>
          <a:xfrm>
            <a:off x="5922292" y="570092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Oval 1215"/>
          <p:cNvSpPr/>
          <p:nvPr/>
        </p:nvSpPr>
        <p:spPr>
          <a:xfrm>
            <a:off x="5616041" y="5876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Oval 1216"/>
          <p:cNvSpPr/>
          <p:nvPr/>
        </p:nvSpPr>
        <p:spPr>
          <a:xfrm>
            <a:off x="5425457" y="57736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Oval 1217"/>
          <p:cNvSpPr/>
          <p:nvPr/>
        </p:nvSpPr>
        <p:spPr>
          <a:xfrm>
            <a:off x="5480198" y="579364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Oval 1218"/>
          <p:cNvSpPr/>
          <p:nvPr/>
        </p:nvSpPr>
        <p:spPr>
          <a:xfrm>
            <a:off x="5346842" y="573388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Oval 1219"/>
          <p:cNvSpPr/>
          <p:nvPr/>
        </p:nvSpPr>
        <p:spPr>
          <a:xfrm>
            <a:off x="5466226" y="549876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Oval 1220"/>
          <p:cNvSpPr/>
          <p:nvPr/>
        </p:nvSpPr>
        <p:spPr>
          <a:xfrm>
            <a:off x="5918575" y="557359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Oval 1221"/>
          <p:cNvSpPr/>
          <p:nvPr/>
        </p:nvSpPr>
        <p:spPr>
          <a:xfrm>
            <a:off x="5605042" y="587606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Oval 1222"/>
          <p:cNvSpPr/>
          <p:nvPr/>
        </p:nvSpPr>
        <p:spPr>
          <a:xfrm>
            <a:off x="5687336" y="57516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Oval 1223"/>
          <p:cNvSpPr/>
          <p:nvPr/>
        </p:nvSpPr>
        <p:spPr>
          <a:xfrm>
            <a:off x="5223795" y="56879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Oval 1224"/>
          <p:cNvSpPr/>
          <p:nvPr/>
        </p:nvSpPr>
        <p:spPr>
          <a:xfrm>
            <a:off x="5731721" y="58264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Oval 1225"/>
          <p:cNvSpPr/>
          <p:nvPr/>
        </p:nvSpPr>
        <p:spPr>
          <a:xfrm>
            <a:off x="5998939" y="56070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Oval 1226"/>
          <p:cNvSpPr/>
          <p:nvPr/>
        </p:nvSpPr>
        <p:spPr>
          <a:xfrm>
            <a:off x="5506069" y="5785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Oval 1227"/>
          <p:cNvSpPr/>
          <p:nvPr/>
        </p:nvSpPr>
        <p:spPr>
          <a:xfrm>
            <a:off x="5854580" y="521662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Oval 1228"/>
          <p:cNvSpPr/>
          <p:nvPr/>
        </p:nvSpPr>
        <p:spPr>
          <a:xfrm>
            <a:off x="5335834" y="571259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Oval 1229"/>
          <p:cNvSpPr/>
          <p:nvPr/>
        </p:nvSpPr>
        <p:spPr>
          <a:xfrm>
            <a:off x="6266103" y="511306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Oval 1230"/>
          <p:cNvSpPr/>
          <p:nvPr/>
        </p:nvSpPr>
        <p:spPr>
          <a:xfrm>
            <a:off x="5485604" y="578444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Oval 1231"/>
          <p:cNvSpPr/>
          <p:nvPr/>
        </p:nvSpPr>
        <p:spPr>
          <a:xfrm>
            <a:off x="5786589" y="5587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Oval 1232"/>
          <p:cNvSpPr/>
          <p:nvPr/>
        </p:nvSpPr>
        <p:spPr>
          <a:xfrm>
            <a:off x="5403728" y="570752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Oval 1233"/>
          <p:cNvSpPr/>
          <p:nvPr/>
        </p:nvSpPr>
        <p:spPr>
          <a:xfrm>
            <a:off x="5636462" y="579532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Oval 1234"/>
          <p:cNvSpPr/>
          <p:nvPr/>
        </p:nvSpPr>
        <p:spPr>
          <a:xfrm>
            <a:off x="6321883" y="537935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Oval 1235"/>
          <p:cNvSpPr/>
          <p:nvPr/>
        </p:nvSpPr>
        <p:spPr>
          <a:xfrm>
            <a:off x="4744438" y="578047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Oval 1236"/>
          <p:cNvSpPr/>
          <p:nvPr/>
        </p:nvSpPr>
        <p:spPr>
          <a:xfrm>
            <a:off x="5277955" y="565062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Oval 1237"/>
          <p:cNvSpPr/>
          <p:nvPr/>
        </p:nvSpPr>
        <p:spPr>
          <a:xfrm>
            <a:off x="5525849" y="57494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Oval 1238"/>
          <p:cNvSpPr/>
          <p:nvPr/>
        </p:nvSpPr>
        <p:spPr>
          <a:xfrm>
            <a:off x="5673481" y="5771295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Oval 1239"/>
          <p:cNvSpPr/>
          <p:nvPr/>
        </p:nvSpPr>
        <p:spPr>
          <a:xfrm>
            <a:off x="5700127" y="5870518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Oval 1240"/>
          <p:cNvSpPr/>
          <p:nvPr/>
        </p:nvSpPr>
        <p:spPr>
          <a:xfrm>
            <a:off x="5876482" y="5497370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Oval 1241"/>
          <p:cNvSpPr/>
          <p:nvPr/>
        </p:nvSpPr>
        <p:spPr>
          <a:xfrm>
            <a:off x="4586903" y="5104084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Oval 1242"/>
          <p:cNvSpPr/>
          <p:nvPr/>
        </p:nvSpPr>
        <p:spPr>
          <a:xfrm>
            <a:off x="5570511" y="5860156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Oval 1243"/>
          <p:cNvSpPr/>
          <p:nvPr/>
        </p:nvSpPr>
        <p:spPr>
          <a:xfrm>
            <a:off x="5619594" y="5880813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Oval 1244"/>
          <p:cNvSpPr/>
          <p:nvPr/>
        </p:nvSpPr>
        <p:spPr>
          <a:xfrm>
            <a:off x="5668150" y="5797302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Oval 1245"/>
          <p:cNvSpPr/>
          <p:nvPr/>
        </p:nvSpPr>
        <p:spPr>
          <a:xfrm>
            <a:off x="4726222" y="5224737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Oval 1246"/>
          <p:cNvSpPr/>
          <p:nvPr/>
        </p:nvSpPr>
        <p:spPr>
          <a:xfrm>
            <a:off x="5637607" y="5828119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Oval 1247"/>
          <p:cNvSpPr/>
          <p:nvPr/>
        </p:nvSpPr>
        <p:spPr>
          <a:xfrm>
            <a:off x="5688636" y="5819941"/>
            <a:ext cx="28000" cy="28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Oval 1248"/>
          <p:cNvSpPr/>
          <p:nvPr/>
        </p:nvSpPr>
        <p:spPr>
          <a:xfrm>
            <a:off x="2931404" y="300465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Oval 1249"/>
          <p:cNvSpPr/>
          <p:nvPr/>
        </p:nvSpPr>
        <p:spPr>
          <a:xfrm>
            <a:off x="6131622" y="317993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Oval 1250"/>
          <p:cNvSpPr/>
          <p:nvPr/>
        </p:nvSpPr>
        <p:spPr>
          <a:xfrm>
            <a:off x="4815873" y="329280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Oval 1251"/>
          <p:cNvSpPr/>
          <p:nvPr/>
        </p:nvSpPr>
        <p:spPr>
          <a:xfrm>
            <a:off x="6157292" y="339614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Oval 1252"/>
          <p:cNvSpPr/>
          <p:nvPr/>
        </p:nvSpPr>
        <p:spPr>
          <a:xfrm>
            <a:off x="2536455" y="341365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Oval 1253"/>
          <p:cNvSpPr/>
          <p:nvPr/>
        </p:nvSpPr>
        <p:spPr>
          <a:xfrm>
            <a:off x="6799154" y="345371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Oval 1254"/>
          <p:cNvSpPr/>
          <p:nvPr/>
        </p:nvSpPr>
        <p:spPr>
          <a:xfrm>
            <a:off x="4191283" y="349182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Oval 1255"/>
          <p:cNvSpPr/>
          <p:nvPr/>
        </p:nvSpPr>
        <p:spPr>
          <a:xfrm>
            <a:off x="6122956" y="350399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Oval 1256"/>
          <p:cNvSpPr/>
          <p:nvPr/>
        </p:nvSpPr>
        <p:spPr>
          <a:xfrm>
            <a:off x="5924070" y="36541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Oval 1257"/>
          <p:cNvSpPr/>
          <p:nvPr/>
        </p:nvSpPr>
        <p:spPr>
          <a:xfrm>
            <a:off x="3999783" y="36910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Oval 1258"/>
          <p:cNvSpPr/>
          <p:nvPr/>
        </p:nvSpPr>
        <p:spPr>
          <a:xfrm>
            <a:off x="9434190" y="373388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Oval 1259"/>
          <p:cNvSpPr/>
          <p:nvPr/>
        </p:nvSpPr>
        <p:spPr>
          <a:xfrm>
            <a:off x="1473175" y="373758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Oval 1260"/>
          <p:cNvSpPr/>
          <p:nvPr/>
        </p:nvSpPr>
        <p:spPr>
          <a:xfrm>
            <a:off x="7266610" y="37462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Oval 1261"/>
          <p:cNvSpPr/>
          <p:nvPr/>
        </p:nvSpPr>
        <p:spPr>
          <a:xfrm>
            <a:off x="7752266" y="374806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Oval 1262"/>
          <p:cNvSpPr/>
          <p:nvPr/>
        </p:nvSpPr>
        <p:spPr>
          <a:xfrm>
            <a:off x="3977945" y="374848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Oval 1263"/>
          <p:cNvSpPr/>
          <p:nvPr/>
        </p:nvSpPr>
        <p:spPr>
          <a:xfrm>
            <a:off x="6633764" y="376900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Oval 1264"/>
          <p:cNvSpPr/>
          <p:nvPr/>
        </p:nvSpPr>
        <p:spPr>
          <a:xfrm>
            <a:off x="5938920" y="377003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xfrm>
            <a:off x="6501030" y="377575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Oval 1266"/>
          <p:cNvSpPr/>
          <p:nvPr/>
        </p:nvSpPr>
        <p:spPr>
          <a:xfrm>
            <a:off x="5058375" y="379412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Oval 1267"/>
          <p:cNvSpPr/>
          <p:nvPr/>
        </p:nvSpPr>
        <p:spPr>
          <a:xfrm>
            <a:off x="6441088" y="383790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xfrm>
            <a:off x="6838005" y="384561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Oval 1269"/>
          <p:cNvSpPr/>
          <p:nvPr/>
        </p:nvSpPr>
        <p:spPr>
          <a:xfrm>
            <a:off x="6311448" y="389382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Oval 1270"/>
          <p:cNvSpPr/>
          <p:nvPr/>
        </p:nvSpPr>
        <p:spPr>
          <a:xfrm>
            <a:off x="8033665" y="389737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xfrm>
            <a:off x="7612117" y="392409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Oval 1272"/>
          <p:cNvSpPr/>
          <p:nvPr/>
        </p:nvSpPr>
        <p:spPr>
          <a:xfrm>
            <a:off x="4427600" y="392425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Oval 1273"/>
          <p:cNvSpPr/>
          <p:nvPr/>
        </p:nvSpPr>
        <p:spPr>
          <a:xfrm>
            <a:off x="4728367" y="393169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xfrm>
            <a:off x="6776607" y="395273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Oval 1275"/>
          <p:cNvSpPr/>
          <p:nvPr/>
        </p:nvSpPr>
        <p:spPr>
          <a:xfrm>
            <a:off x="4679483" y="396210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Oval 1276"/>
          <p:cNvSpPr/>
          <p:nvPr/>
        </p:nvSpPr>
        <p:spPr>
          <a:xfrm>
            <a:off x="4088629" y="396921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xfrm>
            <a:off x="3536087" y="400333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Oval 1278"/>
          <p:cNvSpPr/>
          <p:nvPr/>
        </p:nvSpPr>
        <p:spPr>
          <a:xfrm>
            <a:off x="3840301" y="401572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Oval 1279"/>
          <p:cNvSpPr/>
          <p:nvPr/>
        </p:nvSpPr>
        <p:spPr>
          <a:xfrm>
            <a:off x="8137451" y="40253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xfrm>
            <a:off x="6392106" y="402647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Oval 1281"/>
          <p:cNvSpPr/>
          <p:nvPr/>
        </p:nvSpPr>
        <p:spPr>
          <a:xfrm>
            <a:off x="5175652" y="402796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Oval 1282"/>
          <p:cNvSpPr/>
          <p:nvPr/>
        </p:nvSpPr>
        <p:spPr>
          <a:xfrm>
            <a:off x="2875236" y="403326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xfrm>
            <a:off x="6131990" y="403662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Oval 1284"/>
          <p:cNvSpPr/>
          <p:nvPr/>
        </p:nvSpPr>
        <p:spPr>
          <a:xfrm>
            <a:off x="7612584" y="404430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Oval 1285"/>
          <p:cNvSpPr/>
          <p:nvPr/>
        </p:nvSpPr>
        <p:spPr>
          <a:xfrm>
            <a:off x="4738688" y="405086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xfrm>
            <a:off x="4234017" y="405659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Oval 1287"/>
          <p:cNvSpPr/>
          <p:nvPr/>
        </p:nvSpPr>
        <p:spPr>
          <a:xfrm>
            <a:off x="3607466" y="405992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Oval 1288"/>
          <p:cNvSpPr/>
          <p:nvPr/>
        </p:nvSpPr>
        <p:spPr>
          <a:xfrm>
            <a:off x="6495254" y="407062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xfrm>
            <a:off x="5916433" y="407112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Oval 1290"/>
          <p:cNvSpPr/>
          <p:nvPr/>
        </p:nvSpPr>
        <p:spPr>
          <a:xfrm>
            <a:off x="4577511" y="407542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Oval 1291"/>
          <p:cNvSpPr/>
          <p:nvPr/>
        </p:nvSpPr>
        <p:spPr>
          <a:xfrm>
            <a:off x="4071146" y="409155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xfrm>
            <a:off x="3674275" y="409812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Oval 1293"/>
          <p:cNvSpPr/>
          <p:nvPr/>
        </p:nvSpPr>
        <p:spPr>
          <a:xfrm>
            <a:off x="4027383" y="410789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Oval 1294"/>
          <p:cNvSpPr/>
          <p:nvPr/>
        </p:nvSpPr>
        <p:spPr>
          <a:xfrm>
            <a:off x="5070575" y="411383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4281596" y="411886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Oval 1296"/>
          <p:cNvSpPr/>
          <p:nvPr/>
        </p:nvSpPr>
        <p:spPr>
          <a:xfrm>
            <a:off x="4122234" y="412184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Oval 1297"/>
          <p:cNvSpPr/>
          <p:nvPr/>
        </p:nvSpPr>
        <p:spPr>
          <a:xfrm>
            <a:off x="9737944" y="413066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xfrm>
            <a:off x="5982996" y="417887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xfrm>
            <a:off x="6570887" y="418782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Oval 1300"/>
          <p:cNvSpPr/>
          <p:nvPr/>
        </p:nvSpPr>
        <p:spPr>
          <a:xfrm>
            <a:off x="9642227" y="418919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xfrm>
            <a:off x="4293564" y="419059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Oval 1302"/>
          <p:cNvSpPr/>
          <p:nvPr/>
        </p:nvSpPr>
        <p:spPr>
          <a:xfrm>
            <a:off x="3156147" y="419241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xfrm>
            <a:off x="5068046" y="419563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Oval 1304"/>
          <p:cNvSpPr/>
          <p:nvPr/>
        </p:nvSpPr>
        <p:spPr>
          <a:xfrm>
            <a:off x="5094510" y="419966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Oval 1305"/>
          <p:cNvSpPr/>
          <p:nvPr/>
        </p:nvSpPr>
        <p:spPr>
          <a:xfrm>
            <a:off x="6863369" y="420596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Oval 1306"/>
          <p:cNvSpPr/>
          <p:nvPr/>
        </p:nvSpPr>
        <p:spPr>
          <a:xfrm>
            <a:off x="4287311" y="420609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xfrm>
            <a:off x="5845189" y="420727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Oval 1308"/>
          <p:cNvSpPr/>
          <p:nvPr/>
        </p:nvSpPr>
        <p:spPr>
          <a:xfrm>
            <a:off x="5965360" y="420974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Oval 1309"/>
          <p:cNvSpPr/>
          <p:nvPr/>
        </p:nvSpPr>
        <p:spPr>
          <a:xfrm>
            <a:off x="5226667" y="421445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Oval 1310"/>
          <p:cNvSpPr/>
          <p:nvPr/>
        </p:nvSpPr>
        <p:spPr>
          <a:xfrm>
            <a:off x="5906975" y="422586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Oval 1311"/>
          <p:cNvSpPr/>
          <p:nvPr/>
        </p:nvSpPr>
        <p:spPr>
          <a:xfrm>
            <a:off x="5858935" y="425082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Oval 1312"/>
          <p:cNvSpPr/>
          <p:nvPr/>
        </p:nvSpPr>
        <p:spPr>
          <a:xfrm>
            <a:off x="7503213" y="425298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Oval 1313"/>
          <p:cNvSpPr/>
          <p:nvPr/>
        </p:nvSpPr>
        <p:spPr>
          <a:xfrm>
            <a:off x="7318634" y="425571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Oval 1314"/>
          <p:cNvSpPr/>
          <p:nvPr/>
        </p:nvSpPr>
        <p:spPr>
          <a:xfrm>
            <a:off x="7481478" y="425783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Oval 1315"/>
          <p:cNvSpPr/>
          <p:nvPr/>
        </p:nvSpPr>
        <p:spPr>
          <a:xfrm>
            <a:off x="5405034" y="426177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Oval 1316"/>
          <p:cNvSpPr/>
          <p:nvPr/>
        </p:nvSpPr>
        <p:spPr>
          <a:xfrm>
            <a:off x="8199355" y="427424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Oval 1317"/>
          <p:cNvSpPr/>
          <p:nvPr/>
        </p:nvSpPr>
        <p:spPr>
          <a:xfrm>
            <a:off x="6080976" y="427813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Oval 1318"/>
          <p:cNvSpPr/>
          <p:nvPr/>
        </p:nvSpPr>
        <p:spPr>
          <a:xfrm>
            <a:off x="1505507" y="428422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Oval 1319"/>
          <p:cNvSpPr/>
          <p:nvPr/>
        </p:nvSpPr>
        <p:spPr>
          <a:xfrm>
            <a:off x="3906691" y="429108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Oval 1320"/>
          <p:cNvSpPr/>
          <p:nvPr/>
        </p:nvSpPr>
        <p:spPr>
          <a:xfrm>
            <a:off x="5974352" y="429351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Oval 1321"/>
          <p:cNvSpPr/>
          <p:nvPr/>
        </p:nvSpPr>
        <p:spPr>
          <a:xfrm>
            <a:off x="6066944" y="429435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Oval 1322"/>
          <p:cNvSpPr/>
          <p:nvPr/>
        </p:nvSpPr>
        <p:spPr>
          <a:xfrm>
            <a:off x="5956072" y="429545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Oval 1323"/>
          <p:cNvSpPr/>
          <p:nvPr/>
        </p:nvSpPr>
        <p:spPr>
          <a:xfrm>
            <a:off x="5179128" y="431473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Oval 1324"/>
          <p:cNvSpPr/>
          <p:nvPr/>
        </p:nvSpPr>
        <p:spPr>
          <a:xfrm>
            <a:off x="4905114" y="431725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Oval 1325"/>
          <p:cNvSpPr/>
          <p:nvPr/>
        </p:nvSpPr>
        <p:spPr>
          <a:xfrm>
            <a:off x="4063434" y="431758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Oval 1326"/>
          <p:cNvSpPr/>
          <p:nvPr/>
        </p:nvSpPr>
        <p:spPr>
          <a:xfrm>
            <a:off x="6257688" y="432007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Oval 1327"/>
          <p:cNvSpPr/>
          <p:nvPr/>
        </p:nvSpPr>
        <p:spPr>
          <a:xfrm>
            <a:off x="1691123" y="432028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Oval 1328"/>
          <p:cNvSpPr/>
          <p:nvPr/>
        </p:nvSpPr>
        <p:spPr>
          <a:xfrm>
            <a:off x="5072969" y="432467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Oval 1329"/>
          <p:cNvSpPr/>
          <p:nvPr/>
        </p:nvSpPr>
        <p:spPr>
          <a:xfrm>
            <a:off x="5970792" y="432513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Oval 1330"/>
          <p:cNvSpPr/>
          <p:nvPr/>
        </p:nvSpPr>
        <p:spPr>
          <a:xfrm>
            <a:off x="6131142" y="433394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Oval 1331"/>
          <p:cNvSpPr/>
          <p:nvPr/>
        </p:nvSpPr>
        <p:spPr>
          <a:xfrm>
            <a:off x="4320270" y="433781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Oval 1332"/>
          <p:cNvSpPr/>
          <p:nvPr/>
        </p:nvSpPr>
        <p:spPr>
          <a:xfrm>
            <a:off x="6391626" y="433819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Oval 1333"/>
          <p:cNvSpPr/>
          <p:nvPr/>
        </p:nvSpPr>
        <p:spPr>
          <a:xfrm>
            <a:off x="6029516" y="434270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Oval 1334"/>
          <p:cNvSpPr/>
          <p:nvPr/>
        </p:nvSpPr>
        <p:spPr>
          <a:xfrm>
            <a:off x="5303477" y="434460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Oval 1335"/>
          <p:cNvSpPr/>
          <p:nvPr/>
        </p:nvSpPr>
        <p:spPr>
          <a:xfrm>
            <a:off x="6191424" y="434906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Oval 1336"/>
          <p:cNvSpPr/>
          <p:nvPr/>
        </p:nvSpPr>
        <p:spPr>
          <a:xfrm>
            <a:off x="6865156" y="435212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Oval 1337"/>
          <p:cNvSpPr/>
          <p:nvPr/>
        </p:nvSpPr>
        <p:spPr>
          <a:xfrm>
            <a:off x="4077402" y="43731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Oval 1338"/>
          <p:cNvSpPr/>
          <p:nvPr/>
        </p:nvSpPr>
        <p:spPr>
          <a:xfrm>
            <a:off x="5993704" y="437325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Oval 1339"/>
          <p:cNvSpPr/>
          <p:nvPr/>
        </p:nvSpPr>
        <p:spPr>
          <a:xfrm>
            <a:off x="3424313" y="437413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Oval 1340"/>
          <p:cNvSpPr/>
          <p:nvPr/>
        </p:nvSpPr>
        <p:spPr>
          <a:xfrm>
            <a:off x="4309991" y="438212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Oval 1341"/>
          <p:cNvSpPr/>
          <p:nvPr/>
        </p:nvSpPr>
        <p:spPr>
          <a:xfrm>
            <a:off x="4824435" y="439109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Oval 1342"/>
          <p:cNvSpPr/>
          <p:nvPr/>
        </p:nvSpPr>
        <p:spPr>
          <a:xfrm>
            <a:off x="3917320" y="439196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Oval 1343"/>
          <p:cNvSpPr/>
          <p:nvPr/>
        </p:nvSpPr>
        <p:spPr>
          <a:xfrm>
            <a:off x="7147480" y="439240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Oval 1344"/>
          <p:cNvSpPr/>
          <p:nvPr/>
        </p:nvSpPr>
        <p:spPr>
          <a:xfrm>
            <a:off x="6003690" y="439861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Oval 1345"/>
          <p:cNvSpPr/>
          <p:nvPr/>
        </p:nvSpPr>
        <p:spPr>
          <a:xfrm>
            <a:off x="4585707" y="440099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Oval 1346"/>
          <p:cNvSpPr/>
          <p:nvPr/>
        </p:nvSpPr>
        <p:spPr>
          <a:xfrm>
            <a:off x="7948976" y="440930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Oval 1347"/>
          <p:cNvSpPr/>
          <p:nvPr/>
        </p:nvSpPr>
        <p:spPr>
          <a:xfrm>
            <a:off x="8555798" y="441133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Oval 1348"/>
          <p:cNvSpPr/>
          <p:nvPr/>
        </p:nvSpPr>
        <p:spPr>
          <a:xfrm>
            <a:off x="6180112" y="441275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Oval 1349"/>
          <p:cNvSpPr/>
          <p:nvPr/>
        </p:nvSpPr>
        <p:spPr>
          <a:xfrm>
            <a:off x="5800253" y="441372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Oval 1350"/>
          <p:cNvSpPr/>
          <p:nvPr/>
        </p:nvSpPr>
        <p:spPr>
          <a:xfrm>
            <a:off x="6103202" y="441533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Oval 1351"/>
          <p:cNvSpPr/>
          <p:nvPr/>
        </p:nvSpPr>
        <p:spPr>
          <a:xfrm>
            <a:off x="4922213" y="441652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Oval 1352"/>
          <p:cNvSpPr/>
          <p:nvPr/>
        </p:nvSpPr>
        <p:spPr>
          <a:xfrm>
            <a:off x="4810821" y="442674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Oval 1353"/>
          <p:cNvSpPr/>
          <p:nvPr/>
        </p:nvSpPr>
        <p:spPr>
          <a:xfrm>
            <a:off x="4197499" y="442813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Oval 1354"/>
          <p:cNvSpPr/>
          <p:nvPr/>
        </p:nvSpPr>
        <p:spPr>
          <a:xfrm>
            <a:off x="2673866" y="442814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Oval 1355"/>
          <p:cNvSpPr/>
          <p:nvPr/>
        </p:nvSpPr>
        <p:spPr>
          <a:xfrm>
            <a:off x="5942422" y="443090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Oval 1356"/>
          <p:cNvSpPr/>
          <p:nvPr/>
        </p:nvSpPr>
        <p:spPr>
          <a:xfrm>
            <a:off x="6062481" y="443375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Oval 1357"/>
          <p:cNvSpPr/>
          <p:nvPr/>
        </p:nvSpPr>
        <p:spPr>
          <a:xfrm>
            <a:off x="4812574" y="44338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Oval 1358"/>
          <p:cNvSpPr/>
          <p:nvPr/>
        </p:nvSpPr>
        <p:spPr>
          <a:xfrm>
            <a:off x="4914030" y="443393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Oval 1359"/>
          <p:cNvSpPr/>
          <p:nvPr/>
        </p:nvSpPr>
        <p:spPr>
          <a:xfrm>
            <a:off x="4071342" y="443813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Oval 1360"/>
          <p:cNvSpPr/>
          <p:nvPr/>
        </p:nvSpPr>
        <p:spPr>
          <a:xfrm>
            <a:off x="4303688" y="444258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Oval 1361"/>
          <p:cNvSpPr/>
          <p:nvPr/>
        </p:nvSpPr>
        <p:spPr>
          <a:xfrm>
            <a:off x="7390424" y="444947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Oval 1362"/>
          <p:cNvSpPr/>
          <p:nvPr/>
        </p:nvSpPr>
        <p:spPr>
          <a:xfrm>
            <a:off x="2003113" y="445288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Oval 1363"/>
          <p:cNvSpPr/>
          <p:nvPr/>
        </p:nvSpPr>
        <p:spPr>
          <a:xfrm>
            <a:off x="4732228" y="445430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Oval 1364"/>
          <p:cNvSpPr/>
          <p:nvPr/>
        </p:nvSpPr>
        <p:spPr>
          <a:xfrm>
            <a:off x="6055780" y="445671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xfrm>
            <a:off x="5251732" y="445951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Oval 1366"/>
          <p:cNvSpPr/>
          <p:nvPr/>
        </p:nvSpPr>
        <p:spPr>
          <a:xfrm>
            <a:off x="2949008" y="446143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Oval 1367"/>
          <p:cNvSpPr/>
          <p:nvPr/>
        </p:nvSpPr>
        <p:spPr>
          <a:xfrm>
            <a:off x="8403672" y="446216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xfrm>
            <a:off x="6009591" y="446658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Oval 1369"/>
          <p:cNvSpPr/>
          <p:nvPr/>
        </p:nvSpPr>
        <p:spPr>
          <a:xfrm>
            <a:off x="4667226" y="446811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Oval 1370"/>
          <p:cNvSpPr/>
          <p:nvPr/>
        </p:nvSpPr>
        <p:spPr>
          <a:xfrm>
            <a:off x="5141072" y="446963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xfrm>
            <a:off x="6428652" y="447113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Oval 1372"/>
          <p:cNvSpPr/>
          <p:nvPr/>
        </p:nvSpPr>
        <p:spPr>
          <a:xfrm>
            <a:off x="5824633" y="447133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Oval 1373"/>
          <p:cNvSpPr/>
          <p:nvPr/>
        </p:nvSpPr>
        <p:spPr>
          <a:xfrm>
            <a:off x="8325959" y="447346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xfrm>
            <a:off x="8992425" y="447693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Oval 1375"/>
          <p:cNvSpPr/>
          <p:nvPr/>
        </p:nvSpPr>
        <p:spPr>
          <a:xfrm>
            <a:off x="2306617" y="447979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Oval 1376"/>
          <p:cNvSpPr/>
          <p:nvPr/>
        </p:nvSpPr>
        <p:spPr>
          <a:xfrm>
            <a:off x="5804961" y="448234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xfrm>
            <a:off x="7100343" y="448373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Oval 1378"/>
          <p:cNvSpPr/>
          <p:nvPr/>
        </p:nvSpPr>
        <p:spPr>
          <a:xfrm>
            <a:off x="5997962" y="448623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Oval 1379"/>
          <p:cNvSpPr/>
          <p:nvPr/>
        </p:nvSpPr>
        <p:spPr>
          <a:xfrm>
            <a:off x="4380951" y="448646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xfrm>
            <a:off x="7885627" y="448827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Oval 1381"/>
          <p:cNvSpPr/>
          <p:nvPr/>
        </p:nvSpPr>
        <p:spPr>
          <a:xfrm>
            <a:off x="7119100" y="448930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Oval 1382"/>
          <p:cNvSpPr/>
          <p:nvPr/>
        </p:nvSpPr>
        <p:spPr>
          <a:xfrm>
            <a:off x="7370706" y="449359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Oval 1383"/>
          <p:cNvSpPr/>
          <p:nvPr/>
        </p:nvSpPr>
        <p:spPr>
          <a:xfrm>
            <a:off x="9737944" y="449730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Oval 1384"/>
          <p:cNvSpPr/>
          <p:nvPr/>
        </p:nvSpPr>
        <p:spPr>
          <a:xfrm>
            <a:off x="3684074" y="449736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Oval 1385"/>
          <p:cNvSpPr/>
          <p:nvPr/>
        </p:nvSpPr>
        <p:spPr>
          <a:xfrm>
            <a:off x="5224716" y="449838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Oval 1386"/>
          <p:cNvSpPr/>
          <p:nvPr/>
        </p:nvSpPr>
        <p:spPr>
          <a:xfrm>
            <a:off x="9737944" y="450012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Oval 1387"/>
          <p:cNvSpPr/>
          <p:nvPr/>
        </p:nvSpPr>
        <p:spPr>
          <a:xfrm>
            <a:off x="4530490" y="4500256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Oval 1388"/>
          <p:cNvSpPr/>
          <p:nvPr/>
        </p:nvSpPr>
        <p:spPr>
          <a:xfrm>
            <a:off x="4894587" y="450159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Oval 1389"/>
          <p:cNvSpPr/>
          <p:nvPr/>
        </p:nvSpPr>
        <p:spPr>
          <a:xfrm>
            <a:off x="6246738" y="450252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Oval 1390"/>
          <p:cNvSpPr/>
          <p:nvPr/>
        </p:nvSpPr>
        <p:spPr>
          <a:xfrm>
            <a:off x="4867218" y="450301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Oval 1391"/>
          <p:cNvSpPr/>
          <p:nvPr/>
        </p:nvSpPr>
        <p:spPr>
          <a:xfrm>
            <a:off x="5879762" y="450570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Oval 1392"/>
          <p:cNvSpPr/>
          <p:nvPr/>
        </p:nvSpPr>
        <p:spPr>
          <a:xfrm>
            <a:off x="6207307" y="450666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Oval 1393"/>
          <p:cNvSpPr/>
          <p:nvPr/>
        </p:nvSpPr>
        <p:spPr>
          <a:xfrm>
            <a:off x="4808270" y="450770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Oval 1394"/>
          <p:cNvSpPr/>
          <p:nvPr/>
        </p:nvSpPr>
        <p:spPr>
          <a:xfrm>
            <a:off x="8027452" y="450954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Oval 1395"/>
          <p:cNvSpPr/>
          <p:nvPr/>
        </p:nvSpPr>
        <p:spPr>
          <a:xfrm>
            <a:off x="6240201" y="451065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Oval 1396"/>
          <p:cNvSpPr/>
          <p:nvPr/>
        </p:nvSpPr>
        <p:spPr>
          <a:xfrm>
            <a:off x="3921379" y="451165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Oval 1397"/>
          <p:cNvSpPr/>
          <p:nvPr/>
        </p:nvSpPr>
        <p:spPr>
          <a:xfrm>
            <a:off x="4621199" y="4511771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Oval 1398"/>
          <p:cNvSpPr/>
          <p:nvPr/>
        </p:nvSpPr>
        <p:spPr>
          <a:xfrm>
            <a:off x="5235723" y="451292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Oval 1399"/>
          <p:cNvSpPr/>
          <p:nvPr/>
        </p:nvSpPr>
        <p:spPr>
          <a:xfrm>
            <a:off x="6332720" y="451315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Oval 1400"/>
          <p:cNvSpPr/>
          <p:nvPr/>
        </p:nvSpPr>
        <p:spPr>
          <a:xfrm>
            <a:off x="4620650" y="451332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Oval 1401"/>
          <p:cNvSpPr/>
          <p:nvPr/>
        </p:nvSpPr>
        <p:spPr>
          <a:xfrm>
            <a:off x="6802072" y="451505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Oval 1402"/>
          <p:cNvSpPr/>
          <p:nvPr/>
        </p:nvSpPr>
        <p:spPr>
          <a:xfrm>
            <a:off x="2786554" y="451889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Oval 1403"/>
          <p:cNvSpPr/>
          <p:nvPr/>
        </p:nvSpPr>
        <p:spPr>
          <a:xfrm>
            <a:off x="7677153" y="452135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Oval 1404"/>
          <p:cNvSpPr/>
          <p:nvPr/>
        </p:nvSpPr>
        <p:spPr>
          <a:xfrm>
            <a:off x="5931706" y="452309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Oval 1405"/>
          <p:cNvSpPr/>
          <p:nvPr/>
        </p:nvSpPr>
        <p:spPr>
          <a:xfrm>
            <a:off x="1757961" y="452399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Oval 1406"/>
          <p:cNvSpPr/>
          <p:nvPr/>
        </p:nvSpPr>
        <p:spPr>
          <a:xfrm>
            <a:off x="4631177" y="452536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Oval 1407"/>
          <p:cNvSpPr/>
          <p:nvPr/>
        </p:nvSpPr>
        <p:spPr>
          <a:xfrm>
            <a:off x="6170232" y="452724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Oval 1408"/>
          <p:cNvSpPr/>
          <p:nvPr/>
        </p:nvSpPr>
        <p:spPr>
          <a:xfrm>
            <a:off x="9183398" y="452792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Oval 1409"/>
          <p:cNvSpPr/>
          <p:nvPr/>
        </p:nvSpPr>
        <p:spPr>
          <a:xfrm>
            <a:off x="7086740" y="452822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Oval 1410"/>
          <p:cNvSpPr/>
          <p:nvPr/>
        </p:nvSpPr>
        <p:spPr>
          <a:xfrm>
            <a:off x="3829628" y="452858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Oval 1411"/>
          <p:cNvSpPr/>
          <p:nvPr/>
        </p:nvSpPr>
        <p:spPr>
          <a:xfrm>
            <a:off x="9737944" y="452941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Oval 1412"/>
          <p:cNvSpPr/>
          <p:nvPr/>
        </p:nvSpPr>
        <p:spPr>
          <a:xfrm>
            <a:off x="5899032" y="453430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Oval 1413"/>
          <p:cNvSpPr/>
          <p:nvPr/>
        </p:nvSpPr>
        <p:spPr>
          <a:xfrm>
            <a:off x="6436283" y="453431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Oval 1414"/>
          <p:cNvSpPr/>
          <p:nvPr/>
        </p:nvSpPr>
        <p:spPr>
          <a:xfrm>
            <a:off x="5313211" y="453442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Oval 1415"/>
          <p:cNvSpPr/>
          <p:nvPr/>
        </p:nvSpPr>
        <p:spPr>
          <a:xfrm>
            <a:off x="7753672" y="453442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Oval 1416"/>
          <p:cNvSpPr/>
          <p:nvPr/>
        </p:nvSpPr>
        <p:spPr>
          <a:xfrm>
            <a:off x="8628044" y="453541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Oval 1417"/>
          <p:cNvSpPr/>
          <p:nvPr/>
        </p:nvSpPr>
        <p:spPr>
          <a:xfrm>
            <a:off x="7101532" y="453607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Oval 1418"/>
          <p:cNvSpPr/>
          <p:nvPr/>
        </p:nvSpPr>
        <p:spPr>
          <a:xfrm>
            <a:off x="6307223" y="453794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Oval 1419"/>
          <p:cNvSpPr/>
          <p:nvPr/>
        </p:nvSpPr>
        <p:spPr>
          <a:xfrm>
            <a:off x="5829006" y="4538713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Oval 1420"/>
          <p:cNvSpPr/>
          <p:nvPr/>
        </p:nvSpPr>
        <p:spPr>
          <a:xfrm>
            <a:off x="4168196" y="454547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Oval 1421"/>
          <p:cNvSpPr/>
          <p:nvPr/>
        </p:nvSpPr>
        <p:spPr>
          <a:xfrm>
            <a:off x="3731770" y="454710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Oval 1422"/>
          <p:cNvSpPr/>
          <p:nvPr/>
        </p:nvSpPr>
        <p:spPr>
          <a:xfrm>
            <a:off x="6013874" y="454765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Oval 1423"/>
          <p:cNvSpPr/>
          <p:nvPr/>
        </p:nvSpPr>
        <p:spPr>
          <a:xfrm>
            <a:off x="4857238" y="455334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Oval 1424"/>
          <p:cNvSpPr/>
          <p:nvPr/>
        </p:nvSpPr>
        <p:spPr>
          <a:xfrm>
            <a:off x="4211585" y="455457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Oval 1425"/>
          <p:cNvSpPr/>
          <p:nvPr/>
        </p:nvSpPr>
        <p:spPr>
          <a:xfrm>
            <a:off x="2253861" y="455532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Oval 1426"/>
          <p:cNvSpPr/>
          <p:nvPr/>
        </p:nvSpPr>
        <p:spPr>
          <a:xfrm>
            <a:off x="5248486" y="455942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Oval 1427"/>
          <p:cNvSpPr/>
          <p:nvPr/>
        </p:nvSpPr>
        <p:spPr>
          <a:xfrm>
            <a:off x="4476180" y="455990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Oval 1428"/>
          <p:cNvSpPr/>
          <p:nvPr/>
        </p:nvSpPr>
        <p:spPr>
          <a:xfrm>
            <a:off x="3676643" y="456183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Oval 1429"/>
          <p:cNvSpPr/>
          <p:nvPr/>
        </p:nvSpPr>
        <p:spPr>
          <a:xfrm>
            <a:off x="5198483" y="456232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Oval 1430"/>
          <p:cNvSpPr/>
          <p:nvPr/>
        </p:nvSpPr>
        <p:spPr>
          <a:xfrm>
            <a:off x="4256097" y="456262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Oval 1431"/>
          <p:cNvSpPr/>
          <p:nvPr/>
        </p:nvSpPr>
        <p:spPr>
          <a:xfrm>
            <a:off x="6489032" y="456635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Oval 1432"/>
          <p:cNvSpPr/>
          <p:nvPr/>
        </p:nvSpPr>
        <p:spPr>
          <a:xfrm>
            <a:off x="2930732" y="4566824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Oval 1433"/>
          <p:cNvSpPr/>
          <p:nvPr/>
        </p:nvSpPr>
        <p:spPr>
          <a:xfrm>
            <a:off x="5977589" y="4568077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Oval 1434"/>
          <p:cNvSpPr/>
          <p:nvPr/>
        </p:nvSpPr>
        <p:spPr>
          <a:xfrm>
            <a:off x="6035866" y="457291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Oval 1435"/>
          <p:cNvSpPr/>
          <p:nvPr/>
        </p:nvSpPr>
        <p:spPr>
          <a:xfrm>
            <a:off x="4778580" y="457340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Oval 1436"/>
          <p:cNvSpPr/>
          <p:nvPr/>
        </p:nvSpPr>
        <p:spPr>
          <a:xfrm>
            <a:off x="5067915" y="4575059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Oval 1437"/>
          <p:cNvSpPr/>
          <p:nvPr/>
        </p:nvSpPr>
        <p:spPr>
          <a:xfrm>
            <a:off x="6543997" y="457849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Oval 1438"/>
          <p:cNvSpPr/>
          <p:nvPr/>
        </p:nvSpPr>
        <p:spPr>
          <a:xfrm>
            <a:off x="5229066" y="4580463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Oval 1439"/>
          <p:cNvSpPr/>
          <p:nvPr/>
        </p:nvSpPr>
        <p:spPr>
          <a:xfrm>
            <a:off x="6020654" y="4582508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Oval 1440"/>
          <p:cNvSpPr/>
          <p:nvPr/>
        </p:nvSpPr>
        <p:spPr>
          <a:xfrm>
            <a:off x="5215898" y="458620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Oval 1441"/>
          <p:cNvSpPr/>
          <p:nvPr/>
        </p:nvSpPr>
        <p:spPr>
          <a:xfrm>
            <a:off x="5176540" y="458915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Oval 1442"/>
          <p:cNvSpPr/>
          <p:nvPr/>
        </p:nvSpPr>
        <p:spPr>
          <a:xfrm>
            <a:off x="5083762" y="4590948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Oval 1443"/>
          <p:cNvSpPr/>
          <p:nvPr/>
        </p:nvSpPr>
        <p:spPr>
          <a:xfrm>
            <a:off x="8342358" y="4592102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Oval 1444"/>
          <p:cNvSpPr/>
          <p:nvPr/>
        </p:nvSpPr>
        <p:spPr>
          <a:xfrm>
            <a:off x="7010563" y="4593720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Oval 1445"/>
          <p:cNvSpPr/>
          <p:nvPr/>
        </p:nvSpPr>
        <p:spPr>
          <a:xfrm>
            <a:off x="4605061" y="4596835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Oval 1446"/>
          <p:cNvSpPr/>
          <p:nvPr/>
        </p:nvSpPr>
        <p:spPr>
          <a:xfrm>
            <a:off x="6651405" y="4596909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Oval 1447"/>
          <p:cNvSpPr/>
          <p:nvPr/>
        </p:nvSpPr>
        <p:spPr>
          <a:xfrm>
            <a:off x="9737944" y="4598501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Oval 1448"/>
          <p:cNvSpPr/>
          <p:nvPr/>
        </p:nvSpPr>
        <p:spPr>
          <a:xfrm>
            <a:off x="6131357" y="4600045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Oval 1449"/>
          <p:cNvSpPr/>
          <p:nvPr/>
        </p:nvSpPr>
        <p:spPr>
          <a:xfrm>
            <a:off x="4431503" y="4601862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Oval 1450"/>
          <p:cNvSpPr/>
          <p:nvPr/>
        </p:nvSpPr>
        <p:spPr>
          <a:xfrm>
            <a:off x="6505707" y="4603736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Oval 1451"/>
          <p:cNvSpPr/>
          <p:nvPr/>
        </p:nvSpPr>
        <p:spPr>
          <a:xfrm>
            <a:off x="4803120" y="4604017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Oval 1452"/>
          <p:cNvSpPr/>
          <p:nvPr/>
        </p:nvSpPr>
        <p:spPr>
          <a:xfrm>
            <a:off x="7318978" y="4606494"/>
            <a:ext cx="36000" cy="36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Oval 1453"/>
          <p:cNvSpPr/>
          <p:nvPr/>
        </p:nvSpPr>
        <p:spPr>
          <a:xfrm>
            <a:off x="4992791" y="4609550"/>
            <a:ext cx="36000" cy="36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Oval 1454"/>
          <p:cNvSpPr/>
          <p:nvPr/>
        </p:nvSpPr>
        <p:spPr>
          <a:xfrm>
            <a:off x="4337822" y="3730793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Oval 1455"/>
          <p:cNvSpPr/>
          <p:nvPr/>
        </p:nvSpPr>
        <p:spPr>
          <a:xfrm>
            <a:off x="3165277" y="4117317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Oval 1456"/>
          <p:cNvSpPr/>
          <p:nvPr/>
        </p:nvSpPr>
        <p:spPr>
          <a:xfrm>
            <a:off x="5176171" y="4124184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xfrm>
            <a:off x="3331532" y="4176696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Oval 1458"/>
          <p:cNvSpPr/>
          <p:nvPr/>
        </p:nvSpPr>
        <p:spPr>
          <a:xfrm>
            <a:off x="4053749" y="4210411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Oval 1459"/>
          <p:cNvSpPr/>
          <p:nvPr/>
        </p:nvSpPr>
        <p:spPr>
          <a:xfrm>
            <a:off x="7396628" y="4239926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xfrm>
            <a:off x="4185682" y="4253764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Oval 1461"/>
          <p:cNvSpPr/>
          <p:nvPr/>
        </p:nvSpPr>
        <p:spPr>
          <a:xfrm>
            <a:off x="4244132" y="4284976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Oval 1462"/>
          <p:cNvSpPr/>
          <p:nvPr/>
        </p:nvSpPr>
        <p:spPr>
          <a:xfrm>
            <a:off x="4817955" y="4367538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xfrm>
            <a:off x="4971153" y="4369238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Oval 1464"/>
          <p:cNvSpPr/>
          <p:nvPr/>
        </p:nvSpPr>
        <p:spPr>
          <a:xfrm>
            <a:off x="4390218" y="4425048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Oval 1465"/>
          <p:cNvSpPr/>
          <p:nvPr/>
        </p:nvSpPr>
        <p:spPr>
          <a:xfrm>
            <a:off x="4024433" y="4476801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xfrm>
            <a:off x="4580049" y="4497925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Oval 1467"/>
          <p:cNvSpPr/>
          <p:nvPr/>
        </p:nvSpPr>
        <p:spPr>
          <a:xfrm>
            <a:off x="6213264" y="4507833"/>
            <a:ext cx="52000" cy="52000"/>
          </a:xfrm>
          <a:prstGeom prst="ellipse">
            <a:avLst/>
          </a:prstGeom>
          <a:solidFill>
            <a:srgbClr val="E39A1E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Oval 1468"/>
          <p:cNvSpPr/>
          <p:nvPr/>
        </p:nvSpPr>
        <p:spPr>
          <a:xfrm>
            <a:off x="5854898" y="4508533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xfrm>
            <a:off x="4592070" y="4518042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Oval 1470"/>
          <p:cNvSpPr/>
          <p:nvPr/>
        </p:nvSpPr>
        <p:spPr>
          <a:xfrm>
            <a:off x="3089432" y="4534711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Oval 1471"/>
          <p:cNvSpPr/>
          <p:nvPr/>
        </p:nvSpPr>
        <p:spPr>
          <a:xfrm>
            <a:off x="6082650" y="4560746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xfrm>
            <a:off x="4762033" y="4570000"/>
            <a:ext cx="52000" cy="52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Oval 1473"/>
          <p:cNvSpPr/>
          <p:nvPr/>
        </p:nvSpPr>
        <p:spPr>
          <a:xfrm>
            <a:off x="5909547" y="4582025"/>
            <a:ext cx="52000" cy="52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Oval 1474"/>
          <p:cNvSpPr/>
          <p:nvPr/>
        </p:nvSpPr>
        <p:spPr>
          <a:xfrm>
            <a:off x="5962237" y="4584054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xfrm>
            <a:off x="5208490" y="4593024"/>
            <a:ext cx="52000" cy="52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TextBox 1476"/>
          <p:cNvSpPr txBox="1"/>
          <p:nvPr/>
        </p:nvSpPr>
        <p:spPr>
          <a:xfrm>
            <a:off x="2322597" y="410066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REG1A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2488852" y="416033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5A8261"/>
                </a:solidFill>
                <a:latin typeface="Arial"/>
              </a:rPr>
              <a:t>CNTN1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2246752" y="448909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A24E78"/>
                </a:solidFill>
                <a:latin typeface="Arial"/>
              </a:rPr>
              <a:t>NPTX2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7514068" y="41713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5A8261"/>
                </a:solidFill>
                <a:latin typeface="Arial"/>
              </a:rPr>
              <a:t>FABP3</a:t>
            </a:r>
          </a:p>
        </p:txBody>
      </p:sp>
      <p:sp>
        <p:nvSpPr>
          <p:cNvPr id="1481" name="TextBox 1480"/>
          <p:cNvSpPr txBox="1"/>
          <p:nvPr/>
        </p:nvSpPr>
        <p:spPr>
          <a:xfrm>
            <a:off x="3495142" y="363903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A24E78"/>
                </a:solidFill>
                <a:latin typeface="Arial"/>
              </a:rPr>
              <a:t>GPX3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3211069" y="41515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CCL11</a:t>
            </a:r>
          </a:p>
        </p:txBody>
      </p:sp>
      <p:sp>
        <p:nvSpPr>
          <p:cNvPr id="1483" name="TextBox 1482"/>
          <p:cNvSpPr txBox="1"/>
          <p:nvPr/>
        </p:nvSpPr>
        <p:spPr>
          <a:xfrm>
            <a:off x="3343002" y="419746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5A8261"/>
                </a:solidFill>
                <a:latin typeface="Arial"/>
              </a:rPr>
              <a:t>CACNA1H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3181753" y="438417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5A8261"/>
                </a:solidFill>
                <a:latin typeface="Arial"/>
              </a:rPr>
              <a:t>SFRP1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3401452" y="419270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5A8261"/>
                </a:solidFill>
                <a:latin typeface="Arial"/>
              </a:rPr>
              <a:t>SLIT3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3547538" y="442781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PCDH7</a:t>
            </a:r>
          </a:p>
        </p:txBody>
      </p:sp>
      <p:sp>
        <p:nvSpPr>
          <p:cNvPr id="1487" name="TextBox 1486"/>
          <p:cNvSpPr txBox="1"/>
          <p:nvPr/>
        </p:nvSpPr>
        <p:spPr>
          <a:xfrm>
            <a:off x="3737369" y="446600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CCL24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3749390" y="444434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NMUR1</a:t>
            </a:r>
          </a:p>
        </p:txBody>
      </p:sp>
      <p:sp>
        <p:nvSpPr>
          <p:cNvPr id="1489" name="TextBox 1488"/>
          <p:cNvSpPr txBox="1"/>
          <p:nvPr/>
        </p:nvSpPr>
        <p:spPr>
          <a:xfrm>
            <a:off x="3975275" y="431388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PRSS23</a:t>
            </a:r>
          </a:p>
        </p:txBody>
      </p:sp>
      <p:sp>
        <p:nvSpPr>
          <p:cNvPr id="1490" name="TextBox 1489"/>
          <p:cNvSpPr txBox="1"/>
          <p:nvPr/>
        </p:nvSpPr>
        <p:spPr>
          <a:xfrm>
            <a:off x="3919353" y="457026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118AB2"/>
                </a:solidFill>
                <a:latin typeface="Arial"/>
              </a:rPr>
              <a:t>CX3CL1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4128473" y="436185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A24E78"/>
                </a:solidFill>
                <a:latin typeface="Arial"/>
              </a:rPr>
              <a:t>SMAD7</a:t>
            </a:r>
          </a:p>
        </p:txBody>
      </p:sp>
      <p:sp>
        <p:nvSpPr>
          <p:cNvPr id="1492" name="TextBox 1491"/>
          <p:cNvSpPr txBox="1"/>
          <p:nvPr/>
        </p:nvSpPr>
        <p:spPr>
          <a:xfrm>
            <a:off x="6330704" y="449510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E39A1E"/>
                </a:solidFill>
                <a:latin typeface="Arial"/>
              </a:rPr>
              <a:t>DNMT1</a:t>
            </a:r>
          </a:p>
        </p:txBody>
      </p:sp>
      <p:sp>
        <p:nvSpPr>
          <p:cNvPr id="1493" name="TextBox 1492"/>
          <p:cNvSpPr txBox="1"/>
          <p:nvPr/>
        </p:nvSpPr>
        <p:spPr>
          <a:xfrm>
            <a:off x="4333491" y="406627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A24E78"/>
                </a:solidFill>
                <a:latin typeface="Arial"/>
              </a:rPr>
              <a:t>MRPL40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6200090" y="451289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118AB2"/>
                </a:solidFill>
                <a:latin typeface="Arial"/>
              </a:rPr>
              <a:t>PUS1</a:t>
            </a:r>
          </a:p>
        </p:txBody>
      </p:sp>
      <p:sp>
        <p:nvSpPr>
          <p:cNvPr id="1495" name="TextBox 1494"/>
          <p:cNvSpPr txBox="1"/>
          <p:nvPr/>
        </p:nvSpPr>
        <p:spPr>
          <a:xfrm>
            <a:off x="4365810" y="45635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A24E78"/>
                </a:solidFill>
                <a:latin typeface="Arial"/>
              </a:rPr>
              <a:t>NME3</a:t>
            </a:r>
          </a:p>
        </p:txBody>
      </p:sp>
      <p:sp>
        <p:nvSpPr>
          <p:cNvPr id="1496" name="TextBox 1495"/>
          <p:cNvSpPr txBox="1"/>
          <p:nvPr/>
        </p:nvSpPr>
        <p:spPr>
          <a:xfrm>
            <a:off x="6079677" y="449298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A24E78"/>
                </a:solidFill>
                <a:latin typeface="Arial"/>
              </a:rPr>
              <a:t>UPF3B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6026987" y="454043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5A8261"/>
                </a:solidFill>
                <a:latin typeface="Arial"/>
              </a:rPr>
              <a:t>AKT2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5972338" y="443852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A24E78"/>
                </a:solidFill>
                <a:latin typeface="Arial"/>
              </a:rPr>
              <a:t>SUPT5H</a:t>
            </a:r>
          </a:p>
        </p:txBody>
      </p:sp>
      <p:sp>
        <p:nvSpPr>
          <p:cNvPr id="1499" name="TextBox 1498"/>
          <p:cNvSpPr txBox="1"/>
          <p:nvPr/>
        </p:nvSpPr>
        <p:spPr>
          <a:xfrm>
            <a:off x="622495" y="372039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LINC01139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9847384" y="403193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LINC01087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9847384" y="446007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FOXI3</a:t>
            </a:r>
          </a:p>
        </p:txBody>
      </p:sp>
      <p:sp>
        <p:nvSpPr>
          <p:cNvPr id="1502" name="TextBox 1501"/>
          <p:cNvSpPr txBox="1"/>
          <p:nvPr/>
        </p:nvSpPr>
        <p:spPr>
          <a:xfrm>
            <a:off x="9847384" y="451127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CT83</a:t>
            </a:r>
          </a:p>
        </p:txBody>
      </p:sp>
      <p:sp>
        <p:nvSpPr>
          <p:cNvPr id="1503" name="TextBox 1502"/>
          <p:cNvSpPr txBox="1"/>
          <p:nvPr/>
        </p:nvSpPr>
        <p:spPr>
          <a:xfrm>
            <a:off x="9543630" y="365146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SPAG17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2080724" y="298904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CPLX2</a:t>
            </a:r>
          </a:p>
        </p:txBody>
      </p:sp>
      <p:sp>
        <p:nvSpPr>
          <p:cNvPr id="1505" name="TextBox 1504"/>
          <p:cNvSpPr txBox="1"/>
          <p:nvPr/>
        </p:nvSpPr>
        <p:spPr>
          <a:xfrm>
            <a:off x="1685775" y="339571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LCN15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9847384" y="44952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BOK-AS1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9751667" y="41547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SCN2A</a:t>
            </a:r>
          </a:p>
        </p:txBody>
      </p:sp>
      <p:sp>
        <p:nvSpPr>
          <p:cNvPr id="1508" name="TextBox 1507"/>
          <p:cNvSpPr txBox="1"/>
          <p:nvPr/>
        </p:nvSpPr>
        <p:spPr>
          <a:xfrm>
            <a:off x="9847384" y="439509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DNAAF4-CCPG1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654827" y="422940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REG3G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840443" y="42588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ANKRD34B</a:t>
            </a:r>
          </a:p>
        </p:txBody>
      </p:sp>
      <p:sp>
        <p:nvSpPr>
          <p:cNvPr id="1511" name="TextBox 1510"/>
          <p:cNvSpPr txBox="1"/>
          <p:nvPr/>
        </p:nvSpPr>
        <p:spPr>
          <a:xfrm>
            <a:off x="907281" y="44391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C8orf44-SGK3</a:t>
            </a:r>
          </a:p>
        </p:txBody>
      </p:sp>
      <p:sp>
        <p:nvSpPr>
          <p:cNvPr id="1512" name="TextBox 1511"/>
          <p:cNvSpPr txBox="1"/>
          <p:nvPr/>
        </p:nvSpPr>
        <p:spPr>
          <a:xfrm>
            <a:off x="1152433" y="438023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PRND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2024556" y="400873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PLAC4</a:t>
            </a:r>
          </a:p>
        </p:txBody>
      </p:sp>
      <p:sp>
        <p:nvSpPr>
          <p:cNvPr id="1514" name="TextBox 1513"/>
          <p:cNvSpPr txBox="1"/>
          <p:nvPr/>
        </p:nvSpPr>
        <p:spPr>
          <a:xfrm>
            <a:off x="9292838" y="445442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LOC101927281</a:t>
            </a:r>
          </a:p>
        </p:txBody>
      </p:sp>
      <p:sp>
        <p:nvSpPr>
          <p:cNvPr id="1515" name="TextBox 1514"/>
          <p:cNvSpPr txBox="1"/>
          <p:nvPr/>
        </p:nvSpPr>
        <p:spPr>
          <a:xfrm>
            <a:off x="8143105" y="380712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LINC00659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9101865" y="444163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SHOC1</a:t>
            </a:r>
          </a:p>
        </p:txBody>
      </p:sp>
      <p:sp>
        <p:nvSpPr>
          <p:cNvPr id="1517" name="TextBox 1516"/>
          <p:cNvSpPr txBox="1"/>
          <p:nvPr/>
        </p:nvSpPr>
        <p:spPr>
          <a:xfrm>
            <a:off x="8246891" y="396509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LOC107985906</a:t>
            </a:r>
          </a:p>
        </p:txBody>
      </p:sp>
      <p:sp>
        <p:nvSpPr>
          <p:cNvPr id="1518" name="TextBox 1517"/>
          <p:cNvSpPr txBox="1"/>
          <p:nvPr/>
        </p:nvSpPr>
        <p:spPr>
          <a:xfrm>
            <a:off x="1455937" y="445453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LOC107984988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7861706" y="366646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LOC102724830</a:t>
            </a:r>
          </a:p>
        </p:txBody>
      </p:sp>
      <p:sp>
        <p:nvSpPr>
          <p:cNvPr id="1520" name="TextBox 1519"/>
          <p:cNvSpPr txBox="1"/>
          <p:nvPr/>
        </p:nvSpPr>
        <p:spPr>
          <a:xfrm>
            <a:off x="1403181" y="44821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ANGPTL7</a:t>
            </a:r>
          </a:p>
        </p:txBody>
      </p:sp>
      <p:sp>
        <p:nvSpPr>
          <p:cNvPr id="1521" name="TextBox 1520"/>
          <p:cNvSpPr txBox="1"/>
          <p:nvPr/>
        </p:nvSpPr>
        <p:spPr>
          <a:xfrm>
            <a:off x="8665238" y="43861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LOC101927436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1823186" y="437369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LOC105372279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8308795" y="421972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DPF1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2305467" y="411088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LOC100130256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8737484" y="443171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TMC2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8513112" y="445033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LY6D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7721557" y="382752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SENP3-EIF4A1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2685407" y="398267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MT1M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1935874" y="445052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CLDN10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8435399" y="446341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 i="0">
                <a:solidFill>
                  <a:srgbClr val="0A7D6E"/>
                </a:solidFill>
                <a:latin typeface="Arial"/>
              </a:rPr>
              <a:t>LOC112268266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2098328" y="439622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50" b="1" i="0">
                <a:solidFill>
                  <a:srgbClr val="C53E1F"/>
                </a:solidFill>
                <a:latin typeface="Arial"/>
              </a:rPr>
              <a:t>HSPB3</a:t>
            </a:r>
          </a:p>
        </p:txBody>
      </p:sp>
      <p:cxnSp>
        <p:nvCxnSpPr>
          <p:cNvPr id="1532" name="Connector 1531"/>
          <p:cNvCxnSpPr/>
          <p:nvPr/>
        </p:nvCxnSpPr>
        <p:spPr>
          <a:xfrm>
            <a:off x="6202093" y="915475"/>
            <a:ext cx="3223260" cy="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3" name="Right Triangle 1532"/>
          <p:cNvSpPr/>
          <p:nvPr/>
        </p:nvSpPr>
        <p:spPr>
          <a:xfrm>
            <a:off x="9395353" y="885475"/>
            <a:ext cx="60000" cy="60000"/>
          </a:xfrm>
          <a:prstGeom prst="rtTriangl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TextBox 1533"/>
          <p:cNvSpPr txBox="1"/>
          <p:nvPr/>
        </p:nvSpPr>
        <p:spPr>
          <a:xfrm>
            <a:off x="6202093" y="641155"/>
            <a:ext cx="32232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Up in Good responders</a:t>
            </a:r>
          </a:p>
        </p:txBody>
      </p:sp>
      <p:cxnSp>
        <p:nvCxnSpPr>
          <p:cNvPr id="1535" name="Connector 1534"/>
          <p:cNvCxnSpPr/>
          <p:nvPr/>
        </p:nvCxnSpPr>
        <p:spPr>
          <a:xfrm flipH="1">
            <a:off x="1821766" y="915475"/>
            <a:ext cx="3223260" cy="0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" name="Right Triangle 1535"/>
          <p:cNvSpPr/>
          <p:nvPr/>
        </p:nvSpPr>
        <p:spPr>
          <a:xfrm rot="10800000">
            <a:off x="1791766" y="885475"/>
            <a:ext cx="60000" cy="60000"/>
          </a:xfrm>
          <a:prstGeom prst="rtTriangl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TextBox 1536"/>
          <p:cNvSpPr txBox="1"/>
          <p:nvPr/>
        </p:nvSpPr>
        <p:spPr>
          <a:xfrm>
            <a:off x="1821766" y="641155"/>
            <a:ext cx="32232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Up in Poor responders</a:t>
            </a:r>
          </a:p>
        </p:txBody>
      </p:sp>
      <p:sp>
        <p:nvSpPr>
          <p:cNvPr id="1538" name="Oval 1537"/>
          <p:cNvSpPr/>
          <p:nvPr/>
        </p:nvSpPr>
        <p:spPr>
          <a:xfrm>
            <a:off x="1437040" y="6502816"/>
            <a:ext cx="52000" cy="52000"/>
          </a:xfrm>
          <a:prstGeom prst="ellipse">
            <a:avLst/>
          </a:prstGeom>
          <a:solidFill>
            <a:srgbClr val="E39A1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60020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Cell cycle  (n = 1)</a:t>
            </a:r>
          </a:p>
        </p:txBody>
      </p:sp>
      <p:sp>
        <p:nvSpPr>
          <p:cNvPr id="1540" name="Oval 1539"/>
          <p:cNvSpPr/>
          <p:nvPr/>
        </p:nvSpPr>
        <p:spPr>
          <a:xfrm>
            <a:off x="3585880" y="6502816"/>
            <a:ext cx="52000" cy="52000"/>
          </a:xfrm>
          <a:prstGeom prst="ellipse">
            <a:avLst/>
          </a:prstGeom>
          <a:solidFill>
            <a:srgbClr val="A24E7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TextBox 1540"/>
          <p:cNvSpPr txBox="1"/>
          <p:nvPr/>
        </p:nvSpPr>
        <p:spPr>
          <a:xfrm>
            <a:off x="374904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DNA repair  (n = 7)</a:t>
            </a:r>
          </a:p>
        </p:txBody>
      </p:sp>
      <p:sp>
        <p:nvSpPr>
          <p:cNvPr id="1542" name="Oval 1541"/>
          <p:cNvSpPr/>
          <p:nvPr/>
        </p:nvSpPr>
        <p:spPr>
          <a:xfrm>
            <a:off x="5734720" y="6502816"/>
            <a:ext cx="52000" cy="52000"/>
          </a:xfrm>
          <a:prstGeom prst="ellipse">
            <a:avLst/>
          </a:prstGeom>
          <a:solidFill>
            <a:srgbClr val="118AB2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TextBox 1542"/>
          <p:cNvSpPr txBox="1"/>
          <p:nvPr/>
        </p:nvSpPr>
        <p:spPr>
          <a:xfrm>
            <a:off x="589788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Immune  (n = 8)</a:t>
            </a:r>
          </a:p>
        </p:txBody>
      </p:sp>
      <p:sp>
        <p:nvSpPr>
          <p:cNvPr id="1544" name="Oval 1543"/>
          <p:cNvSpPr/>
          <p:nvPr/>
        </p:nvSpPr>
        <p:spPr>
          <a:xfrm>
            <a:off x="7883560" y="6502816"/>
            <a:ext cx="52000" cy="52000"/>
          </a:xfrm>
          <a:prstGeom prst="ellipse">
            <a:avLst/>
          </a:prstGeom>
          <a:solidFill>
            <a:srgbClr val="5A8261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8046720" y="6446520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EMT / Stromal  (n = 6)</a:t>
            </a:r>
          </a:p>
        </p:txBody>
      </p:sp>
      <p:sp>
        <p:nvSpPr>
          <p:cNvPr id="1546" name="Oval 1545"/>
          <p:cNvSpPr/>
          <p:nvPr/>
        </p:nvSpPr>
        <p:spPr>
          <a:xfrm>
            <a:off x="1441040" y="6753704"/>
            <a:ext cx="44000" cy="44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TextBox 1546"/>
          <p:cNvSpPr txBox="1"/>
          <p:nvPr/>
        </p:nvSpPr>
        <p:spPr>
          <a:xfrm>
            <a:off x="160020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up-good  (n = 106)</a:t>
            </a:r>
          </a:p>
        </p:txBody>
      </p:sp>
      <p:sp>
        <p:nvSpPr>
          <p:cNvPr id="1548" name="Oval 1547"/>
          <p:cNvSpPr/>
          <p:nvPr/>
        </p:nvSpPr>
        <p:spPr>
          <a:xfrm>
            <a:off x="3589880" y="6753704"/>
            <a:ext cx="44000" cy="44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374904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up-poor  (n = 100)</a:t>
            </a:r>
          </a:p>
        </p:txBody>
      </p:sp>
      <p:sp>
        <p:nvSpPr>
          <p:cNvPr id="1550" name="Oval 1549"/>
          <p:cNvSpPr/>
          <p:nvPr/>
        </p:nvSpPr>
        <p:spPr>
          <a:xfrm>
            <a:off x="5742720" y="6757704"/>
            <a:ext cx="36000" cy="36000"/>
          </a:xfrm>
          <a:prstGeom prst="ellipse">
            <a:avLst/>
          </a:prstGeom>
          <a:solidFill>
            <a:srgbClr val="DDE2E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5897880" y="6693408"/>
            <a:ext cx="1874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Non-significant (P ≥ 0.01)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