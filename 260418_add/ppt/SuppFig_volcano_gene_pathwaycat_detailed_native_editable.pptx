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515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25880" y="5897880"/>
            <a:ext cx="85953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25880" y="502920"/>
            <a:ext cx="0" cy="539496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91175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08295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7652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34772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44129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61249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0606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87726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7083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4203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40680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50036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7156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76513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93633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02990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0110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29467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46587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55944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73064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80160" y="589788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81558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80160" y="526317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18088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462847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54618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80160" y="399377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3911480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80160" y="335907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3276779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80160" y="272437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2642078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2089672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2007376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80160" y="145497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1372675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80160" y="82027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0" y="73797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6153912"/>
            <a:ext cx="8595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log₂ fold change (good vs poor)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182880" y="309981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−log₁₀(p-value)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23560" y="502920"/>
            <a:ext cx="0" cy="539496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5880" y="4628477"/>
            <a:ext cx="859536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371600" y="4445597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P = 0.01</a:t>
            </a:r>
          </a:p>
        </p:txBody>
      </p:sp>
      <p:sp>
        <p:nvSpPr>
          <p:cNvPr id="49" name="Oval 48"/>
          <p:cNvSpPr/>
          <p:nvPr/>
        </p:nvSpPr>
        <p:spPr>
          <a:xfrm>
            <a:off x="5614893" y="58780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27212" y="53712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21984" y="58446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60496" y="55908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10187" y="5732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7524" y="58646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56853" y="56370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47631" y="58196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05320" y="58258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34800" y="58589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570790" y="58314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37295" y="56004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161824" y="55237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780614" y="54841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45259" y="54634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70058" y="56061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10529" y="56503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536858" y="57696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62230" y="58244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688783" y="57812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273172" y="55111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79827" y="5147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36787" y="54889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12345" y="49068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655405" y="58557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687587" y="54687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302313" y="54057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758538" y="52404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871163" y="57068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94363" y="52915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38074" y="57254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727041" y="56370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26642" y="58592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527448" y="57653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466398" y="56922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67965" y="58520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90673" y="55169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82511" y="57533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649728" y="5868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663636" y="57794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887789" y="57752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07351" y="5082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12556" y="50783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23394" y="58357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82732" y="55961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678353" y="58525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779035" y="54835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984766" y="54098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606503" y="58802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779701" y="58203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532648" y="57983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521549" y="5849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479840" y="56408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747324" y="53333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03221" y="57511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956387" y="5331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666119" y="57976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744619" y="56744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909476" y="54810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753662" y="55893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215623" y="55318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00925" y="54293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117590" y="5781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962523" y="57001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556682" y="58161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736382" y="54416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559981" y="57632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727560" y="57095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69662" y="57166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669516" y="5804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784835" y="56734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656778" y="58257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5935" y="5756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444552" y="56968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15421" y="57431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30319" y="58179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7223" y="55465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67874" y="56328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362404" y="56896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39925" y="53347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19441" y="56267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209372" y="56618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507819" y="57578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584657" y="58355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558823" y="58247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374056" y="56903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460007" y="52927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041535" y="47516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716447" y="57381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963896" y="57910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356217" y="54057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287815" y="55966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520166" y="57411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758856" y="53291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43204" y="54000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679093" y="57857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98417" y="58196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839801" y="55771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397369" y="57898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578207" y="58613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05828" y="56378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561052" y="58058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440506" y="58440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856579" y="55370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563484" y="58621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261915" y="49453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598463" y="5881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862114" y="55894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569474" y="57714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320040" y="56141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835249" y="58298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851803" y="54047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142488" y="51795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712338" y="58068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860351" y="53907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039890" y="57335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490286" y="58133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024196" y="54456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343525" y="5598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609968" y="58832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273689" y="55983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286018" y="53477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500400" y="56274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756915" y="54820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465676" y="56450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969826" y="5317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675961" y="57835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472958" y="56838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348340" y="51733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357765" y="57638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735925" y="55081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533248" y="58095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388510" y="55466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553421" y="57877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436668" y="57465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380973" y="57773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350707" y="56319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295981" y="56903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432748" y="57686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620843" y="58652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680947" y="58468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736935" y="57622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571395" y="58487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101909" y="56806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924239" y="53419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740853" y="55250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542535" y="57824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670743" y="57636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805116" y="55641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744361" y="53767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728431" y="57007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458031" y="5716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747660" y="54774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5781311" y="5735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715982" y="58363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485710" y="56809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566654" y="57800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846123" y="52221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503195" y="57630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807899" y="53539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573362" y="58643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533408" y="57371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65708" y="57789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692328" y="57399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837542" y="53197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052669" y="52682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538672" y="58453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188945" y="56167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935303" y="54912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613206" y="58822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765832" y="57603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626168" y="58611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48377" y="5545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287483" y="56775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238988" y="56844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476265" y="5791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936168" y="53334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904652" y="55739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120435" y="57466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486795" y="58096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792429" y="57603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468068" y="56452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776070" y="57863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6059843" y="5812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09411" y="58837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169635" y="56536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625099" y="58671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908855" y="5432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103777" y="53517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046667" y="52384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331690" y="54985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63711" y="53448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024538" y="50191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117974" y="56822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932931" y="54705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688504" y="58323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5895806" y="53763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683386" y="57597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727928" y="55492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846936" y="55780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826135" y="57568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942918" y="55825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176289" y="51745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535757" y="58466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392882" y="55832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476029" y="56914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163814" y="56083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004023" y="53394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666699" y="58334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818691" y="56119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459396" y="57761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707823" y="57080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18331" y="55799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903506" y="57753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527465" y="58115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5711840" y="57724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5660054" y="57917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01670" y="54519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396676" y="57606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294205" y="56109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293355" y="5810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672814" y="5166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5624416" y="58747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6155360" y="52485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182897" y="52881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646587" y="57753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3902565" y="5552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5516568" y="58437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076942" y="56782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5446653" y="55971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866699" y="53001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5628413" y="58737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98133" y="52752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4714899" y="55112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666275" y="58237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741687" y="54477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5600291" y="58722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5584017" y="58741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5693607" y="57618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077874" y="53985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243" y="53355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32362" y="57449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851745" y="48767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814333" y="56282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795223" y="56862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686196" y="57801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460085" y="56412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289360" y="56355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177948" y="54722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650893" y="58210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385127" y="57075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162809" y="58099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074679" y="46673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182901" y="53865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123890" y="54966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637390" y="58091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407641" y="52895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5967948" y="53901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5872390" y="53057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115697" y="5182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5536931" y="57762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5938992" y="55080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683283" y="57646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5064506" y="56745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5693964" y="56535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5349673" y="52677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622714" y="58600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595569" y="58624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5955757" y="56738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507094" y="56995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730306" y="56101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333220" y="56990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693521" y="58433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723530" y="57987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667982" y="57795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4762933" y="55770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336120" y="56792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996558" y="55095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698695" y="56690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418951" y="57007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5453292" y="57161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5155961" y="5749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533901" y="58156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583793" y="58608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5305857" y="56560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546335" y="5774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673601" y="58255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5774566" y="54911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5350446" y="58452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5186344" y="54688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047540" y="57189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119762" y="57450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5532827" y="58617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5732045" y="57559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5673176" y="56716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687772" y="57958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5526111" y="57371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666821" y="58218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967758" y="57111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5769659" y="57208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5779705" y="53564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32867" y="5776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809611" y="52073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650339" y="58553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5501838" y="57755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956183" y="54832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873616" y="52939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6051269" y="57284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783194" y="54188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6045292" y="5644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5767077" y="55301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607059" y="58824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4500866" y="53622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5699411" y="57861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5027064" y="54436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5670522" y="57991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5205444" y="52663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6179752" y="53457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4957002" y="56199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5113642" y="55345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5694737" y="5825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440438" y="57326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5571149" y="58664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5824352" y="56946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5614024" y="58761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5222303" y="55971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632092" y="54967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612734" y="5882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877655" y="5518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489018" y="57635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199058" y="55243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204759" y="48826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212893" y="52842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221969" y="54054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5553014" y="57874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5268177" y="56454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612447" y="58764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082613" y="57506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342630" y="51520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5821175" y="47950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863951" y="54540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5748763" y="5551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499718" y="56663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5613573" y="58821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5129343" y="56304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6016292" y="51365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84032" y="57585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5851401" y="57416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246203" y="53926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5659625" y="5865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730434" y="55862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5539624" y="56670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5431939" y="56289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5744838" y="56441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741684" y="49658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5704207" y="56908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5654295" y="58420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478020" y="57148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529209" y="58294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345173" y="56486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5500919" y="56622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5131333" y="55233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5537461" y="58261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5349327" y="57746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5533071" y="57568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5534042" y="56940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4942812" y="55045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5940437" y="58088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5512083" y="57218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5538381" y="57167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5350151" y="58237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6211399" y="55153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5687777" y="57174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5977592" y="55977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795311" y="52604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5637537" y="58552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041509" y="54439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5553743" y="5837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5474346" y="57609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5815945" y="55643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4782584" y="50567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5600677" y="58782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5973452" y="56641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5246736" y="54269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5529668" y="58422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574548" y="58245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648909" y="58325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993120" y="57827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683459" y="57210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5607508" y="58829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235134" y="48634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774920" y="54524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5452144" y="56568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5769274" y="5686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5318395" y="56708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5404092" y="52834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5629152" y="58545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5296300" y="55755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5610232" y="58829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5716756" y="57769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5613768" y="58772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5885236" y="57580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5760849" y="58068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960788" y="51959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36503" y="53439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5910114" y="5059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5258167" y="54750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5760344" y="57930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5633072" y="5867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6227689" y="57686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5672116" y="58347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5941413" y="57990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5531466" y="57975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544792" y="57919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192744" y="56926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674238" y="57282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5751011" y="56883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5590779" y="58581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6118181" y="5484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6270492" y="56296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6057633" y="54819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5521151" y="57142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6156739" y="46584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5943167" y="57246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5519385" y="56848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4686620" y="48088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5227847" y="52640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5798280" y="55320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5746430" y="58027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5865950" y="57615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5308503" y="55020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719219" y="57864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6257893" y="56611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4648873" y="54695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5104983" y="55517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5612783" y="58760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5687901" y="5857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5846905" y="57600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5791981" y="56262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5961098" y="56989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5628581" y="58659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5593921" y="58575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5762416" y="58023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5459428" y="57794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455441" y="58053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511472" y="49402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5555648" y="57962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5770279" y="57516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5656579" y="58514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6102454" y="52914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5470077" y="58207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5526614" y="57780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4893150" y="52900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5934938" y="57582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5481870" y="57774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5646177" y="57675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4960038" y="53562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5322919" y="56928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5452823" y="55975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5452171" y="57237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5252813" y="55883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5985153" y="47886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5667081" y="5705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5653096" y="57924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5685096" y="57757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6003101" y="54537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5734800" y="56082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5658931" y="58323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4190567" y="54881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5004412" y="54155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5325398" y="55618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5175521" y="55616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5522357" y="57767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5249846" y="5382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5515488" y="56332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5184383" y="57369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5451785" y="58630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8213454" y="54355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5520118" y="57107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5758694" y="55058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5489579" y="56760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5712409" y="57420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6051571" y="56115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5967284" y="56458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5609293" y="58833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5255901" y="57895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5829135" y="54351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963296" y="53983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5716481" y="56334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4982725" y="53529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6093821" y="50451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5330305" y="56307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5487112" y="58445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5424464" y="58260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5604913" y="58767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5492307" y="57173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5216960" y="55836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5528276" y="58476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5765745" y="53996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5185967" y="55949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5127660" y="47910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5501442" y="57783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5579689" y="58270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5903191" y="57627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6393106" y="57038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4403417" y="54516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5702527" y="56991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5700316" y="58065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5659344" y="57752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5171097" y="52691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5927159" y="54470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5730614" y="57005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5615359" y="58779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5509025" y="58084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6208782" y="52037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7471411" y="55696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735899" y="54083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5756292" y="57065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5350630" y="52047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743708" y="54959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5707839" y="56915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5122845" y="57394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5361412" y="56884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4511888" y="55699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5045708" y="56275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3429606" y="54261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570597" y="58211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5784790" y="58302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5430749" y="54798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5506355" y="57103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669075" y="58655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5331455" y="57832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6777685" y="53715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6120481" y="55495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5383200" y="53619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5413097" y="57340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6855321" y="52716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5517934" y="57745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5522900" y="57380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272305" y="52568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5546503" y="57881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5388523" y="57181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126490" y="54107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5274320" y="50065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5375171" y="54132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604885" y="58774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5685496" y="57577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5080421" y="56061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5996000" y="57571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6122695" y="54232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5726348" y="54726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4937791" y="55616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6060166" y="54346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5267798" y="57228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6112187" y="56499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5585118" y="58589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6007438" y="54973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5909431" y="55209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4882163" y="49929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5651610" y="58052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5882869" y="52840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5528014" y="57308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5708161" y="58328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5612478" y="58797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14222" y="58753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36146" y="58449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252468" y="56807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769414" y="56332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70403" y="57771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5830178" y="57938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333366" y="51554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519304" y="57397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5817511" y="52678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5477741" y="57532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5715062" y="58599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6043702" y="55737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5218236" y="57415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5977922" y="54878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535398" y="56878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5394869" y="56230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5570612" y="58506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643072" y="58688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5211607" y="55110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5630033" y="58615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260647" y="50957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5546694" y="57731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5211369" y="57147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6120396" y="57339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5965806" y="55441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5564512" y="58690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5853428" y="51276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5311498" y="5102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5651048" y="57715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5597437" y="58659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5303265" y="5520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585992" y="58521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5668454" y="58078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5874561" y="48970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5554718" y="57719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5836091" y="51013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4893330" y="55180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6616282" y="56346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5520322" y="58447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5582284" y="58470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5357820" y="56988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5125222" y="52342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4962642" y="53057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5297666" y="54283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5550205" y="57930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917426" y="57486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868358" y="53242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6053922" y="49643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5405666" y="5809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5684564" y="58276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5464712" y="58547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5302925" y="5607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5071105" y="52767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6210246" y="56587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5901878" y="57429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5550961" y="58393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5675331" y="57696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5225554" y="5755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5729104" y="55732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5714480" y="56666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5535833" y="58023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5563276" y="58185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5599174" y="58627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5503907" y="58258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5840971" y="57478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5683421" y="56917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4985127" y="55726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5105620" y="55919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377521" y="55849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5701960" y="57135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909783" y="53476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767597" y="53000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5457824" y="56356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617118" y="58660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835366" y="56181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5295727" y="49255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5229177" y="56522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5938542" y="54297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5861463" y="57484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6168948" y="54566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467954" y="55673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595308" y="58780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6220508" y="55426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594219" y="58556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747567" y="56603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4123266" y="53314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4975337" y="56833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43880" y="58408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5339114" y="57621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5715641" y="55474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5487186" y="57902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3532065" y="5023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6436216" y="54701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5963488" y="54756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5679910" y="57705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5138666" y="57123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5262798" y="56049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6200477" y="48375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5766755" y="54931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5488241" y="56247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5562564" y="58059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5904004" y="53177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4677146" y="54155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5367989" y="56112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5549786" y="57609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5949423" y="57063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5246727" y="51008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5567975" y="58735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5682809" y="57620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5510966" y="58406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5949028" y="51736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5907594" y="57066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5603783" y="58775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5085324" y="57337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5047131" y="55196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5612793" y="58795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6298889" y="53421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5979259" y="57564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5535731" y="58494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5663897" y="58419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944663" y="51730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5599731" y="58803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5544449" y="58365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6101886" y="52852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5933110" y="5391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5859231" y="54454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6011915" y="49800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5487060" y="5794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6687373" y="57133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5541098" y="57936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5520878" y="57398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6100808" y="56050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5712666" y="55353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5652896" y="58408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5566741" y="58054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5101833" y="55722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5685320" y="58321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5769443" y="56930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5664148" y="58432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5384501" y="56236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5792456" y="56095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5194627" y="55605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5810211" y="56075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5386587" y="56097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5424749" y="54746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5447079" y="55993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5773676" y="58650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4986821" y="57817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5510392" y="57288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5973617" y="56889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479781" y="57131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6051549" y="49079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6916465" y="56891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5565650" y="58645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5677046" y="58317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5776770" y="57638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5491387" y="56738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5285181" y="53888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5715628" y="58368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5608898" y="58834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5594360" y="58750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5060063" y="57307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5422349" y="58136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5594901" y="58518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5666870" y="57334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5734126" y="58519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5858171" y="58108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6017550" y="51093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713941" y="5564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8312696" y="51396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5245744" y="53648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5941949" y="56664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264787" y="57155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568023" y="58458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5464085" y="58014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5636994" y="58656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5899808" y="58446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5865464" y="5283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5170089" y="54778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5646597" y="58493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616501" y="58783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6206270" y="48650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5831521" y="54243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5996712" y="5802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4433113" y="54380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5604212" y="58731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682147" y="57160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5799119" y="57975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530185" y="57964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6404546" y="51878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5531263" y="58307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5582898" y="58582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5697305" y="58206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5739883" y="56918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5913338" y="50754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6108586" y="55371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5957539" y="55263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5728980" y="55507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5504866" y="57192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5023099" y="58081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5575956" y="58651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5444557" y="57793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5569578" y="57811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5721337" y="56428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5761982" y="5450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5805953" y="55470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5517420" y="57338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5214075" y="54305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5155071" y="52720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5459101" y="58303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5479743" y="5766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6031101" y="55233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5624695" y="58427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5655504" y="58371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5526324" y="56951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5521041" y="57571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4537559" y="54579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5880701" y="56660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5792479" y="57639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6036617" y="54649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5735555" y="58197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5732041" y="53815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6112613" y="55542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4775109" y="56380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6141870" y="54802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5422524" y="54316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5484814" y="57849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5400626" y="58011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5439362" y="58120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5622749" y="58687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5514241" y="57119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5723702" y="56650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5670690" y="5780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6483686" y="57581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5776249" y="56198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5894053" y="53773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5616064" y="58705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5692216" y="57741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5486728" y="56412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5202401" y="56534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5462950" y="58015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5444861" y="57589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5506737" y="57140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5724986" y="57133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5879803" y="54631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5782949" y="58305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5450526" y="57336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5701440" y="58560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5541477" y="58077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4982071" y="56157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6163374" y="55542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5362386" y="56731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5541260" y="5793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6172678" y="55204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4849737" y="57193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5401806" y="54881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5426906" y="56991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5658573" y="57800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5477685" y="56977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5499752" y="57890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5345138" y="57206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5175793" y="54304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5811571" y="56214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6030038" y="5447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6208507" y="53729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5588174" y="58713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5798506" y="58606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5387592" y="56718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5383164" y="48555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4638747" y="52536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5766313" y="57540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6255303" y="53068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4673079" y="55111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4402249" y="52323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5356939" y="55334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6344051" y="56510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5521981" y="57722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5407368" y="57518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5402592" y="57898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4734248" y="52417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5741494" y="58002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4997752" y="5453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5534586" y="5742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5291326" y="57284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5702790" y="57738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5498755" y="57494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5422307" y="54385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5378795" y="54056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6477630" y="49386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5080855" y="53422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5638413" y="58556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497207" y="57501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5001543" y="50535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5257660" y="56450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5673953" y="58000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5646119" y="58305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5529624" y="58322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5423715" y="56162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5682817" y="57747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5463070" y="56302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5387930" y="57962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5724888" y="58003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5770817" y="57705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5303811" y="52001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6642131" y="55432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643776" y="58011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5591540" y="58554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5791160" y="5573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5637274" y="58214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5548813" y="57923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5592249" y="58656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5889233" y="56274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5749513" y="53705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4881945" y="57579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5863758" y="58045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5263534" y="54483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5634013" y="58605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4634628" y="55528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5696299" y="57828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5736318" y="56390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5495607" y="58040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6099841" y="52807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5839762" y="53959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5790264" y="52958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5372177" y="52947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5688623" y="56718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5191963" y="50847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5811285" y="5761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5188727" y="57422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5038838" y="57526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5880810" y="58023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5908628" y="57040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5499637" y="57408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5668996" y="56881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5785642" y="58391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5860392" y="51485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5037958" y="55733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5749517" y="58345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6386366" y="56535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5704739" y="57881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5573986" y="58305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5370039" y="57482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5578825" y="58789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5324328" y="5727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5857615" y="57628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5600081" y="58737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5718602" y="5748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5518881" y="56743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5676079" y="58270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5558854" y="57691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5777331" y="5755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5543047" y="57771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5328102" y="56355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5546802" y="58168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5395287" y="57253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5539183" y="57772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5478794" y="54866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5106332" y="53840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5610676" y="58836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5588633" y="58642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5844775" y="51319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5759295" y="55981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5374853" y="53736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5734504" y="58182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4932105" y="49269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5303043" y="56810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5711030" y="55946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5641161" y="58105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6040691" y="57465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5674180" y="57203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5356441" y="5729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5608422" y="58816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5428523" y="56801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5566270" y="58499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5451230" y="56531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4655563" y="50681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5749437" y="56719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5596462" y="58762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4690797" y="54718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5595023" y="58673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5192163" y="55651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5385016" y="54745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5614822" y="58743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5546093" y="56981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4739912" y="5637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5920610" y="58121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5551224" y="5821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5991753" y="54953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5723960" y="56842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5674937" y="57798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5768464" y="56132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5408803" y="5599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5610594" y="5882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5512696" y="57026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5880824" y="47511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5638347" y="5853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5937385" y="56573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5664803" y="58110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5552090" y="58651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5643986" y="57948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5933618" y="56269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5615778" y="58767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5702069" y="57684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5585580" y="58521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5483683" y="57277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5169591" y="55109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5689208" y="57274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5684491" y="57802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6296409" y="54117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4740860" y="56967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5956713" y="52504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5497032" y="58440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5992172" y="56220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4003384" y="53577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5783233" y="55647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5968773" y="5354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5646623" y="58295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5541921" y="57612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5643990" y="58206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6294593" y="50945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5886107" y="51308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6182529" y="55322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5467281" y="56535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5599495" y="58668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5636738" y="58512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479881" y="58381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5219082" y="48841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5619055" y="58679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4768248" y="56316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5788736" y="57565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5069154" y="54760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5703822" y="56019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5341512" y="56887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5558142" y="58279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5638897" y="58555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5766980" y="57831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5529257" y="57368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5774420" y="55389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5453767" y="58209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5838817" y="57796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5304715" y="56414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5577763" y="58480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5124658" y="55687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5434788" y="5782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5122962" y="55414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4577842" y="49351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6018806" y="56610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5545380" y="58125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5791897" y="56680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6086055" y="57749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5496373" y="58543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5663496" y="57652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5444101" y="57548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5633924" y="58606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6831561" y="56204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5515961" y="57816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5428459" y="55592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6119722" y="51772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5505701" y="57415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5535788" y="58077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6035255" y="51743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5662805" y="58469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5671018" y="58316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5503683" y="5638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5866702" y="57606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5410548" y="56965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5592526" y="58568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4979881" y="54938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5255997" y="57789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5732237" y="57768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5822740" y="58465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8186288" y="51687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5657734" y="58413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5083337" y="55421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5337065" y="57552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5876889" y="57380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5973865" y="57218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5587277" y="58478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5714394" y="56948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5815182" y="54807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5663191" y="58055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5684234" y="58298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5428432" y="56176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5380234" y="52490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5926187" y="51067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5978529" y="57842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5893386" y="58055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6256763" y="52138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5017060" y="5475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4954218" y="54310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4858509" y="53097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5612902" y="58789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5326521" y="57396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5264105" y="5664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5549486" y="57499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5575540" y="58543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5804667" y="55817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5618831" y="58666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5944622" y="56016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5704651" y="57190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5952537" y="51707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5772304" y="55683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5490020" y="57840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5717368" y="56592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5694542" y="58055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5704378" y="56436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5650530" y="58284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5363885" y="57203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5590266" y="58627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5503029" y="57885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6751484" y="56607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5006651" y="56066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5377973" y="55705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5692968" y="57349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5737319" y="56228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5275651" y="57070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4943704" y="55921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5589564" y="58746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365475" y="57264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5893247" y="52858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6045724" y="57866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5424380" y="58311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5125419" y="54383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6020653" y="49371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5395871" y="53306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5513562" y="57610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5688976" y="57568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5714346" y="57906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5628952" y="58684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5898025" y="58246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5540038" y="56895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5681069" y="57925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5214568" y="47544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6994375" y="54496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6122497" y="5289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5830244" y="53376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5526959" y="57586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5022050" y="53050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5038170" y="56991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5674757" y="58560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5496167" y="56595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5610768" y="58819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5936909" y="48223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5653109" y="5870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5697691" y="57669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5301159" y="53434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6163978" y="56471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5773509" y="54234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5589632" y="5871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5766590" y="5815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5857446" y="55256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5428407" y="57293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5588480" y="58525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5593615" y="58680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5885143" y="55231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5757481" y="56416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5732089" y="55903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5775504" y="54723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5399337" y="55493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6014958" y="53942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5435525" y="54986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5415594" y="55480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5561729" y="58333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5801127" y="5230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5673899" y="58301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5488526" y="5819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5407057" y="56010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5341988" y="53313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5934718" y="56028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5782390" y="5374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5406765" y="57584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6349971" y="53096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5958729" y="56709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5905123" y="56610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5417394" y="55082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5999816" y="57929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5032886" y="5718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4768096" y="51432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4745894" y="50413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5585128" y="58379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5518951" y="58438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5640254" y="58493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5200981" y="57360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5680576" y="58239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5498403" y="57909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5836524" y="52819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3959475" y="55360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5602659" y="58745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5561657" y="58102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5573456" y="58514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5563755" y="57983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3807805" y="51951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5730344" y="5838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5352171" y="56220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4915174" y="48559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6108913" y="57751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5092539" y="53745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5537698" y="58427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5514337" y="56202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5783363" y="57915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5342164" y="55744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5909406" y="54879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5922292" y="57009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616041" y="58765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5425457" y="57736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5480198" y="57936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5346842" y="57338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5466226" y="54987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5918575" y="55735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5605042" y="58760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5687336" y="57516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5223795" y="56879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5731721" y="5826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5998939" y="5607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5506069" y="57857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5854580" y="52166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5335834" y="57125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6266103" y="51130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5485604" y="57844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5786589" y="55871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5403728" y="57075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5636462" y="57953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6321883" y="53793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4744438" y="57804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5277955" y="56506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5525849" y="57494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5673481" y="57712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5700127" y="58705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5876482" y="54973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4586903" y="51040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5570511" y="58601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5619594" y="58808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5668150" y="57973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4726222" y="52247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5637607" y="58281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5688636" y="58199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2931404" y="300465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6131622" y="317993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4815873" y="329280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6157292" y="339614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2536455" y="341365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6799154" y="345371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4191283" y="349182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6122956" y="350399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5924070" y="365419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3999783" y="369106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9434190" y="373388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1473175" y="373758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7266610" y="374629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7752266" y="374806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3977945" y="374848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6633764" y="376900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5938920" y="377003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6501030" y="377575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5058375" y="379412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6441088" y="383790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6838005" y="384561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6311448" y="389382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8033665" y="389737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7612117" y="392409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4427600" y="392425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4728367" y="393169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6776607" y="395273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4679483" y="396210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4088629" y="396921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3536087" y="400333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3840301" y="401572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8137451" y="402539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6392106" y="402647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5175652" y="402796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2875236" y="403326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6131990" y="403662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7612584" y="404430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4738688" y="405086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4234017" y="405659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3607466" y="405992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6495254" y="407062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5916433" y="407112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4577511" y="407542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4071146" y="409155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3674275" y="409812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4027383" y="410789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5070575" y="411383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4281596" y="411886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122234" y="412184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9737944" y="413066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5982996" y="417887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6570887" y="418782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9642227" y="418919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4293564" y="419059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3156147" y="419241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5068046" y="419563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5094510" y="419966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6863369" y="420596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4287311" y="420609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5845189" y="420727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5965360" y="420974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5226667" y="421445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5906975" y="422586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5858935" y="42508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7503213" y="425298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7318634" y="425571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7481478" y="425783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5405034" y="426177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8199355" y="427424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6080976" y="427813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1505507" y="428422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3906691" y="429108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5974352" y="429351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6066944" y="429435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5956072" y="429545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5179128" y="431473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4905114" y="431725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4063434" y="431758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6257688" y="432007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1691123" y="432028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5072969" y="432467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5970792" y="432513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6131142" y="433394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4320270" y="433781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6391626" y="433819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6029516" y="434270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5303477" y="434460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6191424" y="434906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6865156" y="435212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4077402" y="437316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5993704" y="437325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3424313" y="437413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4309991" y="438212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4824435" y="439109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3917320" y="439196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7147480" y="439240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6003690" y="439861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4585707" y="440099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7948976" y="440930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8555798" y="441133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6180112" y="441275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5800253" y="441372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6103202" y="441533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4922213" y="441652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4810821" y="442674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4197499" y="442813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2673866" y="442814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5942422" y="443090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6062481" y="443375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4812574" y="443386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4914030" y="443393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4071342" y="443813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4303688" y="444258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7390424" y="444947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2003113" y="445288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4732228" y="445430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6055780" y="445671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5251732" y="445951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2949008" y="446143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8403672" y="446216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6009591" y="446658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4667226" y="446811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5141072" y="446963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6428652" y="447113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5824633" y="447133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8325959" y="447346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8992425" y="447693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2306617" y="447979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5804961" y="448234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7100343" y="448373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5997962" y="448623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4380951" y="448646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7885627" y="448827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7119100" y="448930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7370706" y="449359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9737944" y="449730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3684074" y="449736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5224716" y="449838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9737944" y="45001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4530490" y="450025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4894587" y="450159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6246738" y="45025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4867218" y="450301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5879762" y="450570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6207307" y="450666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4808270" y="450770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8027452" y="450954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6240201" y="451065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3921379" y="451165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4621199" y="451177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5235723" y="451292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6332720" y="451315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4620650" y="45133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6802072" y="451505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2786554" y="451889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7677153" y="452135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5931706" y="452309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1757961" y="452399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4631177" y="452536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6170232" y="452724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9183398" y="452792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7086740" y="452822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3829628" y="452858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9737944" y="452941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5899032" y="453430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6436283" y="453431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5313211" y="45344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7753672" y="453442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8628044" y="453541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7101532" y="453607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6307223" y="453794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5829006" y="453871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4168196" y="454547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3731770" y="454710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6013874" y="454765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4857238" y="455334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4211585" y="455457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2253861" y="455532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5248486" y="455942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4476180" y="455990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3676643" y="456183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5198483" y="456232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4256097" y="456262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6489032" y="456635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2930732" y="456682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5977589" y="456807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6035866" y="457291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4778580" y="457340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5067915" y="457505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6543997" y="457849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5229066" y="4580463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6020654" y="458250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5215898" y="458620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5176540" y="458915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5083762" y="4590948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8342358" y="459210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7010563" y="459372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4605061" y="459683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6651405" y="4596909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9737944" y="4598501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6131357" y="4600045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4431503" y="4601862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6505707" y="4603736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4803120" y="4604017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7318978" y="4606494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4992791" y="4609550"/>
            <a:ext cx="36000" cy="36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4337822" y="3730793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3165277" y="4117317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5176171" y="4124184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3331532" y="4176696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4053749" y="4210411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7396628" y="4239926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4185682" y="4253764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4244132" y="4284976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4817955" y="4367538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4971153" y="4369238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4390218" y="4425048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4024433" y="4476801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4580049" y="4497925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6213264" y="4507833"/>
            <a:ext cx="52000" cy="52000"/>
          </a:xfrm>
          <a:prstGeom prst="ellipse">
            <a:avLst/>
          </a:prstGeom>
          <a:solidFill>
            <a:srgbClr val="E39A1E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5854898" y="4508533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4592070" y="4518042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3089432" y="4534711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6082650" y="4560746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4762033" y="4570000"/>
            <a:ext cx="52000" cy="52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5909547" y="4582025"/>
            <a:ext cx="52000" cy="52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5962237" y="4584054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5208490" y="4593024"/>
            <a:ext cx="52000" cy="52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TextBox 1476"/>
          <p:cNvSpPr txBox="1"/>
          <p:nvPr/>
        </p:nvSpPr>
        <p:spPr>
          <a:xfrm>
            <a:off x="2322597" y="410066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REG1A</a:t>
            </a:r>
          </a:p>
        </p:txBody>
      </p:sp>
      <p:sp>
        <p:nvSpPr>
          <p:cNvPr id="1478" name="TextBox 1477"/>
          <p:cNvSpPr txBox="1"/>
          <p:nvPr/>
        </p:nvSpPr>
        <p:spPr>
          <a:xfrm>
            <a:off x="2488852" y="416033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CNTN1</a:t>
            </a:r>
          </a:p>
        </p:txBody>
      </p:sp>
      <p:sp>
        <p:nvSpPr>
          <p:cNvPr id="1479" name="TextBox 1478"/>
          <p:cNvSpPr txBox="1"/>
          <p:nvPr/>
        </p:nvSpPr>
        <p:spPr>
          <a:xfrm>
            <a:off x="2246752" y="448909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NPTX2</a:t>
            </a:r>
          </a:p>
        </p:txBody>
      </p:sp>
      <p:sp>
        <p:nvSpPr>
          <p:cNvPr id="1480" name="TextBox 1479"/>
          <p:cNvSpPr txBox="1"/>
          <p:nvPr/>
        </p:nvSpPr>
        <p:spPr>
          <a:xfrm>
            <a:off x="7514068" y="41713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A8261"/>
                </a:solidFill>
                <a:latin typeface="Arial"/>
              </a:rPr>
              <a:t>FABP3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3495142" y="363903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GPX3</a:t>
            </a:r>
          </a:p>
        </p:txBody>
      </p:sp>
      <p:sp>
        <p:nvSpPr>
          <p:cNvPr id="1482" name="TextBox 1481"/>
          <p:cNvSpPr txBox="1"/>
          <p:nvPr/>
        </p:nvSpPr>
        <p:spPr>
          <a:xfrm>
            <a:off x="3211069" y="415159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CCL11</a:t>
            </a:r>
          </a:p>
        </p:txBody>
      </p:sp>
      <p:sp>
        <p:nvSpPr>
          <p:cNvPr id="1483" name="TextBox 1482"/>
          <p:cNvSpPr txBox="1"/>
          <p:nvPr/>
        </p:nvSpPr>
        <p:spPr>
          <a:xfrm>
            <a:off x="3343002" y="419746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CACNA1H</a:t>
            </a:r>
          </a:p>
        </p:txBody>
      </p:sp>
      <p:sp>
        <p:nvSpPr>
          <p:cNvPr id="1484" name="TextBox 1483"/>
          <p:cNvSpPr txBox="1"/>
          <p:nvPr/>
        </p:nvSpPr>
        <p:spPr>
          <a:xfrm>
            <a:off x="3181753" y="438417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SFRP1</a:t>
            </a:r>
          </a:p>
        </p:txBody>
      </p:sp>
      <p:sp>
        <p:nvSpPr>
          <p:cNvPr id="1485" name="TextBox 1484"/>
          <p:cNvSpPr txBox="1"/>
          <p:nvPr/>
        </p:nvSpPr>
        <p:spPr>
          <a:xfrm>
            <a:off x="3401452" y="419270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SLIT3</a:t>
            </a:r>
          </a:p>
        </p:txBody>
      </p:sp>
      <p:sp>
        <p:nvSpPr>
          <p:cNvPr id="1486" name="TextBox 1485"/>
          <p:cNvSpPr txBox="1"/>
          <p:nvPr/>
        </p:nvSpPr>
        <p:spPr>
          <a:xfrm>
            <a:off x="3547538" y="442781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PCDH7</a:t>
            </a:r>
          </a:p>
        </p:txBody>
      </p:sp>
      <p:sp>
        <p:nvSpPr>
          <p:cNvPr id="1487" name="TextBox 1486"/>
          <p:cNvSpPr txBox="1"/>
          <p:nvPr/>
        </p:nvSpPr>
        <p:spPr>
          <a:xfrm>
            <a:off x="3737369" y="446600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CCL24</a:t>
            </a:r>
          </a:p>
        </p:txBody>
      </p:sp>
      <p:sp>
        <p:nvSpPr>
          <p:cNvPr id="1488" name="TextBox 1487"/>
          <p:cNvSpPr txBox="1"/>
          <p:nvPr/>
        </p:nvSpPr>
        <p:spPr>
          <a:xfrm>
            <a:off x="3749390" y="444434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NMUR1</a:t>
            </a:r>
          </a:p>
        </p:txBody>
      </p:sp>
      <p:sp>
        <p:nvSpPr>
          <p:cNvPr id="1489" name="TextBox 1488"/>
          <p:cNvSpPr txBox="1"/>
          <p:nvPr/>
        </p:nvSpPr>
        <p:spPr>
          <a:xfrm>
            <a:off x="3975275" y="431388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PRSS23</a:t>
            </a:r>
          </a:p>
        </p:txBody>
      </p:sp>
      <p:sp>
        <p:nvSpPr>
          <p:cNvPr id="1490" name="TextBox 1489"/>
          <p:cNvSpPr txBox="1"/>
          <p:nvPr/>
        </p:nvSpPr>
        <p:spPr>
          <a:xfrm>
            <a:off x="3919353" y="457026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CX3CL1</a:t>
            </a:r>
          </a:p>
        </p:txBody>
      </p:sp>
      <p:sp>
        <p:nvSpPr>
          <p:cNvPr id="1491" name="TextBox 1490"/>
          <p:cNvSpPr txBox="1"/>
          <p:nvPr/>
        </p:nvSpPr>
        <p:spPr>
          <a:xfrm>
            <a:off x="4128473" y="436185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SMAD7</a:t>
            </a:r>
          </a:p>
        </p:txBody>
      </p:sp>
      <p:sp>
        <p:nvSpPr>
          <p:cNvPr id="1492" name="TextBox 1491"/>
          <p:cNvSpPr txBox="1"/>
          <p:nvPr/>
        </p:nvSpPr>
        <p:spPr>
          <a:xfrm>
            <a:off x="6330704" y="449510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E39A1E"/>
                </a:solidFill>
                <a:latin typeface="Arial"/>
              </a:rPr>
              <a:t>DNMT1</a:t>
            </a:r>
          </a:p>
        </p:txBody>
      </p:sp>
      <p:sp>
        <p:nvSpPr>
          <p:cNvPr id="1493" name="TextBox 1492"/>
          <p:cNvSpPr txBox="1"/>
          <p:nvPr/>
        </p:nvSpPr>
        <p:spPr>
          <a:xfrm>
            <a:off x="4333491" y="406627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MRPL40</a:t>
            </a:r>
          </a:p>
        </p:txBody>
      </p:sp>
      <p:sp>
        <p:nvSpPr>
          <p:cNvPr id="1494" name="TextBox 1493"/>
          <p:cNvSpPr txBox="1"/>
          <p:nvPr/>
        </p:nvSpPr>
        <p:spPr>
          <a:xfrm>
            <a:off x="6200090" y="451289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118AB2"/>
                </a:solidFill>
                <a:latin typeface="Arial"/>
              </a:rPr>
              <a:t>PUS1</a:t>
            </a:r>
          </a:p>
        </p:txBody>
      </p:sp>
      <p:sp>
        <p:nvSpPr>
          <p:cNvPr id="1495" name="TextBox 1494"/>
          <p:cNvSpPr txBox="1"/>
          <p:nvPr/>
        </p:nvSpPr>
        <p:spPr>
          <a:xfrm>
            <a:off x="4365810" y="456354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NME3</a:t>
            </a:r>
          </a:p>
        </p:txBody>
      </p:sp>
      <p:sp>
        <p:nvSpPr>
          <p:cNvPr id="1496" name="TextBox 1495"/>
          <p:cNvSpPr txBox="1"/>
          <p:nvPr/>
        </p:nvSpPr>
        <p:spPr>
          <a:xfrm>
            <a:off x="6079677" y="449298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A24E78"/>
                </a:solidFill>
                <a:latin typeface="Arial"/>
              </a:rPr>
              <a:t>UPF3B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6026987" y="454043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A8261"/>
                </a:solidFill>
                <a:latin typeface="Arial"/>
              </a:rPr>
              <a:t>AKT2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5972338" y="443852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A24E78"/>
                </a:solidFill>
                <a:latin typeface="Arial"/>
              </a:rPr>
              <a:t>SUPT5H</a:t>
            </a:r>
          </a:p>
        </p:txBody>
      </p:sp>
      <p:sp>
        <p:nvSpPr>
          <p:cNvPr id="1499" name="TextBox 1498"/>
          <p:cNvSpPr txBox="1"/>
          <p:nvPr/>
        </p:nvSpPr>
        <p:spPr>
          <a:xfrm>
            <a:off x="622495" y="372039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LINC01139</a:t>
            </a:r>
          </a:p>
        </p:txBody>
      </p:sp>
      <p:sp>
        <p:nvSpPr>
          <p:cNvPr id="1500" name="TextBox 1499"/>
          <p:cNvSpPr txBox="1"/>
          <p:nvPr/>
        </p:nvSpPr>
        <p:spPr>
          <a:xfrm>
            <a:off x="9847384" y="403193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LINC01087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9847384" y="446007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FOXI3</a:t>
            </a:r>
          </a:p>
        </p:txBody>
      </p:sp>
      <p:sp>
        <p:nvSpPr>
          <p:cNvPr id="1502" name="TextBox 1501"/>
          <p:cNvSpPr txBox="1"/>
          <p:nvPr/>
        </p:nvSpPr>
        <p:spPr>
          <a:xfrm>
            <a:off x="9847384" y="451127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CT83</a:t>
            </a:r>
          </a:p>
        </p:txBody>
      </p:sp>
      <p:sp>
        <p:nvSpPr>
          <p:cNvPr id="1503" name="TextBox 1502"/>
          <p:cNvSpPr txBox="1"/>
          <p:nvPr/>
        </p:nvSpPr>
        <p:spPr>
          <a:xfrm>
            <a:off x="9543630" y="365146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SPAG17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2080724" y="298904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CPLX2</a:t>
            </a:r>
          </a:p>
        </p:txBody>
      </p:sp>
      <p:sp>
        <p:nvSpPr>
          <p:cNvPr id="1505" name="TextBox 1504"/>
          <p:cNvSpPr txBox="1"/>
          <p:nvPr/>
        </p:nvSpPr>
        <p:spPr>
          <a:xfrm>
            <a:off x="1685775" y="339571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LCN15</a:t>
            </a:r>
          </a:p>
        </p:txBody>
      </p:sp>
      <p:sp>
        <p:nvSpPr>
          <p:cNvPr id="1506" name="TextBox 1505"/>
          <p:cNvSpPr txBox="1"/>
          <p:nvPr/>
        </p:nvSpPr>
        <p:spPr>
          <a:xfrm>
            <a:off x="9847384" y="449520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BOK-AS1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9751667" y="415479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SCN2A</a:t>
            </a:r>
          </a:p>
        </p:txBody>
      </p:sp>
      <p:sp>
        <p:nvSpPr>
          <p:cNvPr id="1508" name="TextBox 1507"/>
          <p:cNvSpPr txBox="1"/>
          <p:nvPr/>
        </p:nvSpPr>
        <p:spPr>
          <a:xfrm>
            <a:off x="9847384" y="439509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DNAAF4-CCPG1</a:t>
            </a:r>
          </a:p>
        </p:txBody>
      </p:sp>
      <p:sp>
        <p:nvSpPr>
          <p:cNvPr id="1509" name="TextBox 1508"/>
          <p:cNvSpPr txBox="1"/>
          <p:nvPr/>
        </p:nvSpPr>
        <p:spPr>
          <a:xfrm>
            <a:off x="654827" y="422940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REG3G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840443" y="425880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ANKRD34B</a:t>
            </a:r>
          </a:p>
        </p:txBody>
      </p:sp>
      <p:sp>
        <p:nvSpPr>
          <p:cNvPr id="1511" name="TextBox 1510"/>
          <p:cNvSpPr txBox="1"/>
          <p:nvPr/>
        </p:nvSpPr>
        <p:spPr>
          <a:xfrm>
            <a:off x="907281" y="443916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C8orf44-SGK3</a:t>
            </a:r>
          </a:p>
        </p:txBody>
      </p:sp>
      <p:sp>
        <p:nvSpPr>
          <p:cNvPr id="1512" name="TextBox 1511"/>
          <p:cNvSpPr txBox="1"/>
          <p:nvPr/>
        </p:nvSpPr>
        <p:spPr>
          <a:xfrm>
            <a:off x="1152433" y="438023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PRND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2024556" y="400873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PLAC4</a:t>
            </a:r>
          </a:p>
        </p:txBody>
      </p:sp>
      <p:sp>
        <p:nvSpPr>
          <p:cNvPr id="1514" name="TextBox 1513"/>
          <p:cNvSpPr txBox="1"/>
          <p:nvPr/>
        </p:nvSpPr>
        <p:spPr>
          <a:xfrm>
            <a:off x="9292838" y="445442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LOC101927281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8143105" y="380712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LINC00659</a:t>
            </a:r>
          </a:p>
        </p:txBody>
      </p:sp>
      <p:sp>
        <p:nvSpPr>
          <p:cNvPr id="1516" name="TextBox 1515"/>
          <p:cNvSpPr txBox="1"/>
          <p:nvPr/>
        </p:nvSpPr>
        <p:spPr>
          <a:xfrm>
            <a:off x="9101865" y="444163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SHOC1</a:t>
            </a:r>
          </a:p>
        </p:txBody>
      </p:sp>
      <p:sp>
        <p:nvSpPr>
          <p:cNvPr id="1517" name="TextBox 1516"/>
          <p:cNvSpPr txBox="1"/>
          <p:nvPr/>
        </p:nvSpPr>
        <p:spPr>
          <a:xfrm>
            <a:off x="8246891" y="396509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LOC107985906</a:t>
            </a:r>
          </a:p>
        </p:txBody>
      </p:sp>
      <p:sp>
        <p:nvSpPr>
          <p:cNvPr id="1518" name="TextBox 1517"/>
          <p:cNvSpPr txBox="1"/>
          <p:nvPr/>
        </p:nvSpPr>
        <p:spPr>
          <a:xfrm>
            <a:off x="1455937" y="445453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LOC107984988</a:t>
            </a:r>
          </a:p>
        </p:txBody>
      </p:sp>
      <p:sp>
        <p:nvSpPr>
          <p:cNvPr id="1519" name="TextBox 1518"/>
          <p:cNvSpPr txBox="1"/>
          <p:nvPr/>
        </p:nvSpPr>
        <p:spPr>
          <a:xfrm>
            <a:off x="7861706" y="366646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LOC102724830</a:t>
            </a:r>
          </a:p>
        </p:txBody>
      </p:sp>
      <p:sp>
        <p:nvSpPr>
          <p:cNvPr id="1520" name="TextBox 1519"/>
          <p:cNvSpPr txBox="1"/>
          <p:nvPr/>
        </p:nvSpPr>
        <p:spPr>
          <a:xfrm>
            <a:off x="1403181" y="44821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ANGPTL7</a:t>
            </a:r>
          </a:p>
        </p:txBody>
      </p:sp>
      <p:sp>
        <p:nvSpPr>
          <p:cNvPr id="1521" name="TextBox 1520"/>
          <p:cNvSpPr txBox="1"/>
          <p:nvPr/>
        </p:nvSpPr>
        <p:spPr>
          <a:xfrm>
            <a:off x="8665238" y="438616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LOC101927436</a:t>
            </a:r>
          </a:p>
        </p:txBody>
      </p:sp>
      <p:sp>
        <p:nvSpPr>
          <p:cNvPr id="1522" name="TextBox 1521"/>
          <p:cNvSpPr txBox="1"/>
          <p:nvPr/>
        </p:nvSpPr>
        <p:spPr>
          <a:xfrm>
            <a:off x="1823186" y="437369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LOC105372279</a:t>
            </a:r>
          </a:p>
        </p:txBody>
      </p:sp>
      <p:sp>
        <p:nvSpPr>
          <p:cNvPr id="1523" name="TextBox 1522"/>
          <p:cNvSpPr txBox="1"/>
          <p:nvPr/>
        </p:nvSpPr>
        <p:spPr>
          <a:xfrm>
            <a:off x="8308795" y="421972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DPF1</a:t>
            </a:r>
          </a:p>
        </p:txBody>
      </p:sp>
      <p:sp>
        <p:nvSpPr>
          <p:cNvPr id="1524" name="TextBox 1523"/>
          <p:cNvSpPr txBox="1"/>
          <p:nvPr/>
        </p:nvSpPr>
        <p:spPr>
          <a:xfrm>
            <a:off x="2305467" y="411088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LOC100130256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8737484" y="443171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TMC2</a:t>
            </a:r>
          </a:p>
        </p:txBody>
      </p:sp>
      <p:sp>
        <p:nvSpPr>
          <p:cNvPr id="1526" name="TextBox 1525"/>
          <p:cNvSpPr txBox="1"/>
          <p:nvPr/>
        </p:nvSpPr>
        <p:spPr>
          <a:xfrm>
            <a:off x="8513112" y="445033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LY6D</a:t>
            </a:r>
          </a:p>
        </p:txBody>
      </p:sp>
      <p:sp>
        <p:nvSpPr>
          <p:cNvPr id="1527" name="TextBox 1526"/>
          <p:cNvSpPr txBox="1"/>
          <p:nvPr/>
        </p:nvSpPr>
        <p:spPr>
          <a:xfrm>
            <a:off x="7721557" y="382752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SENP3-EIF4A1</a:t>
            </a:r>
          </a:p>
        </p:txBody>
      </p:sp>
      <p:sp>
        <p:nvSpPr>
          <p:cNvPr id="1528" name="TextBox 1527"/>
          <p:cNvSpPr txBox="1"/>
          <p:nvPr/>
        </p:nvSpPr>
        <p:spPr>
          <a:xfrm>
            <a:off x="2685407" y="398267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MT1M</a:t>
            </a:r>
          </a:p>
        </p:txBody>
      </p:sp>
      <p:sp>
        <p:nvSpPr>
          <p:cNvPr id="1529" name="TextBox 1528"/>
          <p:cNvSpPr txBox="1"/>
          <p:nvPr/>
        </p:nvSpPr>
        <p:spPr>
          <a:xfrm>
            <a:off x="1935874" y="445052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CLDN10</a:t>
            </a:r>
          </a:p>
        </p:txBody>
      </p:sp>
      <p:sp>
        <p:nvSpPr>
          <p:cNvPr id="1530" name="TextBox 1529"/>
          <p:cNvSpPr txBox="1"/>
          <p:nvPr/>
        </p:nvSpPr>
        <p:spPr>
          <a:xfrm>
            <a:off x="8435399" y="446341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6C757D"/>
                </a:solidFill>
                <a:latin typeface="Arial"/>
              </a:rPr>
              <a:t>LOC112268266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2098328" y="439622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6C757D"/>
                </a:solidFill>
                <a:latin typeface="Arial"/>
              </a:rPr>
              <a:t>HSPB3</a:t>
            </a:r>
          </a:p>
        </p:txBody>
      </p:sp>
      <p:cxnSp>
        <p:nvCxnSpPr>
          <p:cNvPr id="1532" name="Connector 1531"/>
          <p:cNvCxnSpPr/>
          <p:nvPr/>
        </p:nvCxnSpPr>
        <p:spPr>
          <a:xfrm>
            <a:off x="6202093" y="915475"/>
            <a:ext cx="3223260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3" name="Right Triangle 1532"/>
          <p:cNvSpPr/>
          <p:nvPr/>
        </p:nvSpPr>
        <p:spPr>
          <a:xfrm>
            <a:off x="9395353" y="885475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TextBox 1533"/>
          <p:cNvSpPr txBox="1"/>
          <p:nvPr/>
        </p:nvSpPr>
        <p:spPr>
          <a:xfrm>
            <a:off x="6202093" y="641155"/>
            <a:ext cx="32232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Up in Good responders</a:t>
            </a:r>
          </a:p>
        </p:txBody>
      </p:sp>
      <p:cxnSp>
        <p:nvCxnSpPr>
          <p:cNvPr id="1535" name="Connector 1534"/>
          <p:cNvCxnSpPr/>
          <p:nvPr/>
        </p:nvCxnSpPr>
        <p:spPr>
          <a:xfrm flipH="1">
            <a:off x="1821766" y="915475"/>
            <a:ext cx="3223260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Right Triangle 1535"/>
          <p:cNvSpPr/>
          <p:nvPr/>
        </p:nvSpPr>
        <p:spPr>
          <a:xfrm rot="10800000">
            <a:off x="1791766" y="885475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TextBox 1536"/>
          <p:cNvSpPr txBox="1"/>
          <p:nvPr/>
        </p:nvSpPr>
        <p:spPr>
          <a:xfrm>
            <a:off x="1821766" y="641155"/>
            <a:ext cx="32232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Up in Poor responders</a:t>
            </a:r>
          </a:p>
        </p:txBody>
      </p:sp>
      <p:sp>
        <p:nvSpPr>
          <p:cNvPr id="1538" name="Oval 1537"/>
          <p:cNvSpPr/>
          <p:nvPr/>
        </p:nvSpPr>
        <p:spPr>
          <a:xfrm>
            <a:off x="1437040" y="6502816"/>
            <a:ext cx="52000" cy="52000"/>
          </a:xfrm>
          <a:prstGeom prst="ellipse">
            <a:avLst/>
          </a:prstGeom>
          <a:solidFill>
            <a:srgbClr val="E39A1E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1600200" y="6446520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Cell cycle  (n = 1)</a:t>
            </a:r>
          </a:p>
        </p:txBody>
      </p:sp>
      <p:sp>
        <p:nvSpPr>
          <p:cNvPr id="1540" name="Oval 1539"/>
          <p:cNvSpPr/>
          <p:nvPr/>
        </p:nvSpPr>
        <p:spPr>
          <a:xfrm>
            <a:off x="3585880" y="6502816"/>
            <a:ext cx="52000" cy="52000"/>
          </a:xfrm>
          <a:prstGeom prst="ellipse">
            <a:avLst/>
          </a:prstGeom>
          <a:solidFill>
            <a:srgbClr val="A24E7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TextBox 1540"/>
          <p:cNvSpPr txBox="1"/>
          <p:nvPr/>
        </p:nvSpPr>
        <p:spPr>
          <a:xfrm>
            <a:off x="3749040" y="6446520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DNA repair  (n = 7)</a:t>
            </a:r>
          </a:p>
        </p:txBody>
      </p:sp>
      <p:sp>
        <p:nvSpPr>
          <p:cNvPr id="1542" name="Oval 1541"/>
          <p:cNvSpPr/>
          <p:nvPr/>
        </p:nvSpPr>
        <p:spPr>
          <a:xfrm>
            <a:off x="5734720" y="6502816"/>
            <a:ext cx="52000" cy="52000"/>
          </a:xfrm>
          <a:prstGeom prst="ellipse">
            <a:avLst/>
          </a:prstGeom>
          <a:solidFill>
            <a:srgbClr val="118AB2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TextBox 1542"/>
          <p:cNvSpPr txBox="1"/>
          <p:nvPr/>
        </p:nvSpPr>
        <p:spPr>
          <a:xfrm>
            <a:off x="5897880" y="6446520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Immune  (n = 8)</a:t>
            </a:r>
          </a:p>
        </p:txBody>
      </p:sp>
      <p:sp>
        <p:nvSpPr>
          <p:cNvPr id="1544" name="Oval 1543"/>
          <p:cNvSpPr/>
          <p:nvPr/>
        </p:nvSpPr>
        <p:spPr>
          <a:xfrm>
            <a:off x="7883560" y="6502816"/>
            <a:ext cx="52000" cy="52000"/>
          </a:xfrm>
          <a:prstGeom prst="ellipse">
            <a:avLst/>
          </a:prstGeom>
          <a:solidFill>
            <a:srgbClr val="5A8261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8046720" y="6446520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EMT / Stromal  (n = 6)</a:t>
            </a:r>
          </a:p>
        </p:txBody>
      </p:sp>
      <p:sp>
        <p:nvSpPr>
          <p:cNvPr id="1546" name="Oval 1545"/>
          <p:cNvSpPr/>
          <p:nvPr/>
        </p:nvSpPr>
        <p:spPr>
          <a:xfrm>
            <a:off x="1441040" y="6753704"/>
            <a:ext cx="44000" cy="44000"/>
          </a:xfrm>
          <a:prstGeom prst="ellipse">
            <a:avLst/>
          </a:prstGeom>
          <a:solidFill>
            <a:srgbClr val="6C757D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TextBox 1546"/>
          <p:cNvSpPr txBox="1"/>
          <p:nvPr/>
        </p:nvSpPr>
        <p:spPr>
          <a:xfrm>
            <a:off x="1600200" y="669340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Other (no pathway)  (n = 206)</a:t>
            </a:r>
          </a:p>
        </p:txBody>
      </p:sp>
      <p:sp>
        <p:nvSpPr>
          <p:cNvPr id="1548" name="Oval 1547"/>
          <p:cNvSpPr/>
          <p:nvPr/>
        </p:nvSpPr>
        <p:spPr>
          <a:xfrm>
            <a:off x="3593880" y="6757704"/>
            <a:ext cx="36000" cy="36000"/>
          </a:xfrm>
          <a:prstGeom prst="ellipse">
            <a:avLst/>
          </a:prstGeom>
          <a:solidFill>
            <a:srgbClr val="DDE2E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TextBox 1548"/>
          <p:cNvSpPr txBox="1"/>
          <p:nvPr/>
        </p:nvSpPr>
        <p:spPr>
          <a:xfrm>
            <a:off x="3749040" y="669340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Non-significant (P ≥ 0.01)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