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258800" cy="74980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560320" y="5989320"/>
            <a:ext cx="822960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560320" y="502920"/>
            <a:ext cx="0" cy="548640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18581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535701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09889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327009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1196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8316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92504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09624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83812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00932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0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92240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66427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83547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57735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74855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49043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66163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840350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57470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631658" y="598932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448778" y="604418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14600" y="598932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48840" y="590702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514600" y="534386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148840" y="5261565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514600" y="4698402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148840" y="4616106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514600" y="4052943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148840" y="3970647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14600" y="340748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148840" y="3325188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4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514600" y="2762025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148840" y="2679729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5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514600" y="2116567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148840" y="2034271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514600" y="1471108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148840" y="1388812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514600" y="825649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148840" y="743353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0" y="6245352"/>
            <a:ext cx="8229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log₂ fold change (good vs poor)</a:t>
            </a:r>
          </a:p>
        </p:txBody>
      </p:sp>
      <p:sp>
        <p:nvSpPr>
          <p:cNvPr id="45" name="TextBox 44"/>
          <p:cNvSpPr txBox="1"/>
          <p:nvPr/>
        </p:nvSpPr>
        <p:spPr>
          <a:xfrm rot="16200000">
            <a:off x="1417320" y="3145536"/>
            <a:ext cx="12801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−log₁₀(p-value)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675120" y="502920"/>
            <a:ext cx="0" cy="5486400"/>
          </a:xfrm>
          <a:prstGeom prst="line">
            <a:avLst/>
          </a:prstGeom>
          <a:ln w="7620">
            <a:solidFill>
              <a:srgbClr val="0E2A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60320" y="4698402"/>
            <a:ext cx="8229600" cy="0"/>
          </a:xfrm>
          <a:prstGeom prst="line">
            <a:avLst/>
          </a:prstGeom>
          <a:ln w="7620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606040" y="4515522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Arial"/>
              </a:rPr>
              <a:t>P = 0.01</a:t>
            </a:r>
          </a:p>
        </p:txBody>
      </p:sp>
      <p:sp>
        <p:nvSpPr>
          <p:cNvPr id="49" name="Oval 48"/>
          <p:cNvSpPr/>
          <p:nvPr/>
        </p:nvSpPr>
        <p:spPr>
          <a:xfrm>
            <a:off x="6666226" y="59694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16318" y="54540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864505" y="59354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18399" y="56772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470231" y="58215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649596" y="59557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27677" y="57242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93316" y="59099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848549" y="59162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85286" y="59499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624000" y="59220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825972" y="56870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232436" y="56090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824895" y="55687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312321" y="55477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485001" y="56928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83325" y="57378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591511" y="58591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520060" y="59148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736972" y="58709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339046" y="55963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919887" y="52260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261656" y="55736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429744" y="49816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705014" y="59467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693274" y="55531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324394" y="54890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846311" y="53209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954144" y="57952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263591" y="53729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496931" y="58142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773601" y="57242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677475" y="59502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582502" y="58547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524050" y="57804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621295" y="59429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834526" y="56021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922456" y="58425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699579" y="59599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712895" y="58691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927510" y="58648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946239" y="51607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046968" y="51561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482876" y="59263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826923" y="56827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726985" y="59434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823383" y="55681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062913" y="54932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658193" y="5971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824021" y="59106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587481" y="58883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76854" y="59406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536920" y="57281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793021" y="54154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559306" y="58403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035742" y="54133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15272" y="58876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790432" y="57623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948273" y="55656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5841643" y="56758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241393" y="56173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365618" y="55130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147531" y="58710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999063" y="57885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610492" y="59064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782545" y="55255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613651" y="58526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774099" y="57980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527175" y="58052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718525" y="58943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828936" y="57612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706328" y="59162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408713" y="58462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503134" y="57851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570987" y="58321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872485" y="59082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98244" y="56322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429718" y="57200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424481" y="57777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881682" y="54168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766325" y="57138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235408" y="57495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563709" y="58471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37277" y="59262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612542" y="59151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435637" y="57785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560484" y="53741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5159820" y="48239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763459" y="58271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6042931" y="58809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5461110" y="54890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353067" y="56831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575530" y="58301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804063" y="54112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023119" y="54833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727694" y="58755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554706" y="59099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881564" y="56634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457959" y="58797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31101" y="59523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53292" y="57251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614676" y="58959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6499260" y="59348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82734" y="56226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617005" y="59531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7285715" y="50209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6650495" y="59724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5945480" y="56759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22740" y="58610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4469026" y="57009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877205" y="59204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5935608" y="54880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213923" y="52590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6759524" y="58969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943792" y="54738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6115691" y="58224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6546922" y="59035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100665" y="55296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6406406" y="56851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6661510" y="5974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6339541" y="56849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351345" y="54300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556605" y="57145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802204" y="55666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523359" y="57324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7006055" y="53988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6724695" y="58732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530331" y="57719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6411016" y="52527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377486" y="58532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6782108" y="55932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588055" y="58997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6449476" y="56323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6607370" y="58775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6495585" y="58356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442260" y="58669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413282" y="57191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6360885" y="57785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491832" y="58580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6671923" y="59563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6729469" y="59376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6783075" y="58515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6624579" y="59396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6175072" y="57686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6004962" y="54242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6786826" y="56104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6596947" y="58721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6719700" y="58530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6848354" y="56502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7747631" y="54595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6774932" y="57890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6516039" y="58050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6793344" y="55619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6825563" y="58248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6763014" y="59270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6542540" y="57689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6620040" y="58697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6887617" y="53024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6559281" y="58524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6851019" y="54364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6626462" y="59554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6588209" y="58260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6906368" y="58685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740366" y="58289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879400" y="54016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085373" y="53492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6593248" y="59361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258403" y="57036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015555" y="55759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6664611" y="59737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6810742" y="58497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6677022" y="59521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6028072" y="56315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6352748" y="57654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7263764" y="57724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6533497" y="58818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7931276" y="54155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986208" y="56601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7150255" y="58357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6543579" y="58998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6836207" y="58496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6525649" y="57326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6820544" y="58761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7092242" y="5903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6660977" y="59752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6239915" y="57412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6675998" y="5958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5990232" y="55159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7134306" y="54341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164733" y="53189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6395074" y="55834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6425733" y="54271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7058440" y="5095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6190452" y="57702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928178" y="55549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736705" y="59228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6935185" y="54592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731804" y="58490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6774451" y="56350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6888395" y="56642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6868479" y="58461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6980292" y="56688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246286" y="52539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590458" y="59375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6453662" y="56695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6533271" y="57796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7191789" y="56951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081351" y="54216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715828" y="59240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861352" y="5698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517346" y="58657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755201" y="57965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765263" y="56662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6942557" y="58649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582518" y="59018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759048" y="58620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709466" y="5881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366332" y="55360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57295" y="5850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59184" y="56977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358370" y="59004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5764236" y="52453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675344" y="59660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7183695" y="53292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252613" y="53695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696571" y="58649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5026763" y="56385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572085" y="59344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151167" y="57662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505145" y="56837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6907317" y="5381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679171" y="59650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7128903" y="53564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804530" y="55964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6715421" y="59141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6787625" y="55317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652246" y="59634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636664" y="59653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741591" y="58512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6152059" y="54817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7160604" y="54177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6587207" y="58339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978106" y="49511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6857179" y="57153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6838882" y="57742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6734495" y="58698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18005" y="57285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354545" y="57227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247875" y="55567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6700695" y="59114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446237" y="57960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6233379" y="59001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7106446" y="47381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6252616" y="54695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6196117" y="55815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6687766" y="58993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7425240" y="53709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7004257" y="54732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6912766" y="53873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145719" y="52620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6591582" y="58658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6976533" y="55931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6731706" y="58540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6139260" y="57624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6741932" y="57411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6412292" y="53487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6673714" y="59511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6647725" y="59534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6992585" y="57617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6563014" y="57878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6776728" y="56969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6396539" y="57873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6741508" y="59340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6770240" y="58887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6717056" y="58691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5850520" y="56632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399316" y="57672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6074204" y="55946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6746462" y="57568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6478622" y="57890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6511502" y="58047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6226823" y="58385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6588681" y="59059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636449" y="59518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6370340" y="57436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6600585" y="58639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6722436" y="59160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6819105" y="55759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6413032" y="59359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6255913" y="55533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123016" y="58075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7149611" y="58340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6587652" y="59527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778393" y="58451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6722028" y="57594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6736004" y="58857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6581222" y="58261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715944" y="59122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6046629" y="57996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6814406" y="58095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6824025" y="54389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6396201" y="58659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7810105" y="52872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700163" y="59463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557982" y="58651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6035546" y="55679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5956493" y="53754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084033" y="58172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6827365" y="55024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078310" y="57320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6811935" y="56155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658726" y="59738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5599604" y="54448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6747147" y="58759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6103411" y="5527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6719487" y="58891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6274201" y="53472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207049" y="54281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6036330" y="57069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6186305" y="56200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6742672" y="59154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6499195" y="58215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6624344" y="59576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6866772" y="57828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6665394" y="59674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6290342" y="56837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4767800" y="55815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6664159" y="59738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5960360" y="56040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6545707" y="58529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6268086" y="56096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273544" y="49571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238780" y="53655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6290022" y="54887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6606980" y="58772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6334264" y="57328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6663884" y="59677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6156596" y="58398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5448102" y="52310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6863730" y="48680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6904686" y="55381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6794400" y="56369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6555952" y="57541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6664962" y="59735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6201337" y="57176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7050544" y="52153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6923912" y="58478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6892670" y="58306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6313225" y="5475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6709055" y="59566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6776850" y="56726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6594160" y="57548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6491057" y="57160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6790641" y="57315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5830175" y="50417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6751740" y="57790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6703951" y="5932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6535178" y="58034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6584188" y="59199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407984" y="57361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557102" y="57499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6203243" y="56086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6592089" y="59165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6411961" y="58642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6587886" y="58460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6588815" y="5782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6022744" y="55895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6977917" y="58990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6567791" y="58105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6592970" y="58053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6412749" y="59141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7237349" y="56005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6736009" y="58060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7013491" y="56843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6838966" y="53413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6687907" y="59461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6117241" y="55279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6607678" y="59281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6531660" y="58503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6858723" y="56504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5869335" y="51341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6652615" y="5969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7009527" y="57519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6313735" y="55106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6584628" y="59329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6627597" y="59149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6698794" y="59230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7028358" y="58724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6731875" y="58097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6659155" y="59743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5345180" y="49376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5861997" y="5536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6510402" y="5744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6814038" y="57744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6382345" y="57587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6464396" y="53646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6679879" y="59454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6361191" y="56617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6661763" y="59744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6763755" y="58666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6665149" y="59685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6925065" y="58473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6805971" y="58970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6039955" y="52757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5825214" y="54262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6948884" y="5136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6324680" y="55595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6805488" y="58829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6683631" y="59586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7252945" y="58581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6721014" y="59253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6978851" y="58890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6586349" y="58875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6599108" y="58818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6262041" y="57808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6723046" y="58170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6796551" y="57764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6643138" y="59491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7148097" y="55694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7293928" y="57167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7090126" y="55666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6576473" y="58028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7185015" y="47291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6980531" y="58133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6574782" y="57728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5777454" y="48821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6295650" y="53450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6841810" y="56175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6792166" y="58927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6906600" y="58509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6372874" y="55870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6766113" y="58762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7281865" y="57487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5741313" y="55539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6178014" y="56375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6664206" y="59673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6736127" y="59488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6888365" y="58493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6835779" y="57133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6997699" y="57872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6679332" y="59570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6646146" y="59485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6807471" y="58924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6517377" y="58690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6513560" y="58954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7524653" y="50156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6609502" y="58862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6815000" y="58408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6706138" y="59423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7133040" y="53728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6527573" y="59111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6581703" y="58677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5975196" y="53714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6972652" y="58475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6538864" y="58671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6696179" y="58570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6039238" y="54387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6386677" y="57810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6511052" y="56841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6510428" y="58124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6319553" y="56748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7020730" y="48615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6716193" y="57937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6702803" y="58823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6733442" y="58653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7037915" y="55379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6781031" y="56949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6708390" y="59229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5302510" y="5572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6081723" y="54990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6389050" y="56478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6245551" y="56476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6577627" y="58664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6316713" y="54652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6571051" y="57204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6254036" y="58258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6510059" y="59541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9154210" y="55194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6575484" y="57992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6803908" y="55909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6546245" y="57640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6759593" y="58310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7084322" y="56984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7003622" y="57332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6660865" y="59747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6322511" y="58794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6871352" y="55190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5084910" y="54816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6763491" y="57206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6060959" y="54353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7124774" y="51223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6393748" y="57178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6543883" y="59353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6483901" y="59165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6656671" y="59680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6548856" y="58059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6285227" y="56700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6583295" y="59384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6810658" y="54829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6255553" y="56814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6199726" y="48640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6557603" y="58679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6632520" y="59175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6942256" y="58520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7411323" y="57922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5506302" y="55357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6750131" y="57874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6748014" y="58967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6708785" y="58648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6241315" y="53501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6965205" y="55310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6777023" y="57889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6666672" y="59692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6564863" y="58986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7234843" y="52836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8443743" y="56557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5824636" y="54916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6801608" y="57949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6413208" y="52847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5832113" y="55808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6755217" y="57797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6195116" y="58284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6423531" y="57765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5610158" y="56560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6121262" y="57146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4573930" y="55098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6623815" y="59114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6828894" y="59207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6489918" y="55644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6562306" y="57988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6718102" y="5956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6394849" y="58730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7779538" y="54543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7150299" y="56353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6444393" y="54445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6473017" y="58229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7853870" y="53527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6573393" y="58641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6578148" y="58270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6338216" y="53376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6600747" y="58779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6449489" y="58068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6198607" y="54941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6340146" y="50830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6436705" y="54967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6656644" y="59687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6733825" y="58470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6154497" y="56929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7031115" y="5846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7152419" y="55068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6772938" y="55571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6017937" y="56475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7092551" y="55184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6333901" y="58115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7142359" y="57374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6637718" y="59500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7042067" y="55822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6948231" y="56062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5964676" y="50692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6701380" y="58953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6922799" y="53652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6583044" y="58196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6755525" y="59234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6663914" y="59711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6665584" y="59666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6686575" y="59356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7276670" y="57687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6814171" y="57204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6719374" y="58668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6872350" y="58837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6396679" y="52345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6574705" y="58287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6860222" y="53488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6534910" y="58425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6762132" y="59509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7076788" y="56599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6286448" y="58306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7013807" y="55725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6590114" y="57759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6455565" y="57101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6623829" y="59415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6693206" y="59600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6280101" y="55961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6680722" y="59526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6327054" y="51738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6600929" y="58627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6279874" y="58033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7150218" y="58228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7002206" y="56298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6617989" y="59602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6894610" y="52062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6375741" y="51805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6700843" y="58611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6649513" y="59570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6367859" y="56060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6638555" y="59430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6717507" y="58980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6914845" y="49717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6608611" y="58615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6878011" y="51795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5975368" y="56033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7625002" y="57219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6575679" y="59355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6635005" y="59378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6420093" y="57871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6197392" y="53147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6041731" y="53873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6362498" y="55120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6604290" y="58829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5998439" y="58377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5951459" y="54062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7086573" y="50402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6465902" y="58991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6732932" y="59181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6522436" y="59456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6367534" y="56940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6145578" y="53578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7236245" y="57463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6940999" y="58319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6605015" y="59300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6724092" y="58591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6293455" y="5844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6775577" y="56594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6761575" y="57544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6590530" y="58924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6616805" y="59089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6651176" y="59538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6559963" y="5916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6882684" y="58369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6731838" y="57798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6063259" y="56587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6178624" y="56784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6438955" y="56713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6749588" y="58021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5991121" y="54299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6812432" y="53815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6515841" y="57228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6668356" y="59571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6877317" y="57050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6360642" y="50007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6296923" y="57397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6976103" y="55134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6902304" y="58376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7196704" y="55408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6525540" y="56534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6647474" y="59694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7246070" y="56282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6646432" y="59466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6793254" y="57479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5238072" y="54134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6053885" y="57713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6693980" y="59315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6402182" y="58515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6762687" y="56332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6543954" y="58800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4672029" y="51003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7452599" y="55546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6999987" y="55601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6728476" y="58600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6210264" y="58008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6329114" y="56916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7226892" y="49112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6811625" y="55780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6544964" y="57118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6616124" y="58960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6943034" y="53995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5768383" y="54990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6429829" y="56980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6603890" y="58502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6986521" y="57947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6313726" y="51790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6621305" y="59648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6731252" y="58514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6566721" y="59313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6986143" y="52530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6946471" y="57951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6655589" y="59689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6159192" y="58226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6122624" y="56049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6664216" y="59708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7321115" y="54243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7015087" y="5845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6590433" y="59403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6713145" y="59327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6981963" y="52524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6651709" y="59716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6598780" y="59271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7132496" y="53665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6970902" y="54747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6900167" y="55294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7046353" y="50561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6543833" y="58842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7693069" y="58018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6595571" y="58835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6576212" y="58288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7131464" y="56917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6759839" y="56208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6702612" y="59315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6620124" y="58955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6174998" y="56584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6733656" y="59227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6814199" y="57812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6713385" y="59340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6445638" y="57106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6836233" y="56963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6263844" y="56465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6853233" y="56942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6447635" y="56965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6484173" y="5559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6505553" y="56859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6818252" y="59561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6064880" y="58714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6566172" y="58177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7009685" y="57770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6536864" y="58017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7084300" y="49828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7912412" y="57773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6619079" y="59556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6725734" y="59222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6821215" y="58532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6547975" y="57617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6350544" y="54718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6762675" y="59274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6660486" y="59748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6646567" y="59663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6135006" y="58196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6481876" y="59038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6647085" y="59427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xfrm>
            <a:off x="6715991" y="58223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6780385" y="59428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xfrm>
            <a:off x="6899152" y="59010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xfrm>
            <a:off x="7051749" y="51876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6761060" y="56500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xfrm>
            <a:off x="9249229" y="52184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xfrm>
            <a:off x="6312785" y="54475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6979365" y="57542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xfrm>
            <a:off x="6331018" y="58041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xfrm>
            <a:off x="6621350" y="5936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6521835" y="58915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xfrm>
            <a:off x="6687387" y="59567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xfrm>
            <a:off x="6939017" y="59354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6906134" y="53647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xfrm>
            <a:off x="6240350" y="55624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xfrm>
            <a:off x="6696581" y="59402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6667766" y="59696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xfrm>
            <a:off x="7232438" y="49392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xfrm>
            <a:off x="6873636" y="55079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7031797" y="58925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xfrm>
            <a:off x="5534734" y="55219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xfrm>
            <a:off x="6656000" y="59644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5773171" y="58046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xfrm>
            <a:off x="6842612" y="58875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xfrm>
            <a:off x="6585123" y="58863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7422277" y="52674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Oval 802"/>
          <p:cNvSpPr/>
          <p:nvPr/>
        </p:nvSpPr>
        <p:spPr>
          <a:xfrm>
            <a:off x="6586155" y="59212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xfrm>
            <a:off x="6635592" y="59492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6745131" y="59110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xfrm>
            <a:off x="6785897" y="57800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xfrm>
            <a:off x="6951971" y="51532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7138911" y="56226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Oval 808"/>
          <p:cNvSpPr/>
          <p:nvPr/>
        </p:nvSpPr>
        <p:spPr>
          <a:xfrm>
            <a:off x="6994291" y="56117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Oval 809"/>
          <p:cNvSpPr/>
          <p:nvPr/>
        </p:nvSpPr>
        <p:spPr>
          <a:xfrm>
            <a:off x="6775459" y="56365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6560881" y="58079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Oval 811"/>
          <p:cNvSpPr/>
          <p:nvPr/>
        </p:nvSpPr>
        <p:spPr>
          <a:xfrm>
            <a:off x="6099614" y="58982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Oval 812"/>
          <p:cNvSpPr/>
          <p:nvPr/>
        </p:nvSpPr>
        <p:spPr>
          <a:xfrm>
            <a:off x="6628946" y="59562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Oval 813"/>
          <p:cNvSpPr/>
          <p:nvPr/>
        </p:nvSpPr>
        <p:spPr>
          <a:xfrm>
            <a:off x="6503138" y="58690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Oval 814"/>
          <p:cNvSpPr/>
          <p:nvPr/>
        </p:nvSpPr>
        <p:spPr>
          <a:xfrm>
            <a:off x="6622839" y="58708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Oval 815"/>
          <p:cNvSpPr/>
          <p:nvPr/>
        </p:nvSpPr>
        <p:spPr>
          <a:xfrm>
            <a:off x="6768141" y="57302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Oval 816"/>
          <p:cNvSpPr/>
          <p:nvPr/>
        </p:nvSpPr>
        <p:spPr>
          <a:xfrm>
            <a:off x="6807056" y="55347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Oval 817"/>
          <p:cNvSpPr/>
          <p:nvPr/>
        </p:nvSpPr>
        <p:spPr>
          <a:xfrm>
            <a:off x="6849155" y="56327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Oval 818"/>
          <p:cNvSpPr/>
          <p:nvPr/>
        </p:nvSpPr>
        <p:spPr>
          <a:xfrm>
            <a:off x="6572900" y="58227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Oval 819"/>
          <p:cNvSpPr/>
          <p:nvPr/>
        </p:nvSpPr>
        <p:spPr>
          <a:xfrm>
            <a:off x="6282465" y="55142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Oval 820"/>
          <p:cNvSpPr/>
          <p:nvPr/>
        </p:nvSpPr>
        <p:spPr>
          <a:xfrm>
            <a:off x="6225971" y="53530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6517063" y="59208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Oval 822"/>
          <p:cNvSpPr/>
          <p:nvPr/>
        </p:nvSpPr>
        <p:spPr>
          <a:xfrm>
            <a:off x="6536828" y="58562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Oval 823"/>
          <p:cNvSpPr/>
          <p:nvPr/>
        </p:nvSpPr>
        <p:spPr>
          <a:xfrm>
            <a:off x="7064723" y="56086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6675611" y="59334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Oval 825"/>
          <p:cNvSpPr/>
          <p:nvPr/>
        </p:nvSpPr>
        <p:spPr>
          <a:xfrm>
            <a:off x="6705109" y="59277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Oval 826"/>
          <p:cNvSpPr/>
          <p:nvPr/>
        </p:nvSpPr>
        <p:spPr>
          <a:xfrm>
            <a:off x="6581426" y="57833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6576367" y="58464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Oval 828"/>
          <p:cNvSpPr/>
          <p:nvPr/>
        </p:nvSpPr>
        <p:spPr>
          <a:xfrm>
            <a:off x="5634736" y="55421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Oval 829"/>
          <p:cNvSpPr/>
          <p:nvPr/>
        </p:nvSpPr>
        <p:spPr>
          <a:xfrm>
            <a:off x="6920723" y="57538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6836255" y="58533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Oval 831"/>
          <p:cNvSpPr/>
          <p:nvPr/>
        </p:nvSpPr>
        <p:spPr>
          <a:xfrm>
            <a:off x="7070005" y="55493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Oval 832"/>
          <p:cNvSpPr/>
          <p:nvPr/>
        </p:nvSpPr>
        <p:spPr>
          <a:xfrm>
            <a:off x="6781754" y="59101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6778389" y="54644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Oval 834"/>
          <p:cNvSpPr/>
          <p:nvPr/>
        </p:nvSpPr>
        <p:spPr>
          <a:xfrm>
            <a:off x="7142767" y="56401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Oval 835"/>
          <p:cNvSpPr/>
          <p:nvPr/>
        </p:nvSpPr>
        <p:spPr>
          <a:xfrm>
            <a:off x="5862178" y="57253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7170779" y="55648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Oval 837"/>
          <p:cNvSpPr/>
          <p:nvPr/>
        </p:nvSpPr>
        <p:spPr>
          <a:xfrm>
            <a:off x="6482043" y="55153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Oval 838"/>
          <p:cNvSpPr/>
          <p:nvPr/>
        </p:nvSpPr>
        <p:spPr>
          <a:xfrm>
            <a:off x="6541683" y="58747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6461077" y="5891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Oval 840"/>
          <p:cNvSpPr/>
          <p:nvPr/>
        </p:nvSpPr>
        <p:spPr>
          <a:xfrm>
            <a:off x="6498164" y="59022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Oval 841"/>
          <p:cNvSpPr/>
          <p:nvPr/>
        </p:nvSpPr>
        <p:spPr>
          <a:xfrm>
            <a:off x="6673748" y="59599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6569857" y="58004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Oval 843"/>
          <p:cNvSpPr/>
          <p:nvPr/>
        </p:nvSpPr>
        <p:spPr>
          <a:xfrm>
            <a:off x="6770405" y="57527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Oval 844"/>
          <p:cNvSpPr/>
          <p:nvPr/>
        </p:nvSpPr>
        <p:spPr>
          <a:xfrm>
            <a:off x="6719649" y="58701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7498049" y="58474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Oval 846"/>
          <p:cNvSpPr/>
          <p:nvPr/>
        </p:nvSpPr>
        <p:spPr>
          <a:xfrm>
            <a:off x="6820716" y="57067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Oval 847"/>
          <p:cNvSpPr/>
          <p:nvPr/>
        </p:nvSpPr>
        <p:spPr>
          <a:xfrm>
            <a:off x="6933507" y="54602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6667347" y="59617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Oval 849"/>
          <p:cNvSpPr/>
          <p:nvPr/>
        </p:nvSpPr>
        <p:spPr>
          <a:xfrm>
            <a:off x="6740259" y="58636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Oval 850"/>
          <p:cNvSpPr/>
          <p:nvPr/>
        </p:nvSpPr>
        <p:spPr>
          <a:xfrm>
            <a:off x="6543515" y="57286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6271287" y="57409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Oval 852"/>
          <p:cNvSpPr/>
          <p:nvPr/>
        </p:nvSpPr>
        <p:spPr>
          <a:xfrm>
            <a:off x="6520749" y="58916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Oval 853"/>
          <p:cNvSpPr/>
          <p:nvPr/>
        </p:nvSpPr>
        <p:spPr>
          <a:xfrm>
            <a:off x="6503430" y="58482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Oval 854"/>
          <p:cNvSpPr/>
          <p:nvPr/>
        </p:nvSpPr>
        <p:spPr>
          <a:xfrm>
            <a:off x="6562672" y="58026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Oval 855"/>
          <p:cNvSpPr/>
          <p:nvPr/>
        </p:nvSpPr>
        <p:spPr>
          <a:xfrm>
            <a:off x="6771634" y="58018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Oval 856"/>
          <p:cNvSpPr/>
          <p:nvPr/>
        </p:nvSpPr>
        <p:spPr>
          <a:xfrm>
            <a:off x="6919863" y="55474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Oval 857"/>
          <p:cNvSpPr/>
          <p:nvPr/>
        </p:nvSpPr>
        <p:spPr>
          <a:xfrm>
            <a:off x="6827131" y="59210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Oval 858"/>
          <p:cNvSpPr/>
          <p:nvPr/>
        </p:nvSpPr>
        <p:spPr>
          <a:xfrm>
            <a:off x="6508854" y="58225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Oval 859"/>
          <p:cNvSpPr/>
          <p:nvPr/>
        </p:nvSpPr>
        <p:spPr>
          <a:xfrm>
            <a:off x="6749090" y="59470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Oval 860"/>
          <p:cNvSpPr/>
          <p:nvPr/>
        </p:nvSpPr>
        <p:spPr>
          <a:xfrm>
            <a:off x="6595934" y="58979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Oval 861"/>
          <p:cNvSpPr/>
          <p:nvPr/>
        </p:nvSpPr>
        <p:spPr>
          <a:xfrm>
            <a:off x="6060333" y="57026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Oval 862"/>
          <p:cNvSpPr/>
          <p:nvPr/>
        </p:nvSpPr>
        <p:spPr>
          <a:xfrm>
            <a:off x="7191368" y="56401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Oval 863"/>
          <p:cNvSpPr/>
          <p:nvPr/>
        </p:nvSpPr>
        <p:spPr>
          <a:xfrm>
            <a:off x="6424464" y="57610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Oval 864"/>
          <p:cNvSpPr/>
          <p:nvPr/>
        </p:nvSpPr>
        <p:spPr>
          <a:xfrm>
            <a:off x="6595726" y="58838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Oval 865"/>
          <p:cNvSpPr/>
          <p:nvPr/>
        </p:nvSpPr>
        <p:spPr>
          <a:xfrm>
            <a:off x="7200276" y="56057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Oval 866"/>
          <p:cNvSpPr/>
          <p:nvPr/>
        </p:nvSpPr>
        <p:spPr>
          <a:xfrm>
            <a:off x="5933630" y="58080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Oval 867"/>
          <p:cNvSpPr/>
          <p:nvPr/>
        </p:nvSpPr>
        <p:spPr>
          <a:xfrm>
            <a:off x="6462207" y="55729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Oval 868"/>
          <p:cNvSpPr/>
          <p:nvPr/>
        </p:nvSpPr>
        <p:spPr>
          <a:xfrm>
            <a:off x="6486238" y="57874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Oval 869"/>
          <p:cNvSpPr/>
          <p:nvPr/>
        </p:nvSpPr>
        <p:spPr>
          <a:xfrm>
            <a:off x="6708048" y="58697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Oval 870"/>
          <p:cNvSpPr/>
          <p:nvPr/>
        </p:nvSpPr>
        <p:spPr>
          <a:xfrm>
            <a:off x="6534856" y="57860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Oval 871"/>
          <p:cNvSpPr/>
          <p:nvPr/>
        </p:nvSpPr>
        <p:spPr>
          <a:xfrm>
            <a:off x="6555985" y="58788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Oval 872"/>
          <p:cNvSpPr/>
          <p:nvPr/>
        </p:nvSpPr>
        <p:spPr>
          <a:xfrm>
            <a:off x="6407950" y="58093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Oval 873"/>
          <p:cNvSpPr/>
          <p:nvPr/>
        </p:nvSpPr>
        <p:spPr>
          <a:xfrm>
            <a:off x="6245811" y="55142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Oval 874"/>
          <p:cNvSpPr/>
          <p:nvPr/>
        </p:nvSpPr>
        <p:spPr>
          <a:xfrm>
            <a:off x="6854535" y="57084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Oval 875"/>
          <p:cNvSpPr/>
          <p:nvPr/>
        </p:nvSpPr>
        <p:spPr>
          <a:xfrm>
            <a:off x="7063706" y="55314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Oval 876"/>
          <p:cNvSpPr/>
          <p:nvPr/>
        </p:nvSpPr>
        <p:spPr>
          <a:xfrm>
            <a:off x="7234580" y="54556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Oval 877"/>
          <p:cNvSpPr/>
          <p:nvPr/>
        </p:nvSpPr>
        <p:spPr>
          <a:xfrm>
            <a:off x="6640644" y="59625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Oval 878"/>
          <p:cNvSpPr/>
          <p:nvPr/>
        </p:nvSpPr>
        <p:spPr>
          <a:xfrm>
            <a:off x="6842026" y="5951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Oval 879"/>
          <p:cNvSpPr/>
          <p:nvPr/>
        </p:nvSpPr>
        <p:spPr>
          <a:xfrm>
            <a:off x="6448597" y="57596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Oval 880"/>
          <p:cNvSpPr/>
          <p:nvPr/>
        </p:nvSpPr>
        <p:spPr>
          <a:xfrm>
            <a:off x="6444358" y="49295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Oval 881"/>
          <p:cNvSpPr/>
          <p:nvPr/>
        </p:nvSpPr>
        <p:spPr>
          <a:xfrm>
            <a:off x="5731618" y="53343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Oval 882"/>
          <p:cNvSpPr/>
          <p:nvPr/>
        </p:nvSpPr>
        <p:spPr>
          <a:xfrm>
            <a:off x="6811202" y="58432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Oval 883"/>
          <p:cNvSpPr/>
          <p:nvPr/>
        </p:nvSpPr>
        <p:spPr>
          <a:xfrm>
            <a:off x="7279385" y="53884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Oval 884"/>
          <p:cNvSpPr/>
          <p:nvPr/>
        </p:nvSpPr>
        <p:spPr>
          <a:xfrm>
            <a:off x="5764489" y="55962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Oval 885"/>
          <p:cNvSpPr/>
          <p:nvPr/>
        </p:nvSpPr>
        <p:spPr>
          <a:xfrm>
            <a:off x="5505184" y="53127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Oval 886"/>
          <p:cNvSpPr/>
          <p:nvPr/>
        </p:nvSpPr>
        <p:spPr>
          <a:xfrm>
            <a:off x="6419248" y="56189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Oval 887"/>
          <p:cNvSpPr/>
          <p:nvPr/>
        </p:nvSpPr>
        <p:spPr>
          <a:xfrm>
            <a:off x="7364356" y="57384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Oval 888"/>
          <p:cNvSpPr/>
          <p:nvPr/>
        </p:nvSpPr>
        <p:spPr>
          <a:xfrm>
            <a:off x="6577268" y="58617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xfrm>
            <a:off x="6467532" y="58410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Oval 890"/>
          <p:cNvSpPr/>
          <p:nvPr/>
        </p:nvSpPr>
        <p:spPr>
          <a:xfrm>
            <a:off x="6462959" y="58797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Oval 891"/>
          <p:cNvSpPr/>
          <p:nvPr/>
        </p:nvSpPr>
        <p:spPr>
          <a:xfrm>
            <a:off x="5823056" y="53223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xfrm>
            <a:off x="6787439" y="58903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Oval 893"/>
          <p:cNvSpPr/>
          <p:nvPr/>
        </p:nvSpPr>
        <p:spPr>
          <a:xfrm>
            <a:off x="6075346" y="55375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Oval 894"/>
          <p:cNvSpPr/>
          <p:nvPr/>
        </p:nvSpPr>
        <p:spPr>
          <a:xfrm>
            <a:off x="6589337" y="58316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xfrm>
            <a:off x="6356427" y="58172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Oval 896"/>
          <p:cNvSpPr/>
          <p:nvPr/>
        </p:nvSpPr>
        <p:spPr>
          <a:xfrm>
            <a:off x="6750383" y="58634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Oval 897"/>
          <p:cNvSpPr/>
          <p:nvPr/>
        </p:nvSpPr>
        <p:spPr>
          <a:xfrm>
            <a:off x="6555030" y="58386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xfrm>
            <a:off x="6481836" y="55224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Oval 899"/>
          <p:cNvSpPr/>
          <p:nvPr/>
        </p:nvSpPr>
        <p:spPr>
          <a:xfrm>
            <a:off x="6440175" y="54889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Oval 900"/>
          <p:cNvSpPr/>
          <p:nvPr/>
        </p:nvSpPr>
        <p:spPr>
          <a:xfrm>
            <a:off x="7492251" y="50140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xfrm>
            <a:off x="6154913" y="54244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Oval 902"/>
          <p:cNvSpPr/>
          <p:nvPr/>
        </p:nvSpPr>
        <p:spPr>
          <a:xfrm>
            <a:off x="6688745" y="59466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Oval 903"/>
          <p:cNvSpPr/>
          <p:nvPr/>
        </p:nvSpPr>
        <p:spPr>
          <a:xfrm>
            <a:off x="6553548" y="58392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xfrm>
            <a:off x="6078976" y="51309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Oval 905"/>
          <p:cNvSpPr/>
          <p:nvPr/>
        </p:nvSpPr>
        <p:spPr>
          <a:xfrm>
            <a:off x="6324194" y="57324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Oval 906"/>
          <p:cNvSpPr/>
          <p:nvPr/>
        </p:nvSpPr>
        <p:spPr>
          <a:xfrm>
            <a:off x="6722773" y="58900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xfrm>
            <a:off x="6696123" y="59210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Oval 908"/>
          <p:cNvSpPr/>
          <p:nvPr/>
        </p:nvSpPr>
        <p:spPr>
          <a:xfrm>
            <a:off x="6584586" y="59228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Oval 909"/>
          <p:cNvSpPr/>
          <p:nvPr/>
        </p:nvSpPr>
        <p:spPr>
          <a:xfrm>
            <a:off x="6483183" y="57031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Oval 910"/>
          <p:cNvSpPr/>
          <p:nvPr/>
        </p:nvSpPr>
        <p:spPr>
          <a:xfrm>
            <a:off x="6731259" y="58643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Oval 911"/>
          <p:cNvSpPr/>
          <p:nvPr/>
        </p:nvSpPr>
        <p:spPr>
          <a:xfrm>
            <a:off x="6520864" y="57173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Oval 912"/>
          <p:cNvSpPr/>
          <p:nvPr/>
        </p:nvSpPr>
        <p:spPr>
          <a:xfrm>
            <a:off x="6448921" y="58862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Oval 913"/>
          <p:cNvSpPr/>
          <p:nvPr/>
        </p:nvSpPr>
        <p:spPr>
          <a:xfrm>
            <a:off x="6771540" y="58903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Oval 914"/>
          <p:cNvSpPr/>
          <p:nvPr/>
        </p:nvSpPr>
        <p:spPr>
          <a:xfrm>
            <a:off x="6815515" y="58600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Oval 915"/>
          <p:cNvSpPr/>
          <p:nvPr/>
        </p:nvSpPr>
        <p:spPr>
          <a:xfrm>
            <a:off x="6368382" y="52799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Oval 916"/>
          <p:cNvSpPr/>
          <p:nvPr/>
        </p:nvSpPr>
        <p:spPr>
          <a:xfrm>
            <a:off x="7649752" y="56288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Oval 917"/>
          <p:cNvSpPr/>
          <p:nvPr/>
        </p:nvSpPr>
        <p:spPr>
          <a:xfrm>
            <a:off x="6693880" y="58911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Oval 918"/>
          <p:cNvSpPr/>
          <p:nvPr/>
        </p:nvSpPr>
        <p:spPr>
          <a:xfrm>
            <a:off x="6643867" y="59463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Oval 919"/>
          <p:cNvSpPr/>
          <p:nvPr/>
        </p:nvSpPr>
        <p:spPr>
          <a:xfrm>
            <a:off x="6834992" y="56591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Oval 920"/>
          <p:cNvSpPr/>
          <p:nvPr/>
        </p:nvSpPr>
        <p:spPr>
          <a:xfrm>
            <a:off x="6687655" y="59117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Oval 921"/>
          <p:cNvSpPr/>
          <p:nvPr/>
        </p:nvSpPr>
        <p:spPr>
          <a:xfrm>
            <a:off x="6602958" y="58822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xfrm>
            <a:off x="6644546" y="59568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Oval 923"/>
          <p:cNvSpPr/>
          <p:nvPr/>
        </p:nvSpPr>
        <p:spPr>
          <a:xfrm>
            <a:off x="6928892" y="57145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Oval 924"/>
          <p:cNvSpPr/>
          <p:nvPr/>
        </p:nvSpPr>
        <p:spPr>
          <a:xfrm>
            <a:off x="6795117" y="54533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Oval 925"/>
          <p:cNvSpPr/>
          <p:nvPr/>
        </p:nvSpPr>
        <p:spPr>
          <a:xfrm>
            <a:off x="5964467" y="58472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Oval 926"/>
          <p:cNvSpPr/>
          <p:nvPr/>
        </p:nvSpPr>
        <p:spPr>
          <a:xfrm>
            <a:off x="6904501" y="58946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Oval 927"/>
          <p:cNvSpPr/>
          <p:nvPr/>
        </p:nvSpPr>
        <p:spPr>
          <a:xfrm>
            <a:off x="6329818" y="55323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Oval 928"/>
          <p:cNvSpPr/>
          <p:nvPr/>
        </p:nvSpPr>
        <p:spPr>
          <a:xfrm>
            <a:off x="6684532" y="59515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Oval 929"/>
          <p:cNvSpPr/>
          <p:nvPr/>
        </p:nvSpPr>
        <p:spPr>
          <a:xfrm>
            <a:off x="5727674" y="56386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Oval 930"/>
          <p:cNvSpPr/>
          <p:nvPr/>
        </p:nvSpPr>
        <p:spPr>
          <a:xfrm>
            <a:off x="6744168" y="58725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Oval 931"/>
          <p:cNvSpPr/>
          <p:nvPr/>
        </p:nvSpPr>
        <p:spPr>
          <a:xfrm>
            <a:off x="6782484" y="57263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Oval 932"/>
          <p:cNvSpPr/>
          <p:nvPr/>
        </p:nvSpPr>
        <p:spPr>
          <a:xfrm>
            <a:off x="6552016" y="58941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Oval 933"/>
          <p:cNvSpPr/>
          <p:nvPr/>
        </p:nvSpPr>
        <p:spPr>
          <a:xfrm>
            <a:off x="7130538" y="53619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Oval 934"/>
          <p:cNvSpPr/>
          <p:nvPr/>
        </p:nvSpPr>
        <p:spPr>
          <a:xfrm>
            <a:off x="6881526" y="54791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Oval 935"/>
          <p:cNvSpPr/>
          <p:nvPr/>
        </p:nvSpPr>
        <p:spPr>
          <a:xfrm>
            <a:off x="6834134" y="53773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Oval 936"/>
          <p:cNvSpPr/>
          <p:nvPr/>
        </p:nvSpPr>
        <p:spPr>
          <a:xfrm>
            <a:off x="6433838" y="53761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Oval 937"/>
          <p:cNvSpPr/>
          <p:nvPr/>
        </p:nvSpPr>
        <p:spPr>
          <a:xfrm>
            <a:off x="6736819" y="57597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Oval 938"/>
          <p:cNvSpPr/>
          <p:nvPr/>
        </p:nvSpPr>
        <p:spPr>
          <a:xfrm>
            <a:off x="6261293" y="51626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xfrm>
            <a:off x="6854261" y="58511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xfrm>
            <a:off x="6258195" y="58312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xfrm>
            <a:off x="6114684" y="58418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Oval 942"/>
          <p:cNvSpPr/>
          <p:nvPr/>
        </p:nvSpPr>
        <p:spPr>
          <a:xfrm>
            <a:off x="6920828" y="58923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Oval 943"/>
          <p:cNvSpPr/>
          <p:nvPr/>
        </p:nvSpPr>
        <p:spPr>
          <a:xfrm>
            <a:off x="6947461" y="57924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Oval 944"/>
          <p:cNvSpPr/>
          <p:nvPr/>
        </p:nvSpPr>
        <p:spPr>
          <a:xfrm>
            <a:off x="6555875" y="58298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Oval 945"/>
          <p:cNvSpPr/>
          <p:nvPr/>
        </p:nvSpPr>
        <p:spPr>
          <a:xfrm>
            <a:off x="6718027" y="57762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Oval 946"/>
          <p:cNvSpPr/>
          <p:nvPr/>
        </p:nvSpPr>
        <p:spPr>
          <a:xfrm>
            <a:off x="6829709" y="59298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Oval 947"/>
          <p:cNvSpPr/>
          <p:nvPr/>
        </p:nvSpPr>
        <p:spPr>
          <a:xfrm>
            <a:off x="6901278" y="52274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Oval 948"/>
          <p:cNvSpPr/>
          <p:nvPr/>
        </p:nvSpPr>
        <p:spPr>
          <a:xfrm>
            <a:off x="6113841" y="56595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Oval 949"/>
          <p:cNvSpPr/>
          <p:nvPr/>
        </p:nvSpPr>
        <p:spPr>
          <a:xfrm>
            <a:off x="6795121" y="59251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Oval 950"/>
          <p:cNvSpPr/>
          <p:nvPr/>
        </p:nvSpPr>
        <p:spPr>
          <a:xfrm>
            <a:off x="7404870" y="57410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Oval 951"/>
          <p:cNvSpPr/>
          <p:nvPr/>
        </p:nvSpPr>
        <p:spPr>
          <a:xfrm>
            <a:off x="6752249" y="58780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Oval 952"/>
          <p:cNvSpPr/>
          <p:nvPr/>
        </p:nvSpPr>
        <p:spPr>
          <a:xfrm>
            <a:off x="6627060" y="59210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xfrm>
            <a:off x="6431792" y="58373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xfrm>
            <a:off x="6631693" y="59703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xfrm>
            <a:off x="6388026" y="58162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Oval 956"/>
          <p:cNvSpPr/>
          <p:nvPr/>
        </p:nvSpPr>
        <p:spPr>
          <a:xfrm>
            <a:off x="6898619" y="58522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Oval 957"/>
          <p:cNvSpPr/>
          <p:nvPr/>
        </p:nvSpPr>
        <p:spPr>
          <a:xfrm>
            <a:off x="6652044" y="59649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Oval 958"/>
          <p:cNvSpPr/>
          <p:nvPr/>
        </p:nvSpPr>
        <p:spPr>
          <a:xfrm>
            <a:off x="6765522" y="58378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Oval 959"/>
          <p:cNvSpPr/>
          <p:nvPr/>
        </p:nvSpPr>
        <p:spPr>
          <a:xfrm>
            <a:off x="6574299" y="57622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Oval 960"/>
          <p:cNvSpPr/>
          <p:nvPr/>
        </p:nvSpPr>
        <p:spPr>
          <a:xfrm>
            <a:off x="6724809" y="59175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Oval 961"/>
          <p:cNvSpPr/>
          <p:nvPr/>
        </p:nvSpPr>
        <p:spPr>
          <a:xfrm>
            <a:off x="6612572" y="58586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Oval 962"/>
          <p:cNvSpPr/>
          <p:nvPr/>
        </p:nvSpPr>
        <p:spPr>
          <a:xfrm>
            <a:off x="6821752" y="58449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Oval 963"/>
          <p:cNvSpPr/>
          <p:nvPr/>
        </p:nvSpPr>
        <p:spPr>
          <a:xfrm>
            <a:off x="6597437" y="58667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Oval 964"/>
          <p:cNvSpPr/>
          <p:nvPr/>
        </p:nvSpPr>
        <p:spPr>
          <a:xfrm>
            <a:off x="6391639" y="57227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Oval 965"/>
          <p:cNvSpPr/>
          <p:nvPr/>
        </p:nvSpPr>
        <p:spPr>
          <a:xfrm>
            <a:off x="6601033" y="59071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Oval 966"/>
          <p:cNvSpPr/>
          <p:nvPr/>
        </p:nvSpPr>
        <p:spPr>
          <a:xfrm>
            <a:off x="6455965" y="58141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xfrm>
            <a:off x="6593738" y="58669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xfrm>
            <a:off x="6535919" y="55714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xfrm>
            <a:off x="6179306" y="54669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Oval 970"/>
          <p:cNvSpPr/>
          <p:nvPr/>
        </p:nvSpPr>
        <p:spPr>
          <a:xfrm>
            <a:off x="6662189" y="59750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Oval 971"/>
          <p:cNvSpPr/>
          <p:nvPr/>
        </p:nvSpPr>
        <p:spPr>
          <a:xfrm>
            <a:off x="6641083" y="59553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Oval 972"/>
          <p:cNvSpPr/>
          <p:nvPr/>
        </p:nvSpPr>
        <p:spPr>
          <a:xfrm>
            <a:off x="6886326" y="52106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Oval 973"/>
          <p:cNvSpPr/>
          <p:nvPr/>
        </p:nvSpPr>
        <p:spPr>
          <a:xfrm>
            <a:off x="6804483" y="56847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Oval 974"/>
          <p:cNvSpPr/>
          <p:nvPr/>
        </p:nvSpPr>
        <p:spPr>
          <a:xfrm>
            <a:off x="6436400" y="5456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Oval 975"/>
          <p:cNvSpPr/>
          <p:nvPr/>
        </p:nvSpPr>
        <p:spPr>
          <a:xfrm>
            <a:off x="6780747" y="59086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Oval 976"/>
          <p:cNvSpPr/>
          <p:nvPr/>
        </p:nvSpPr>
        <p:spPr>
          <a:xfrm>
            <a:off x="6012493" y="50021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Oval 977"/>
          <p:cNvSpPr/>
          <p:nvPr/>
        </p:nvSpPr>
        <p:spPr>
          <a:xfrm>
            <a:off x="6367646" y="5769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Oval 978"/>
          <p:cNvSpPr/>
          <p:nvPr/>
        </p:nvSpPr>
        <p:spPr>
          <a:xfrm>
            <a:off x="6758272" y="56811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Oval 979"/>
          <p:cNvSpPr/>
          <p:nvPr/>
        </p:nvSpPr>
        <p:spPr>
          <a:xfrm>
            <a:off x="6691376" y="59007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Oval 980"/>
          <p:cNvSpPr/>
          <p:nvPr/>
        </p:nvSpPr>
        <p:spPr>
          <a:xfrm>
            <a:off x="7073905" y="58356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xfrm>
            <a:off x="6722990" y="58090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xfrm>
            <a:off x="6418772" y="58185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xfrm>
            <a:off x="6660030" y="59730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Oval 984"/>
          <p:cNvSpPr/>
          <p:nvPr/>
        </p:nvSpPr>
        <p:spPr>
          <a:xfrm>
            <a:off x="6487787" y="57681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Oval 985"/>
          <p:cNvSpPr/>
          <p:nvPr/>
        </p:nvSpPr>
        <p:spPr>
          <a:xfrm>
            <a:off x="6619672" y="59408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Oval 986"/>
          <p:cNvSpPr/>
          <p:nvPr/>
        </p:nvSpPr>
        <p:spPr>
          <a:xfrm>
            <a:off x="6509527" y="57406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Oval 987"/>
          <p:cNvSpPr/>
          <p:nvPr/>
        </p:nvSpPr>
        <p:spPr>
          <a:xfrm>
            <a:off x="5747718" y="51457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Oval 988"/>
          <p:cNvSpPr/>
          <p:nvPr/>
        </p:nvSpPr>
        <p:spPr>
          <a:xfrm>
            <a:off x="6795045" y="57598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xfrm>
            <a:off x="6648579" y="59675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Oval 990"/>
          <p:cNvSpPr/>
          <p:nvPr/>
        </p:nvSpPr>
        <p:spPr>
          <a:xfrm>
            <a:off x="5781453" y="55562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Oval 991"/>
          <p:cNvSpPr/>
          <p:nvPr/>
        </p:nvSpPr>
        <p:spPr>
          <a:xfrm>
            <a:off x="6647202" y="59585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Oval 992"/>
          <p:cNvSpPr/>
          <p:nvPr/>
        </p:nvSpPr>
        <p:spPr>
          <a:xfrm>
            <a:off x="6261484" y="56512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Oval 993"/>
          <p:cNvSpPr/>
          <p:nvPr/>
        </p:nvSpPr>
        <p:spPr>
          <a:xfrm>
            <a:off x="6446132" y="55590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Oval 994"/>
          <p:cNvSpPr/>
          <p:nvPr/>
        </p:nvSpPr>
        <p:spPr>
          <a:xfrm>
            <a:off x="6666158" y="59656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xfrm>
            <a:off x="6600353" y="57864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xfrm>
            <a:off x="5828478" y="57250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xfrm>
            <a:off x="6958934" y="59024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Oval 998"/>
          <p:cNvSpPr/>
          <p:nvPr/>
        </p:nvSpPr>
        <p:spPr>
          <a:xfrm>
            <a:off x="6605266" y="59116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Oval 999"/>
          <p:cNvSpPr/>
          <p:nvPr/>
        </p:nvSpPr>
        <p:spPr>
          <a:xfrm>
            <a:off x="7027050" y="55801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Oval 1000"/>
          <p:cNvSpPr/>
          <p:nvPr/>
        </p:nvSpPr>
        <p:spPr>
          <a:xfrm>
            <a:off x="6770652" y="57722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Oval 1001"/>
          <p:cNvSpPr/>
          <p:nvPr/>
        </p:nvSpPr>
        <p:spPr>
          <a:xfrm>
            <a:off x="6723715" y="58695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Oval 1002"/>
          <p:cNvSpPr/>
          <p:nvPr/>
        </p:nvSpPr>
        <p:spPr>
          <a:xfrm>
            <a:off x="6813262" y="57000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Oval 1003"/>
          <p:cNvSpPr/>
          <p:nvPr/>
        </p:nvSpPr>
        <p:spPr>
          <a:xfrm>
            <a:off x="6468906" y="56864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Oval 1004"/>
          <p:cNvSpPr/>
          <p:nvPr/>
        </p:nvSpPr>
        <p:spPr>
          <a:xfrm>
            <a:off x="6662110" y="59741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6568378" y="57910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xfrm>
            <a:off x="6920841" y="48234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xfrm>
            <a:off x="6688682" y="59446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xfrm>
            <a:off x="6974995" y="57449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6714012" y="5901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6606095" y="59562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xfrm>
            <a:off x="6694081" y="58847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Oval 1012"/>
          <p:cNvSpPr/>
          <p:nvPr/>
        </p:nvSpPr>
        <p:spPr>
          <a:xfrm>
            <a:off x="6971389" y="57140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Oval 1013"/>
          <p:cNvSpPr/>
          <p:nvPr/>
        </p:nvSpPr>
        <p:spPr>
          <a:xfrm>
            <a:off x="6667073" y="59680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Oval 1014"/>
          <p:cNvSpPr/>
          <p:nvPr/>
        </p:nvSpPr>
        <p:spPr>
          <a:xfrm>
            <a:off x="6749693" y="58579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Oval 1015"/>
          <p:cNvSpPr/>
          <p:nvPr/>
        </p:nvSpPr>
        <p:spPr>
          <a:xfrm>
            <a:off x="6638160" y="59430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Oval 1016"/>
          <p:cNvSpPr/>
          <p:nvPr/>
        </p:nvSpPr>
        <p:spPr>
          <a:xfrm>
            <a:off x="6540599" y="58165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Oval 1017"/>
          <p:cNvSpPr/>
          <p:nvPr/>
        </p:nvSpPr>
        <p:spPr>
          <a:xfrm>
            <a:off x="6239873" y="55960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Oval 1018"/>
          <p:cNvSpPr/>
          <p:nvPr/>
        </p:nvSpPr>
        <p:spPr>
          <a:xfrm>
            <a:off x="6737379" y="58162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Oval 1019"/>
          <p:cNvSpPr/>
          <p:nvPr/>
        </p:nvSpPr>
        <p:spPr>
          <a:xfrm>
            <a:off x="6732862" y="58699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Oval 1020"/>
          <p:cNvSpPr/>
          <p:nvPr/>
        </p:nvSpPr>
        <p:spPr>
          <a:xfrm>
            <a:off x="7318741" y="54952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Oval 1021"/>
          <p:cNvSpPr/>
          <p:nvPr/>
        </p:nvSpPr>
        <p:spPr>
          <a:xfrm>
            <a:off x="5829386" y="57850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Oval 1022"/>
          <p:cNvSpPr/>
          <p:nvPr/>
        </p:nvSpPr>
        <p:spPr>
          <a:xfrm>
            <a:off x="6993501" y="53311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xfrm>
            <a:off x="6553380" y="59347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xfrm>
            <a:off x="7027451" y="57090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Oval 1025"/>
          <p:cNvSpPr/>
          <p:nvPr/>
        </p:nvSpPr>
        <p:spPr>
          <a:xfrm>
            <a:off x="5123292" y="54402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Oval 1026"/>
          <p:cNvSpPr/>
          <p:nvPr/>
        </p:nvSpPr>
        <p:spPr>
          <a:xfrm>
            <a:off x="6827402" y="56507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Oval 1027"/>
          <p:cNvSpPr/>
          <p:nvPr/>
        </p:nvSpPr>
        <p:spPr>
          <a:xfrm>
            <a:off x="7005048" y="54372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Oval 1028"/>
          <p:cNvSpPr/>
          <p:nvPr/>
        </p:nvSpPr>
        <p:spPr>
          <a:xfrm>
            <a:off x="6696606" y="5920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Oval 1029"/>
          <p:cNvSpPr/>
          <p:nvPr/>
        </p:nvSpPr>
        <p:spPr>
          <a:xfrm>
            <a:off x="6596359" y="58505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Oval 1030"/>
          <p:cNvSpPr/>
          <p:nvPr/>
        </p:nvSpPr>
        <p:spPr>
          <a:xfrm>
            <a:off x="6694085" y="59110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Oval 1031"/>
          <p:cNvSpPr/>
          <p:nvPr/>
        </p:nvSpPr>
        <p:spPr>
          <a:xfrm>
            <a:off x="7317002" y="51725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Oval 1032"/>
          <p:cNvSpPr/>
          <p:nvPr/>
        </p:nvSpPr>
        <p:spPr>
          <a:xfrm>
            <a:off x="6925899" y="52095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Oval 1033"/>
          <p:cNvSpPr/>
          <p:nvPr/>
        </p:nvSpPr>
        <p:spPr>
          <a:xfrm>
            <a:off x="7209707" y="56177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Oval 1034"/>
          <p:cNvSpPr/>
          <p:nvPr/>
        </p:nvSpPr>
        <p:spPr>
          <a:xfrm>
            <a:off x="6524895" y="57410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Oval 1035"/>
          <p:cNvSpPr/>
          <p:nvPr/>
        </p:nvSpPr>
        <p:spPr>
          <a:xfrm>
            <a:off x="6651484" y="59580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Oval 1036"/>
          <p:cNvSpPr/>
          <p:nvPr/>
        </p:nvSpPr>
        <p:spPr>
          <a:xfrm>
            <a:off x="6687142" y="59420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Oval 1037"/>
          <p:cNvSpPr/>
          <p:nvPr/>
        </p:nvSpPr>
        <p:spPr>
          <a:xfrm>
            <a:off x="6536959" y="59287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Oval 1038"/>
          <p:cNvSpPr/>
          <p:nvPr/>
        </p:nvSpPr>
        <p:spPr>
          <a:xfrm>
            <a:off x="6287258" y="49586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Oval 1039"/>
          <p:cNvSpPr/>
          <p:nvPr/>
        </p:nvSpPr>
        <p:spPr>
          <a:xfrm>
            <a:off x="6670211" y="59591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Oval 1040"/>
          <p:cNvSpPr/>
          <p:nvPr/>
        </p:nvSpPr>
        <p:spPr>
          <a:xfrm>
            <a:off x="5855609" y="57187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Oval 1041"/>
          <p:cNvSpPr/>
          <p:nvPr/>
        </p:nvSpPr>
        <p:spPr>
          <a:xfrm>
            <a:off x="6832672" y="58458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Oval 1042"/>
          <p:cNvSpPr/>
          <p:nvPr/>
        </p:nvSpPr>
        <p:spPr>
          <a:xfrm>
            <a:off x="6143710" y="55605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Oval 1043"/>
          <p:cNvSpPr/>
          <p:nvPr/>
        </p:nvSpPr>
        <p:spPr>
          <a:xfrm>
            <a:off x="6751371" y="56885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Oval 1044"/>
          <p:cNvSpPr/>
          <p:nvPr/>
        </p:nvSpPr>
        <p:spPr>
          <a:xfrm>
            <a:off x="6404479" y="57768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Oval 1045"/>
          <p:cNvSpPr/>
          <p:nvPr/>
        </p:nvSpPr>
        <p:spPr>
          <a:xfrm>
            <a:off x="6611890" y="59184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Oval 1046"/>
          <p:cNvSpPr/>
          <p:nvPr/>
        </p:nvSpPr>
        <p:spPr>
          <a:xfrm>
            <a:off x="6689208" y="59465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Oval 1047"/>
          <p:cNvSpPr/>
          <p:nvPr/>
        </p:nvSpPr>
        <p:spPr>
          <a:xfrm>
            <a:off x="6811842" y="58729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Oval 1048"/>
          <p:cNvSpPr/>
          <p:nvPr/>
        </p:nvSpPr>
        <p:spPr>
          <a:xfrm>
            <a:off x="6584234" y="58258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Oval 1049"/>
          <p:cNvSpPr/>
          <p:nvPr/>
        </p:nvSpPr>
        <p:spPr>
          <a:xfrm>
            <a:off x="6818964" y="56245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Oval 1050"/>
          <p:cNvSpPr/>
          <p:nvPr/>
        </p:nvSpPr>
        <p:spPr>
          <a:xfrm>
            <a:off x="6511956" y="59113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Oval 1051"/>
          <p:cNvSpPr/>
          <p:nvPr/>
        </p:nvSpPr>
        <p:spPr>
          <a:xfrm>
            <a:off x="6880621" y="58693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xfrm>
            <a:off x="6369247" y="57288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xfrm>
            <a:off x="6630676" y="59389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Oval 1054"/>
          <p:cNvSpPr/>
          <p:nvPr/>
        </p:nvSpPr>
        <p:spPr>
          <a:xfrm>
            <a:off x="6196852" y="56548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Oval 1055"/>
          <p:cNvSpPr/>
          <p:nvPr/>
        </p:nvSpPr>
        <p:spPr>
          <a:xfrm>
            <a:off x="6493785" y="58718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Oval 1056"/>
          <p:cNvSpPr/>
          <p:nvPr/>
        </p:nvSpPr>
        <p:spPr>
          <a:xfrm>
            <a:off x="6195228" y="56271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Oval 1057"/>
          <p:cNvSpPr/>
          <p:nvPr/>
        </p:nvSpPr>
        <p:spPr>
          <a:xfrm>
            <a:off x="5673305" y="50105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Oval 1058"/>
          <p:cNvSpPr/>
          <p:nvPr/>
        </p:nvSpPr>
        <p:spPr>
          <a:xfrm>
            <a:off x="7052951" y="57486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Oval 1059"/>
          <p:cNvSpPr/>
          <p:nvPr/>
        </p:nvSpPr>
        <p:spPr>
          <a:xfrm>
            <a:off x="6599671" y="59027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Oval 1060"/>
          <p:cNvSpPr/>
          <p:nvPr/>
        </p:nvSpPr>
        <p:spPr>
          <a:xfrm>
            <a:off x="6835698" y="57558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Oval 1061"/>
          <p:cNvSpPr/>
          <p:nvPr/>
        </p:nvSpPr>
        <p:spPr>
          <a:xfrm>
            <a:off x="7117339" y="58645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Oval 1062"/>
          <p:cNvSpPr/>
          <p:nvPr/>
        </p:nvSpPr>
        <p:spPr>
          <a:xfrm>
            <a:off x="6552749" y="59452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Oval 1063"/>
          <p:cNvSpPr/>
          <p:nvPr/>
        </p:nvSpPr>
        <p:spPr>
          <a:xfrm>
            <a:off x="6712761" y="58546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Oval 1064"/>
          <p:cNvSpPr/>
          <p:nvPr/>
        </p:nvSpPr>
        <p:spPr>
          <a:xfrm>
            <a:off x="6502701" y="58440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Oval 1065"/>
          <p:cNvSpPr/>
          <p:nvPr/>
        </p:nvSpPr>
        <p:spPr>
          <a:xfrm>
            <a:off x="6684447" y="59517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Oval 1066"/>
          <p:cNvSpPr/>
          <p:nvPr/>
        </p:nvSpPr>
        <p:spPr>
          <a:xfrm>
            <a:off x="7831121" y="57074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Oval 1067"/>
          <p:cNvSpPr/>
          <p:nvPr/>
        </p:nvSpPr>
        <p:spPr>
          <a:xfrm>
            <a:off x="6571504" y="58713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Oval 1068"/>
          <p:cNvSpPr/>
          <p:nvPr/>
        </p:nvSpPr>
        <p:spPr>
          <a:xfrm>
            <a:off x="6487725" y="56451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Oval 1069"/>
          <p:cNvSpPr/>
          <p:nvPr/>
        </p:nvSpPr>
        <p:spPr>
          <a:xfrm>
            <a:off x="7149573" y="52566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Oval 1070"/>
          <p:cNvSpPr/>
          <p:nvPr/>
        </p:nvSpPr>
        <p:spPr>
          <a:xfrm>
            <a:off x="6561680" y="58306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Oval 1071"/>
          <p:cNvSpPr/>
          <p:nvPr/>
        </p:nvSpPr>
        <p:spPr>
          <a:xfrm>
            <a:off x="6590487" y="5897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Oval 1072"/>
          <p:cNvSpPr/>
          <p:nvPr/>
        </p:nvSpPr>
        <p:spPr>
          <a:xfrm>
            <a:off x="7068700" y="52537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Oval 1073"/>
          <p:cNvSpPr/>
          <p:nvPr/>
        </p:nvSpPr>
        <p:spPr>
          <a:xfrm>
            <a:off x="6712099" y="59377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Oval 1074"/>
          <p:cNvSpPr/>
          <p:nvPr/>
        </p:nvSpPr>
        <p:spPr>
          <a:xfrm>
            <a:off x="6719963" y="59222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Oval 1075"/>
          <p:cNvSpPr/>
          <p:nvPr/>
        </p:nvSpPr>
        <p:spPr>
          <a:xfrm>
            <a:off x="6559748" y="57256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Oval 1076"/>
          <p:cNvSpPr/>
          <p:nvPr/>
        </p:nvSpPr>
        <p:spPr>
          <a:xfrm>
            <a:off x="6907320" y="58500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Oval 1077"/>
          <p:cNvSpPr/>
          <p:nvPr/>
        </p:nvSpPr>
        <p:spPr>
          <a:xfrm>
            <a:off x="6470577" y="57847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Oval 1078"/>
          <p:cNvSpPr/>
          <p:nvPr/>
        </p:nvSpPr>
        <p:spPr>
          <a:xfrm>
            <a:off x="6644811" y="59478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Oval 1079"/>
          <p:cNvSpPr/>
          <p:nvPr/>
        </p:nvSpPr>
        <p:spPr>
          <a:xfrm>
            <a:off x="6058236" y="55786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Oval 1080"/>
          <p:cNvSpPr/>
          <p:nvPr/>
        </p:nvSpPr>
        <p:spPr>
          <a:xfrm>
            <a:off x="6322602" y="58685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Oval 1081"/>
          <p:cNvSpPr/>
          <p:nvPr/>
        </p:nvSpPr>
        <p:spPr>
          <a:xfrm>
            <a:off x="6778577" y="58665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Oval 1082"/>
          <p:cNvSpPr/>
          <p:nvPr/>
        </p:nvSpPr>
        <p:spPr>
          <a:xfrm>
            <a:off x="6865229" y="59373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Oval 1083"/>
          <p:cNvSpPr/>
          <p:nvPr/>
        </p:nvSpPr>
        <p:spPr>
          <a:xfrm>
            <a:off x="9128200" y="52481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Oval 1084"/>
          <p:cNvSpPr/>
          <p:nvPr/>
        </p:nvSpPr>
        <p:spPr>
          <a:xfrm>
            <a:off x="6707244" y="59320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Oval 1085"/>
          <p:cNvSpPr/>
          <p:nvPr/>
        </p:nvSpPr>
        <p:spPr>
          <a:xfrm>
            <a:off x="6157289" y="56277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Oval 1086"/>
          <p:cNvSpPr/>
          <p:nvPr/>
        </p:nvSpPr>
        <p:spPr>
          <a:xfrm>
            <a:off x="6400221" y="58444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Oval 1087"/>
          <p:cNvSpPr/>
          <p:nvPr/>
        </p:nvSpPr>
        <p:spPr>
          <a:xfrm>
            <a:off x="6917073" y="58270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Oval 1088"/>
          <p:cNvSpPr/>
          <p:nvPr/>
        </p:nvSpPr>
        <p:spPr>
          <a:xfrm>
            <a:off x="7009923" y="58105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Oval 1089"/>
          <p:cNvSpPr/>
          <p:nvPr/>
        </p:nvSpPr>
        <p:spPr>
          <a:xfrm>
            <a:off x="6639785" y="59386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Oval 1090"/>
          <p:cNvSpPr/>
          <p:nvPr/>
        </p:nvSpPr>
        <p:spPr>
          <a:xfrm>
            <a:off x="6761493" y="57831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Oval 1091"/>
          <p:cNvSpPr/>
          <p:nvPr/>
        </p:nvSpPr>
        <p:spPr>
          <a:xfrm>
            <a:off x="6857993" y="5565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Oval 1092"/>
          <p:cNvSpPr/>
          <p:nvPr/>
        </p:nvSpPr>
        <p:spPr>
          <a:xfrm>
            <a:off x="6712468" y="58956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Oval 1093"/>
          <p:cNvSpPr/>
          <p:nvPr/>
        </p:nvSpPr>
        <p:spPr>
          <a:xfrm>
            <a:off x="6732616" y="59203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Oval 1094"/>
          <p:cNvSpPr/>
          <p:nvPr/>
        </p:nvSpPr>
        <p:spPr>
          <a:xfrm>
            <a:off x="6487699" y="57045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Oval 1095"/>
          <p:cNvSpPr/>
          <p:nvPr/>
        </p:nvSpPr>
        <p:spPr>
          <a:xfrm>
            <a:off x="6441553" y="53297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Oval 1096"/>
          <p:cNvSpPr/>
          <p:nvPr/>
        </p:nvSpPr>
        <p:spPr>
          <a:xfrm>
            <a:off x="6964274" y="51849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Oval 1097"/>
          <p:cNvSpPr/>
          <p:nvPr/>
        </p:nvSpPr>
        <p:spPr>
          <a:xfrm>
            <a:off x="7014388" y="58739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Oval 1098"/>
          <p:cNvSpPr/>
          <p:nvPr/>
        </p:nvSpPr>
        <p:spPr>
          <a:xfrm>
            <a:off x="6932868" y="58956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Oval 1099"/>
          <p:cNvSpPr/>
          <p:nvPr/>
        </p:nvSpPr>
        <p:spPr>
          <a:xfrm>
            <a:off x="7280782" y="52939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Oval 1100"/>
          <p:cNvSpPr/>
          <p:nvPr/>
        </p:nvSpPr>
        <p:spPr>
          <a:xfrm>
            <a:off x="6093832" y="55604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Oval 1101"/>
          <p:cNvSpPr/>
          <p:nvPr/>
        </p:nvSpPr>
        <p:spPr>
          <a:xfrm>
            <a:off x="6033665" y="55147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Oval 1102"/>
          <p:cNvSpPr/>
          <p:nvPr/>
        </p:nvSpPr>
        <p:spPr>
          <a:xfrm>
            <a:off x="5942029" y="53914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Oval 1103"/>
          <p:cNvSpPr/>
          <p:nvPr/>
        </p:nvSpPr>
        <p:spPr>
          <a:xfrm>
            <a:off x="6664320" y="59702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Oval 1104"/>
          <p:cNvSpPr/>
          <p:nvPr/>
        </p:nvSpPr>
        <p:spPr>
          <a:xfrm>
            <a:off x="6390126" y="58286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Oval 1105"/>
          <p:cNvSpPr/>
          <p:nvPr/>
        </p:nvSpPr>
        <p:spPr>
          <a:xfrm>
            <a:off x="6330365" y="57520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Oval 1106"/>
          <p:cNvSpPr/>
          <p:nvPr/>
        </p:nvSpPr>
        <p:spPr>
          <a:xfrm>
            <a:off x="6603603" y="58391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Oval 1107"/>
          <p:cNvSpPr/>
          <p:nvPr/>
        </p:nvSpPr>
        <p:spPr>
          <a:xfrm>
            <a:off x="6628548" y="59453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Oval 1108"/>
          <p:cNvSpPr/>
          <p:nvPr/>
        </p:nvSpPr>
        <p:spPr>
          <a:xfrm>
            <a:off x="6847924" y="56680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Oval 1109"/>
          <p:cNvSpPr/>
          <p:nvPr/>
        </p:nvSpPr>
        <p:spPr>
          <a:xfrm>
            <a:off x="6669996" y="59577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Oval 1110"/>
          <p:cNvSpPr/>
          <p:nvPr/>
        </p:nvSpPr>
        <p:spPr>
          <a:xfrm>
            <a:off x="6981924" y="56883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Oval 1111"/>
          <p:cNvSpPr/>
          <p:nvPr/>
        </p:nvSpPr>
        <p:spPr>
          <a:xfrm>
            <a:off x="6752165" y="58077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Oval 1112"/>
          <p:cNvSpPr/>
          <p:nvPr/>
        </p:nvSpPr>
        <p:spPr>
          <a:xfrm>
            <a:off x="6989502" y="52500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Oval 1113"/>
          <p:cNvSpPr/>
          <p:nvPr/>
        </p:nvSpPr>
        <p:spPr>
          <a:xfrm>
            <a:off x="6816939" y="56544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Oval 1114"/>
          <p:cNvSpPr/>
          <p:nvPr/>
        </p:nvSpPr>
        <p:spPr>
          <a:xfrm>
            <a:off x="6546667" y="58738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Oval 1115"/>
          <p:cNvSpPr/>
          <p:nvPr/>
        </p:nvSpPr>
        <p:spPr>
          <a:xfrm>
            <a:off x="6764341" y="57469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Oval 1116"/>
          <p:cNvSpPr/>
          <p:nvPr/>
        </p:nvSpPr>
        <p:spPr>
          <a:xfrm>
            <a:off x="6742486" y="58956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Oval 1117"/>
          <p:cNvSpPr/>
          <p:nvPr/>
        </p:nvSpPr>
        <p:spPr>
          <a:xfrm>
            <a:off x="6751903" y="57310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Oval 1118"/>
          <p:cNvSpPr/>
          <p:nvPr/>
        </p:nvSpPr>
        <p:spPr>
          <a:xfrm>
            <a:off x="6700346" y="59189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Oval 1119"/>
          <p:cNvSpPr/>
          <p:nvPr/>
        </p:nvSpPr>
        <p:spPr>
          <a:xfrm>
            <a:off x="6425900" y="58090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Oval 1120"/>
          <p:cNvSpPr/>
          <p:nvPr/>
        </p:nvSpPr>
        <p:spPr>
          <a:xfrm>
            <a:off x="6642647" y="59538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Oval 1121"/>
          <p:cNvSpPr/>
          <p:nvPr/>
        </p:nvSpPr>
        <p:spPr>
          <a:xfrm>
            <a:off x="6559122" y="58783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Oval 1122"/>
          <p:cNvSpPr/>
          <p:nvPr/>
        </p:nvSpPr>
        <p:spPr>
          <a:xfrm>
            <a:off x="7754451" y="57483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Oval 1123"/>
          <p:cNvSpPr/>
          <p:nvPr/>
        </p:nvSpPr>
        <p:spPr>
          <a:xfrm>
            <a:off x="6083867" y="56933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Oval 1124"/>
          <p:cNvSpPr/>
          <p:nvPr/>
        </p:nvSpPr>
        <p:spPr>
          <a:xfrm>
            <a:off x="6439388" y="56567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Oval 1125"/>
          <p:cNvSpPr/>
          <p:nvPr/>
        </p:nvSpPr>
        <p:spPr>
          <a:xfrm>
            <a:off x="6740979" y="5823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Oval 1126"/>
          <p:cNvSpPr/>
          <p:nvPr/>
        </p:nvSpPr>
        <p:spPr>
          <a:xfrm>
            <a:off x="6783443" y="57099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Oval 1127"/>
          <p:cNvSpPr/>
          <p:nvPr/>
        </p:nvSpPr>
        <p:spPr>
          <a:xfrm>
            <a:off x="6341420" y="57955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Oval 1128"/>
          <p:cNvSpPr/>
          <p:nvPr/>
        </p:nvSpPr>
        <p:spPr>
          <a:xfrm>
            <a:off x="6023599" y="56786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Oval 1129"/>
          <p:cNvSpPr/>
          <p:nvPr/>
        </p:nvSpPr>
        <p:spPr>
          <a:xfrm>
            <a:off x="6641975" y="59659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Oval 1130"/>
          <p:cNvSpPr/>
          <p:nvPr/>
        </p:nvSpPr>
        <p:spPr>
          <a:xfrm>
            <a:off x="6427422" y="58151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Oval 1131"/>
          <p:cNvSpPr/>
          <p:nvPr/>
        </p:nvSpPr>
        <p:spPr>
          <a:xfrm>
            <a:off x="6932735" y="53671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Oval 1132"/>
          <p:cNvSpPr/>
          <p:nvPr/>
        </p:nvSpPr>
        <p:spPr>
          <a:xfrm>
            <a:off x="7078724" y="58764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Oval 1133"/>
          <p:cNvSpPr/>
          <p:nvPr/>
        </p:nvSpPr>
        <p:spPr>
          <a:xfrm>
            <a:off x="6483820" y="59217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Oval 1134"/>
          <p:cNvSpPr/>
          <p:nvPr/>
        </p:nvSpPr>
        <p:spPr>
          <a:xfrm>
            <a:off x="6197581" y="55221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Oval 1135"/>
          <p:cNvSpPr/>
          <p:nvPr/>
        </p:nvSpPr>
        <p:spPr>
          <a:xfrm>
            <a:off x="7054720" y="50125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Oval 1136"/>
          <p:cNvSpPr/>
          <p:nvPr/>
        </p:nvSpPr>
        <p:spPr>
          <a:xfrm>
            <a:off x="6456524" y="54127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Oval 1137"/>
          <p:cNvSpPr/>
          <p:nvPr/>
        </p:nvSpPr>
        <p:spPr>
          <a:xfrm>
            <a:off x="6569207" y="58504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Oval 1138"/>
          <p:cNvSpPr/>
          <p:nvPr/>
        </p:nvSpPr>
        <p:spPr>
          <a:xfrm>
            <a:off x="6737156" y="58461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Oval 1139"/>
          <p:cNvSpPr/>
          <p:nvPr/>
        </p:nvSpPr>
        <p:spPr>
          <a:xfrm>
            <a:off x="6761447" y="58805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Oval 1140"/>
          <p:cNvSpPr/>
          <p:nvPr/>
        </p:nvSpPr>
        <p:spPr>
          <a:xfrm>
            <a:off x="6679687" y="59595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Oval 1141"/>
          <p:cNvSpPr/>
          <p:nvPr/>
        </p:nvSpPr>
        <p:spPr>
          <a:xfrm>
            <a:off x="6937310" y="59150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Oval 1142"/>
          <p:cNvSpPr/>
          <p:nvPr/>
        </p:nvSpPr>
        <p:spPr>
          <a:xfrm>
            <a:off x="6594556" y="57777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Oval 1143"/>
          <p:cNvSpPr/>
          <p:nvPr/>
        </p:nvSpPr>
        <p:spPr>
          <a:xfrm>
            <a:off x="6729586" y="58824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Oval 1144"/>
          <p:cNvSpPr/>
          <p:nvPr/>
        </p:nvSpPr>
        <p:spPr>
          <a:xfrm>
            <a:off x="6282936" y="48267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Oval 1145"/>
          <p:cNvSpPr/>
          <p:nvPr/>
        </p:nvSpPr>
        <p:spPr>
          <a:xfrm>
            <a:off x="7987007" y="55337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Oval 1146"/>
          <p:cNvSpPr/>
          <p:nvPr/>
        </p:nvSpPr>
        <p:spPr>
          <a:xfrm>
            <a:off x="7152230" y="53705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Oval 1147"/>
          <p:cNvSpPr/>
          <p:nvPr/>
        </p:nvSpPr>
        <p:spPr>
          <a:xfrm>
            <a:off x="6872413" y="54198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Oval 1148"/>
          <p:cNvSpPr/>
          <p:nvPr/>
        </p:nvSpPr>
        <p:spPr>
          <a:xfrm>
            <a:off x="6582034" y="58479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Oval 1149"/>
          <p:cNvSpPr/>
          <p:nvPr/>
        </p:nvSpPr>
        <p:spPr>
          <a:xfrm>
            <a:off x="6098610" y="53866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Oval 1150"/>
          <p:cNvSpPr/>
          <p:nvPr/>
        </p:nvSpPr>
        <p:spPr>
          <a:xfrm>
            <a:off x="6114044" y="57874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Oval 1151"/>
          <p:cNvSpPr/>
          <p:nvPr/>
        </p:nvSpPr>
        <p:spPr>
          <a:xfrm>
            <a:off x="6723542" y="59469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Oval 1152"/>
          <p:cNvSpPr/>
          <p:nvPr/>
        </p:nvSpPr>
        <p:spPr>
          <a:xfrm>
            <a:off x="6552552" y="57471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Oval 1153"/>
          <p:cNvSpPr/>
          <p:nvPr/>
        </p:nvSpPr>
        <p:spPr>
          <a:xfrm>
            <a:off x="6662276" y="59734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Oval 1154"/>
          <p:cNvSpPr/>
          <p:nvPr/>
        </p:nvSpPr>
        <p:spPr>
          <a:xfrm>
            <a:off x="6974539" y="48957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Oval 1155"/>
          <p:cNvSpPr/>
          <p:nvPr/>
        </p:nvSpPr>
        <p:spPr>
          <a:xfrm>
            <a:off x="6702816" y="59619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Oval 1156"/>
          <p:cNvSpPr/>
          <p:nvPr/>
        </p:nvSpPr>
        <p:spPr>
          <a:xfrm>
            <a:off x="6745500" y="58563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Oval 1157"/>
          <p:cNvSpPr/>
          <p:nvPr/>
        </p:nvSpPr>
        <p:spPr>
          <a:xfrm>
            <a:off x="6365843" y="54257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Oval 1158"/>
          <p:cNvSpPr/>
          <p:nvPr/>
        </p:nvSpPr>
        <p:spPr>
          <a:xfrm>
            <a:off x="7191946" y="57346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Oval 1159"/>
          <p:cNvSpPr/>
          <p:nvPr/>
        </p:nvSpPr>
        <p:spPr>
          <a:xfrm>
            <a:off x="6818093" y="55071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Oval 1160"/>
          <p:cNvSpPr/>
          <p:nvPr/>
        </p:nvSpPr>
        <p:spPr>
          <a:xfrm>
            <a:off x="6642040" y="59629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Oval 1161"/>
          <p:cNvSpPr/>
          <p:nvPr/>
        </p:nvSpPr>
        <p:spPr>
          <a:xfrm>
            <a:off x="6811468" y="59055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Oval 1162"/>
          <p:cNvSpPr/>
          <p:nvPr/>
        </p:nvSpPr>
        <p:spPr>
          <a:xfrm>
            <a:off x="6898458" y="56109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Oval 1163"/>
          <p:cNvSpPr/>
          <p:nvPr/>
        </p:nvSpPr>
        <p:spPr>
          <a:xfrm>
            <a:off x="6487676" y="5818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Oval 1164"/>
          <p:cNvSpPr/>
          <p:nvPr/>
        </p:nvSpPr>
        <p:spPr>
          <a:xfrm>
            <a:off x="6640937" y="59434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Oval 1165"/>
          <p:cNvSpPr/>
          <p:nvPr/>
        </p:nvSpPr>
        <p:spPr>
          <a:xfrm>
            <a:off x="6645854" y="59591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Oval 1166"/>
          <p:cNvSpPr/>
          <p:nvPr/>
        </p:nvSpPr>
        <p:spPr>
          <a:xfrm>
            <a:off x="6924976" y="56085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Oval 1167"/>
          <p:cNvSpPr/>
          <p:nvPr/>
        </p:nvSpPr>
        <p:spPr>
          <a:xfrm>
            <a:off x="6802747" y="57289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Oval 1168"/>
          <p:cNvSpPr/>
          <p:nvPr/>
        </p:nvSpPr>
        <p:spPr>
          <a:xfrm>
            <a:off x="6778435" y="56767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Oval 1169"/>
          <p:cNvSpPr/>
          <p:nvPr/>
        </p:nvSpPr>
        <p:spPr>
          <a:xfrm>
            <a:off x="6820002" y="55568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Oval 1170"/>
          <p:cNvSpPr/>
          <p:nvPr/>
        </p:nvSpPr>
        <p:spPr>
          <a:xfrm>
            <a:off x="6459843" y="56350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Oval 1171"/>
          <p:cNvSpPr/>
          <p:nvPr/>
        </p:nvSpPr>
        <p:spPr>
          <a:xfrm>
            <a:off x="7049267" y="54774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Oval 1172"/>
          <p:cNvSpPr/>
          <p:nvPr/>
        </p:nvSpPr>
        <p:spPr>
          <a:xfrm>
            <a:off x="6494491" y="55835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Oval 1173"/>
          <p:cNvSpPr/>
          <p:nvPr/>
        </p:nvSpPr>
        <p:spPr>
          <a:xfrm>
            <a:off x="6475408" y="56338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Oval 1174"/>
          <p:cNvSpPr/>
          <p:nvPr/>
        </p:nvSpPr>
        <p:spPr>
          <a:xfrm>
            <a:off x="6615325" y="59238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Oval 1175"/>
          <p:cNvSpPr/>
          <p:nvPr/>
        </p:nvSpPr>
        <p:spPr>
          <a:xfrm>
            <a:off x="6844535" y="53104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Oval 1176"/>
          <p:cNvSpPr/>
          <p:nvPr/>
        </p:nvSpPr>
        <p:spPr>
          <a:xfrm>
            <a:off x="6722721" y="59206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Oval 1177"/>
          <p:cNvSpPr/>
          <p:nvPr/>
        </p:nvSpPr>
        <p:spPr>
          <a:xfrm>
            <a:off x="6545237" y="59101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Oval 1178"/>
          <p:cNvSpPr/>
          <p:nvPr/>
        </p:nvSpPr>
        <p:spPr>
          <a:xfrm>
            <a:off x="6467234" y="5687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Oval 1179"/>
          <p:cNvSpPr/>
          <p:nvPr/>
        </p:nvSpPr>
        <p:spPr>
          <a:xfrm>
            <a:off x="6404934" y="54134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Oval 1180"/>
          <p:cNvSpPr/>
          <p:nvPr/>
        </p:nvSpPr>
        <p:spPr>
          <a:xfrm>
            <a:off x="6972442" y="56894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Oval 1181"/>
          <p:cNvSpPr/>
          <p:nvPr/>
        </p:nvSpPr>
        <p:spPr>
          <a:xfrm>
            <a:off x="6826595" y="54568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Oval 1182"/>
          <p:cNvSpPr/>
          <p:nvPr/>
        </p:nvSpPr>
        <p:spPr>
          <a:xfrm>
            <a:off x="6466955" y="58477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Oval 1183"/>
          <p:cNvSpPr/>
          <p:nvPr/>
        </p:nvSpPr>
        <p:spPr>
          <a:xfrm>
            <a:off x="7370024" y="53913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Oval 1184"/>
          <p:cNvSpPr/>
          <p:nvPr/>
        </p:nvSpPr>
        <p:spPr>
          <a:xfrm>
            <a:off x="6995431" y="57587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Oval 1185"/>
          <p:cNvSpPr/>
          <p:nvPr/>
        </p:nvSpPr>
        <p:spPr>
          <a:xfrm>
            <a:off x="6944106" y="57486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Oval 1186"/>
          <p:cNvSpPr/>
          <p:nvPr/>
        </p:nvSpPr>
        <p:spPr>
          <a:xfrm>
            <a:off x="6477131" y="55933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Oval 1187"/>
          <p:cNvSpPr/>
          <p:nvPr/>
        </p:nvSpPr>
        <p:spPr>
          <a:xfrm>
            <a:off x="7034769" y="58828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Oval 1188"/>
          <p:cNvSpPr/>
          <p:nvPr/>
        </p:nvSpPr>
        <p:spPr>
          <a:xfrm>
            <a:off x="6108985" y="58074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Oval 1189"/>
          <p:cNvSpPr/>
          <p:nvPr/>
        </p:nvSpPr>
        <p:spPr>
          <a:xfrm>
            <a:off x="5855463" y="52221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Oval 1190"/>
          <p:cNvSpPr/>
          <p:nvPr/>
        </p:nvSpPr>
        <p:spPr>
          <a:xfrm>
            <a:off x="5834205" y="51185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Oval 1191"/>
          <p:cNvSpPr/>
          <p:nvPr/>
        </p:nvSpPr>
        <p:spPr>
          <a:xfrm>
            <a:off x="6637728" y="5928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Oval 1192"/>
          <p:cNvSpPr/>
          <p:nvPr/>
        </p:nvSpPr>
        <p:spPr>
          <a:xfrm>
            <a:off x="6574366" y="59345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Oval 1193"/>
          <p:cNvSpPr/>
          <p:nvPr/>
        </p:nvSpPr>
        <p:spPr>
          <a:xfrm>
            <a:off x="6690508" y="59401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Oval 1194"/>
          <p:cNvSpPr/>
          <p:nvPr/>
        </p:nvSpPr>
        <p:spPr>
          <a:xfrm>
            <a:off x="6269927" y="58249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Oval 1195"/>
          <p:cNvSpPr/>
          <p:nvPr/>
        </p:nvSpPr>
        <p:spPr>
          <a:xfrm>
            <a:off x="6729114" y="59143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Oval 1196"/>
          <p:cNvSpPr/>
          <p:nvPr/>
        </p:nvSpPr>
        <p:spPr>
          <a:xfrm>
            <a:off x="6554693" y="58807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Oval 1197"/>
          <p:cNvSpPr/>
          <p:nvPr/>
        </p:nvSpPr>
        <p:spPr>
          <a:xfrm>
            <a:off x="6878426" y="53631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Oval 1198"/>
          <p:cNvSpPr/>
          <p:nvPr/>
        </p:nvSpPr>
        <p:spPr>
          <a:xfrm>
            <a:off x="5081251" y="56215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Oval 1199"/>
          <p:cNvSpPr/>
          <p:nvPr/>
        </p:nvSpPr>
        <p:spPr>
          <a:xfrm>
            <a:off x="6654513" y="59658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Oval 1200"/>
          <p:cNvSpPr/>
          <p:nvPr/>
        </p:nvSpPr>
        <p:spPr>
          <a:xfrm>
            <a:off x="6615256" y="59004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Oval 1201"/>
          <p:cNvSpPr/>
          <p:nvPr/>
        </p:nvSpPr>
        <p:spPr>
          <a:xfrm>
            <a:off x="6626553" y="59423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Oval 1202"/>
          <p:cNvSpPr/>
          <p:nvPr/>
        </p:nvSpPr>
        <p:spPr>
          <a:xfrm>
            <a:off x="6617265" y="58882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Oval 1203"/>
          <p:cNvSpPr/>
          <p:nvPr/>
        </p:nvSpPr>
        <p:spPr>
          <a:xfrm>
            <a:off x="4936035" y="52748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Oval 1204"/>
          <p:cNvSpPr/>
          <p:nvPr/>
        </p:nvSpPr>
        <p:spPr>
          <a:xfrm>
            <a:off x="6776764" y="59291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Oval 1205"/>
          <p:cNvSpPr/>
          <p:nvPr/>
        </p:nvSpPr>
        <p:spPr>
          <a:xfrm>
            <a:off x="6414684" y="57090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Oval 1206"/>
          <p:cNvSpPr/>
          <p:nvPr/>
        </p:nvSpPr>
        <p:spPr>
          <a:xfrm>
            <a:off x="5996282" y="49300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Oval 1207"/>
          <p:cNvSpPr/>
          <p:nvPr/>
        </p:nvSpPr>
        <p:spPr>
          <a:xfrm>
            <a:off x="7139224" y="58647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Oval 1208"/>
          <p:cNvSpPr/>
          <p:nvPr/>
        </p:nvSpPr>
        <p:spPr>
          <a:xfrm>
            <a:off x="6166100" y="54573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Oval 1209"/>
          <p:cNvSpPr/>
          <p:nvPr/>
        </p:nvSpPr>
        <p:spPr>
          <a:xfrm>
            <a:off x="6592316" y="59335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Oval 1210"/>
          <p:cNvSpPr/>
          <p:nvPr/>
        </p:nvSpPr>
        <p:spPr>
          <a:xfrm>
            <a:off x="6569949" y="57072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Oval 1211"/>
          <p:cNvSpPr/>
          <p:nvPr/>
        </p:nvSpPr>
        <p:spPr>
          <a:xfrm>
            <a:off x="6827527" y="58814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Oval 1212"/>
          <p:cNvSpPr/>
          <p:nvPr/>
        </p:nvSpPr>
        <p:spPr>
          <a:xfrm>
            <a:off x="6405102" y="56606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Oval 1213"/>
          <p:cNvSpPr/>
          <p:nvPr/>
        </p:nvSpPr>
        <p:spPr>
          <a:xfrm>
            <a:off x="6948206" y="55726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Oval 1214"/>
          <p:cNvSpPr/>
          <p:nvPr/>
        </p:nvSpPr>
        <p:spPr>
          <a:xfrm>
            <a:off x="6960545" y="57892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Oval 1215"/>
          <p:cNvSpPr/>
          <p:nvPr/>
        </p:nvSpPr>
        <p:spPr>
          <a:xfrm>
            <a:off x="6667325" y="59679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Oval 1216"/>
          <p:cNvSpPr/>
          <p:nvPr/>
        </p:nvSpPr>
        <p:spPr>
          <a:xfrm>
            <a:off x="6484851" y="58632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Oval 1217"/>
          <p:cNvSpPr/>
          <p:nvPr/>
        </p:nvSpPr>
        <p:spPr>
          <a:xfrm>
            <a:off x="6537262" y="58835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Oval 1218"/>
          <p:cNvSpPr/>
          <p:nvPr/>
        </p:nvSpPr>
        <p:spPr>
          <a:xfrm>
            <a:off x="6409581" y="58227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Oval 1219"/>
          <p:cNvSpPr/>
          <p:nvPr/>
        </p:nvSpPr>
        <p:spPr>
          <a:xfrm>
            <a:off x="6523885" y="55836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Oval 1220"/>
          <p:cNvSpPr/>
          <p:nvPr/>
        </p:nvSpPr>
        <p:spPr>
          <a:xfrm>
            <a:off x="6956986" y="56597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Oval 1221"/>
          <p:cNvSpPr/>
          <p:nvPr/>
        </p:nvSpPr>
        <p:spPr>
          <a:xfrm>
            <a:off x="6656795" y="59673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Oval 1222"/>
          <p:cNvSpPr/>
          <p:nvPr/>
        </p:nvSpPr>
        <p:spPr>
          <a:xfrm>
            <a:off x="6735586" y="58408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Oval 1223"/>
          <p:cNvSpPr/>
          <p:nvPr/>
        </p:nvSpPr>
        <p:spPr>
          <a:xfrm>
            <a:off x="6291770" y="57760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Oval 1224"/>
          <p:cNvSpPr/>
          <p:nvPr/>
        </p:nvSpPr>
        <p:spPr>
          <a:xfrm>
            <a:off x="6778083" y="59169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Oval 1225"/>
          <p:cNvSpPr/>
          <p:nvPr/>
        </p:nvSpPr>
        <p:spPr>
          <a:xfrm>
            <a:off x="7033929" y="56937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Oval 1226"/>
          <p:cNvSpPr/>
          <p:nvPr/>
        </p:nvSpPr>
        <p:spPr>
          <a:xfrm>
            <a:off x="6562033" y="58755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Oval 1227"/>
          <p:cNvSpPr/>
          <p:nvPr/>
        </p:nvSpPr>
        <p:spPr>
          <a:xfrm>
            <a:off x="6895713" y="52967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Oval 1228"/>
          <p:cNvSpPr/>
          <p:nvPr/>
        </p:nvSpPr>
        <p:spPr>
          <a:xfrm>
            <a:off x="6399042" y="58011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Oval 1229"/>
          <p:cNvSpPr/>
          <p:nvPr/>
        </p:nvSpPr>
        <p:spPr>
          <a:xfrm>
            <a:off x="7289725" y="51914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Oval 1230"/>
          <p:cNvSpPr/>
          <p:nvPr/>
        </p:nvSpPr>
        <p:spPr>
          <a:xfrm>
            <a:off x="6542439" y="5874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Oval 1231"/>
          <p:cNvSpPr/>
          <p:nvPr/>
        </p:nvSpPr>
        <p:spPr>
          <a:xfrm>
            <a:off x="6830615" y="56735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Oval 1232"/>
          <p:cNvSpPr/>
          <p:nvPr/>
        </p:nvSpPr>
        <p:spPr>
          <a:xfrm>
            <a:off x="6464047" y="57959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Oval 1233"/>
          <p:cNvSpPr/>
          <p:nvPr/>
        </p:nvSpPr>
        <p:spPr>
          <a:xfrm>
            <a:off x="6686877" y="58852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Oval 1234"/>
          <p:cNvSpPr/>
          <p:nvPr/>
        </p:nvSpPr>
        <p:spPr>
          <a:xfrm>
            <a:off x="7343131" y="54622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Oval 1235"/>
          <p:cNvSpPr/>
          <p:nvPr/>
        </p:nvSpPr>
        <p:spPr>
          <a:xfrm>
            <a:off x="5832812" y="58701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Oval 1236"/>
          <p:cNvSpPr/>
          <p:nvPr/>
        </p:nvSpPr>
        <p:spPr>
          <a:xfrm>
            <a:off x="6343626" y="57381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Oval 1237"/>
          <p:cNvSpPr/>
          <p:nvPr/>
        </p:nvSpPr>
        <p:spPr>
          <a:xfrm>
            <a:off x="6580971" y="58386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Oval 1238"/>
          <p:cNvSpPr/>
          <p:nvPr/>
        </p:nvSpPr>
        <p:spPr>
          <a:xfrm>
            <a:off x="6722321" y="58608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Oval 1239"/>
          <p:cNvSpPr/>
          <p:nvPr/>
        </p:nvSpPr>
        <p:spPr>
          <a:xfrm>
            <a:off x="6747833" y="59617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Oval 1240"/>
          <p:cNvSpPr/>
          <p:nvPr/>
        </p:nvSpPr>
        <p:spPr>
          <a:xfrm>
            <a:off x="6916684" y="55822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Oval 1241"/>
          <p:cNvSpPr/>
          <p:nvPr/>
        </p:nvSpPr>
        <p:spPr>
          <a:xfrm>
            <a:off x="5681980" y="51823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Oval 1242"/>
          <p:cNvSpPr/>
          <p:nvPr/>
        </p:nvSpPr>
        <p:spPr>
          <a:xfrm>
            <a:off x="6623733" y="59511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Oval 1243"/>
          <p:cNvSpPr/>
          <p:nvPr/>
        </p:nvSpPr>
        <p:spPr>
          <a:xfrm>
            <a:off x="6670727" y="59722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Oval 1244"/>
          <p:cNvSpPr/>
          <p:nvPr/>
        </p:nvSpPr>
        <p:spPr>
          <a:xfrm>
            <a:off x="6717216" y="58872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Oval 1245"/>
          <p:cNvSpPr/>
          <p:nvPr/>
        </p:nvSpPr>
        <p:spPr>
          <a:xfrm>
            <a:off x="5815371" y="53050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Oval 1246"/>
          <p:cNvSpPr/>
          <p:nvPr/>
        </p:nvSpPr>
        <p:spPr>
          <a:xfrm>
            <a:off x="6687974" y="59186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Oval 1247"/>
          <p:cNvSpPr/>
          <p:nvPr/>
        </p:nvSpPr>
        <p:spPr>
          <a:xfrm>
            <a:off x="6736831" y="59102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Oval 1248"/>
          <p:cNvSpPr/>
          <p:nvPr/>
        </p:nvSpPr>
        <p:spPr>
          <a:xfrm>
            <a:off x="4096758" y="304736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Oval 1249"/>
          <p:cNvSpPr/>
          <p:nvPr/>
        </p:nvSpPr>
        <p:spPr>
          <a:xfrm>
            <a:off x="7160796" y="322561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Oval 1250"/>
          <p:cNvSpPr/>
          <p:nvPr/>
        </p:nvSpPr>
        <p:spPr>
          <a:xfrm>
            <a:off x="5901037" y="334039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Oval 1251"/>
          <p:cNvSpPr/>
          <p:nvPr/>
        </p:nvSpPr>
        <p:spPr>
          <a:xfrm>
            <a:off x="7185374" y="344548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Oval 1252"/>
          <p:cNvSpPr/>
          <p:nvPr/>
        </p:nvSpPr>
        <p:spPr>
          <a:xfrm>
            <a:off x="3718615" y="346328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Oval 1253"/>
          <p:cNvSpPr/>
          <p:nvPr/>
        </p:nvSpPr>
        <p:spPr>
          <a:xfrm>
            <a:off x="7799923" y="350403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Oval 1254"/>
          <p:cNvSpPr/>
          <p:nvPr/>
        </p:nvSpPr>
        <p:spPr>
          <a:xfrm>
            <a:off x="5303025" y="354278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Oval 1255"/>
          <p:cNvSpPr/>
          <p:nvPr/>
        </p:nvSpPr>
        <p:spPr>
          <a:xfrm>
            <a:off x="7152499" y="355516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Oval 1256"/>
          <p:cNvSpPr/>
          <p:nvPr/>
        </p:nvSpPr>
        <p:spPr>
          <a:xfrm>
            <a:off x="6962076" y="370790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Oval 1257"/>
          <p:cNvSpPr/>
          <p:nvPr/>
        </p:nvSpPr>
        <p:spPr>
          <a:xfrm>
            <a:off x="5119674" y="374540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Oval 1258"/>
          <p:cNvSpPr/>
          <p:nvPr/>
        </p:nvSpPr>
        <p:spPr>
          <a:xfrm>
            <a:off x="10322829" y="378895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Oval 1259"/>
          <p:cNvSpPr/>
          <p:nvPr/>
        </p:nvSpPr>
        <p:spPr>
          <a:xfrm>
            <a:off x="2700581" y="379271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Oval 1260"/>
          <p:cNvSpPr/>
          <p:nvPr/>
        </p:nvSpPr>
        <p:spPr>
          <a:xfrm>
            <a:off x="8247487" y="380156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Oval 1261"/>
          <p:cNvSpPr/>
          <p:nvPr/>
        </p:nvSpPr>
        <p:spPr>
          <a:xfrm>
            <a:off x="8712476" y="380336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Oval 1262"/>
          <p:cNvSpPr/>
          <p:nvPr/>
        </p:nvSpPr>
        <p:spPr>
          <a:xfrm>
            <a:off x="5098765" y="380379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Oval 1263"/>
          <p:cNvSpPr/>
          <p:nvPr/>
        </p:nvSpPr>
        <p:spPr>
          <a:xfrm>
            <a:off x="7641570" y="382467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Oval 1264"/>
          <p:cNvSpPr/>
          <p:nvPr/>
        </p:nvSpPr>
        <p:spPr>
          <a:xfrm>
            <a:off x="6976295" y="382571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Oval 1265"/>
          <p:cNvSpPr/>
          <p:nvPr/>
        </p:nvSpPr>
        <p:spPr>
          <a:xfrm>
            <a:off x="7514484" y="383152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Oval 1266"/>
          <p:cNvSpPr/>
          <p:nvPr/>
        </p:nvSpPr>
        <p:spPr>
          <a:xfrm>
            <a:off x="6133219" y="385021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Oval 1267"/>
          <p:cNvSpPr/>
          <p:nvPr/>
        </p:nvSpPr>
        <p:spPr>
          <a:xfrm>
            <a:off x="7457094" y="389473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Oval 1268"/>
          <p:cNvSpPr/>
          <p:nvPr/>
        </p:nvSpPr>
        <p:spPr>
          <a:xfrm>
            <a:off x="7837120" y="390257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Oval 1269"/>
          <p:cNvSpPr/>
          <p:nvPr/>
        </p:nvSpPr>
        <p:spPr>
          <a:xfrm>
            <a:off x="7332970" y="395160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Oval 1270"/>
          <p:cNvSpPr/>
          <p:nvPr/>
        </p:nvSpPr>
        <p:spPr>
          <a:xfrm>
            <a:off x="8981902" y="395521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Oval 1271"/>
          <p:cNvSpPr/>
          <p:nvPr/>
        </p:nvSpPr>
        <p:spPr>
          <a:xfrm>
            <a:off x="8578292" y="398238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Oval 1272"/>
          <p:cNvSpPr/>
          <p:nvPr/>
        </p:nvSpPr>
        <p:spPr>
          <a:xfrm>
            <a:off x="5529286" y="398255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Oval 1273"/>
          <p:cNvSpPr/>
          <p:nvPr/>
        </p:nvSpPr>
        <p:spPr>
          <a:xfrm>
            <a:off x="5817254" y="399011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Oval 1274"/>
          <p:cNvSpPr/>
          <p:nvPr/>
        </p:nvSpPr>
        <p:spPr>
          <a:xfrm>
            <a:off x="7778336" y="401151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Oval 1275"/>
          <p:cNvSpPr/>
          <p:nvPr/>
        </p:nvSpPr>
        <p:spPr>
          <a:xfrm>
            <a:off x="5770450" y="402103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Oval 1276"/>
          <p:cNvSpPr/>
          <p:nvPr/>
        </p:nvSpPr>
        <p:spPr>
          <a:xfrm>
            <a:off x="5204739" y="402827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Oval 1277"/>
          <p:cNvSpPr/>
          <p:nvPr/>
        </p:nvSpPr>
        <p:spPr>
          <a:xfrm>
            <a:off x="4675710" y="406296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Oval 1278"/>
          <p:cNvSpPr/>
          <p:nvPr/>
        </p:nvSpPr>
        <p:spPr>
          <a:xfrm>
            <a:off x="4966978" y="407557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Oval 1279"/>
          <p:cNvSpPr/>
          <p:nvPr/>
        </p:nvSpPr>
        <p:spPr>
          <a:xfrm>
            <a:off x="9081271" y="408539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Oval 1280"/>
          <p:cNvSpPr/>
          <p:nvPr/>
        </p:nvSpPr>
        <p:spPr>
          <a:xfrm>
            <a:off x="7410196" y="408650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Oval 1281"/>
          <p:cNvSpPr/>
          <p:nvPr/>
        </p:nvSpPr>
        <p:spPr>
          <a:xfrm>
            <a:off x="6245506" y="408802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Oval 1282"/>
          <p:cNvSpPr/>
          <p:nvPr/>
        </p:nvSpPr>
        <p:spPr>
          <a:xfrm>
            <a:off x="4042980" y="409340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Oval 1283"/>
          <p:cNvSpPr/>
          <p:nvPr/>
        </p:nvSpPr>
        <p:spPr>
          <a:xfrm>
            <a:off x="7161149" y="409682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Oval 1284"/>
          <p:cNvSpPr/>
          <p:nvPr/>
        </p:nvSpPr>
        <p:spPr>
          <a:xfrm>
            <a:off x="8578738" y="410463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Oval 1285"/>
          <p:cNvSpPr/>
          <p:nvPr/>
        </p:nvSpPr>
        <p:spPr>
          <a:xfrm>
            <a:off x="5827136" y="411130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Oval 1286"/>
          <p:cNvSpPr/>
          <p:nvPr/>
        </p:nvSpPr>
        <p:spPr>
          <a:xfrm>
            <a:off x="5343940" y="411712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Oval 1287"/>
          <p:cNvSpPr/>
          <p:nvPr/>
        </p:nvSpPr>
        <p:spPr>
          <a:xfrm>
            <a:off x="4744051" y="412052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Oval 1288"/>
          <p:cNvSpPr/>
          <p:nvPr/>
        </p:nvSpPr>
        <p:spPr>
          <a:xfrm>
            <a:off x="7508954" y="413139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Oval 1289"/>
          <p:cNvSpPr/>
          <p:nvPr/>
        </p:nvSpPr>
        <p:spPr>
          <a:xfrm>
            <a:off x="6954764" y="413190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Oval 1290"/>
          <p:cNvSpPr/>
          <p:nvPr/>
        </p:nvSpPr>
        <p:spPr>
          <a:xfrm>
            <a:off x="5672818" y="413627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Oval 1291"/>
          <p:cNvSpPr/>
          <p:nvPr/>
        </p:nvSpPr>
        <p:spPr>
          <a:xfrm>
            <a:off x="5188000" y="415268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Oval 1292"/>
          <p:cNvSpPr/>
          <p:nvPr/>
        </p:nvSpPr>
        <p:spPr>
          <a:xfrm>
            <a:off x="4808018" y="415936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Oval 1293"/>
          <p:cNvSpPr/>
          <p:nvPr/>
        </p:nvSpPr>
        <p:spPr>
          <a:xfrm>
            <a:off x="5146099" y="416929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Oval 1294"/>
          <p:cNvSpPr/>
          <p:nvPr/>
        </p:nvSpPr>
        <p:spPr>
          <a:xfrm>
            <a:off x="6144900" y="417534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Oval 1295"/>
          <p:cNvSpPr/>
          <p:nvPr/>
        </p:nvSpPr>
        <p:spPr>
          <a:xfrm>
            <a:off x="5389494" y="418045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Oval 1296"/>
          <p:cNvSpPr/>
          <p:nvPr/>
        </p:nvSpPr>
        <p:spPr>
          <a:xfrm>
            <a:off x="5236914" y="418349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Oval 1297"/>
          <p:cNvSpPr/>
          <p:nvPr/>
        </p:nvSpPr>
        <p:spPr>
          <a:xfrm>
            <a:off x="10613658" y="419245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Oval 1298"/>
          <p:cNvSpPr/>
          <p:nvPr/>
        </p:nvSpPr>
        <p:spPr>
          <a:xfrm>
            <a:off x="7018495" y="424148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Oval 1299"/>
          <p:cNvSpPr/>
          <p:nvPr/>
        </p:nvSpPr>
        <p:spPr>
          <a:xfrm>
            <a:off x="7581369" y="425058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Oval 1300"/>
          <p:cNvSpPr/>
          <p:nvPr/>
        </p:nvSpPr>
        <p:spPr>
          <a:xfrm>
            <a:off x="10522014" y="425198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Oval 1301"/>
          <p:cNvSpPr/>
          <p:nvPr/>
        </p:nvSpPr>
        <p:spPr>
          <a:xfrm>
            <a:off x="5400953" y="425340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Oval 1302"/>
          <p:cNvSpPr/>
          <p:nvPr/>
        </p:nvSpPr>
        <p:spPr>
          <a:xfrm>
            <a:off x="4311938" y="425525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Oval 1303"/>
          <p:cNvSpPr/>
          <p:nvPr/>
        </p:nvSpPr>
        <p:spPr>
          <a:xfrm>
            <a:off x="6142479" y="425852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Oval 1304"/>
          <p:cNvSpPr/>
          <p:nvPr/>
        </p:nvSpPr>
        <p:spPr>
          <a:xfrm>
            <a:off x="6167816" y="426262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Oval 1305"/>
          <p:cNvSpPr/>
          <p:nvPr/>
        </p:nvSpPr>
        <p:spPr>
          <a:xfrm>
            <a:off x="7861405" y="426903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Oval 1306"/>
          <p:cNvSpPr/>
          <p:nvPr/>
        </p:nvSpPr>
        <p:spPr>
          <a:xfrm>
            <a:off x="5394967" y="426916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Oval 1307"/>
          <p:cNvSpPr/>
          <p:nvPr/>
        </p:nvSpPr>
        <p:spPr>
          <a:xfrm>
            <a:off x="6886552" y="427037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Oval 1308"/>
          <p:cNvSpPr/>
          <p:nvPr/>
        </p:nvSpPr>
        <p:spPr>
          <a:xfrm>
            <a:off x="7001609" y="427287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Oval 1309"/>
          <p:cNvSpPr/>
          <p:nvPr/>
        </p:nvSpPr>
        <p:spPr>
          <a:xfrm>
            <a:off x="6294350" y="427766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Oval 1310"/>
          <p:cNvSpPr/>
          <p:nvPr/>
        </p:nvSpPr>
        <p:spPr>
          <a:xfrm>
            <a:off x="6945709" y="428926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Oval 1311"/>
          <p:cNvSpPr/>
          <p:nvPr/>
        </p:nvSpPr>
        <p:spPr>
          <a:xfrm>
            <a:off x="6899713" y="431465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Oval 1312"/>
          <p:cNvSpPr/>
          <p:nvPr/>
        </p:nvSpPr>
        <p:spPr>
          <a:xfrm>
            <a:off x="8474022" y="431685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Oval 1313"/>
          <p:cNvSpPr/>
          <p:nvPr/>
        </p:nvSpPr>
        <p:spPr>
          <a:xfrm>
            <a:off x="8297297" y="431962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Oval 1314"/>
          <p:cNvSpPr/>
          <p:nvPr/>
        </p:nvSpPr>
        <p:spPr>
          <a:xfrm>
            <a:off x="8453211" y="432178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Oval 1315"/>
          <p:cNvSpPr/>
          <p:nvPr/>
        </p:nvSpPr>
        <p:spPr>
          <a:xfrm>
            <a:off x="6465127" y="432579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Oval 1316"/>
          <p:cNvSpPr/>
          <p:nvPr/>
        </p:nvSpPr>
        <p:spPr>
          <a:xfrm>
            <a:off x="9140540" y="433846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Oval 1317"/>
          <p:cNvSpPr/>
          <p:nvPr/>
        </p:nvSpPr>
        <p:spPr>
          <a:xfrm>
            <a:off x="7112305" y="434242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Oval 1318"/>
          <p:cNvSpPr/>
          <p:nvPr/>
        </p:nvSpPr>
        <p:spPr>
          <a:xfrm>
            <a:off x="2731537" y="434862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Oval 1319"/>
          <p:cNvSpPr/>
          <p:nvPr/>
        </p:nvSpPr>
        <p:spPr>
          <a:xfrm>
            <a:off x="5030543" y="435559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Oval 1320"/>
          <p:cNvSpPr/>
          <p:nvPr/>
        </p:nvSpPr>
        <p:spPr>
          <a:xfrm>
            <a:off x="7010218" y="435806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Oval 1321"/>
          <p:cNvSpPr/>
          <p:nvPr/>
        </p:nvSpPr>
        <p:spPr>
          <a:xfrm>
            <a:off x="7098871" y="435892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Oval 1322"/>
          <p:cNvSpPr/>
          <p:nvPr/>
        </p:nvSpPr>
        <p:spPr>
          <a:xfrm>
            <a:off x="6992717" y="436004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Oval 1323"/>
          <p:cNvSpPr/>
          <p:nvPr/>
        </p:nvSpPr>
        <p:spPr>
          <a:xfrm>
            <a:off x="6248834" y="437964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Oval 1324"/>
          <p:cNvSpPr/>
          <p:nvPr/>
        </p:nvSpPr>
        <p:spPr>
          <a:xfrm>
            <a:off x="5986480" y="438221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Oval 1325"/>
          <p:cNvSpPr/>
          <p:nvPr/>
        </p:nvSpPr>
        <p:spPr>
          <a:xfrm>
            <a:off x="5180617" y="438254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Oval 1326"/>
          <p:cNvSpPr/>
          <p:nvPr/>
        </p:nvSpPr>
        <p:spPr>
          <a:xfrm>
            <a:off x="7281498" y="438507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Oval 1327"/>
          <p:cNvSpPr/>
          <p:nvPr/>
        </p:nvSpPr>
        <p:spPr>
          <a:xfrm>
            <a:off x="2909254" y="438529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Oval 1328"/>
          <p:cNvSpPr/>
          <p:nvPr/>
        </p:nvSpPr>
        <p:spPr>
          <a:xfrm>
            <a:off x="6147192" y="438975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Oval 1329"/>
          <p:cNvSpPr/>
          <p:nvPr/>
        </p:nvSpPr>
        <p:spPr>
          <a:xfrm>
            <a:off x="7006810" y="439021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Oval 1330"/>
          <p:cNvSpPr/>
          <p:nvPr/>
        </p:nvSpPr>
        <p:spPr>
          <a:xfrm>
            <a:off x="7160336" y="439918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Oval 1331"/>
          <p:cNvSpPr/>
          <p:nvPr/>
        </p:nvSpPr>
        <p:spPr>
          <a:xfrm>
            <a:off x="5426524" y="440312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Oval 1332"/>
          <p:cNvSpPr/>
          <p:nvPr/>
        </p:nvSpPr>
        <p:spPr>
          <a:xfrm>
            <a:off x="7409737" y="440350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Oval 1333"/>
          <p:cNvSpPr/>
          <p:nvPr/>
        </p:nvSpPr>
        <p:spPr>
          <a:xfrm>
            <a:off x="7063035" y="440808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Oval 1334"/>
          <p:cNvSpPr/>
          <p:nvPr/>
        </p:nvSpPr>
        <p:spPr>
          <a:xfrm>
            <a:off x="6367892" y="441002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Oval 1335"/>
          <p:cNvSpPr/>
          <p:nvPr/>
        </p:nvSpPr>
        <p:spPr>
          <a:xfrm>
            <a:off x="7218053" y="441456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Oval 1336"/>
          <p:cNvSpPr/>
          <p:nvPr/>
        </p:nvSpPr>
        <p:spPr>
          <a:xfrm>
            <a:off x="7863116" y="441767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Oval 1337"/>
          <p:cNvSpPr/>
          <p:nvPr/>
        </p:nvSpPr>
        <p:spPr>
          <a:xfrm>
            <a:off x="5193990" y="443907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Oval 1338"/>
          <p:cNvSpPr/>
          <p:nvPr/>
        </p:nvSpPr>
        <p:spPr>
          <a:xfrm>
            <a:off x="7028747" y="443915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Oval 1339"/>
          <p:cNvSpPr/>
          <p:nvPr/>
        </p:nvSpPr>
        <p:spPr>
          <a:xfrm>
            <a:off x="4568692" y="444005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Oval 1340"/>
          <p:cNvSpPr/>
          <p:nvPr/>
        </p:nvSpPr>
        <p:spPr>
          <a:xfrm>
            <a:off x="5416681" y="444817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Oval 1341"/>
          <p:cNvSpPr/>
          <p:nvPr/>
        </p:nvSpPr>
        <p:spPr>
          <a:xfrm>
            <a:off x="5909235" y="445729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Oval 1342"/>
          <p:cNvSpPr/>
          <p:nvPr/>
        </p:nvSpPr>
        <p:spPr>
          <a:xfrm>
            <a:off x="5040720" y="445818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Oval 1343"/>
          <p:cNvSpPr/>
          <p:nvPr/>
        </p:nvSpPr>
        <p:spPr>
          <a:xfrm>
            <a:off x="8133426" y="445863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Oval 1344"/>
          <p:cNvSpPr/>
          <p:nvPr/>
        </p:nvSpPr>
        <p:spPr>
          <a:xfrm>
            <a:off x="7038309" y="446494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Oval 1345"/>
          <p:cNvSpPr/>
          <p:nvPr/>
        </p:nvSpPr>
        <p:spPr>
          <a:xfrm>
            <a:off x="5680665" y="446736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Oval 1346"/>
          <p:cNvSpPr/>
          <p:nvPr/>
        </p:nvSpPr>
        <p:spPr>
          <a:xfrm>
            <a:off x="8900816" y="447582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Oval 1347"/>
          <p:cNvSpPr/>
          <p:nvPr/>
        </p:nvSpPr>
        <p:spPr>
          <a:xfrm>
            <a:off x="9481816" y="447788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Oval 1348"/>
          <p:cNvSpPr/>
          <p:nvPr/>
        </p:nvSpPr>
        <p:spPr>
          <a:xfrm>
            <a:off x="7207223" y="447932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Oval 1349"/>
          <p:cNvSpPr/>
          <p:nvPr/>
        </p:nvSpPr>
        <p:spPr>
          <a:xfrm>
            <a:off x="6843528" y="448031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Oval 1350"/>
          <p:cNvSpPr/>
          <p:nvPr/>
        </p:nvSpPr>
        <p:spPr>
          <a:xfrm>
            <a:off x="7133586" y="448194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Oval 1351"/>
          <p:cNvSpPr/>
          <p:nvPr/>
        </p:nvSpPr>
        <p:spPr>
          <a:xfrm>
            <a:off x="6002852" y="448316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Oval 1352"/>
          <p:cNvSpPr/>
          <p:nvPr/>
        </p:nvSpPr>
        <p:spPr>
          <a:xfrm>
            <a:off x="5896200" y="449355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Oval 1353"/>
          <p:cNvSpPr/>
          <p:nvPr/>
        </p:nvSpPr>
        <p:spPr>
          <a:xfrm>
            <a:off x="5308977" y="449497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Oval 1354"/>
          <p:cNvSpPr/>
          <p:nvPr/>
        </p:nvSpPr>
        <p:spPr>
          <a:xfrm>
            <a:off x="3850179" y="449497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Oval 1355"/>
          <p:cNvSpPr/>
          <p:nvPr/>
        </p:nvSpPr>
        <p:spPr>
          <a:xfrm>
            <a:off x="6979647" y="449779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Oval 1356"/>
          <p:cNvSpPr/>
          <p:nvPr/>
        </p:nvSpPr>
        <p:spPr>
          <a:xfrm>
            <a:off x="7094598" y="450067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Oval 1357"/>
          <p:cNvSpPr/>
          <p:nvPr/>
        </p:nvSpPr>
        <p:spPr>
          <a:xfrm>
            <a:off x="5897878" y="450079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Oval 1358"/>
          <p:cNvSpPr/>
          <p:nvPr/>
        </p:nvSpPr>
        <p:spPr>
          <a:xfrm>
            <a:off x="5995017" y="450086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Oval 1359"/>
          <p:cNvSpPr/>
          <p:nvPr/>
        </p:nvSpPr>
        <p:spPr>
          <a:xfrm>
            <a:off x="5188187" y="450513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Oval 1360"/>
          <p:cNvSpPr/>
          <p:nvPr/>
        </p:nvSpPr>
        <p:spPr>
          <a:xfrm>
            <a:off x="5410647" y="450966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Oval 1361"/>
          <p:cNvSpPr/>
          <p:nvPr/>
        </p:nvSpPr>
        <p:spPr>
          <a:xfrm>
            <a:off x="8366032" y="451667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Oval 1362"/>
          <p:cNvSpPr/>
          <p:nvPr/>
        </p:nvSpPr>
        <p:spPr>
          <a:xfrm>
            <a:off x="3207969" y="452014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Oval 1363"/>
          <p:cNvSpPr/>
          <p:nvPr/>
        </p:nvSpPr>
        <p:spPr>
          <a:xfrm>
            <a:off x="5820951" y="452158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Oval 1364"/>
          <p:cNvSpPr/>
          <p:nvPr/>
        </p:nvSpPr>
        <p:spPr>
          <a:xfrm>
            <a:off x="7088182" y="452403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Oval 1365"/>
          <p:cNvSpPr/>
          <p:nvPr/>
        </p:nvSpPr>
        <p:spPr>
          <a:xfrm>
            <a:off x="6318348" y="452688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Oval 1366"/>
          <p:cNvSpPr/>
          <p:nvPr/>
        </p:nvSpPr>
        <p:spPr>
          <a:xfrm>
            <a:off x="4113613" y="452883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Oval 1367"/>
          <p:cNvSpPr/>
          <p:nvPr/>
        </p:nvSpPr>
        <p:spPr>
          <a:xfrm>
            <a:off x="9336163" y="452957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Oval 1368"/>
          <p:cNvSpPr/>
          <p:nvPr/>
        </p:nvSpPr>
        <p:spPr>
          <a:xfrm>
            <a:off x="7043958" y="453406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Oval 1369"/>
          <p:cNvSpPr/>
          <p:nvPr/>
        </p:nvSpPr>
        <p:spPr>
          <a:xfrm>
            <a:off x="5758715" y="453562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Oval 1370"/>
          <p:cNvSpPr/>
          <p:nvPr/>
        </p:nvSpPr>
        <p:spPr>
          <a:xfrm>
            <a:off x="6212398" y="453717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Oval 1371"/>
          <p:cNvSpPr/>
          <p:nvPr/>
        </p:nvSpPr>
        <p:spPr>
          <a:xfrm>
            <a:off x="7445187" y="453870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Oval 1372"/>
          <p:cNvSpPr/>
          <p:nvPr/>
        </p:nvSpPr>
        <p:spPr>
          <a:xfrm>
            <a:off x="6866870" y="453889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Oval 1373"/>
          <p:cNvSpPr/>
          <p:nvPr/>
        </p:nvSpPr>
        <p:spPr>
          <a:xfrm>
            <a:off x="9261757" y="454106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Oval 1374"/>
          <p:cNvSpPr/>
          <p:nvPr/>
        </p:nvSpPr>
        <p:spPr>
          <a:xfrm>
            <a:off x="9899863" y="454459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Oval 1375"/>
          <p:cNvSpPr/>
          <p:nvPr/>
        </p:nvSpPr>
        <p:spPr>
          <a:xfrm>
            <a:off x="3498558" y="454750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Oval 1376"/>
          <p:cNvSpPr/>
          <p:nvPr/>
        </p:nvSpPr>
        <p:spPr>
          <a:xfrm>
            <a:off x="6848036" y="455009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Oval 1377"/>
          <p:cNvSpPr/>
          <p:nvPr/>
        </p:nvSpPr>
        <p:spPr>
          <a:xfrm>
            <a:off x="8088295" y="455151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Oval 1378"/>
          <p:cNvSpPr/>
          <p:nvPr/>
        </p:nvSpPr>
        <p:spPr>
          <a:xfrm>
            <a:off x="7032824" y="455405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Oval 1379"/>
          <p:cNvSpPr/>
          <p:nvPr/>
        </p:nvSpPr>
        <p:spPr>
          <a:xfrm>
            <a:off x="5484622" y="455428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Oval 1380"/>
          <p:cNvSpPr/>
          <p:nvPr/>
        </p:nvSpPr>
        <p:spPr>
          <a:xfrm>
            <a:off x="8840163" y="455612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Oval 1381"/>
          <p:cNvSpPr/>
          <p:nvPr/>
        </p:nvSpPr>
        <p:spPr>
          <a:xfrm>
            <a:off x="8106254" y="455717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Oval 1382"/>
          <p:cNvSpPr/>
          <p:nvPr/>
        </p:nvSpPr>
        <p:spPr>
          <a:xfrm>
            <a:off x="8347153" y="456153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Oval 1383"/>
          <p:cNvSpPr/>
          <p:nvPr/>
        </p:nvSpPr>
        <p:spPr>
          <a:xfrm>
            <a:off x="10613658" y="456531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Oval 1384"/>
          <p:cNvSpPr/>
          <p:nvPr/>
        </p:nvSpPr>
        <p:spPr>
          <a:xfrm>
            <a:off x="4817399" y="456537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Oval 1385"/>
          <p:cNvSpPr/>
          <p:nvPr/>
        </p:nvSpPr>
        <p:spPr>
          <a:xfrm>
            <a:off x="6292482" y="456640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Oval 1386"/>
          <p:cNvSpPr/>
          <p:nvPr/>
        </p:nvSpPr>
        <p:spPr>
          <a:xfrm>
            <a:off x="10613658" y="456817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Oval 1387"/>
          <p:cNvSpPr/>
          <p:nvPr/>
        </p:nvSpPr>
        <p:spPr>
          <a:xfrm>
            <a:off x="5627798" y="456831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Oval 1388"/>
          <p:cNvSpPr/>
          <p:nvPr/>
        </p:nvSpPr>
        <p:spPr>
          <a:xfrm>
            <a:off x="5976401" y="456967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Oval 1389"/>
          <p:cNvSpPr/>
          <p:nvPr/>
        </p:nvSpPr>
        <p:spPr>
          <a:xfrm>
            <a:off x="7271014" y="457061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Oval 1390"/>
          <p:cNvSpPr/>
          <p:nvPr/>
        </p:nvSpPr>
        <p:spPr>
          <a:xfrm>
            <a:off x="5950197" y="457111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Oval 1391"/>
          <p:cNvSpPr/>
          <p:nvPr/>
        </p:nvSpPr>
        <p:spPr>
          <a:xfrm>
            <a:off x="6919653" y="457385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Oval 1392"/>
          <p:cNvSpPr/>
          <p:nvPr/>
        </p:nvSpPr>
        <p:spPr>
          <a:xfrm>
            <a:off x="7233261" y="457483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Oval 1393"/>
          <p:cNvSpPr/>
          <p:nvPr/>
        </p:nvSpPr>
        <p:spPr>
          <a:xfrm>
            <a:off x="5893758" y="457588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Oval 1394"/>
          <p:cNvSpPr/>
          <p:nvPr/>
        </p:nvSpPr>
        <p:spPr>
          <a:xfrm>
            <a:off x="8975953" y="457775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Oval 1395"/>
          <p:cNvSpPr/>
          <p:nvPr/>
        </p:nvSpPr>
        <p:spPr>
          <a:xfrm>
            <a:off x="7264755" y="457889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Oval 1396"/>
          <p:cNvSpPr/>
          <p:nvPr/>
        </p:nvSpPr>
        <p:spPr>
          <a:xfrm>
            <a:off x="5044606" y="457990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Oval 1397"/>
          <p:cNvSpPr/>
          <p:nvPr/>
        </p:nvSpPr>
        <p:spPr>
          <a:xfrm>
            <a:off x="5714647" y="458002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Oval 1398"/>
          <p:cNvSpPr/>
          <p:nvPr/>
        </p:nvSpPr>
        <p:spPr>
          <a:xfrm>
            <a:off x="6303021" y="458119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Oval 1399"/>
          <p:cNvSpPr/>
          <p:nvPr/>
        </p:nvSpPr>
        <p:spPr>
          <a:xfrm>
            <a:off x="7353337" y="458143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Oval 1400"/>
          <p:cNvSpPr/>
          <p:nvPr/>
        </p:nvSpPr>
        <p:spPr>
          <a:xfrm>
            <a:off x="5714121" y="458160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Oval 1401"/>
          <p:cNvSpPr/>
          <p:nvPr/>
        </p:nvSpPr>
        <p:spPr>
          <a:xfrm>
            <a:off x="7802717" y="458335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Oval 1402"/>
          <p:cNvSpPr/>
          <p:nvPr/>
        </p:nvSpPr>
        <p:spPr>
          <a:xfrm>
            <a:off x="3958072" y="458726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Oval 1403"/>
          <p:cNvSpPr/>
          <p:nvPr/>
        </p:nvSpPr>
        <p:spPr>
          <a:xfrm>
            <a:off x="8640560" y="458977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Oval 1404"/>
          <p:cNvSpPr/>
          <p:nvPr/>
        </p:nvSpPr>
        <p:spPr>
          <a:xfrm>
            <a:off x="6969387" y="459153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Oval 1405"/>
          <p:cNvSpPr/>
          <p:nvPr/>
        </p:nvSpPr>
        <p:spPr>
          <a:xfrm>
            <a:off x="2973249" y="459245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Oval 1406"/>
          <p:cNvSpPr/>
          <p:nvPr/>
        </p:nvSpPr>
        <p:spPr>
          <a:xfrm>
            <a:off x="5724200" y="459385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Oval 1407"/>
          <p:cNvSpPr/>
          <p:nvPr/>
        </p:nvSpPr>
        <p:spPr>
          <a:xfrm>
            <a:off x="7197764" y="459575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Oval 1408"/>
          <p:cNvSpPr/>
          <p:nvPr/>
        </p:nvSpPr>
        <p:spPr>
          <a:xfrm>
            <a:off x="10082710" y="459645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Oval 1409"/>
          <p:cNvSpPr/>
          <p:nvPr/>
        </p:nvSpPr>
        <p:spPr>
          <a:xfrm>
            <a:off x="8075271" y="459675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Oval 1410"/>
          <p:cNvSpPr/>
          <p:nvPr/>
        </p:nvSpPr>
        <p:spPr>
          <a:xfrm>
            <a:off x="4956760" y="459712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Oval 1411"/>
          <p:cNvSpPr/>
          <p:nvPr/>
        </p:nvSpPr>
        <p:spPr>
          <a:xfrm>
            <a:off x="10613658" y="459796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Oval 1412"/>
          <p:cNvSpPr/>
          <p:nvPr/>
        </p:nvSpPr>
        <p:spPr>
          <a:xfrm>
            <a:off x="6938104" y="460293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Oval 1413"/>
          <p:cNvSpPr/>
          <p:nvPr/>
        </p:nvSpPr>
        <p:spPr>
          <a:xfrm>
            <a:off x="7452493" y="460295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Oval 1414"/>
          <p:cNvSpPr/>
          <p:nvPr/>
        </p:nvSpPr>
        <p:spPr>
          <a:xfrm>
            <a:off x="6377211" y="460305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Oval 1415"/>
          <p:cNvSpPr/>
          <p:nvPr/>
        </p:nvSpPr>
        <p:spPr>
          <a:xfrm>
            <a:off x="8713823" y="460306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Oval 1416"/>
          <p:cNvSpPr/>
          <p:nvPr/>
        </p:nvSpPr>
        <p:spPr>
          <a:xfrm>
            <a:off x="9550988" y="460406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Oval 1417"/>
          <p:cNvSpPr/>
          <p:nvPr/>
        </p:nvSpPr>
        <p:spPr>
          <a:xfrm>
            <a:off x="8089433" y="460473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Oval 1418"/>
          <p:cNvSpPr/>
          <p:nvPr/>
        </p:nvSpPr>
        <p:spPr>
          <a:xfrm>
            <a:off x="7328925" y="460663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Oval 1419"/>
          <p:cNvSpPr/>
          <p:nvPr/>
        </p:nvSpPr>
        <p:spPr>
          <a:xfrm>
            <a:off x="6871058" y="460742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Oval 1420"/>
          <p:cNvSpPr/>
          <p:nvPr/>
        </p:nvSpPr>
        <p:spPr>
          <a:xfrm>
            <a:off x="5280920" y="461430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Oval 1421"/>
          <p:cNvSpPr/>
          <p:nvPr/>
        </p:nvSpPr>
        <p:spPr>
          <a:xfrm>
            <a:off x="4863066" y="461595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Oval 1422"/>
          <p:cNvSpPr/>
          <p:nvPr/>
        </p:nvSpPr>
        <p:spPr>
          <a:xfrm>
            <a:off x="7048059" y="461651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Oval 1423"/>
          <p:cNvSpPr/>
          <p:nvPr/>
        </p:nvSpPr>
        <p:spPr>
          <a:xfrm>
            <a:off x="5940641" y="462230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Oval 1424"/>
          <p:cNvSpPr/>
          <p:nvPr/>
        </p:nvSpPr>
        <p:spPr>
          <a:xfrm>
            <a:off x="5322463" y="4623555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Oval 1425"/>
          <p:cNvSpPr/>
          <p:nvPr/>
        </p:nvSpPr>
        <p:spPr>
          <a:xfrm>
            <a:off x="3448047" y="462431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Oval 1426"/>
          <p:cNvSpPr/>
          <p:nvPr/>
        </p:nvSpPr>
        <p:spPr>
          <a:xfrm>
            <a:off x="6315241" y="462848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Oval 1427"/>
          <p:cNvSpPr/>
          <p:nvPr/>
        </p:nvSpPr>
        <p:spPr>
          <a:xfrm>
            <a:off x="5575799" y="462897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Oval 1428"/>
          <p:cNvSpPr/>
          <p:nvPr/>
        </p:nvSpPr>
        <p:spPr>
          <a:xfrm>
            <a:off x="4810285" y="463093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Oval 1429"/>
          <p:cNvSpPr/>
          <p:nvPr/>
        </p:nvSpPr>
        <p:spPr>
          <a:xfrm>
            <a:off x="6267366" y="4631430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Oval 1430"/>
          <p:cNvSpPr/>
          <p:nvPr/>
        </p:nvSpPr>
        <p:spPr>
          <a:xfrm>
            <a:off x="5365081" y="463173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Oval 1431"/>
          <p:cNvSpPr/>
          <p:nvPr/>
        </p:nvSpPr>
        <p:spPr>
          <a:xfrm>
            <a:off x="7502997" y="463553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Oval 1432"/>
          <p:cNvSpPr/>
          <p:nvPr/>
        </p:nvSpPr>
        <p:spPr>
          <a:xfrm>
            <a:off x="4096115" y="463600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Oval 1433"/>
          <p:cNvSpPr/>
          <p:nvPr/>
        </p:nvSpPr>
        <p:spPr>
          <a:xfrm>
            <a:off x="7013317" y="463728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Oval 1434"/>
          <p:cNvSpPr/>
          <p:nvPr/>
        </p:nvSpPr>
        <p:spPr>
          <a:xfrm>
            <a:off x="7069115" y="464219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Oval 1435"/>
          <p:cNvSpPr/>
          <p:nvPr/>
        </p:nvSpPr>
        <p:spPr>
          <a:xfrm>
            <a:off x="5865331" y="464270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Oval 1436"/>
          <p:cNvSpPr/>
          <p:nvPr/>
        </p:nvSpPr>
        <p:spPr>
          <a:xfrm>
            <a:off x="6142354" y="464438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Oval 1437"/>
          <p:cNvSpPr/>
          <p:nvPr/>
        </p:nvSpPr>
        <p:spPr>
          <a:xfrm>
            <a:off x="7555624" y="464787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Oval 1438"/>
          <p:cNvSpPr/>
          <p:nvPr/>
        </p:nvSpPr>
        <p:spPr>
          <a:xfrm>
            <a:off x="6296647" y="464987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Oval 1439"/>
          <p:cNvSpPr/>
          <p:nvPr/>
        </p:nvSpPr>
        <p:spPr>
          <a:xfrm>
            <a:off x="7054551" y="465195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Oval 1440"/>
          <p:cNvSpPr/>
          <p:nvPr/>
        </p:nvSpPr>
        <p:spPr>
          <a:xfrm>
            <a:off x="6284039" y="465571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Oval 1441"/>
          <p:cNvSpPr/>
          <p:nvPr/>
        </p:nvSpPr>
        <p:spPr>
          <a:xfrm>
            <a:off x="6246356" y="465871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Oval 1442"/>
          <p:cNvSpPr/>
          <p:nvPr/>
        </p:nvSpPr>
        <p:spPr>
          <a:xfrm>
            <a:off x="6157526" y="466054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Oval 1443"/>
          <p:cNvSpPr/>
          <p:nvPr/>
        </p:nvSpPr>
        <p:spPr>
          <a:xfrm>
            <a:off x="9277458" y="4661716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Oval 1444"/>
          <p:cNvSpPr/>
          <p:nvPr/>
        </p:nvSpPr>
        <p:spPr>
          <a:xfrm>
            <a:off x="8002336" y="466336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Oval 1445"/>
          <p:cNvSpPr/>
          <p:nvPr/>
        </p:nvSpPr>
        <p:spPr>
          <a:xfrm>
            <a:off x="5699195" y="4666528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Oval 1446"/>
          <p:cNvSpPr/>
          <p:nvPr/>
        </p:nvSpPr>
        <p:spPr>
          <a:xfrm>
            <a:off x="7658461" y="4666604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Oval 1447"/>
          <p:cNvSpPr/>
          <p:nvPr/>
        </p:nvSpPr>
        <p:spPr>
          <a:xfrm>
            <a:off x="10613658" y="466822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Oval 1448"/>
          <p:cNvSpPr/>
          <p:nvPr/>
        </p:nvSpPr>
        <p:spPr>
          <a:xfrm>
            <a:off x="7160542" y="4669793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Oval 1449"/>
          <p:cNvSpPr/>
          <p:nvPr/>
        </p:nvSpPr>
        <p:spPr>
          <a:xfrm>
            <a:off x="5533023" y="467164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Oval 1450"/>
          <p:cNvSpPr/>
          <p:nvPr/>
        </p:nvSpPr>
        <p:spPr>
          <a:xfrm>
            <a:off x="7518963" y="4673547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Oval 1451"/>
          <p:cNvSpPr/>
          <p:nvPr/>
        </p:nvSpPr>
        <p:spPr>
          <a:xfrm>
            <a:off x="5888826" y="4673832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Oval 1452"/>
          <p:cNvSpPr/>
          <p:nvPr/>
        </p:nvSpPr>
        <p:spPr>
          <a:xfrm>
            <a:off x="8297626" y="4676351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Oval 1453"/>
          <p:cNvSpPr/>
          <p:nvPr/>
        </p:nvSpPr>
        <p:spPr>
          <a:xfrm>
            <a:off x="6070426" y="4679459"/>
            <a:ext cx="36000" cy="36000"/>
          </a:xfrm>
          <a:prstGeom prst="ellipse">
            <a:avLst/>
          </a:prstGeom>
          <a:solidFill>
            <a:srgbClr val="6C757D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Oval 1454"/>
          <p:cNvSpPr/>
          <p:nvPr/>
        </p:nvSpPr>
        <p:spPr>
          <a:xfrm>
            <a:off x="5442988" y="3785944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Oval 1455"/>
          <p:cNvSpPr/>
          <p:nvPr/>
        </p:nvSpPr>
        <p:spPr>
          <a:xfrm>
            <a:off x="4320338" y="4179019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Oval 1456"/>
          <p:cNvSpPr/>
          <p:nvPr/>
        </p:nvSpPr>
        <p:spPr>
          <a:xfrm>
            <a:off x="6245662" y="4186002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Oval 1457"/>
          <p:cNvSpPr/>
          <p:nvPr/>
        </p:nvSpPr>
        <p:spPr>
          <a:xfrm>
            <a:off x="4479519" y="4239404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Oval 1458"/>
          <p:cNvSpPr/>
          <p:nvPr/>
        </p:nvSpPr>
        <p:spPr>
          <a:xfrm>
            <a:off x="5171003" y="4273690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Oval 1459"/>
          <p:cNvSpPr/>
          <p:nvPr/>
        </p:nvSpPr>
        <p:spPr>
          <a:xfrm>
            <a:off x="8371631" y="4303706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Oval 1460"/>
          <p:cNvSpPr/>
          <p:nvPr/>
        </p:nvSpPr>
        <p:spPr>
          <a:xfrm>
            <a:off x="5297322" y="4317778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Oval 1461"/>
          <p:cNvSpPr/>
          <p:nvPr/>
        </p:nvSpPr>
        <p:spPr>
          <a:xfrm>
            <a:off x="5353285" y="4349519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Oval 1462"/>
          <p:cNvSpPr/>
          <p:nvPr/>
        </p:nvSpPr>
        <p:spPr>
          <a:xfrm>
            <a:off x="5902689" y="4433481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Oval 1463"/>
          <p:cNvSpPr/>
          <p:nvPr/>
        </p:nvSpPr>
        <p:spPr>
          <a:xfrm>
            <a:off x="6049369" y="4435210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Oval 1464"/>
          <p:cNvSpPr/>
          <p:nvPr/>
        </p:nvSpPr>
        <p:spPr>
          <a:xfrm>
            <a:off x="5493154" y="4491965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Oval 1465"/>
          <p:cNvSpPr/>
          <p:nvPr/>
        </p:nvSpPr>
        <p:spPr>
          <a:xfrm>
            <a:off x="5142934" y="4544596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Oval 1466"/>
          <p:cNvSpPr/>
          <p:nvPr/>
        </p:nvSpPr>
        <p:spPr>
          <a:xfrm>
            <a:off x="5674908" y="4566078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Oval 1467"/>
          <p:cNvSpPr/>
          <p:nvPr/>
        </p:nvSpPr>
        <p:spPr>
          <a:xfrm>
            <a:off x="7238624" y="4576154"/>
            <a:ext cx="52000" cy="52000"/>
          </a:xfrm>
          <a:prstGeom prst="ellipse">
            <a:avLst/>
          </a:prstGeom>
          <a:solidFill>
            <a:srgbClr val="E39A1E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Oval 1468"/>
          <p:cNvSpPr/>
          <p:nvPr/>
        </p:nvSpPr>
        <p:spPr>
          <a:xfrm>
            <a:off x="6895507" y="4576865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Oval 1469"/>
          <p:cNvSpPr/>
          <p:nvPr/>
        </p:nvSpPr>
        <p:spPr>
          <a:xfrm>
            <a:off x="5686417" y="4586536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Oval 1470"/>
          <p:cNvSpPr/>
          <p:nvPr/>
        </p:nvSpPr>
        <p:spPr>
          <a:xfrm>
            <a:off x="4247721" y="4603487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Oval 1471"/>
          <p:cNvSpPr/>
          <p:nvPr/>
        </p:nvSpPr>
        <p:spPr>
          <a:xfrm>
            <a:off x="7113568" y="4629963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Oval 1472"/>
          <p:cNvSpPr/>
          <p:nvPr/>
        </p:nvSpPr>
        <p:spPr>
          <a:xfrm>
            <a:off x="5849147" y="4639375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Oval 1473"/>
          <p:cNvSpPr/>
          <p:nvPr/>
        </p:nvSpPr>
        <p:spPr>
          <a:xfrm>
            <a:off x="6947831" y="4651603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Oval 1474"/>
          <p:cNvSpPr/>
          <p:nvPr/>
        </p:nvSpPr>
        <p:spPr>
          <a:xfrm>
            <a:off x="6998279" y="4653667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Oval 1475"/>
          <p:cNvSpPr/>
          <p:nvPr/>
        </p:nvSpPr>
        <p:spPr>
          <a:xfrm>
            <a:off x="6276606" y="4662788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TextBox 1476"/>
          <p:cNvSpPr txBox="1"/>
          <p:nvPr/>
        </p:nvSpPr>
        <p:spPr>
          <a:xfrm>
            <a:off x="91440" y="877017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A24E78"/>
                </a:solidFill>
                <a:latin typeface="Arial"/>
              </a:rPr>
              <a:t>GPX3</a:t>
            </a:r>
          </a:p>
        </p:txBody>
      </p:sp>
      <p:cxnSp>
        <p:nvCxnSpPr>
          <p:cNvPr id="1478" name="Connector 1477"/>
          <p:cNvCxnSpPr/>
          <p:nvPr/>
        </p:nvCxnSpPr>
        <p:spPr>
          <a:xfrm flipH="1" flipV="1">
            <a:off x="1051560" y="954741"/>
            <a:ext cx="4417428" cy="2857203"/>
          </a:xfrm>
          <a:prstGeom prst="line">
            <a:avLst/>
          </a:prstGeom>
          <a:ln w="6985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9" name="TextBox 1478"/>
          <p:cNvSpPr txBox="1"/>
          <p:nvPr/>
        </p:nvSpPr>
        <p:spPr>
          <a:xfrm>
            <a:off x="91440" y="1117988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118AB2"/>
                </a:solidFill>
                <a:latin typeface="Arial"/>
              </a:rPr>
              <a:t>REG1A</a:t>
            </a:r>
          </a:p>
        </p:txBody>
      </p:sp>
      <p:cxnSp>
        <p:nvCxnSpPr>
          <p:cNvPr id="1480" name="Connector 1479"/>
          <p:cNvCxnSpPr/>
          <p:nvPr/>
        </p:nvCxnSpPr>
        <p:spPr>
          <a:xfrm flipH="1" flipV="1">
            <a:off x="1051560" y="1195712"/>
            <a:ext cx="3294778" cy="3009307"/>
          </a:xfrm>
          <a:prstGeom prst="line">
            <a:avLst/>
          </a:prstGeom>
          <a:ln w="6985">
            <a:solidFill>
              <a:srgbClr val="118A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1" name="TextBox 1480"/>
          <p:cNvSpPr txBox="1"/>
          <p:nvPr/>
        </p:nvSpPr>
        <p:spPr>
          <a:xfrm>
            <a:off x="91440" y="1358959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A24E78"/>
                </a:solidFill>
                <a:latin typeface="Arial"/>
              </a:rPr>
              <a:t>MRPL40</a:t>
            </a:r>
          </a:p>
        </p:txBody>
      </p:sp>
      <p:cxnSp>
        <p:nvCxnSpPr>
          <p:cNvPr id="1482" name="Connector 1481"/>
          <p:cNvCxnSpPr/>
          <p:nvPr/>
        </p:nvCxnSpPr>
        <p:spPr>
          <a:xfrm flipH="1" flipV="1">
            <a:off x="1051560" y="1436683"/>
            <a:ext cx="5220102" cy="2775319"/>
          </a:xfrm>
          <a:prstGeom prst="line">
            <a:avLst/>
          </a:prstGeom>
          <a:ln w="6985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3" name="TextBox 1482"/>
          <p:cNvSpPr txBox="1"/>
          <p:nvPr/>
        </p:nvSpPr>
        <p:spPr>
          <a:xfrm>
            <a:off x="91440" y="1599931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5A8261"/>
                </a:solidFill>
                <a:latin typeface="Arial"/>
              </a:rPr>
              <a:t>CNTN1</a:t>
            </a:r>
          </a:p>
        </p:txBody>
      </p:sp>
      <p:cxnSp>
        <p:nvCxnSpPr>
          <p:cNvPr id="1484" name="Connector 1483"/>
          <p:cNvCxnSpPr/>
          <p:nvPr/>
        </p:nvCxnSpPr>
        <p:spPr>
          <a:xfrm flipH="1" flipV="1">
            <a:off x="1051560" y="1677655"/>
            <a:ext cx="3453959" cy="2587749"/>
          </a:xfrm>
          <a:prstGeom prst="line">
            <a:avLst/>
          </a:prstGeom>
          <a:ln w="6985">
            <a:solidFill>
              <a:srgbClr val="5A826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5" name="TextBox 1484"/>
          <p:cNvSpPr txBox="1"/>
          <p:nvPr/>
        </p:nvSpPr>
        <p:spPr>
          <a:xfrm>
            <a:off x="91440" y="1840902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118AB2"/>
                </a:solidFill>
                <a:latin typeface="Arial"/>
              </a:rPr>
              <a:t>CCL11</a:t>
            </a:r>
          </a:p>
        </p:txBody>
      </p:sp>
      <p:cxnSp>
        <p:nvCxnSpPr>
          <p:cNvPr id="1486" name="Connector 1485"/>
          <p:cNvCxnSpPr/>
          <p:nvPr/>
        </p:nvCxnSpPr>
        <p:spPr>
          <a:xfrm flipH="1" flipV="1">
            <a:off x="1051560" y="1918626"/>
            <a:ext cx="4145443" cy="2381064"/>
          </a:xfrm>
          <a:prstGeom prst="line">
            <a:avLst/>
          </a:prstGeom>
          <a:ln w="6985">
            <a:solidFill>
              <a:srgbClr val="118A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7" name="TextBox 1486"/>
          <p:cNvSpPr txBox="1"/>
          <p:nvPr/>
        </p:nvSpPr>
        <p:spPr>
          <a:xfrm>
            <a:off x="91440" y="2081873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5A8261"/>
                </a:solidFill>
                <a:latin typeface="Arial"/>
              </a:rPr>
              <a:t>CACNA1H</a:t>
            </a:r>
          </a:p>
        </p:txBody>
      </p:sp>
      <p:cxnSp>
        <p:nvCxnSpPr>
          <p:cNvPr id="1488" name="Connector 1487"/>
          <p:cNvCxnSpPr/>
          <p:nvPr/>
        </p:nvCxnSpPr>
        <p:spPr>
          <a:xfrm flipH="1" flipV="1">
            <a:off x="1051560" y="2159597"/>
            <a:ext cx="4271762" cy="2184181"/>
          </a:xfrm>
          <a:prstGeom prst="line">
            <a:avLst/>
          </a:prstGeom>
          <a:ln w="6985">
            <a:solidFill>
              <a:srgbClr val="5A826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9" name="TextBox 1488"/>
          <p:cNvSpPr txBox="1"/>
          <p:nvPr/>
        </p:nvSpPr>
        <p:spPr>
          <a:xfrm>
            <a:off x="91440" y="2322844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5A8261"/>
                </a:solidFill>
                <a:latin typeface="Arial"/>
              </a:rPr>
              <a:t>SLIT3</a:t>
            </a:r>
          </a:p>
        </p:txBody>
      </p:sp>
      <p:cxnSp>
        <p:nvCxnSpPr>
          <p:cNvPr id="1490" name="Connector 1489"/>
          <p:cNvCxnSpPr/>
          <p:nvPr/>
        </p:nvCxnSpPr>
        <p:spPr>
          <a:xfrm flipH="1" flipV="1">
            <a:off x="1051560" y="2400568"/>
            <a:ext cx="4327725" cy="1974951"/>
          </a:xfrm>
          <a:prstGeom prst="line">
            <a:avLst/>
          </a:prstGeom>
          <a:ln w="6985">
            <a:solidFill>
              <a:srgbClr val="5A826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1" name="TextBox 1490"/>
          <p:cNvSpPr txBox="1"/>
          <p:nvPr/>
        </p:nvSpPr>
        <p:spPr>
          <a:xfrm>
            <a:off x="91440" y="2563816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118AB2"/>
                </a:solidFill>
                <a:latin typeface="Arial"/>
              </a:rPr>
              <a:t>PRSS23</a:t>
            </a:r>
          </a:p>
        </p:txBody>
      </p:sp>
      <p:cxnSp>
        <p:nvCxnSpPr>
          <p:cNvPr id="1492" name="Connector 1491"/>
          <p:cNvCxnSpPr/>
          <p:nvPr/>
        </p:nvCxnSpPr>
        <p:spPr>
          <a:xfrm flipH="1" flipV="1">
            <a:off x="1051560" y="2641540"/>
            <a:ext cx="4877129" cy="1817941"/>
          </a:xfrm>
          <a:prstGeom prst="line">
            <a:avLst/>
          </a:prstGeom>
          <a:ln w="6985">
            <a:solidFill>
              <a:srgbClr val="118A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3" name="TextBox 1492"/>
          <p:cNvSpPr txBox="1"/>
          <p:nvPr/>
        </p:nvSpPr>
        <p:spPr>
          <a:xfrm>
            <a:off x="91440" y="2804787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A24E78"/>
                </a:solidFill>
                <a:latin typeface="Arial"/>
              </a:rPr>
              <a:t>SMAD7</a:t>
            </a:r>
          </a:p>
        </p:txBody>
      </p:sp>
      <p:cxnSp>
        <p:nvCxnSpPr>
          <p:cNvPr id="1494" name="Connector 1493"/>
          <p:cNvCxnSpPr/>
          <p:nvPr/>
        </p:nvCxnSpPr>
        <p:spPr>
          <a:xfrm flipH="1" flipV="1">
            <a:off x="1051560" y="2882511"/>
            <a:ext cx="5023809" cy="1578699"/>
          </a:xfrm>
          <a:prstGeom prst="line">
            <a:avLst/>
          </a:prstGeom>
          <a:ln w="6985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5" name="TextBox 1494"/>
          <p:cNvSpPr txBox="1"/>
          <p:nvPr/>
        </p:nvSpPr>
        <p:spPr>
          <a:xfrm>
            <a:off x="91440" y="3045758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118AB2"/>
                </a:solidFill>
                <a:latin typeface="Arial"/>
              </a:rPr>
              <a:t>PCDH7</a:t>
            </a:r>
          </a:p>
        </p:txBody>
      </p:sp>
      <p:cxnSp>
        <p:nvCxnSpPr>
          <p:cNvPr id="1496" name="Connector 1495"/>
          <p:cNvCxnSpPr/>
          <p:nvPr/>
        </p:nvCxnSpPr>
        <p:spPr>
          <a:xfrm flipH="1" flipV="1">
            <a:off x="1051560" y="3123482"/>
            <a:ext cx="4467594" cy="1394483"/>
          </a:xfrm>
          <a:prstGeom prst="line">
            <a:avLst/>
          </a:prstGeom>
          <a:ln w="6985">
            <a:solidFill>
              <a:srgbClr val="118A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7" name="TextBox 1496"/>
          <p:cNvSpPr txBox="1"/>
          <p:nvPr/>
        </p:nvSpPr>
        <p:spPr>
          <a:xfrm>
            <a:off x="91440" y="3286730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5A8261"/>
                </a:solidFill>
                <a:latin typeface="Arial"/>
              </a:rPr>
              <a:t>SFRP1</a:t>
            </a:r>
          </a:p>
        </p:txBody>
      </p:sp>
      <p:cxnSp>
        <p:nvCxnSpPr>
          <p:cNvPr id="1498" name="Connector 1497"/>
          <p:cNvCxnSpPr/>
          <p:nvPr/>
        </p:nvCxnSpPr>
        <p:spPr>
          <a:xfrm flipH="1" flipV="1">
            <a:off x="1051560" y="3364454"/>
            <a:ext cx="4117374" cy="1206142"/>
          </a:xfrm>
          <a:prstGeom prst="line">
            <a:avLst/>
          </a:prstGeom>
          <a:ln w="6985">
            <a:solidFill>
              <a:srgbClr val="5A826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9" name="TextBox 1498"/>
          <p:cNvSpPr txBox="1"/>
          <p:nvPr/>
        </p:nvSpPr>
        <p:spPr>
          <a:xfrm>
            <a:off x="91440" y="3527701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118AB2"/>
                </a:solidFill>
                <a:latin typeface="Arial"/>
              </a:rPr>
              <a:t>CCL24</a:t>
            </a:r>
          </a:p>
        </p:txBody>
      </p:sp>
      <p:cxnSp>
        <p:nvCxnSpPr>
          <p:cNvPr id="1500" name="Connector 1499"/>
          <p:cNvCxnSpPr/>
          <p:nvPr/>
        </p:nvCxnSpPr>
        <p:spPr>
          <a:xfrm flipH="1" flipV="1">
            <a:off x="1051560" y="3605425"/>
            <a:ext cx="4649348" cy="986653"/>
          </a:xfrm>
          <a:prstGeom prst="line">
            <a:avLst/>
          </a:prstGeom>
          <a:ln w="6985">
            <a:solidFill>
              <a:srgbClr val="118A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1" name="TextBox 1500"/>
          <p:cNvSpPr txBox="1"/>
          <p:nvPr/>
        </p:nvSpPr>
        <p:spPr>
          <a:xfrm>
            <a:off x="91440" y="3768672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118AB2"/>
                </a:solidFill>
                <a:latin typeface="Arial"/>
              </a:rPr>
              <a:t>NMUR1</a:t>
            </a:r>
          </a:p>
        </p:txBody>
      </p:sp>
      <p:cxnSp>
        <p:nvCxnSpPr>
          <p:cNvPr id="1502" name="Connector 1501"/>
          <p:cNvCxnSpPr/>
          <p:nvPr/>
        </p:nvCxnSpPr>
        <p:spPr>
          <a:xfrm flipH="1" flipV="1">
            <a:off x="1051560" y="3846396"/>
            <a:ext cx="4660857" cy="766140"/>
          </a:xfrm>
          <a:prstGeom prst="line">
            <a:avLst/>
          </a:prstGeom>
          <a:ln w="6985">
            <a:solidFill>
              <a:srgbClr val="118A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3" name="TextBox 1502"/>
          <p:cNvSpPr txBox="1"/>
          <p:nvPr/>
        </p:nvSpPr>
        <p:spPr>
          <a:xfrm>
            <a:off x="91440" y="4009643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A24E78"/>
                </a:solidFill>
                <a:latin typeface="Arial"/>
              </a:rPr>
              <a:t>NPTX2</a:t>
            </a:r>
          </a:p>
        </p:txBody>
      </p:sp>
      <p:cxnSp>
        <p:nvCxnSpPr>
          <p:cNvPr id="1504" name="Connector 1503"/>
          <p:cNvCxnSpPr/>
          <p:nvPr/>
        </p:nvCxnSpPr>
        <p:spPr>
          <a:xfrm flipH="1" flipV="1">
            <a:off x="1051560" y="4087367"/>
            <a:ext cx="3222161" cy="542120"/>
          </a:xfrm>
          <a:prstGeom prst="line">
            <a:avLst/>
          </a:prstGeom>
          <a:ln w="6985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5" name="TextBox 1504"/>
          <p:cNvSpPr txBox="1"/>
          <p:nvPr/>
        </p:nvSpPr>
        <p:spPr>
          <a:xfrm>
            <a:off x="91440" y="4250615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118AB2"/>
                </a:solidFill>
                <a:latin typeface="Arial"/>
              </a:rPr>
              <a:t>CX3CL1</a:t>
            </a:r>
          </a:p>
        </p:txBody>
      </p:sp>
      <p:cxnSp>
        <p:nvCxnSpPr>
          <p:cNvPr id="1506" name="Connector 1505"/>
          <p:cNvCxnSpPr/>
          <p:nvPr/>
        </p:nvCxnSpPr>
        <p:spPr>
          <a:xfrm flipH="1" flipV="1">
            <a:off x="1051560" y="4328339"/>
            <a:ext cx="4823587" cy="337036"/>
          </a:xfrm>
          <a:prstGeom prst="line">
            <a:avLst/>
          </a:prstGeom>
          <a:ln w="6985">
            <a:solidFill>
              <a:srgbClr val="118A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7" name="TextBox 1506"/>
          <p:cNvSpPr txBox="1"/>
          <p:nvPr/>
        </p:nvSpPr>
        <p:spPr>
          <a:xfrm>
            <a:off x="91440" y="4491586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A24E78"/>
                </a:solidFill>
                <a:latin typeface="Arial"/>
              </a:rPr>
              <a:t>NME3</a:t>
            </a:r>
          </a:p>
        </p:txBody>
      </p:sp>
      <p:cxnSp>
        <p:nvCxnSpPr>
          <p:cNvPr id="1508" name="Connector 1507"/>
          <p:cNvCxnSpPr/>
          <p:nvPr/>
        </p:nvCxnSpPr>
        <p:spPr>
          <a:xfrm flipH="1" flipV="1">
            <a:off x="1051560" y="4569310"/>
            <a:ext cx="5251046" cy="119478"/>
          </a:xfrm>
          <a:prstGeom prst="line">
            <a:avLst/>
          </a:prstGeom>
          <a:ln w="6985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9" name="TextBox 1508"/>
          <p:cNvSpPr txBox="1"/>
          <p:nvPr/>
        </p:nvSpPr>
        <p:spPr>
          <a:xfrm>
            <a:off x="12207240" y="877017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5A8261"/>
                </a:solidFill>
                <a:latin typeface="Arial"/>
              </a:rPr>
              <a:t>FABP3</a:t>
            </a:r>
          </a:p>
        </p:txBody>
      </p:sp>
      <p:cxnSp>
        <p:nvCxnSpPr>
          <p:cNvPr id="1510" name="Connector 1509"/>
          <p:cNvCxnSpPr/>
          <p:nvPr/>
        </p:nvCxnSpPr>
        <p:spPr>
          <a:xfrm flipV="1">
            <a:off x="8397631" y="954741"/>
            <a:ext cx="3809609" cy="3374965"/>
          </a:xfrm>
          <a:prstGeom prst="line">
            <a:avLst/>
          </a:prstGeom>
          <a:ln w="6985">
            <a:solidFill>
              <a:srgbClr val="5A826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1" name="TextBox 1510"/>
          <p:cNvSpPr txBox="1"/>
          <p:nvPr/>
        </p:nvSpPr>
        <p:spPr>
          <a:xfrm>
            <a:off x="12207240" y="1599931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E39A1E"/>
                </a:solidFill>
                <a:latin typeface="Arial"/>
              </a:rPr>
              <a:t>DNMT1</a:t>
            </a:r>
          </a:p>
        </p:txBody>
      </p:sp>
      <p:cxnSp>
        <p:nvCxnSpPr>
          <p:cNvPr id="1512" name="Connector 1511"/>
          <p:cNvCxnSpPr/>
          <p:nvPr/>
        </p:nvCxnSpPr>
        <p:spPr>
          <a:xfrm flipV="1">
            <a:off x="7264624" y="1677655"/>
            <a:ext cx="4942616" cy="2924499"/>
          </a:xfrm>
          <a:prstGeom prst="line">
            <a:avLst/>
          </a:prstGeom>
          <a:ln w="6985">
            <a:solidFill>
              <a:srgbClr val="E39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3" name="TextBox 1512"/>
          <p:cNvSpPr txBox="1"/>
          <p:nvPr/>
        </p:nvSpPr>
        <p:spPr>
          <a:xfrm>
            <a:off x="12207240" y="2322844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A24E78"/>
                </a:solidFill>
                <a:latin typeface="Arial"/>
              </a:rPr>
              <a:t>SUPT5H</a:t>
            </a:r>
          </a:p>
        </p:txBody>
      </p:sp>
      <p:cxnSp>
        <p:nvCxnSpPr>
          <p:cNvPr id="1514" name="Connector 1513"/>
          <p:cNvCxnSpPr/>
          <p:nvPr/>
        </p:nvCxnSpPr>
        <p:spPr>
          <a:xfrm flipV="1">
            <a:off x="6921507" y="2400568"/>
            <a:ext cx="5285733" cy="2202297"/>
          </a:xfrm>
          <a:prstGeom prst="line">
            <a:avLst/>
          </a:prstGeom>
          <a:ln w="6985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5" name="TextBox 1514"/>
          <p:cNvSpPr txBox="1"/>
          <p:nvPr/>
        </p:nvSpPr>
        <p:spPr>
          <a:xfrm>
            <a:off x="12207240" y="3045758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18AB2"/>
                </a:solidFill>
                <a:latin typeface="Arial"/>
              </a:rPr>
              <a:t>PUS1</a:t>
            </a:r>
          </a:p>
        </p:txBody>
      </p:sp>
      <p:cxnSp>
        <p:nvCxnSpPr>
          <p:cNvPr id="1516" name="Connector 1515"/>
          <p:cNvCxnSpPr/>
          <p:nvPr/>
        </p:nvCxnSpPr>
        <p:spPr>
          <a:xfrm flipV="1">
            <a:off x="7139568" y="3123482"/>
            <a:ext cx="5067672" cy="1532481"/>
          </a:xfrm>
          <a:prstGeom prst="line">
            <a:avLst/>
          </a:prstGeom>
          <a:ln w="6985">
            <a:solidFill>
              <a:srgbClr val="118A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7" name="TextBox 1516"/>
          <p:cNvSpPr txBox="1"/>
          <p:nvPr/>
        </p:nvSpPr>
        <p:spPr>
          <a:xfrm>
            <a:off x="12207240" y="3768672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5A8261"/>
                </a:solidFill>
                <a:latin typeface="Arial"/>
              </a:rPr>
              <a:t>AKT2</a:t>
            </a:r>
          </a:p>
        </p:txBody>
      </p:sp>
      <p:cxnSp>
        <p:nvCxnSpPr>
          <p:cNvPr id="1518" name="Connector 1517"/>
          <p:cNvCxnSpPr/>
          <p:nvPr/>
        </p:nvCxnSpPr>
        <p:spPr>
          <a:xfrm flipV="1">
            <a:off x="6973831" y="3846396"/>
            <a:ext cx="5233409" cy="831207"/>
          </a:xfrm>
          <a:prstGeom prst="line">
            <a:avLst/>
          </a:prstGeom>
          <a:ln w="6985">
            <a:solidFill>
              <a:srgbClr val="5A826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9" name="TextBox 1518"/>
          <p:cNvSpPr txBox="1"/>
          <p:nvPr/>
        </p:nvSpPr>
        <p:spPr>
          <a:xfrm>
            <a:off x="12207240" y="4491586"/>
            <a:ext cx="960120" cy="1554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A24E78"/>
                </a:solidFill>
                <a:latin typeface="Arial"/>
              </a:rPr>
              <a:t>UPF3B</a:t>
            </a:r>
          </a:p>
        </p:txBody>
      </p:sp>
      <p:cxnSp>
        <p:nvCxnSpPr>
          <p:cNvPr id="1520" name="Connector 1519"/>
          <p:cNvCxnSpPr/>
          <p:nvPr/>
        </p:nvCxnSpPr>
        <p:spPr>
          <a:xfrm flipV="1">
            <a:off x="7024279" y="4569310"/>
            <a:ext cx="5182961" cy="110357"/>
          </a:xfrm>
          <a:prstGeom prst="line">
            <a:avLst/>
          </a:prstGeom>
          <a:ln w="6985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1" name="TextBox 1520"/>
          <p:cNvSpPr txBox="1"/>
          <p:nvPr/>
        </p:nvSpPr>
        <p:spPr>
          <a:xfrm>
            <a:off x="1849901" y="376806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0" i="0">
                <a:solidFill>
                  <a:srgbClr val="6C757D"/>
                </a:solidFill>
                <a:latin typeface="Arial"/>
              </a:rPr>
              <a:t>LINC01139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10723098" y="416809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6C757D"/>
                </a:solidFill>
                <a:latin typeface="Arial"/>
              </a:rPr>
              <a:t>LINC01087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10723098" y="451169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6C757D"/>
                </a:solidFill>
                <a:latin typeface="Arial"/>
              </a:rPr>
              <a:t>FOXI3</a:t>
            </a:r>
          </a:p>
        </p:txBody>
      </p:sp>
      <p:sp>
        <p:nvSpPr>
          <p:cNvPr id="1524" name="TextBox 1523"/>
          <p:cNvSpPr txBox="1"/>
          <p:nvPr/>
        </p:nvSpPr>
        <p:spPr>
          <a:xfrm>
            <a:off x="10723098" y="452139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6C757D"/>
                </a:solidFill>
                <a:latin typeface="Arial"/>
              </a:rPr>
              <a:t>CT83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10432269" y="368919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6C757D"/>
                </a:solidFill>
                <a:latin typeface="Arial"/>
              </a:rPr>
              <a:t>SPAG17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3246078" y="298054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0" i="0">
                <a:solidFill>
                  <a:srgbClr val="6C757D"/>
                </a:solidFill>
                <a:latin typeface="Arial"/>
              </a:rPr>
              <a:t>CPLX2</a:t>
            </a:r>
          </a:p>
        </p:txBody>
      </p:sp>
      <p:sp>
        <p:nvSpPr>
          <p:cNvPr id="1527" name="TextBox 1526"/>
          <p:cNvSpPr txBox="1"/>
          <p:nvPr/>
        </p:nvSpPr>
        <p:spPr>
          <a:xfrm>
            <a:off x="2867935" y="339898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0" i="0">
                <a:solidFill>
                  <a:srgbClr val="6C757D"/>
                </a:solidFill>
                <a:latin typeface="Arial"/>
              </a:rPr>
              <a:t>LCN15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10723098" y="456759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6C757D"/>
                </a:solidFill>
                <a:latin typeface="Arial"/>
              </a:rPr>
              <a:t>BOK-AS1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10631454" y="415170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6C757D"/>
                </a:solidFill>
                <a:latin typeface="Arial"/>
              </a:rPr>
              <a:t>SCN2A</a:t>
            </a:r>
          </a:p>
        </p:txBody>
      </p:sp>
      <p:sp>
        <p:nvSpPr>
          <p:cNvPr id="1530" name="TextBox 1529"/>
          <p:cNvSpPr txBox="1"/>
          <p:nvPr/>
        </p:nvSpPr>
        <p:spPr>
          <a:xfrm>
            <a:off x="10723098" y="456294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6C757D"/>
                </a:solidFill>
                <a:latin typeface="Arial"/>
              </a:rPr>
              <a:t>DNAAF4-CCPG1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1880857" y="430870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0" i="0">
                <a:solidFill>
                  <a:srgbClr val="6C757D"/>
                </a:solidFill>
                <a:latin typeface="Arial"/>
              </a:rPr>
              <a:t>REG3G</a:t>
            </a:r>
          </a:p>
        </p:txBody>
      </p:sp>
      <p:sp>
        <p:nvSpPr>
          <p:cNvPr id="1532" name="TextBox 1531"/>
          <p:cNvSpPr txBox="1"/>
          <p:nvPr/>
        </p:nvSpPr>
        <p:spPr>
          <a:xfrm>
            <a:off x="2058574" y="430359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0" i="0">
                <a:solidFill>
                  <a:srgbClr val="6C757D"/>
                </a:solidFill>
                <a:latin typeface="Arial"/>
              </a:rPr>
              <a:t>ANKRD34B</a:t>
            </a:r>
          </a:p>
        </p:txBody>
      </p:sp>
      <p:cxnSp>
        <p:nvCxnSpPr>
          <p:cNvPr id="1533" name="Connector 1532"/>
          <p:cNvCxnSpPr/>
          <p:nvPr/>
        </p:nvCxnSpPr>
        <p:spPr>
          <a:xfrm>
            <a:off x="7229035" y="922468"/>
            <a:ext cx="3086100" cy="0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4" name="Right Triangle 1533"/>
          <p:cNvSpPr/>
          <p:nvPr/>
        </p:nvSpPr>
        <p:spPr>
          <a:xfrm>
            <a:off x="10285135" y="892468"/>
            <a:ext cx="60000" cy="60000"/>
          </a:xfrm>
          <a:prstGeom prst="rtTriangl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TextBox 1534"/>
          <p:cNvSpPr txBox="1"/>
          <p:nvPr/>
        </p:nvSpPr>
        <p:spPr>
          <a:xfrm>
            <a:off x="7229035" y="648148"/>
            <a:ext cx="30861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Up in Good responders</a:t>
            </a:r>
          </a:p>
        </p:txBody>
      </p:sp>
      <p:cxnSp>
        <p:nvCxnSpPr>
          <p:cNvPr id="1536" name="Connector 1535"/>
          <p:cNvCxnSpPr/>
          <p:nvPr/>
        </p:nvCxnSpPr>
        <p:spPr>
          <a:xfrm flipH="1">
            <a:off x="3035104" y="922468"/>
            <a:ext cx="3086100" cy="0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" name="Right Triangle 1536"/>
          <p:cNvSpPr/>
          <p:nvPr/>
        </p:nvSpPr>
        <p:spPr>
          <a:xfrm rot="10800000">
            <a:off x="3005104" y="892468"/>
            <a:ext cx="60000" cy="60000"/>
          </a:xfrm>
          <a:prstGeom prst="rtTriangl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TextBox 1537"/>
          <p:cNvSpPr txBox="1"/>
          <p:nvPr/>
        </p:nvSpPr>
        <p:spPr>
          <a:xfrm>
            <a:off x="3035104" y="648148"/>
            <a:ext cx="30861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Up in Poor responders</a:t>
            </a:r>
          </a:p>
        </p:txBody>
      </p:sp>
      <p:sp>
        <p:nvSpPr>
          <p:cNvPr id="1539" name="Oval 1538"/>
          <p:cNvSpPr/>
          <p:nvPr/>
        </p:nvSpPr>
        <p:spPr>
          <a:xfrm>
            <a:off x="2671480" y="6594256"/>
            <a:ext cx="52000" cy="52000"/>
          </a:xfrm>
          <a:prstGeom prst="ellipse">
            <a:avLst/>
          </a:prstGeom>
          <a:solidFill>
            <a:srgbClr val="E39A1E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TextBox 1539"/>
          <p:cNvSpPr txBox="1"/>
          <p:nvPr/>
        </p:nvSpPr>
        <p:spPr>
          <a:xfrm>
            <a:off x="2834640" y="6537960"/>
            <a:ext cx="1783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Cell cycle  (n = 1)</a:t>
            </a:r>
          </a:p>
        </p:txBody>
      </p:sp>
      <p:sp>
        <p:nvSpPr>
          <p:cNvPr id="1541" name="Oval 1540"/>
          <p:cNvSpPr/>
          <p:nvPr/>
        </p:nvSpPr>
        <p:spPr>
          <a:xfrm>
            <a:off x="4728880" y="6594256"/>
            <a:ext cx="52000" cy="52000"/>
          </a:xfrm>
          <a:prstGeom prst="ellipse">
            <a:avLst/>
          </a:prstGeom>
          <a:solidFill>
            <a:srgbClr val="A24E7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4892040" y="6537960"/>
            <a:ext cx="1783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DNA repair  (n = 7)</a:t>
            </a:r>
          </a:p>
        </p:txBody>
      </p:sp>
      <p:sp>
        <p:nvSpPr>
          <p:cNvPr id="1543" name="Oval 1542"/>
          <p:cNvSpPr/>
          <p:nvPr/>
        </p:nvSpPr>
        <p:spPr>
          <a:xfrm>
            <a:off x="6786280" y="6594256"/>
            <a:ext cx="52000" cy="52000"/>
          </a:xfrm>
          <a:prstGeom prst="ellipse">
            <a:avLst/>
          </a:prstGeom>
          <a:solidFill>
            <a:srgbClr val="118AB2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TextBox 1543"/>
          <p:cNvSpPr txBox="1"/>
          <p:nvPr/>
        </p:nvSpPr>
        <p:spPr>
          <a:xfrm>
            <a:off x="6949440" y="6537960"/>
            <a:ext cx="1783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Immune  (n = 8)</a:t>
            </a:r>
          </a:p>
        </p:txBody>
      </p:sp>
      <p:sp>
        <p:nvSpPr>
          <p:cNvPr id="1545" name="Oval 1544"/>
          <p:cNvSpPr/>
          <p:nvPr/>
        </p:nvSpPr>
        <p:spPr>
          <a:xfrm>
            <a:off x="8843680" y="6594256"/>
            <a:ext cx="52000" cy="52000"/>
          </a:xfrm>
          <a:prstGeom prst="ellipse">
            <a:avLst/>
          </a:prstGeom>
          <a:solidFill>
            <a:srgbClr val="5A8261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TextBox 1545"/>
          <p:cNvSpPr txBox="1"/>
          <p:nvPr/>
        </p:nvSpPr>
        <p:spPr>
          <a:xfrm>
            <a:off x="9006840" y="6537960"/>
            <a:ext cx="1783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EMT / Stromal  (n = 6)</a:t>
            </a:r>
          </a:p>
        </p:txBody>
      </p:sp>
      <p:sp>
        <p:nvSpPr>
          <p:cNvPr id="1547" name="Oval 1546"/>
          <p:cNvSpPr/>
          <p:nvPr/>
        </p:nvSpPr>
        <p:spPr>
          <a:xfrm>
            <a:off x="2675480" y="6845144"/>
            <a:ext cx="44000" cy="44000"/>
          </a:xfrm>
          <a:prstGeom prst="ellipse">
            <a:avLst/>
          </a:prstGeom>
          <a:solidFill>
            <a:srgbClr val="6C757D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TextBox 1547"/>
          <p:cNvSpPr txBox="1"/>
          <p:nvPr/>
        </p:nvSpPr>
        <p:spPr>
          <a:xfrm>
            <a:off x="2834640" y="6784848"/>
            <a:ext cx="1783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 (no pathway)  (n = 206)</a:t>
            </a:r>
          </a:p>
        </p:txBody>
      </p:sp>
      <p:sp>
        <p:nvSpPr>
          <p:cNvPr id="1549" name="Oval 1548"/>
          <p:cNvSpPr/>
          <p:nvPr/>
        </p:nvSpPr>
        <p:spPr>
          <a:xfrm>
            <a:off x="4736880" y="6849144"/>
            <a:ext cx="36000" cy="36000"/>
          </a:xfrm>
          <a:prstGeom prst="ellipse">
            <a:avLst/>
          </a:prstGeom>
          <a:solidFill>
            <a:srgbClr val="DDE2E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TextBox 1549"/>
          <p:cNvSpPr txBox="1"/>
          <p:nvPr/>
        </p:nvSpPr>
        <p:spPr>
          <a:xfrm>
            <a:off x="4892040" y="6784848"/>
            <a:ext cx="1783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Non-significant (P ≥ 0.01)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