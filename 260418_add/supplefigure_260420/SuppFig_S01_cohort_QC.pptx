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Sample counts by modality × timepoint × response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645920" y="5669280"/>
            <a:ext cx="96012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45920" y="1280160"/>
            <a:ext cx="0" cy="438912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247120" y="1280160"/>
            <a:ext cx="0" cy="438912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645920" y="1280160"/>
            <a:ext cx="96012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81912" y="566928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43000" y="558698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581912" y="49377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43000" y="48554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81912" y="420624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43000" y="412394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581912" y="3474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43000" y="3392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81912" y="27432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43000" y="26609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20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81912" y="201168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43000" y="192938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25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581912" y="12801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43000" y="11978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46888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number of samples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20" y="1261872"/>
            <a:ext cx="4800600" cy="4407408"/>
          </a:xfrm>
          <a:prstGeom prst="rect">
            <a:avLst/>
          </a:prstGeom>
          <a:solidFill>
            <a:srgbClr val="F0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46520" y="1261872"/>
            <a:ext cx="4800600" cy="4407408"/>
          </a:xfrm>
          <a:prstGeom prst="rect">
            <a:avLst/>
          </a:prstGeom>
          <a:solidFill>
            <a:srgbClr val="FA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645920" y="5669280"/>
            <a:ext cx="96012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645920" y="1280160"/>
            <a:ext cx="0" cy="438912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645920" y="960120"/>
            <a:ext cx="48006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E4A68"/>
                </a:solidFill>
                <a:latin typeface="Arial"/>
              </a:rPr>
              <a:t>WES (whole-exome)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960120"/>
            <a:ext cx="48006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8A2B4C"/>
                </a:solidFill>
                <a:latin typeface="Arial"/>
              </a:rPr>
              <a:t>RNA-seq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93392" y="3328416"/>
            <a:ext cx="402336" cy="2340864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20240" y="3108960"/>
            <a:ext cx="548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A7D6E"/>
                </a:solidFill>
                <a:latin typeface="Arial"/>
              </a:rPr>
              <a:t>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96312" y="3913632"/>
            <a:ext cx="402336" cy="1755648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23160" y="3694176"/>
            <a:ext cx="548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C53E1F"/>
                </a:solidFill>
                <a:latin typeface="Arial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14500" y="5742432"/>
            <a:ext cx="14630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normal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93592" y="3035808"/>
            <a:ext cx="402336" cy="2633472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20440" y="2816352"/>
            <a:ext cx="548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A7D6E"/>
                </a:solidFill>
                <a:latin typeface="Arial"/>
              </a:rPr>
              <a:t>18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96512" y="3182112"/>
            <a:ext cx="402336" cy="2487168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23360" y="2962656"/>
            <a:ext cx="548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C53E1F"/>
                </a:solidFill>
                <a:latin typeface="Arial"/>
              </a:rPr>
              <a:t>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4700" y="5742432"/>
            <a:ext cx="14630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93792" y="4645152"/>
            <a:ext cx="402336" cy="102412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0640" y="4425696"/>
            <a:ext cx="548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A7D6E"/>
                </a:solidFill>
                <a:latin typeface="Arial"/>
              </a:rPr>
              <a:t>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96712" y="4645152"/>
            <a:ext cx="402336" cy="1024128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23560" y="4425696"/>
            <a:ext cx="548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C53E1F"/>
                </a:solidFill>
                <a:latin typeface="Arial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14900" y="5742432"/>
            <a:ext cx="14630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93992" y="4645152"/>
            <a:ext cx="402336" cy="102412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20840" y="4425696"/>
            <a:ext cx="548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A7D6E"/>
                </a:solidFill>
                <a:latin typeface="Arial"/>
              </a:rPr>
              <a:t>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96912" y="5230368"/>
            <a:ext cx="402336" cy="438912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23760" y="5010912"/>
            <a:ext cx="548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C53E1F"/>
                </a:solidFill>
                <a:latin typeface="Arial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15100" y="5742432"/>
            <a:ext cx="14630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normal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94192" y="3182112"/>
            <a:ext cx="402336" cy="2487168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962656"/>
            <a:ext cx="548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A7D6E"/>
                </a:solidFill>
                <a:latin typeface="Arial"/>
              </a:rPr>
              <a:t>17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97112" y="3328416"/>
            <a:ext cx="402336" cy="2340864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108960"/>
            <a:ext cx="548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C53E1F"/>
                </a:solidFill>
                <a:latin typeface="Arial"/>
              </a:rPr>
              <a:t>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15300" y="5742432"/>
            <a:ext cx="14630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994392" y="4791456"/>
            <a:ext cx="402336" cy="877824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21240" y="4572000"/>
            <a:ext cx="548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A7D6E"/>
                </a:solidFill>
                <a:latin typeface="Arial"/>
              </a:rPr>
              <a:t>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497312" y="4645152"/>
            <a:ext cx="402336" cy="1024128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24160" y="4425696"/>
            <a:ext cx="548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C53E1F"/>
                </a:solidFill>
                <a:latin typeface="Arial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15500" y="5742432"/>
            <a:ext cx="146304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6172200"/>
            <a:ext cx="2743200" cy="384048"/>
          </a:xfrm>
          <a:prstGeom prst="rect">
            <a:avLst/>
          </a:prstGeom>
          <a:solidFill>
            <a:srgbClr val="9FC9BE"/>
          </a:solidFill>
          <a:ln w="1016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6172200"/>
            <a:ext cx="274320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MSS: 41 / 41 tumors (max MSI 0.19 %)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46120" y="6172200"/>
            <a:ext cx="2743200" cy="384048"/>
          </a:xfrm>
          <a:prstGeom prst="rect">
            <a:avLst/>
          </a:prstGeom>
          <a:solidFill>
            <a:srgbClr val="9FC9BE"/>
          </a:solidFill>
          <a:ln w="1016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46120" y="6172200"/>
            <a:ext cx="274320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TMB-low: median 1.6 / Mb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26480" y="6172200"/>
            <a:ext cx="2743200" cy="384048"/>
          </a:xfrm>
          <a:prstGeom prst="rect">
            <a:avLst/>
          </a:prstGeom>
          <a:solidFill>
            <a:srgbClr val="D4A300"/>
          </a:solidFill>
          <a:ln w="1016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26480" y="6172200"/>
            <a:ext cx="274320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pCR target: 18 / 35 eventual good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TMB (nonsyn / Mb) by response — pre-tumor samples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0" y="6035040"/>
            <a:ext cx="484632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657600" y="1188720"/>
            <a:ext cx="0" cy="484632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503920" y="1188720"/>
            <a:ext cx="0" cy="484632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657600" y="1188720"/>
            <a:ext cx="484632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593592" y="603504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154680" y="595274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93592" y="5065776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54680" y="4983480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2.0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93592" y="4096512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154680" y="4014216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4.0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93592" y="3127248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54680" y="3044952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6.0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2" y="2157984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154680" y="2075688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8.0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93592" y="1188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54680" y="1106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10.0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260604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TMB (nonsyn / Mb)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4869180" y="3204789"/>
            <a:ext cx="0" cy="279148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52010" y="5996269"/>
            <a:ext cx="434340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652010" y="3204789"/>
            <a:ext cx="434340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434840" y="5388056"/>
            <a:ext cx="868680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434840" y="5104547"/>
            <a:ext cx="868680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816971" y="3154497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826054" y="3416198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025712" y="3513125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35890" y="4773168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59637" y="4802246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752333" y="4870094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02891" y="4957328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811569" y="4996099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741478" y="5025177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680595" y="5083332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696708" y="5093025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63598" y="5199644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671285" y="5315956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626453" y="5345034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829712" y="5548579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980783" y="5664891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726029" y="5936285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021746" y="5945977"/>
            <a:ext cx="100584" cy="100584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63340" y="6126480"/>
            <a:ext cx="20116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A7D6E"/>
                </a:solidFill>
                <a:latin typeface="Arial"/>
              </a:rPr>
              <a:t>good (n=18)  med=1.92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7292340" y="2739542"/>
            <a:ext cx="0" cy="3247035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075170" y="5986577"/>
            <a:ext cx="434340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075170" y="2739542"/>
            <a:ext cx="434340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6858000" y="5540715"/>
            <a:ext cx="868680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858000" y="5153010"/>
            <a:ext cx="868680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7359196" y="2689250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250392" y="2834640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229812" y="3183575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45292" y="3290194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077660" y="4230380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230924" y="4928250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102504" y="5015484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392700" y="5063947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243070" y="5102718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39030" y="5238415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252710" y="5257800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321609" y="5354726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233137" y="5490423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363888" y="5558272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427924" y="5664891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085552" y="5907207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122515" y="5936285"/>
            <a:ext cx="100584" cy="100584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86500" y="6126480"/>
            <a:ext cx="20116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C53E1F"/>
                </a:solidFill>
                <a:latin typeface="Arial"/>
              </a:rPr>
              <a:t>bad (n=17)  med=1.82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657600" y="1188720"/>
            <a:ext cx="4846320" cy="0"/>
          </a:xfrm>
          <a:prstGeom prst="line">
            <a:avLst/>
          </a:prstGeom>
          <a:ln w="15240">
            <a:solidFill>
              <a:srgbClr val="D4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8595360" y="1051560"/>
            <a:ext cx="1737360" cy="274320"/>
          </a:xfrm>
          <a:prstGeom prst="rect">
            <a:avLst/>
          </a:prstGeom>
          <a:solidFill>
            <a:srgbClr val="D4A300"/>
          </a:solidFill>
          <a:ln w="1016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595360" y="1051560"/>
            <a:ext cx="17373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MSI-high threshold (10/Mb)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37760" y="868680"/>
            <a:ext cx="2286000" cy="274320"/>
          </a:xfrm>
          <a:prstGeom prst="rect">
            <a:avLst/>
          </a:prstGeom>
          <a:solidFill>
            <a:srgbClr val="F0F0F0"/>
          </a:solidFill>
          <a:ln w="1016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937760" y="868680"/>
            <a:ext cx="22860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Mann–Whitney P = 0.987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