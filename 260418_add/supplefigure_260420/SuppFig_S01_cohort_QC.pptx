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Sample counts by modality × timepoint × response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645920" y="5760720"/>
            <a:ext cx="9601200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645920" y="1188720"/>
            <a:ext cx="0" cy="457200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247120" y="1188720"/>
            <a:ext cx="0" cy="457200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1188720"/>
            <a:ext cx="9601200" cy="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581912" y="57607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43000" y="56784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581912" y="49987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43000" y="49164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5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81912" y="42367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43000" y="41544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10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581912" y="34747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43000" y="33924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15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581912" y="27127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43000" y="26304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20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581912" y="19507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43000" y="18684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25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581912" y="11887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143000" y="11064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2468880"/>
            <a:ext cx="365760" cy="20116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number of samples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93392" y="3322320"/>
            <a:ext cx="402336" cy="2438400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20240" y="3102864"/>
            <a:ext cx="5486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0A7D6E"/>
                </a:solidFill>
                <a:latin typeface="Arial"/>
              </a:rPr>
              <a:t>16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96312" y="3931920"/>
            <a:ext cx="402336" cy="1828800"/>
          </a:xfrm>
          <a:prstGeom prst="rect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23160" y="3712464"/>
            <a:ext cx="5486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C53E1F"/>
                </a:solidFill>
                <a:latin typeface="Arial"/>
              </a:rP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14500" y="5833872"/>
            <a:ext cx="146304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WES normal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93592" y="3017520"/>
            <a:ext cx="402336" cy="2743200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2798064"/>
            <a:ext cx="5486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0A7D6E"/>
                </a:solidFill>
                <a:latin typeface="Arial"/>
              </a:rPr>
              <a:t>18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96512" y="3169920"/>
            <a:ext cx="402336" cy="2590800"/>
          </a:xfrm>
          <a:prstGeom prst="rect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23360" y="2950464"/>
            <a:ext cx="5486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C53E1F"/>
                </a:solidFill>
                <a:latin typeface="Arial"/>
              </a:rPr>
              <a:t>17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4700" y="5833872"/>
            <a:ext cx="146304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WES pre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93792" y="4693920"/>
            <a:ext cx="402336" cy="1066800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20640" y="4474464"/>
            <a:ext cx="5486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0A7D6E"/>
                </a:solidFill>
                <a:latin typeface="Arial"/>
              </a:rPr>
              <a:t>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96712" y="4693920"/>
            <a:ext cx="402336" cy="1066800"/>
          </a:xfrm>
          <a:prstGeom prst="rect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23560" y="4474464"/>
            <a:ext cx="5486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C53E1F"/>
                </a:solidFill>
                <a:latin typeface="Arial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14900" y="5833872"/>
            <a:ext cx="146304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WES post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93992" y="4693920"/>
            <a:ext cx="402336" cy="1066800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20840" y="4474464"/>
            <a:ext cx="5486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0A7D6E"/>
                </a:solidFill>
                <a:latin typeface="Arial"/>
              </a:rPr>
              <a:t>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96912" y="5303520"/>
            <a:ext cx="402336" cy="457200"/>
          </a:xfrm>
          <a:prstGeom prst="rect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23760" y="5084064"/>
            <a:ext cx="5486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C53E1F"/>
                </a:solidFill>
                <a:latin typeface="Arial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15100" y="5833872"/>
            <a:ext cx="146304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RNA normal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94192" y="3169920"/>
            <a:ext cx="402336" cy="2590800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21040" y="2950464"/>
            <a:ext cx="5486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0A7D6E"/>
                </a:solidFill>
                <a:latin typeface="Arial"/>
              </a:rPr>
              <a:t>17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897112" y="3322320"/>
            <a:ext cx="402336" cy="2438400"/>
          </a:xfrm>
          <a:prstGeom prst="rect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23960" y="3102864"/>
            <a:ext cx="5486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C53E1F"/>
                </a:solidFill>
                <a:latin typeface="Arial"/>
              </a:rPr>
              <a:t>16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15300" y="5833872"/>
            <a:ext cx="146304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RNA pre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994392" y="4846320"/>
            <a:ext cx="402336" cy="914400"/>
          </a:xfrm>
          <a:prstGeom prst="rect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921240" y="4626864"/>
            <a:ext cx="5486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0A7D6E"/>
                </a:solidFill>
                <a:latin typeface="Arial"/>
              </a:rPr>
              <a:t>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497312" y="4693920"/>
            <a:ext cx="402336" cy="1066800"/>
          </a:xfrm>
          <a:prstGeom prst="rect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424160" y="4474464"/>
            <a:ext cx="5486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C53E1F"/>
                </a:solidFill>
                <a:latin typeface="Arial"/>
              </a:rP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15500" y="5833872"/>
            <a:ext cx="146304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RNA post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515600" y="731520"/>
            <a:ext cx="182880" cy="109728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744200" y="713232"/>
            <a:ext cx="10972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Arial"/>
              </a:rPr>
              <a:t>good (18)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515600" y="914400"/>
            <a:ext cx="182880" cy="109728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744200" y="896112"/>
            <a:ext cx="10972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Arial"/>
              </a:rPr>
              <a:t>bad (17)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TMB (nonsyn / Mb) by response group — pre-tumor samples only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0" y="5760720"/>
            <a:ext cx="4572000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657600" y="1188720"/>
            <a:ext cx="0" cy="457200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229600" y="1188720"/>
            <a:ext cx="0" cy="457200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1188720"/>
            <a:ext cx="4572000" cy="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593592" y="57607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154680" y="56784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0.0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593592" y="48463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154680" y="47640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2.0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593592" y="39319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154680" y="38496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4.0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93592" y="30175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154680" y="29352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6.0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93592" y="21031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154680" y="20208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8.0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593592" y="11887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154680" y="11064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10.0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2468880"/>
            <a:ext cx="365760" cy="20116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TMB (nonsyn / Mb)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4800600" y="3090672"/>
            <a:ext cx="0" cy="2633472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594860" y="5724144"/>
            <a:ext cx="411480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594860" y="3090672"/>
            <a:ext cx="411480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389120" y="5150358"/>
            <a:ext cx="822960" cy="1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4389120" y="4882896"/>
            <a:ext cx="822960" cy="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936010" y="3058668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914733" y="3305556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92663" y="3396996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758072" y="4585716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973530" y="4613148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09544" y="4677156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963433" y="4759452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701516" y="4796028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644050" y="4823460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903795" y="4878324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952798" y="4887468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570503" y="4988052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936797" y="5097780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574627" y="5125212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766096" y="5317236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829223" y="5426964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573482" y="5682996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674555" y="5692140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86200" y="5852160"/>
            <a:ext cx="18288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A7D6E"/>
                </a:solidFill>
                <a:latin typeface="Arial"/>
              </a:rPr>
              <a:t>good (n=18)</a:t>
            </a:r>
          </a:p>
        </p:txBody>
      </p:sp>
      <p:cxnSp>
        <p:nvCxnSpPr>
          <p:cNvPr id="45" name="Connector 44"/>
          <p:cNvCxnSpPr/>
          <p:nvPr/>
        </p:nvCxnSpPr>
        <p:spPr>
          <a:xfrm flipV="1">
            <a:off x="7086600" y="2651760"/>
            <a:ext cx="0" cy="306324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880860" y="5715000"/>
            <a:ext cx="411480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880860" y="2651760"/>
            <a:ext cx="411480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6675120" y="5294376"/>
            <a:ext cx="822960" cy="1"/>
          </a:xfrm>
          <a:prstGeom prst="rect">
            <a:avLst/>
          </a:prstGeom>
          <a:noFill/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6675120" y="4928616"/>
            <a:ext cx="822960" cy="0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030191" y="2619756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115722" y="2756916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987300" y="3086100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979099" y="3186684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995306" y="4073652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015703" y="4732020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978222" y="4814316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850575" y="4860036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171127" y="4896612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902437" y="5024628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021642" y="5042916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891577" y="5134356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251186" y="5262372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245310" y="5326380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965460" y="5426964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977284" y="5655564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138224" y="5682996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72200" y="5852160"/>
            <a:ext cx="18288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C53E1F"/>
                </a:solidFill>
                <a:latin typeface="Arial"/>
              </a:rPr>
              <a:t>bad (n=17)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46320" y="914400"/>
            <a:ext cx="21945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22222"/>
                </a:solidFill>
                <a:latin typeface="Arial"/>
              </a:rPr>
              <a:t>Mann–Whitney P = 0.987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3657600" y="1188720"/>
            <a:ext cx="4572000" cy="0"/>
          </a:xfrm>
          <a:prstGeom prst="line">
            <a:avLst/>
          </a:prstGeom>
          <a:ln w="12700">
            <a:solidFill>
              <a:srgbClr val="D4A3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8275320" y="1097280"/>
            <a:ext cx="18288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D4A300"/>
                </a:solidFill>
                <a:latin typeface="Arial"/>
              </a:rPr>
              <a:t>10/Mb MSI-high threshold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0" y="6263640"/>
            <a:ext cx="457200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1">
                <a:solidFill>
                  <a:srgbClr val="222222"/>
                </a:solidFill>
                <a:latin typeface="Arial"/>
              </a:rPr>
              <a:t>Median good 1.85 vs bad 1.40 (MSS, TMB-low throughout). All 41 matched tumors MSS (max MSI 0.19 %).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