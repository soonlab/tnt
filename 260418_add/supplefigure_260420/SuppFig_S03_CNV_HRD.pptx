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HRD-sum components per subject (LST + LOH + TAI, Myriad-style proxy; pre-CRT)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188720" y="5760720"/>
            <a:ext cx="105156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8720" y="118872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704320" y="118872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88720" y="1188720"/>
            <a:ext cx="105156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24712" y="5760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5678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24712" y="48463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7640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24712" y="39319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8496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16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24712" y="30175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352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24712" y="21031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0208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32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2471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246888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HRD-LST + LOH + TAI count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17930" y="5529811"/>
            <a:ext cx="233680" cy="230909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17930" y="5414356"/>
            <a:ext cx="233680" cy="115455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17930" y="4837084"/>
            <a:ext cx="233680" cy="577273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179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10030" y="5298902"/>
            <a:ext cx="233680" cy="461818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0030" y="5067993"/>
            <a:ext cx="233680" cy="230909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10030" y="4490720"/>
            <a:ext cx="233680" cy="577273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100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08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02130" y="5414356"/>
            <a:ext cx="233680" cy="346364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02130" y="4952538"/>
            <a:ext cx="233680" cy="461818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02130" y="4375265"/>
            <a:ext cx="233680" cy="577273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021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729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94230" y="5414356"/>
            <a:ext cx="233680" cy="346364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94230" y="5067993"/>
            <a:ext cx="233680" cy="346364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94230" y="4375265"/>
            <a:ext cx="233680" cy="692727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942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650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86330" y="5414356"/>
            <a:ext cx="233680" cy="346364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86330" y="4837084"/>
            <a:ext cx="233680" cy="577273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86330" y="4259811"/>
            <a:ext cx="233680" cy="577273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3863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571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78430" y="5298902"/>
            <a:ext cx="233680" cy="461818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78430" y="4721629"/>
            <a:ext cx="233680" cy="577273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78430" y="3913447"/>
            <a:ext cx="233680" cy="808182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784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492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0530" y="5183447"/>
            <a:ext cx="233680" cy="577273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970530" y="4721629"/>
            <a:ext cx="233680" cy="461818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70530" y="3913447"/>
            <a:ext cx="233680" cy="808182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9705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413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62630" y="5183447"/>
            <a:ext cx="233680" cy="577273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62630" y="4721629"/>
            <a:ext cx="233680" cy="461818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62630" y="3913447"/>
            <a:ext cx="233680" cy="808182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2626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334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54730" y="5067993"/>
            <a:ext cx="233680" cy="692727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554730" y="4606175"/>
            <a:ext cx="233680" cy="461818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54730" y="3913447"/>
            <a:ext cx="233680" cy="692727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547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255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46830" y="5298902"/>
            <a:ext cx="233680" cy="461818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846830" y="4721629"/>
            <a:ext cx="233680" cy="577273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6830" y="3682538"/>
            <a:ext cx="233680" cy="1039091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468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176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38930" y="5067993"/>
            <a:ext cx="233680" cy="692727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138930" y="4490720"/>
            <a:ext cx="233680" cy="577273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38930" y="3451629"/>
            <a:ext cx="233680" cy="1039091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1389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097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31030" y="4952538"/>
            <a:ext cx="233680" cy="808182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431030" y="4375265"/>
            <a:ext cx="233680" cy="577273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31030" y="3220720"/>
            <a:ext cx="233680" cy="1154545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4310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018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23130" y="5067993"/>
            <a:ext cx="233680" cy="692727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723130" y="4375265"/>
            <a:ext cx="233680" cy="692727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23130" y="2989811"/>
            <a:ext cx="233680" cy="1385455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231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939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15230" y="5183447"/>
            <a:ext cx="233680" cy="577273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15230" y="4375265"/>
            <a:ext cx="233680" cy="808182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015230" y="2989811"/>
            <a:ext cx="233680" cy="1385455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0152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860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307330" y="5298902"/>
            <a:ext cx="233680" cy="461818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307330" y="4490720"/>
            <a:ext cx="233680" cy="808182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307330" y="2989811"/>
            <a:ext cx="233680" cy="1500909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3073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2781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599430" y="5067993"/>
            <a:ext cx="233680" cy="692727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599430" y="4259811"/>
            <a:ext cx="233680" cy="808182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99430" y="2527993"/>
            <a:ext cx="233680" cy="1731818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5994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5702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91530" y="5183447"/>
            <a:ext cx="233680" cy="577273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891530" y="4144356"/>
            <a:ext cx="233680" cy="1039091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891530" y="2297084"/>
            <a:ext cx="233680" cy="1847273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891530" y="5797296"/>
            <a:ext cx="2336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8623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83630" y="5414356"/>
            <a:ext cx="233680" cy="346364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183630" y="5067993"/>
            <a:ext cx="233680" cy="346364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83630" y="4606175"/>
            <a:ext cx="233680" cy="461818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836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544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75730" y="5414356"/>
            <a:ext cx="233680" cy="346364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475730" y="5067993"/>
            <a:ext cx="233680" cy="346364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475730" y="4490720"/>
            <a:ext cx="233680" cy="577273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4757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465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16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767830" y="5414356"/>
            <a:ext cx="233680" cy="346364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767830" y="5067993"/>
            <a:ext cx="233680" cy="346364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767830" y="4490720"/>
            <a:ext cx="233680" cy="577273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678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386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059930" y="5414356"/>
            <a:ext cx="233680" cy="346364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059930" y="5067993"/>
            <a:ext cx="233680" cy="346364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059930" y="4490720"/>
            <a:ext cx="233680" cy="577273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0599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0307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352030" y="5645265"/>
            <a:ext cx="233680" cy="115455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352030" y="5414356"/>
            <a:ext cx="233680" cy="230909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352030" y="4490720"/>
            <a:ext cx="233680" cy="923636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3520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3228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6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644130" y="5414356"/>
            <a:ext cx="233680" cy="346364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644130" y="5067993"/>
            <a:ext cx="233680" cy="346364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644130" y="4259811"/>
            <a:ext cx="233680" cy="808182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6441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6149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24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936230" y="5529811"/>
            <a:ext cx="233680" cy="230909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936230" y="5067993"/>
            <a:ext cx="233680" cy="461818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936230" y="4259811"/>
            <a:ext cx="233680" cy="808182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9362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9070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228330" y="5298902"/>
            <a:ext cx="233680" cy="461818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228330" y="4837084"/>
            <a:ext cx="233680" cy="461818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228330" y="4144356"/>
            <a:ext cx="233680" cy="692727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83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1991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520430" y="5183447"/>
            <a:ext cx="233680" cy="577273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520430" y="4837084"/>
            <a:ext cx="233680" cy="346364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8520430" y="4144356"/>
            <a:ext cx="233680" cy="692727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5204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4912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31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812530" y="5298902"/>
            <a:ext cx="233680" cy="461818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8812530" y="4952538"/>
            <a:ext cx="233680" cy="346364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812530" y="4028902"/>
            <a:ext cx="233680" cy="923636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8125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7833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9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104630" y="5298902"/>
            <a:ext cx="233680" cy="461818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9104630" y="4721629"/>
            <a:ext cx="233680" cy="577273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9104630" y="3913447"/>
            <a:ext cx="233680" cy="808182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91046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0754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14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396730" y="5183447"/>
            <a:ext cx="233680" cy="577273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9396730" y="4375265"/>
            <a:ext cx="233680" cy="808182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9396730" y="3567084"/>
            <a:ext cx="233680" cy="808182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3967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675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688830" y="5529811"/>
            <a:ext cx="233680" cy="230909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88830" y="4952538"/>
            <a:ext cx="233680" cy="577273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9688830" y="3451629"/>
            <a:ext cx="233680" cy="1500909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96888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6596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23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980930" y="5183447"/>
            <a:ext cx="233680" cy="577273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980930" y="4490720"/>
            <a:ext cx="233680" cy="692727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980930" y="2989811"/>
            <a:ext cx="233680" cy="1500909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9809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99517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4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273030" y="5414356"/>
            <a:ext cx="233680" cy="346364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273030" y="4606175"/>
            <a:ext cx="233680" cy="808182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273030" y="2989811"/>
            <a:ext cx="233680" cy="1616364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02730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2438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8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0565130" y="4952538"/>
            <a:ext cx="233680" cy="808182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565130" y="4144356"/>
            <a:ext cx="233680" cy="808182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565130" y="2758902"/>
            <a:ext cx="233680" cy="1385455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105651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359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857230" y="5183447"/>
            <a:ext cx="233680" cy="577273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857230" y="4375265"/>
            <a:ext cx="233680" cy="808182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0857230" y="2297084"/>
            <a:ext cx="233680" cy="2078182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08572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108280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1149330" y="4837084"/>
            <a:ext cx="233680" cy="923636"/>
          </a:xfrm>
          <a:prstGeom prst="rect">
            <a:avLst/>
          </a:prstGeom>
          <a:solidFill>
            <a:srgbClr val="4E79A7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149330" y="3797993"/>
            <a:ext cx="233680" cy="1039091"/>
          </a:xfrm>
          <a:prstGeom prst="rect">
            <a:avLst/>
          </a:prstGeom>
          <a:solidFill>
            <a:srgbClr val="F28E2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149330" y="1604356"/>
            <a:ext cx="233680" cy="2193636"/>
          </a:xfrm>
          <a:prstGeom prst="rect">
            <a:avLst/>
          </a:prstGeom>
          <a:solidFill>
            <a:srgbClr val="59A14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1149330" y="5797296"/>
            <a:ext cx="2336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11120120" y="5943600"/>
            <a:ext cx="2921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29</a:t>
            </a:r>
          </a:p>
        </p:txBody>
      </p:sp>
      <p:cxnSp>
        <p:nvCxnSpPr>
          <p:cNvPr id="196" name="Connector 195"/>
          <p:cNvCxnSpPr/>
          <p:nvPr/>
        </p:nvCxnSpPr>
        <p:spPr>
          <a:xfrm>
            <a:off x="6446520" y="1188720"/>
            <a:ext cx="0" cy="4754880"/>
          </a:xfrm>
          <a:prstGeom prst="line">
            <a:avLst/>
          </a:prstGeom>
          <a:ln w="190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Rectangle 196"/>
          <p:cNvSpPr/>
          <p:nvPr/>
        </p:nvSpPr>
        <p:spPr>
          <a:xfrm>
            <a:off x="10607040" y="731520"/>
            <a:ext cx="182880" cy="12801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0835640" y="713232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LST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10607040" y="950976"/>
            <a:ext cx="182880" cy="128016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835640" y="932688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LOH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0607040" y="1170432"/>
            <a:ext cx="182880" cy="128016"/>
          </a:xfrm>
          <a:prstGeom prst="rect">
            <a:avLst/>
          </a:prstGeom>
          <a:solidFill>
            <a:srgbClr val="59A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0835640" y="1152143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TAI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607040" y="1508760"/>
            <a:ext cx="18288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835640" y="1490472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good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0607040" y="1691640"/>
            <a:ext cx="18288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835640" y="1673352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bad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188720" y="6309360"/>
            <a:ext cx="10515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222222"/>
                </a:solidFill>
                <a:latin typeface="Arial"/>
              </a:rPr>
              <a:t>HRD proxy (LST+LOH+TAI) per pre-CRT tumor; bars left-to-right = subjects sorted by response then HRD_sum (ascending). Data source: 04_wes_cnv_clonal/hrd_proxy/hrd_proxy_scores.tsv.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HRD-LST (Large-Scale Transition count) by response, pre-CRT tumors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0" y="5943600"/>
            <a:ext cx="45720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657600" y="137160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229600" y="137160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657600" y="1371600"/>
            <a:ext cx="45720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593592" y="5943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54680" y="5861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93592" y="50292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54680" y="49469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3592" y="41148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80" y="40325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93592" y="32004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54680" y="31181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2" y="22860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54680" y="22037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93592" y="1371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54680" y="1289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65176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LST count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800600" y="2133600"/>
            <a:ext cx="0" cy="333375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4860" y="5467350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94860" y="2133600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389120" y="4514850"/>
            <a:ext cx="822960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389120" y="4276725"/>
            <a:ext cx="822960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936010" y="21015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14733" y="25778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792663" y="35303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758072" y="35303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73530" y="35303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09544" y="35303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63433" y="40065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701516" y="40065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44050" y="40065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03795" y="44828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952798" y="44828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0503" y="44828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6797" y="44828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4627" y="44828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66096" y="44828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829223" y="49590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573482" y="49590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674555" y="54353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86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A7D6E"/>
                </a:solidFill>
                <a:latin typeface="Arial"/>
              </a:rPr>
              <a:t>good (n=18)  median=3.5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086600" y="2609850"/>
            <a:ext cx="0" cy="238125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80860" y="4991100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880860" y="2609850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675120" y="4038600"/>
            <a:ext cx="822960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675120" y="3562350"/>
            <a:ext cx="822960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7030191" y="257784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115722" y="30540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987300" y="30540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979099" y="30540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995306" y="30540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015703" y="353034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978222" y="353034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850575" y="353034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71127" y="353034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02437" y="40065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021642" y="40065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91577" y="40065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251186" y="40065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45310" y="448284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965460" y="448284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977284" y="448284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138224" y="49590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C53E1F"/>
                </a:solidFill>
                <a:latin typeface="Arial"/>
              </a:rPr>
              <a:t>bad (n=17)  median=5.0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0" y="822960"/>
            <a:ext cx="4572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1">
                <a:solidFill>
                  <a:srgbClr val="222222"/>
                </a:solidFill>
                <a:latin typeface="Arial"/>
              </a:rPr>
              <a:t>Mann–Whitney P = 0.130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CIN (fraction of genome with copy-number aberrations) by response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0" y="5943600"/>
            <a:ext cx="45720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657600" y="137160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229600" y="137160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657600" y="1371600"/>
            <a:ext cx="45720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593592" y="5943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54680" y="5861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0.00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93592" y="50292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54680" y="49469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0.11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3592" y="41148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80" y="40325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0.23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93592" y="32004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54680" y="31181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0.34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2" y="22860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54680" y="22037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0.46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93592" y="1371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54680" y="1289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65176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CIN (fraction of genome)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800600" y="1787236"/>
            <a:ext cx="0" cy="3543415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4860" y="5330651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94860" y="1787236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389120" y="5048055"/>
            <a:ext cx="822960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389120" y="4556091"/>
            <a:ext cx="822960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936010" y="175523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14733" y="196024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792663" y="224871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758072" y="281115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73530" y="283101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09544" y="342163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63433" y="392829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701516" y="430984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44050" y="438193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03795" y="4666244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952798" y="471448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0503" y="485341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6797" y="49152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4627" y="504966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66096" y="505160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829223" y="516643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573482" y="52212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674555" y="529864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86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A7D6E"/>
                </a:solidFill>
                <a:latin typeface="Arial"/>
              </a:rPr>
              <a:t>good (n=18)  median=0.174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086600" y="2434396"/>
            <a:ext cx="0" cy="2820209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80860" y="5254605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880860" y="2434396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675120" y="5067385"/>
            <a:ext cx="822960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675120" y="4669799"/>
            <a:ext cx="822960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7030191" y="240239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115722" y="253480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987300" y="272075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979099" y="280535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995306" y="312352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015703" y="406082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978222" y="409267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850575" y="412376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71127" y="463779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02437" y="477428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021642" y="478175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91577" y="502060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251186" y="503538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45310" y="510852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965460" y="513999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977284" y="515411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138224" y="522260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C53E1F"/>
                </a:solidFill>
                <a:latin typeface="Arial"/>
              </a:rPr>
              <a:t>bad (n=17)  median=0.159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0" y="822960"/>
            <a:ext cx="4572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1">
                <a:solidFill>
                  <a:srgbClr val="222222"/>
                </a:solidFill>
                <a:latin typeface="Arial"/>
              </a:rPr>
              <a:t>Mann–Whitney P = 0.908 — CIN does not distinguish groups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