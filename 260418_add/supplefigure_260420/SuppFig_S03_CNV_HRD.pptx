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HRD-sum components per subject (LST + LOH + TAI; Myriad-style proxy)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88720" y="5760720"/>
            <a:ext cx="105156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872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0432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1188720"/>
            <a:ext cx="105156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471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24712" y="48463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7640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4712" y="3931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849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4712" y="30175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9352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4712" y="21031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0208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2471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HRD-LST + LOH + TAI count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1493520"/>
            <a:ext cx="10515600" cy="0"/>
          </a:xfrm>
          <a:prstGeom prst="line">
            <a:avLst/>
          </a:prstGeom>
          <a:ln w="1905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750040" y="1402080"/>
            <a:ext cx="1371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4A300"/>
                </a:solidFill>
                <a:latin typeface="Arial"/>
              </a:rPr>
              <a:t>Myriad HRD-42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7930" y="5557520"/>
            <a:ext cx="233680" cy="2032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17930" y="5455920"/>
            <a:ext cx="233680" cy="1016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17930" y="49479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179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00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10030" y="5151120"/>
            <a:ext cx="233680" cy="203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10030" y="46431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100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08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21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02130" y="5049520"/>
            <a:ext cx="233680" cy="406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02130" y="45415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021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29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942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94230" y="51511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94230" y="4541520"/>
            <a:ext cx="233680" cy="6096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942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50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63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86330" y="49479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86330" y="44399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863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571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84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78430" y="48463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78430" y="41351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784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492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05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70530" y="4846320"/>
            <a:ext cx="233680" cy="406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70530" y="41351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705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413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626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62630" y="4846320"/>
            <a:ext cx="233680" cy="406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62630" y="41351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626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334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54730" y="5151120"/>
            <a:ext cx="233680" cy="6096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54730" y="4744720"/>
            <a:ext cx="233680" cy="406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54730" y="4135120"/>
            <a:ext cx="233680" cy="6096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547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55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68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46830" y="48463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46830" y="3931920"/>
            <a:ext cx="233680" cy="9144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468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176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38930" y="5151120"/>
            <a:ext cx="233680" cy="6096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38930" y="46431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38930" y="3728720"/>
            <a:ext cx="233680" cy="9144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389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097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31030" y="5049520"/>
            <a:ext cx="233680" cy="7112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31030" y="45415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31030" y="3525520"/>
            <a:ext cx="233680" cy="1016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310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018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23130" y="5151120"/>
            <a:ext cx="233680" cy="6096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23130" y="4541520"/>
            <a:ext cx="233680" cy="6096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723130" y="3322320"/>
            <a:ext cx="233680" cy="1219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7231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939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152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015230" y="45415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15230" y="3322320"/>
            <a:ext cx="233680" cy="1219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152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860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073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307330" y="46431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307330" y="3322320"/>
            <a:ext cx="233680" cy="13208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3073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781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99430" y="5151120"/>
            <a:ext cx="233680" cy="6096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599430" y="44399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599430" y="2915920"/>
            <a:ext cx="233680" cy="1524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5994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702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915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91530" y="4338320"/>
            <a:ext cx="233680" cy="914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891530" y="2712720"/>
            <a:ext cx="233680" cy="16256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891530" y="5797296"/>
            <a:ext cx="2336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623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836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83630" y="51511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83630" y="4744720"/>
            <a:ext cx="233680" cy="4064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836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544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57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75730" y="51511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475730" y="46431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757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465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678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767830" y="51511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767830" y="46431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678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386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599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59930" y="51511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059930" y="4643120"/>
            <a:ext cx="233680" cy="5080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0599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0307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352030" y="5659120"/>
            <a:ext cx="233680" cy="1016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352030" y="5455920"/>
            <a:ext cx="233680" cy="203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352030" y="4643120"/>
            <a:ext cx="233680" cy="8128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3520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3228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441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644130" y="51511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644130" y="44399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6441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6149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36230" y="5557520"/>
            <a:ext cx="233680" cy="2032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36230" y="5151120"/>
            <a:ext cx="233680" cy="406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936230" y="44399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9362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9070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83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28330" y="4947920"/>
            <a:ext cx="233680" cy="406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228330" y="4338320"/>
            <a:ext cx="233680" cy="6096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2283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991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204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520430" y="49479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520430" y="4338320"/>
            <a:ext cx="233680" cy="6096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5204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4912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8125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812530" y="5049520"/>
            <a:ext cx="233680" cy="3048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12530" y="4236720"/>
            <a:ext cx="233680" cy="8128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125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7833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04630" y="5354320"/>
            <a:ext cx="233680" cy="4064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104630" y="48463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104630" y="41351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1046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0754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14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3967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396730" y="45415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396730" y="3830320"/>
            <a:ext cx="233680" cy="711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3967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3675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688830" y="5557520"/>
            <a:ext cx="233680" cy="2032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688830" y="5049520"/>
            <a:ext cx="233680" cy="5080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688830" y="3728720"/>
            <a:ext cx="233680" cy="13208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6888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596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23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9809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980930" y="4643120"/>
            <a:ext cx="233680" cy="6096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980930" y="3322320"/>
            <a:ext cx="233680" cy="13208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9809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9517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273030" y="5455920"/>
            <a:ext cx="233680" cy="304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73030" y="47447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273030" y="3322320"/>
            <a:ext cx="233680" cy="14224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2730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2438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565130" y="5049520"/>
            <a:ext cx="233680" cy="7112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565130" y="43383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565130" y="3119120"/>
            <a:ext cx="233680" cy="12192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5651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5359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857230" y="5252720"/>
            <a:ext cx="233680" cy="5080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857230" y="4541520"/>
            <a:ext cx="233680" cy="7112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857230" y="2712720"/>
            <a:ext cx="233680" cy="18288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8572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8280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149330" y="4947920"/>
            <a:ext cx="233680" cy="812800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1149330" y="4033520"/>
            <a:ext cx="233680" cy="914400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149330" y="2103120"/>
            <a:ext cx="233680" cy="1930400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1149330" y="5797296"/>
            <a:ext cx="2336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1120120" y="5943600"/>
            <a:ext cx="2921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22222"/>
                </a:solidFill>
                <a:latin typeface="Arial"/>
              </a:rPr>
              <a:t>29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6446520" y="1188720"/>
            <a:ext cx="0" cy="4754880"/>
          </a:xfrm>
          <a:prstGeom prst="line">
            <a:avLst/>
          </a:prstGeom>
          <a:ln w="1905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10789920" y="731520"/>
            <a:ext cx="182880" cy="12801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018520" y="71323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LST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789920" y="950976"/>
            <a:ext cx="182880" cy="128016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1018520" y="932688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LOH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789920" y="1170432"/>
            <a:ext cx="182880" cy="12801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018520" y="1152143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TAI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88720" y="6309360"/>
            <a:ext cx="10515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HRD-sum mean: good = 17.7, bad = 18.2 (both &lt;&lt; Myriad clinical HRD-42 threshold, reflecting the MSS / TMB-low phenotype)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HRD-LST (Large-Scale Transitions) by response — pre-CRT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6035040"/>
            <a:ext cx="48463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760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0392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188720"/>
            <a:ext cx="484632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93592" y="60350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59527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3592" y="5065776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4983480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4096512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80" y="4014216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93592" y="3127248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80" y="3044952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2" y="2157984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54680" y="2075688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93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54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LST count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869180" y="1820849"/>
            <a:ext cx="0" cy="368741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40580" y="5508266"/>
            <a:ext cx="45720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40580" y="1820849"/>
            <a:ext cx="45720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411980" y="4454718"/>
            <a:ext cx="914400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411980" y="4191331"/>
            <a:ext cx="914400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12299" y="1765985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21859" y="2292759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32026" y="3346306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32212" y="3346306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210" y="3346306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44259" y="3346306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08004" y="3873080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06612" y="3873080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32832" y="3873080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68744" y="439985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85706" y="439985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66642" y="439985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58945" y="439985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11753" y="439985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25710" y="439985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84732" y="4926628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16570" y="4926628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27850" y="5453402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1900" y="6126480"/>
            <a:ext cx="2194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good (n=18)  med=3.50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292340" y="2347623"/>
            <a:ext cx="0" cy="263386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63740" y="4981492"/>
            <a:ext cx="45720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63740" y="2347623"/>
            <a:ext cx="45720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835140" y="3927944"/>
            <a:ext cx="914400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835140" y="3401170"/>
            <a:ext cx="914400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360789" y="2292759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246259" y="2819533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224596" y="2819533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30364" y="2819533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4436" y="2819533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25767" y="3346306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090588" y="3346306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96057" y="3346306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238552" y="3346306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29036" y="3873080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48699" y="3873080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21224" y="3873080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228096" y="3873080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65728" y="4399854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433135" y="4399854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72744" y="4399854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11652" y="4926628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5060" y="6126480"/>
            <a:ext cx="2194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bad (n=17)  med=5.00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0" y="868680"/>
            <a:ext cx="2286000" cy="274320"/>
          </a:xfrm>
          <a:prstGeom prst="rect">
            <a:avLst/>
          </a:prstGeom>
          <a:solidFill>
            <a:srgbClr val="F0F0F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0" y="868680"/>
            <a:ext cx="2286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Mann–Whitney P = 0.130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CIN (copy-number aberrations) by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6035040"/>
            <a:ext cx="48463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760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0392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188720"/>
            <a:ext cx="484632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93592" y="60350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59527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3592" y="5065776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4983480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4096512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80" y="4014216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0.24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93592" y="3127248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80" y="3044952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0.36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2" y="2157984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54680" y="2075688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0.48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93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54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CIN (fraction of genome)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869180" y="1820849"/>
            <a:ext cx="0" cy="359271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40580" y="5413563"/>
            <a:ext cx="45720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40580" y="1820849"/>
            <a:ext cx="45720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411980" y="5127035"/>
            <a:ext cx="914400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411980" y="4628226"/>
            <a:ext cx="914400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12299" y="1765985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21859" y="197384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32026" y="2266335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32212" y="2836595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210" y="2856738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44259" y="3455572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08004" y="3969285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06612" y="4356136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32832" y="4429227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68744" y="4717497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85706" y="4766407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66642" y="4907270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58945" y="4969934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11753" y="5106250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25710" y="5108223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84732" y="5224650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16570" y="5280272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27850" y="5358699"/>
            <a:ext cx="109728" cy="10972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1900" y="6126480"/>
            <a:ext cx="2194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good (n=18)  med=0.17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292340" y="2477012"/>
            <a:ext cx="0" cy="285944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63740" y="5336459"/>
            <a:ext cx="45720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63740" y="2477012"/>
            <a:ext cx="45720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835140" y="5146634"/>
            <a:ext cx="914400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835140" y="4743516"/>
            <a:ext cx="914400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360789" y="2422148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246259" y="2556399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224596" y="2744937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30364" y="2830713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4436" y="3153312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25767" y="4103655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090588" y="4135949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96057" y="4167468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238552" y="4688652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29036" y="4827037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48699" y="4834612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21224" y="5076783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228096" y="5091770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65728" y="5165927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433135" y="5197834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72744" y="5212158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11652" y="5281595"/>
            <a:ext cx="109728" cy="10972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5060" y="6126480"/>
            <a:ext cx="2194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bad (n=17)  med=0.16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0" y="868680"/>
            <a:ext cx="2286000" cy="274320"/>
          </a:xfrm>
          <a:prstGeom prst="rect">
            <a:avLst/>
          </a:prstGeom>
          <a:solidFill>
            <a:srgbClr val="F0F0F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0" y="868680"/>
            <a:ext cx="2286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Mann–Whitney P = 0.908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