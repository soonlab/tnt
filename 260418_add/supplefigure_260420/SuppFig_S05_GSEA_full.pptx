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Hallmark GSEA NES × −log10(FDR) — all 50 sets, pre-CRT good vs bad (n = 33)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371600" y="5943600"/>
            <a:ext cx="1005840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371600" y="1188720"/>
            <a:ext cx="0" cy="475488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430000" y="1188720"/>
            <a:ext cx="0" cy="475488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371600" y="1188720"/>
            <a:ext cx="1005840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307592" y="59436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68680" y="58613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307592" y="475488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68680" y="467258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07592" y="356616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8680" y="348386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13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307592" y="237744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68680" y="229514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19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307592" y="11887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68680" y="11064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26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71600" y="594360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05840" y="599846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-2.4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383280" y="594360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017520" y="599846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-1.3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94960" y="594360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029200" y="599846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-0.2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406640" y="594360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040880" y="599846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0.8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418320" y="594360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052560" y="599846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1.9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430000" y="594360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1064240" y="599846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6291072"/>
            <a:ext cx="100584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Normalized Enrichment Score (NES)  —  left = bad-enriched, right = good-enriched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2560320"/>
            <a:ext cx="365760" cy="20116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−log10(FDR)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819454" y="1188720"/>
            <a:ext cx="0" cy="4754880"/>
          </a:xfrm>
          <a:prstGeom prst="line">
            <a:avLst/>
          </a:prstGeom>
          <a:ln w="635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371600" y="5703236"/>
            <a:ext cx="10058400" cy="0"/>
          </a:xfrm>
          <a:prstGeom prst="line">
            <a:avLst/>
          </a:prstGeom>
          <a:ln w="7620">
            <a:solidFill>
              <a:srgbClr val="D4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698480" y="5502068"/>
            <a:ext cx="6400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D4A300"/>
                </a:solidFill>
                <a:latin typeface="Arial"/>
              </a:rPr>
              <a:t>FDR 0.05</a:t>
            </a:r>
          </a:p>
        </p:txBody>
      </p:sp>
      <p:sp>
        <p:nvSpPr>
          <p:cNvPr id="35" name="Oval 34"/>
          <p:cNvSpPr/>
          <p:nvPr/>
        </p:nvSpPr>
        <p:spPr>
          <a:xfrm>
            <a:off x="10888422" y="1456390"/>
            <a:ext cx="329184" cy="32918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126166" y="1511254"/>
            <a:ext cx="22860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0A7D6E"/>
                </a:solidFill>
                <a:latin typeface="Arial"/>
              </a:rPr>
              <a:t>E2F_TARGETS</a:t>
            </a:r>
          </a:p>
        </p:txBody>
      </p:sp>
      <p:sp>
        <p:nvSpPr>
          <p:cNvPr id="37" name="Oval 36"/>
          <p:cNvSpPr/>
          <p:nvPr/>
        </p:nvSpPr>
        <p:spPr>
          <a:xfrm>
            <a:off x="10292916" y="3312363"/>
            <a:ext cx="325892" cy="325892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29014" y="3365581"/>
            <a:ext cx="22860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0A7D6E"/>
                </a:solidFill>
                <a:latin typeface="Arial"/>
              </a:rPr>
              <a:t>G2M_CHECKPOINT</a:t>
            </a:r>
          </a:p>
        </p:txBody>
      </p:sp>
      <p:sp>
        <p:nvSpPr>
          <p:cNvPr id="39" name="Oval 38"/>
          <p:cNvSpPr/>
          <p:nvPr/>
        </p:nvSpPr>
        <p:spPr>
          <a:xfrm>
            <a:off x="10103833" y="3613506"/>
            <a:ext cx="328086" cy="328086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41028" y="3667821"/>
            <a:ext cx="22860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0A7D6E"/>
                </a:solidFill>
                <a:latin typeface="Arial"/>
              </a:rPr>
              <a:t>MYC_TARGETS_V1</a:t>
            </a:r>
          </a:p>
        </p:txBody>
      </p:sp>
      <p:sp>
        <p:nvSpPr>
          <p:cNvPr id="41" name="Oval 40"/>
          <p:cNvSpPr/>
          <p:nvPr/>
        </p:nvSpPr>
        <p:spPr>
          <a:xfrm>
            <a:off x="1614718" y="4309615"/>
            <a:ext cx="267736" cy="26773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821738" y="4333755"/>
            <a:ext cx="22860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C53E1F"/>
                </a:solidFill>
                <a:latin typeface="Arial"/>
              </a:rPr>
              <a:t>EPITHELIAL_MESENCHYMAL_TRANSITION</a:t>
            </a:r>
          </a:p>
        </p:txBody>
      </p:sp>
      <p:sp>
        <p:nvSpPr>
          <p:cNvPr id="43" name="Oval 42"/>
          <p:cNvSpPr/>
          <p:nvPr/>
        </p:nvSpPr>
        <p:spPr>
          <a:xfrm>
            <a:off x="9944640" y="4916948"/>
            <a:ext cx="172272" cy="172272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03928" y="4893356"/>
            <a:ext cx="22860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0A7D6E"/>
                </a:solidFill>
                <a:latin typeface="Arial"/>
              </a:rPr>
              <a:t>MYC_TARGETS_V2</a:t>
            </a:r>
          </a:p>
        </p:txBody>
      </p:sp>
      <p:sp>
        <p:nvSpPr>
          <p:cNvPr id="45" name="Oval 44"/>
          <p:cNvSpPr/>
          <p:nvPr/>
        </p:nvSpPr>
        <p:spPr>
          <a:xfrm>
            <a:off x="2307327" y="5088444"/>
            <a:ext cx="287486" cy="28748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24222" y="5122459"/>
            <a:ext cx="22860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C53E1F"/>
                </a:solidFill>
                <a:latin typeface="Arial"/>
              </a:rPr>
              <a:t>MYOGENESIS</a:t>
            </a:r>
          </a:p>
        </p:txBody>
      </p:sp>
      <p:sp>
        <p:nvSpPr>
          <p:cNvPr id="47" name="Oval 46"/>
          <p:cNvSpPr/>
          <p:nvPr/>
        </p:nvSpPr>
        <p:spPr>
          <a:xfrm>
            <a:off x="8896980" y="5178604"/>
            <a:ext cx="323696" cy="323696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31980" y="5230724"/>
            <a:ext cx="22860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0A7D6E"/>
                </a:solidFill>
                <a:latin typeface="Arial"/>
              </a:rPr>
              <a:t>MITOTIC_SPINDLE</a:t>
            </a:r>
          </a:p>
        </p:txBody>
      </p:sp>
      <p:sp>
        <p:nvSpPr>
          <p:cNvPr id="49" name="Oval 48"/>
          <p:cNvSpPr/>
          <p:nvPr/>
        </p:nvSpPr>
        <p:spPr>
          <a:xfrm>
            <a:off x="8617737" y="5363201"/>
            <a:ext cx="314918" cy="314918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892293" y="5488717"/>
            <a:ext cx="299556" cy="29955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15223" y="5528767"/>
            <a:ext cx="22860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C53E1F"/>
                </a:solidFill>
                <a:latin typeface="Arial"/>
              </a:rPr>
              <a:t>APICAL_JUNCTION</a:t>
            </a:r>
          </a:p>
        </p:txBody>
      </p:sp>
      <p:sp>
        <p:nvSpPr>
          <p:cNvPr id="52" name="Oval 51"/>
          <p:cNvSpPr/>
          <p:nvPr/>
        </p:nvSpPr>
        <p:spPr>
          <a:xfrm>
            <a:off x="8690102" y="5533404"/>
            <a:ext cx="231526" cy="231526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79017" y="5539439"/>
            <a:ext cx="22860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0A7D6E"/>
                </a:solidFill>
                <a:latin typeface="Arial"/>
              </a:rPr>
              <a:t>UNFOLDED_PROTEIN_RESPONSE</a:t>
            </a:r>
          </a:p>
        </p:txBody>
      </p:sp>
      <p:sp>
        <p:nvSpPr>
          <p:cNvPr id="54" name="Oval 53"/>
          <p:cNvSpPr/>
          <p:nvPr/>
        </p:nvSpPr>
        <p:spPr>
          <a:xfrm>
            <a:off x="3077954" y="5631868"/>
            <a:ext cx="251276" cy="25127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4649" y="5605533"/>
            <a:ext cx="303946" cy="30394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126681" y="5604985"/>
            <a:ext cx="305042" cy="305042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179088" y="5627405"/>
            <a:ext cx="283098" cy="28309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226361" y="5655716"/>
            <a:ext cx="262248" cy="26224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994586" y="5710031"/>
            <a:ext cx="153618" cy="15361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144547" y="5677112"/>
            <a:ext cx="22860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C53E1F"/>
                </a:solidFill>
                <a:latin typeface="Arial"/>
              </a:rPr>
              <a:t>WNT_BETA_CATENIN_SIGNALING</a:t>
            </a:r>
          </a:p>
        </p:txBody>
      </p:sp>
      <p:sp>
        <p:nvSpPr>
          <p:cNvPr id="61" name="Oval 60"/>
          <p:cNvSpPr/>
          <p:nvPr/>
        </p:nvSpPr>
        <p:spPr>
          <a:xfrm>
            <a:off x="3204972" y="5628284"/>
            <a:ext cx="317112" cy="317112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253421" y="5689728"/>
            <a:ext cx="212872" cy="212872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309145" y="5648564"/>
            <a:ext cx="300654" cy="300654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221395" y="5727996"/>
            <a:ext cx="163494" cy="163494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327338" y="5673681"/>
            <a:ext cx="272124" cy="272124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335782" y="5659416"/>
            <a:ext cx="300654" cy="300654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249571" y="5772622"/>
            <a:ext cx="139354" cy="139354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3469670" y="5704711"/>
            <a:ext cx="282000" cy="282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473305" y="5684960"/>
            <a:ext cx="321502" cy="321502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423272" y="5784772"/>
            <a:ext cx="144840" cy="1448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541161" y="5722906"/>
            <a:ext cx="282000" cy="282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594125" y="5762324"/>
            <a:ext cx="234816" cy="23481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678871" y="5756194"/>
            <a:ext cx="272124" cy="27212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638106" y="5736991"/>
            <a:ext cx="310530" cy="31053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675508" y="5761690"/>
            <a:ext cx="266638" cy="26663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676840" y="5734807"/>
            <a:ext cx="320404" cy="320404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3866507" y="5840077"/>
            <a:ext cx="147034" cy="147034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3784510" y="5767108"/>
            <a:ext cx="292972" cy="292972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894857" y="5826754"/>
            <a:ext cx="184342" cy="184342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887607" y="5811167"/>
            <a:ext cx="217260" cy="21726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991175" y="5844042"/>
            <a:ext cx="161300" cy="1613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4043204" y="5826863"/>
            <a:ext cx="216164" cy="216164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957779" y="5779132"/>
            <a:ext cx="311626" cy="31162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179177" y="5862525"/>
            <a:ext cx="144840" cy="14484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4238039" y="5862731"/>
            <a:ext cx="152520" cy="15252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7294325" y="5830361"/>
            <a:ext cx="217260" cy="217260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4118344" y="5806728"/>
            <a:ext cx="268832" cy="268832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4209934" y="5832327"/>
            <a:ext cx="219456" cy="21945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4161719" y="5783454"/>
            <a:ext cx="319308" cy="31930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046274" y="5849840"/>
            <a:ext cx="186536" cy="186536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273279" y="5808143"/>
            <a:ext cx="269930" cy="269930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257004" y="5778516"/>
            <a:ext cx="329184" cy="329184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481816" y="5835575"/>
            <a:ext cx="215066" cy="215066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516242" y="5835026"/>
            <a:ext cx="216164" cy="216164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371600" y="6263640"/>
            <a:ext cx="1005840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1">
                <a:solidFill>
                  <a:srgbClr val="222222"/>
                </a:solidFill>
                <a:latin typeface="Arial"/>
              </a:rPr>
              <a:t>Top positive: E2F_TARGETS, G2M_CHECKPOINT, MYC_TARGETS_V1/V2, mTORC1, MITOTIC_SPINDLE (good-enriched). Top negative: EPITHELIAL_MESENCHYMAL_TRANSITION, MYOGENESIS, APICAL_JUNCTION (bad-enriched).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Reactome GSEA — top 20 by |NES| (pre-CRT good vs bad)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389120" y="6309360"/>
            <a:ext cx="594360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389120" y="1188720"/>
            <a:ext cx="0" cy="512064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332720" y="1188720"/>
            <a:ext cx="0" cy="512064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389120" y="1188720"/>
            <a:ext cx="594360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389120" y="630936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023360" y="636422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-2.3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75020" y="630936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509260" y="636422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-1.1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60920" y="630936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995160" y="636422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0.1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846820" y="630936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81060" y="636422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1.3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332720" y="630936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966960" y="636422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2.5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6656832"/>
            <a:ext cx="59436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Reactome NES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269628" y="1188720"/>
            <a:ext cx="0" cy="512064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4638697" y="1316736"/>
            <a:ext cx="2630931" cy="0"/>
          </a:xfrm>
          <a:prstGeom prst="line">
            <a:avLst/>
          </a:prstGeom>
          <a:ln w="889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4540708" y="1218747"/>
            <a:ext cx="195978" cy="195978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1201522"/>
            <a:ext cx="3108960" cy="230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REACTOME_ASSEMBLY_OF_COLLAGEN_FIBRILS_AND_OTHER_MULTIMERIC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269628" y="1572768"/>
            <a:ext cx="2626372" cy="0"/>
          </a:xfrm>
          <a:prstGeom prst="line">
            <a:avLst/>
          </a:prstGeom>
          <a:ln w="889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9805708" y="1482476"/>
            <a:ext cx="180584" cy="18058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1457554"/>
            <a:ext cx="3108960" cy="230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REACTOME_SUMOYLATION_OF_DNA_REPLICATION_PROTEINS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269628" y="1828800"/>
            <a:ext cx="2631847" cy="0"/>
          </a:xfrm>
          <a:prstGeom prst="line">
            <a:avLst/>
          </a:prstGeom>
          <a:ln w="889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9806676" y="1734001"/>
            <a:ext cx="189598" cy="189598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1713586"/>
            <a:ext cx="3108960" cy="230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REACTOME_CREATION_OF_C4_AND_C2_ACTIVATORS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269628" y="2084832"/>
            <a:ext cx="2636237" cy="0"/>
          </a:xfrm>
          <a:prstGeom prst="line">
            <a:avLst/>
          </a:prstGeom>
          <a:ln w="889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9814537" y="1993504"/>
            <a:ext cx="182656" cy="182656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1969618"/>
            <a:ext cx="3108960" cy="230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REACTOME_CD22_MEDIATED_BCR_REGULATION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269628" y="2340864"/>
            <a:ext cx="2647631" cy="0"/>
          </a:xfrm>
          <a:prstGeom prst="line">
            <a:avLst/>
          </a:prstGeom>
          <a:ln w="889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9828022" y="2251627"/>
            <a:ext cx="178474" cy="17847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88720" y="2225650"/>
            <a:ext cx="3108960" cy="230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REACTOME_RESOLUTION_OF_D_LOOP_STRUCTURES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269628" y="2596896"/>
            <a:ext cx="2662058" cy="0"/>
          </a:xfrm>
          <a:prstGeom prst="line">
            <a:avLst/>
          </a:prstGeom>
          <a:ln w="889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9840451" y="2505661"/>
            <a:ext cx="182470" cy="182470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88720" y="2481682"/>
            <a:ext cx="3108960" cy="230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REACTOME_DNA_STRAND_ELONGATION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269628" y="2852928"/>
            <a:ext cx="2668284" cy="0"/>
          </a:xfrm>
          <a:prstGeom prst="line">
            <a:avLst/>
          </a:prstGeom>
          <a:ln w="889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9836428" y="2751444"/>
            <a:ext cx="202968" cy="202968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88720" y="2737714"/>
            <a:ext cx="3108960" cy="230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REACTOME_TRANSPORT_OF_MATURE_TRANSCRIPT_TO_CYTOPLASM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269628" y="3108960"/>
            <a:ext cx="2671288" cy="0"/>
          </a:xfrm>
          <a:prstGeom prst="line">
            <a:avLst/>
          </a:prstGeom>
          <a:ln w="889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9850602" y="3018646"/>
            <a:ext cx="180628" cy="180628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88720" y="2993746"/>
            <a:ext cx="3108960" cy="230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REACTOME_ACTIVATION_OF_ATR_IN_RESPONSE_TO_REPLICATION_STRE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269628" y="3364992"/>
            <a:ext cx="2672707" cy="0"/>
          </a:xfrm>
          <a:prstGeom prst="line">
            <a:avLst/>
          </a:prstGeom>
          <a:ln w="889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9853655" y="3276312"/>
            <a:ext cx="177360" cy="177360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88720" y="3249778"/>
            <a:ext cx="3108960" cy="230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REACTOME_ACTIVATION_OF_THE_PRE_REPLICATIVE_COMPLEX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269628" y="3621024"/>
            <a:ext cx="2679369" cy="0"/>
          </a:xfrm>
          <a:prstGeom prst="line">
            <a:avLst/>
          </a:prstGeom>
          <a:ln w="889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9833511" y="3505538"/>
            <a:ext cx="230972" cy="230972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88720" y="3505810"/>
            <a:ext cx="3108960" cy="230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REACTOME_G2_M_CHECKPOINTS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269628" y="3877056"/>
            <a:ext cx="2681583" cy="0"/>
          </a:xfrm>
          <a:prstGeom prst="line">
            <a:avLst/>
          </a:prstGeom>
          <a:ln w="889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9858847" y="3784692"/>
            <a:ext cx="184728" cy="184728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88720" y="3761842"/>
            <a:ext cx="3108960" cy="230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REACTOME_DISEASES_OF_DNA_REPAIR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7269628" y="4133088"/>
            <a:ext cx="2687013" cy="0"/>
          </a:xfrm>
          <a:prstGeom prst="line">
            <a:avLst/>
          </a:prstGeom>
          <a:ln w="889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9858159" y="4034606"/>
            <a:ext cx="196964" cy="19696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88720" y="4017874"/>
            <a:ext cx="3108960" cy="230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REACTOME_SCAVENGING_OF_HEME_FROM_PLASMA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269628" y="4389120"/>
            <a:ext cx="2689550" cy="0"/>
          </a:xfrm>
          <a:prstGeom prst="line">
            <a:avLst/>
          </a:prstGeom>
          <a:ln w="889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9815036" y="4244978"/>
            <a:ext cx="288284" cy="28828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88720" y="4273906"/>
            <a:ext cx="3108960" cy="230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REACTOME_CELL_CYCLE_CHECKPOINTS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269628" y="4645152"/>
            <a:ext cx="2692982" cy="0"/>
          </a:xfrm>
          <a:prstGeom prst="line">
            <a:avLst/>
          </a:prstGeom>
          <a:ln w="889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9856856" y="4539398"/>
            <a:ext cx="211508" cy="211508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4529938"/>
            <a:ext cx="3108960" cy="230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REACTOME_FCGR3A_MEDIATED_IL10_SYNTHESIS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7269628" y="4901184"/>
            <a:ext cx="2695206" cy="0"/>
          </a:xfrm>
          <a:prstGeom prst="line">
            <a:avLst/>
          </a:prstGeom>
          <a:ln w="889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9866070" y="4802420"/>
            <a:ext cx="197528" cy="197528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88720" y="4785970"/>
            <a:ext cx="3108960" cy="230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REACTOME_ROLE_OF_LAT2_NTAL_LAB_ON_CALCIUM_MOBILIZATION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269628" y="5157216"/>
            <a:ext cx="2700500" cy="0"/>
          </a:xfrm>
          <a:prstGeom prst="line">
            <a:avLst/>
          </a:prstGeom>
          <a:ln w="889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9875796" y="5062884"/>
            <a:ext cx="188664" cy="18866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88720" y="5042002"/>
            <a:ext cx="3108960" cy="230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REACTOME_HOMOLOGOUS_DNA_PAIRING_AND_STRAND_EXCHANGE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269628" y="5413248"/>
            <a:ext cx="2726361" cy="0"/>
          </a:xfrm>
          <a:prstGeom prst="line">
            <a:avLst/>
          </a:prstGeom>
          <a:ln w="889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9871480" y="5288739"/>
            <a:ext cx="249018" cy="249018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88720" y="5298034"/>
            <a:ext cx="3108960" cy="230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REACTOME_DNA_DOUBLE_STRAND_BREAK_REPAIR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269628" y="5669280"/>
            <a:ext cx="2738068" cy="0"/>
          </a:xfrm>
          <a:prstGeom prst="line">
            <a:avLst/>
          </a:prstGeom>
          <a:ln w="889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9906615" y="5568199"/>
            <a:ext cx="202162" cy="202162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88720" y="5554066"/>
            <a:ext cx="3108960" cy="230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REACTOME_HDR_THROUGH_HOMOLOGOUS_RECOMBINATION_HRR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7269628" y="5925312"/>
            <a:ext cx="2781105" cy="0"/>
          </a:xfrm>
          <a:prstGeom prst="line">
            <a:avLst/>
          </a:prstGeom>
          <a:ln w="889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9926224" y="5800803"/>
            <a:ext cx="249018" cy="249018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88720" y="5810098"/>
            <a:ext cx="3108960" cy="230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REACTOME_HOMOLOGY_DIRECTED_REPAIR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7269628" y="6181344"/>
            <a:ext cx="2813515" cy="0"/>
          </a:xfrm>
          <a:prstGeom prst="line">
            <a:avLst/>
          </a:prstGeom>
          <a:ln w="889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9977996" y="6076197"/>
            <a:ext cx="210294" cy="210294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188720" y="6066130"/>
            <a:ext cx="3108960" cy="230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REACTOME_FCGR_ACTIVATION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