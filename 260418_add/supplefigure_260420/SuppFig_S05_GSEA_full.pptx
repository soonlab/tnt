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Hallmark GSEA NES × −log10(FDR) — all 50 sets (category-band background; FDR 0.05 gold ref)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70432"/>
            <a:ext cx="4447854" cy="4773168"/>
          </a:xfrm>
          <a:prstGeom prst="rect">
            <a:avLst/>
          </a:prstGeom>
          <a:solidFill>
            <a:srgbClr val="FA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9454" y="1170432"/>
            <a:ext cx="5610546" cy="4773168"/>
          </a:xfrm>
          <a:prstGeom prst="rect">
            <a:avLst/>
          </a:prstGeom>
          <a:solidFill>
            <a:srgbClr val="EE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5943600"/>
            <a:ext cx="100584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1188720"/>
            <a:ext cx="0" cy="475488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430000" y="1188720"/>
            <a:ext cx="0" cy="475488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1188720"/>
            <a:ext cx="100584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07592" y="594360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586130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07592" y="47548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46725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07592" y="35661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34838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07592" y="237744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229514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19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07592" y="1188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" y="1106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26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71600" y="594360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599846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-2.4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83280" y="594360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17520" y="599846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-1.3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94960" y="594360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0" y="599846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-0.2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06640" y="594360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040880" y="599846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0.8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418320" y="594360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052560" y="599846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1.9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430000" y="594360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1064240" y="599846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3.0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6291072"/>
            <a:ext cx="100584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Normalized Enrichment Score (NES)  —  left = bad-enriched · right = good-enriched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256032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−log10(FDR)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819454" y="1188720"/>
            <a:ext cx="0" cy="475488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371600" y="5703236"/>
            <a:ext cx="10058400" cy="0"/>
          </a:xfrm>
          <a:prstGeom prst="line">
            <a:avLst/>
          </a:prstGeom>
          <a:ln w="12700">
            <a:solidFill>
              <a:srgbClr val="D4A3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784080" y="5547788"/>
            <a:ext cx="1600200" cy="274320"/>
          </a:xfrm>
          <a:prstGeom prst="rect">
            <a:avLst/>
          </a:prstGeom>
          <a:solidFill>
            <a:srgbClr val="D4A300"/>
          </a:solidFill>
          <a:ln w="1016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5547788"/>
            <a:ext cx="1600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FDR 0.05 threshold</a:t>
            </a:r>
          </a:p>
        </p:txBody>
      </p:sp>
      <p:sp>
        <p:nvSpPr>
          <p:cNvPr id="38" name="Oval 37"/>
          <p:cNvSpPr/>
          <p:nvPr/>
        </p:nvSpPr>
        <p:spPr>
          <a:xfrm>
            <a:off x="10851846" y="1419814"/>
            <a:ext cx="402336" cy="402336"/>
          </a:xfrm>
          <a:prstGeom prst="ellipse">
            <a:avLst/>
          </a:prstGeom>
          <a:noFill/>
          <a:ln w="1905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897566" y="1465534"/>
            <a:ext cx="310896" cy="310896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44454" y="1520398"/>
            <a:ext cx="2194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E2F_TARGETS</a:t>
            </a:r>
          </a:p>
        </p:txBody>
      </p:sp>
      <p:sp>
        <p:nvSpPr>
          <p:cNvPr id="41" name="Oval 40"/>
          <p:cNvSpPr/>
          <p:nvPr/>
        </p:nvSpPr>
        <p:spPr>
          <a:xfrm>
            <a:off x="10256340" y="3275787"/>
            <a:ext cx="399044" cy="399044"/>
          </a:xfrm>
          <a:prstGeom prst="ellipse">
            <a:avLst/>
          </a:prstGeom>
          <a:noFill/>
          <a:ln w="1905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302060" y="3321507"/>
            <a:ext cx="307604" cy="3076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47302" y="3374725"/>
            <a:ext cx="2194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G2M_CHECKPOINT</a:t>
            </a:r>
          </a:p>
        </p:txBody>
      </p:sp>
      <p:sp>
        <p:nvSpPr>
          <p:cNvPr id="44" name="Oval 43"/>
          <p:cNvSpPr/>
          <p:nvPr/>
        </p:nvSpPr>
        <p:spPr>
          <a:xfrm>
            <a:off x="10067257" y="3576930"/>
            <a:ext cx="401238" cy="401238"/>
          </a:xfrm>
          <a:prstGeom prst="ellipse">
            <a:avLst/>
          </a:prstGeom>
          <a:noFill/>
          <a:ln w="1905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112977" y="3622650"/>
            <a:ext cx="309798" cy="309798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59316" y="3676965"/>
            <a:ext cx="2194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MYC_TARGETS_V1</a:t>
            </a:r>
          </a:p>
        </p:txBody>
      </p:sp>
      <p:sp>
        <p:nvSpPr>
          <p:cNvPr id="47" name="Oval 46"/>
          <p:cNvSpPr/>
          <p:nvPr/>
        </p:nvSpPr>
        <p:spPr>
          <a:xfrm>
            <a:off x="1578142" y="4273039"/>
            <a:ext cx="340888" cy="340888"/>
          </a:xfrm>
          <a:prstGeom prst="ellipse">
            <a:avLst/>
          </a:prstGeom>
          <a:noFill/>
          <a:ln w="1905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623862" y="4318759"/>
            <a:ext cx="249448" cy="249448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40026" y="4342899"/>
            <a:ext cx="2194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C53E1F"/>
                </a:solidFill>
                <a:latin typeface="Arial"/>
              </a:rPr>
              <a:t>EPITHELIAL_MESENCHYMAL_TR</a:t>
            </a:r>
          </a:p>
        </p:txBody>
      </p:sp>
      <p:sp>
        <p:nvSpPr>
          <p:cNvPr id="50" name="Oval 49"/>
          <p:cNvSpPr/>
          <p:nvPr/>
        </p:nvSpPr>
        <p:spPr>
          <a:xfrm>
            <a:off x="9908064" y="4880372"/>
            <a:ext cx="245424" cy="245424"/>
          </a:xfrm>
          <a:prstGeom prst="ellipse">
            <a:avLst/>
          </a:prstGeom>
          <a:noFill/>
          <a:ln w="1905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953784" y="4926092"/>
            <a:ext cx="153984" cy="153984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22216" y="4902500"/>
            <a:ext cx="2194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MYC_TARGETS_V2</a:t>
            </a:r>
          </a:p>
        </p:txBody>
      </p:sp>
      <p:sp>
        <p:nvSpPr>
          <p:cNvPr id="53" name="Oval 52"/>
          <p:cNvSpPr/>
          <p:nvPr/>
        </p:nvSpPr>
        <p:spPr>
          <a:xfrm>
            <a:off x="2270751" y="5051868"/>
            <a:ext cx="360638" cy="360638"/>
          </a:xfrm>
          <a:prstGeom prst="ellipse">
            <a:avLst/>
          </a:prstGeom>
          <a:noFill/>
          <a:ln w="1905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16471" y="5097588"/>
            <a:ext cx="269198" cy="269198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42510" y="5131603"/>
            <a:ext cx="2194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C53E1F"/>
                </a:solidFill>
                <a:latin typeface="Arial"/>
              </a:rPr>
              <a:t>MYOGENESIS</a:t>
            </a:r>
          </a:p>
        </p:txBody>
      </p:sp>
      <p:sp>
        <p:nvSpPr>
          <p:cNvPr id="56" name="Oval 55"/>
          <p:cNvSpPr/>
          <p:nvPr/>
        </p:nvSpPr>
        <p:spPr>
          <a:xfrm>
            <a:off x="8860404" y="5142028"/>
            <a:ext cx="396848" cy="396848"/>
          </a:xfrm>
          <a:prstGeom prst="ellipse">
            <a:avLst/>
          </a:prstGeom>
          <a:noFill/>
          <a:ln w="1905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906124" y="5187748"/>
            <a:ext cx="305408" cy="305408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50268" y="5239868"/>
            <a:ext cx="2194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MITOTIC_SPINDLE</a:t>
            </a:r>
          </a:p>
        </p:txBody>
      </p:sp>
      <p:sp>
        <p:nvSpPr>
          <p:cNvPr id="59" name="Oval 58"/>
          <p:cNvSpPr/>
          <p:nvPr/>
        </p:nvSpPr>
        <p:spPr>
          <a:xfrm>
            <a:off x="8626881" y="5372345"/>
            <a:ext cx="296630" cy="296630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55717" y="5452141"/>
            <a:ext cx="372708" cy="372708"/>
          </a:xfrm>
          <a:prstGeom prst="ellipse">
            <a:avLst/>
          </a:prstGeom>
          <a:noFill/>
          <a:ln w="1905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901437" y="5497861"/>
            <a:ext cx="281268" cy="281268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33511" y="5537911"/>
            <a:ext cx="2194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C53E1F"/>
                </a:solidFill>
                <a:latin typeface="Arial"/>
              </a:rPr>
              <a:t>APICAL_JUNCTION</a:t>
            </a:r>
          </a:p>
        </p:txBody>
      </p:sp>
      <p:sp>
        <p:nvSpPr>
          <p:cNvPr id="63" name="Oval 62"/>
          <p:cNvSpPr/>
          <p:nvPr/>
        </p:nvSpPr>
        <p:spPr>
          <a:xfrm>
            <a:off x="8699246" y="5542548"/>
            <a:ext cx="213238" cy="213238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087098" y="5641012"/>
            <a:ext cx="232988" cy="232988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083793" y="5614677"/>
            <a:ext cx="285658" cy="285658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135825" y="5614129"/>
            <a:ext cx="286754" cy="286754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188232" y="5636549"/>
            <a:ext cx="264810" cy="264810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235505" y="5664860"/>
            <a:ext cx="243960" cy="243960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003730" y="5719175"/>
            <a:ext cx="135330" cy="135330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214116" y="5637428"/>
            <a:ext cx="298824" cy="298824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262565" y="5698872"/>
            <a:ext cx="194584" cy="194584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18289" y="5657708"/>
            <a:ext cx="282366" cy="28236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230539" y="5737140"/>
            <a:ext cx="145206" cy="14520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6482" y="5682825"/>
            <a:ext cx="253836" cy="25383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44926" y="5668560"/>
            <a:ext cx="282366" cy="28236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258715" y="5781766"/>
            <a:ext cx="121066" cy="12106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478814" y="5713855"/>
            <a:ext cx="263712" cy="263712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482449" y="5694104"/>
            <a:ext cx="303214" cy="303214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432416" y="5793916"/>
            <a:ext cx="126552" cy="126552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550305" y="5732050"/>
            <a:ext cx="263712" cy="263712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603269" y="5771468"/>
            <a:ext cx="216528" cy="216528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688015" y="5765338"/>
            <a:ext cx="253836" cy="253836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647250" y="5746135"/>
            <a:ext cx="292242" cy="292242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684652" y="5770834"/>
            <a:ext cx="248350" cy="248350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685984" y="5743951"/>
            <a:ext cx="302116" cy="30211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75651" y="5849221"/>
            <a:ext cx="128746" cy="12874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793654" y="5776252"/>
            <a:ext cx="274684" cy="274684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904001" y="5835898"/>
            <a:ext cx="166054" cy="166054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96751" y="5820311"/>
            <a:ext cx="198972" cy="198972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000319" y="5853186"/>
            <a:ext cx="143012" cy="143012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052348" y="5836007"/>
            <a:ext cx="197876" cy="19787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966923" y="5788276"/>
            <a:ext cx="293338" cy="293338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188321" y="5871669"/>
            <a:ext cx="126552" cy="126552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247183" y="5871875"/>
            <a:ext cx="134232" cy="134232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303469" y="5839505"/>
            <a:ext cx="198972" cy="198972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127488" y="5815872"/>
            <a:ext cx="250544" cy="250544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219078" y="5841471"/>
            <a:ext cx="201168" cy="201168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170863" y="5792598"/>
            <a:ext cx="301020" cy="301020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055418" y="5858984"/>
            <a:ext cx="168248" cy="168248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282423" y="5817287"/>
            <a:ext cx="251642" cy="251642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266148" y="5787660"/>
            <a:ext cx="310896" cy="31089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490960" y="5844719"/>
            <a:ext cx="196778" cy="196778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525386" y="5844170"/>
            <a:ext cx="197876" cy="19787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371600" y="6291072"/>
            <a:ext cx="10515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222222"/>
                </a:solidFill>
                <a:latin typeface="Arial"/>
              </a:rPr>
              <a:t>Dot size ∝ gene-set size (leading-edge proxy). Gold ★ = top 5 positive (good-enriched) + top 3 negative (bad-enriched).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Reactome GSEA — top 20 by |NES| (gold outline for cell-cycle / DNA-repair category)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89120" y="6309360"/>
            <a:ext cx="59436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389120" y="1188720"/>
            <a:ext cx="0" cy="512064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332720" y="1188720"/>
            <a:ext cx="0" cy="512064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1188720"/>
            <a:ext cx="59436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630936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23360" y="636422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-2.3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75020" y="630936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509260" y="636422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-1.1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60920" y="630936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95160" y="636422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0.1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46820" y="630936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81060" y="636422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1.3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32720" y="630936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966960" y="636422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2.5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6656832"/>
            <a:ext cx="5943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Reactome NES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69628" y="1188720"/>
            <a:ext cx="0" cy="512064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638697" y="1316736"/>
            <a:ext cx="2630931" cy="0"/>
          </a:xfrm>
          <a:prstGeom prst="line">
            <a:avLst/>
          </a:prstGeom>
          <a:ln w="889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540708" y="1218747"/>
            <a:ext cx="195978" cy="195978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1201522"/>
            <a:ext cx="3108960" cy="23042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REACTOME_ASSEMBLY_OF_COLLAGEN_FIBRILS_AND_OTHER_MULTIMERIC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69628" y="1572768"/>
            <a:ext cx="2626372" cy="0"/>
          </a:xfrm>
          <a:prstGeom prst="line">
            <a:avLst/>
          </a:prstGeom>
          <a:ln w="889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9769132" y="1445900"/>
            <a:ext cx="253736" cy="253736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05708" y="1482476"/>
            <a:ext cx="180584" cy="180584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1457554"/>
            <a:ext cx="3108960" cy="23042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D4A300"/>
                </a:solidFill>
                <a:latin typeface="Arial"/>
              </a:rPr>
              <a:t>REACTOME_SUMOYLATION_OF_DNA_REPLICATION_PROTEINS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69628" y="1828800"/>
            <a:ext cx="2631847" cy="0"/>
          </a:xfrm>
          <a:prstGeom prst="line">
            <a:avLst/>
          </a:prstGeom>
          <a:ln w="889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806676" y="1734001"/>
            <a:ext cx="189598" cy="189598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1713586"/>
            <a:ext cx="3108960" cy="23042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REACTOME_CREATION_OF_C4_AND_C2_ACTIVATORS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269628" y="2084832"/>
            <a:ext cx="2636237" cy="0"/>
          </a:xfrm>
          <a:prstGeom prst="line">
            <a:avLst/>
          </a:prstGeom>
          <a:ln w="889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814537" y="1993504"/>
            <a:ext cx="182656" cy="182656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1969618"/>
            <a:ext cx="3108960" cy="23042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REACTOME_CD22_MEDIATED_BCR_REGULATION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269628" y="2340864"/>
            <a:ext cx="2647631" cy="0"/>
          </a:xfrm>
          <a:prstGeom prst="line">
            <a:avLst/>
          </a:prstGeom>
          <a:ln w="889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828022" y="2251627"/>
            <a:ext cx="178474" cy="178474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2225650"/>
            <a:ext cx="3108960" cy="23042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REACTOME_RESOLUTION_OF_D_LOOP_STRUCTURES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269628" y="2596896"/>
            <a:ext cx="2662058" cy="0"/>
          </a:xfrm>
          <a:prstGeom prst="line">
            <a:avLst/>
          </a:prstGeom>
          <a:ln w="889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9840451" y="2505661"/>
            <a:ext cx="182470" cy="182470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8720" y="2481682"/>
            <a:ext cx="3108960" cy="23042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REACTOME_DNA_STRAND_ELONGATION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269628" y="2852928"/>
            <a:ext cx="2668284" cy="0"/>
          </a:xfrm>
          <a:prstGeom prst="line">
            <a:avLst/>
          </a:prstGeom>
          <a:ln w="889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836428" y="2751444"/>
            <a:ext cx="202968" cy="202968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88720" y="2737714"/>
            <a:ext cx="3108960" cy="23042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REACTOME_TRANSPORT_OF_MATURE_TRANSCRIPT_TO_CYTOPLASM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269628" y="3108960"/>
            <a:ext cx="2671288" cy="0"/>
          </a:xfrm>
          <a:prstGeom prst="line">
            <a:avLst/>
          </a:prstGeom>
          <a:ln w="889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9814026" y="2982070"/>
            <a:ext cx="253780" cy="25378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850602" y="3018646"/>
            <a:ext cx="180628" cy="180628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88720" y="2993746"/>
            <a:ext cx="3108960" cy="23042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D4A300"/>
                </a:solidFill>
                <a:latin typeface="Arial"/>
              </a:rPr>
              <a:t>REACTOME_ACTIVATION_OF_ATR_IN_RESPONSE_TO_REPLICATION_STRE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269628" y="3364992"/>
            <a:ext cx="2672707" cy="0"/>
          </a:xfrm>
          <a:prstGeom prst="line">
            <a:avLst/>
          </a:prstGeom>
          <a:ln w="889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9853655" y="3276312"/>
            <a:ext cx="177360" cy="177360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88720" y="3249778"/>
            <a:ext cx="3108960" cy="23042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REACTOME_ACTIVATION_OF_THE_PRE_REPLICATIVE_COMPLEX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269628" y="3621024"/>
            <a:ext cx="2679369" cy="0"/>
          </a:xfrm>
          <a:prstGeom prst="line">
            <a:avLst/>
          </a:prstGeom>
          <a:ln w="889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9796935" y="3468962"/>
            <a:ext cx="304124" cy="304124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33511" y="3505538"/>
            <a:ext cx="230972" cy="230972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88720" y="3505810"/>
            <a:ext cx="3108960" cy="23042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D4A300"/>
                </a:solidFill>
                <a:latin typeface="Arial"/>
              </a:rPr>
              <a:t>REACTOME_G2_M_CHECKPOINTS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269628" y="3877056"/>
            <a:ext cx="2681583" cy="0"/>
          </a:xfrm>
          <a:prstGeom prst="line">
            <a:avLst/>
          </a:prstGeom>
          <a:ln w="889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9858847" y="3784692"/>
            <a:ext cx="184728" cy="184728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88720" y="3761842"/>
            <a:ext cx="3108960" cy="23042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REACTOME_DISEASES_OF_DNA_REPAIR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269628" y="4133088"/>
            <a:ext cx="2687013" cy="0"/>
          </a:xfrm>
          <a:prstGeom prst="line">
            <a:avLst/>
          </a:prstGeom>
          <a:ln w="889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9858159" y="4034606"/>
            <a:ext cx="196964" cy="196964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88720" y="4017874"/>
            <a:ext cx="3108960" cy="23042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REACTOME_SCAVENGING_OF_HEME_FROM_PLASMA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269628" y="4389120"/>
            <a:ext cx="2689550" cy="0"/>
          </a:xfrm>
          <a:prstGeom prst="line">
            <a:avLst/>
          </a:prstGeom>
          <a:ln w="889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9778460" y="4208402"/>
            <a:ext cx="361436" cy="361436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815036" y="4244978"/>
            <a:ext cx="288284" cy="288284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88720" y="4273906"/>
            <a:ext cx="3108960" cy="23042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D4A300"/>
                </a:solidFill>
                <a:latin typeface="Arial"/>
              </a:rPr>
              <a:t>REACTOME_CELL_CYCLE_CHECKPOINTS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269628" y="4645152"/>
            <a:ext cx="2692982" cy="0"/>
          </a:xfrm>
          <a:prstGeom prst="line">
            <a:avLst/>
          </a:prstGeom>
          <a:ln w="889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9856856" y="4539398"/>
            <a:ext cx="211508" cy="211508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88720" y="4529938"/>
            <a:ext cx="3108960" cy="23042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REACTOME_FCGR3A_MEDIATED_IL10_SYNTHESIS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269628" y="4901184"/>
            <a:ext cx="2695206" cy="0"/>
          </a:xfrm>
          <a:prstGeom prst="line">
            <a:avLst/>
          </a:prstGeom>
          <a:ln w="889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9866070" y="4802420"/>
            <a:ext cx="197528" cy="197528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88720" y="4785970"/>
            <a:ext cx="3108960" cy="23042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REACTOME_ROLE_OF_LAT2_NTAL_LAB_ON_CALCIUM_MOBILIZATION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269628" y="5157216"/>
            <a:ext cx="2700500" cy="0"/>
          </a:xfrm>
          <a:prstGeom prst="line">
            <a:avLst/>
          </a:prstGeom>
          <a:ln w="889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9875796" y="5062884"/>
            <a:ext cx="188664" cy="188664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88720" y="5042002"/>
            <a:ext cx="3108960" cy="23042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REACTOME_HOMOLOGOUS_DNA_PAIRING_AND_STRAND_EXCHANGE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69628" y="5413248"/>
            <a:ext cx="2726361" cy="0"/>
          </a:xfrm>
          <a:prstGeom prst="line">
            <a:avLst/>
          </a:prstGeom>
          <a:ln w="889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9871480" y="5288739"/>
            <a:ext cx="249018" cy="249018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88720" y="5298034"/>
            <a:ext cx="3108960" cy="23042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REACTOME_DNA_DOUBLE_STRAND_BREAK_REPAIR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269628" y="5669280"/>
            <a:ext cx="2738068" cy="0"/>
          </a:xfrm>
          <a:prstGeom prst="line">
            <a:avLst/>
          </a:prstGeom>
          <a:ln w="889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9906615" y="5568199"/>
            <a:ext cx="202162" cy="202162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88720" y="5554066"/>
            <a:ext cx="3108960" cy="23042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REACTOME_HDR_THROUGH_HOMOLOGOUS_RECOMBINATION_HRR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269628" y="5925312"/>
            <a:ext cx="2781105" cy="0"/>
          </a:xfrm>
          <a:prstGeom prst="line">
            <a:avLst/>
          </a:prstGeom>
          <a:ln w="889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9889648" y="5764227"/>
            <a:ext cx="322170" cy="32217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6224" y="5800803"/>
            <a:ext cx="249018" cy="249018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88720" y="5810098"/>
            <a:ext cx="3108960" cy="23042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D4A300"/>
                </a:solidFill>
                <a:latin typeface="Arial"/>
              </a:rPr>
              <a:t>REACTOME_HOMOLOGY_DIRECTED_REPAIR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269628" y="6181344"/>
            <a:ext cx="2813515" cy="0"/>
          </a:xfrm>
          <a:prstGeom prst="line">
            <a:avLst/>
          </a:prstGeom>
          <a:ln w="889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9977996" y="6076197"/>
            <a:ext cx="210294" cy="210294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88720" y="6066130"/>
            <a:ext cx="3108960" cy="23042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REACTOME_FCGR_ACTIVATION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1188720"/>
            <a:ext cx="34747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4A300"/>
                </a:solidFill>
                <a:latin typeface="Arial"/>
              </a:rPr>
              <a:t>Thread-1 biology emphasis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1463040"/>
            <a:ext cx="347472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Gold-ringed dots = DNA-repair /
cell-cycle / E2F / MYC / replication
Reactome sets (the externally-
validated Thread-1 axis).
Line length ∝ |NES|.
Dot size ∝ −log10(FDR).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