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CMScaller CMS classification composition by response (pre-CRT RNA-seq; Fisher P as annotation)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0" y="5943600"/>
            <a:ext cx="73152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560320" y="1188720"/>
            <a:ext cx="0" cy="475488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1188720"/>
            <a:ext cx="0" cy="475488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60320" y="1188720"/>
            <a:ext cx="73152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496312" y="59436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057400" y="58613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96312" y="4754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57400" y="4672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96312" y="3566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57400" y="3483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9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96312" y="23774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57400" y="22951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9631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5740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603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n samples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0080" y="5673436"/>
            <a:ext cx="1097280" cy="270164"/>
          </a:xfrm>
          <a:prstGeom prst="rect">
            <a:avLst/>
          </a:prstGeom>
          <a:solidFill>
            <a:srgbClr val="E4944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0080" y="5717078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50080" y="4052455"/>
            <a:ext cx="1097280" cy="1620982"/>
          </a:xfrm>
          <a:prstGeom prst="rect">
            <a:avLst/>
          </a:prstGeom>
          <a:solidFill>
            <a:srgbClr val="5A83B3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4771505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0080" y="2971800"/>
            <a:ext cx="1097280" cy="1080655"/>
          </a:xfrm>
          <a:prstGeom prst="rect">
            <a:avLst/>
          </a:prstGeom>
          <a:solidFill>
            <a:srgbClr val="C564A1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0080" y="3420687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50080" y="2161309"/>
            <a:ext cx="1097280" cy="810491"/>
          </a:xfrm>
          <a:prstGeom prst="rect">
            <a:avLst/>
          </a:prstGeom>
          <a:solidFill>
            <a:srgbClr val="4EA77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0080" y="2475115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0080" y="6016752"/>
            <a:ext cx="1097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7D6E"/>
                </a:solidFill>
                <a:latin typeface="Arial"/>
              </a:rPr>
              <a:t>good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8480" y="5403273"/>
            <a:ext cx="1097280" cy="540327"/>
          </a:xfrm>
          <a:prstGeom prst="rect">
            <a:avLst/>
          </a:prstGeom>
          <a:solidFill>
            <a:srgbClr val="E4944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8480" y="5581996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8480" y="4052455"/>
            <a:ext cx="1097280" cy="1350818"/>
          </a:xfrm>
          <a:prstGeom prst="rect">
            <a:avLst/>
          </a:prstGeom>
          <a:solidFill>
            <a:srgbClr val="5A83B3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8480" y="4636424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8480" y="2701636"/>
            <a:ext cx="1097280" cy="1350818"/>
          </a:xfrm>
          <a:prstGeom prst="rect">
            <a:avLst/>
          </a:prstGeom>
          <a:solidFill>
            <a:srgbClr val="C564A1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8480" y="3285605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8480" y="1620982"/>
            <a:ext cx="1097280" cy="1080655"/>
          </a:xfrm>
          <a:prstGeom prst="rect">
            <a:avLst/>
          </a:prstGeom>
          <a:solidFill>
            <a:srgbClr val="4EA772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88480" y="2069869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8480" y="6016752"/>
            <a:ext cx="10972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C53E1F"/>
                </a:solidFill>
                <a:latin typeface="Arial"/>
              </a:rPr>
              <a:t>bad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1097280"/>
            <a:ext cx="164592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222222"/>
                </a:solidFill>
                <a:latin typeface="Arial"/>
              </a:rPr>
              <a:t>CMS subtype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1371600"/>
            <a:ext cx="201168" cy="164592"/>
          </a:xfrm>
          <a:prstGeom prst="rect">
            <a:avLst/>
          </a:prstGeom>
          <a:solidFill>
            <a:srgbClr val="E49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14432" y="135331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CMS1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0" y="1645920"/>
            <a:ext cx="201168" cy="164592"/>
          </a:xfrm>
          <a:prstGeom prst="rect">
            <a:avLst/>
          </a:prstGeom>
          <a:solidFill>
            <a:srgbClr val="5A8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14432" y="162763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CMS2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0" y="1920240"/>
            <a:ext cx="201168" cy="164592"/>
          </a:xfrm>
          <a:prstGeom prst="rect">
            <a:avLst/>
          </a:prstGeom>
          <a:solidFill>
            <a:srgbClr val="C564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14432" y="1901952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CMS3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2194559"/>
            <a:ext cx="201168" cy="164592"/>
          </a:xfrm>
          <a:prstGeom prst="rect">
            <a:avLst/>
          </a:prstGeom>
          <a:solidFill>
            <a:srgbClr val="4EA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14432" y="2176271"/>
            <a:ext cx="10972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Arial"/>
              </a:rPr>
              <a:t>CMS4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6263640"/>
            <a:ext cx="7315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222222"/>
                </a:solidFill>
                <a:latin typeface="Arial"/>
              </a:rPr>
              <a:t>CMS4 (mesenchymal): 3/18 good vs 4/17 bad, Fisher P = 1.0 — CMS call does not differentiate; EMT argument rests on GSEA/ssGSEA (§3.3, Fig 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