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TRUST4 repertoire diversity — 6 chains × Shannon entropy by response (pre-CRT) with per-chain MW 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5669280"/>
            <a:ext cx="9601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63040" y="1280160"/>
            <a:ext cx="0" cy="43891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64240" y="1280160"/>
            <a:ext cx="0" cy="43891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1280160"/>
            <a:ext cx="9601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99032" y="56692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55869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99032" y="45720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44897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2.2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99032" y="3474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3392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4.4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99032" y="23774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22951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6.6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99032" y="12801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" y="11978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8.8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Shannon entropy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1298448"/>
            <a:ext cx="1371600" cy="437083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1298448"/>
            <a:ext cx="1371600" cy="437083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298448"/>
            <a:ext cx="1371600" cy="4370832"/>
          </a:xfrm>
          <a:prstGeom prst="rect">
            <a:avLst/>
          </a:prstGeom>
          <a:solidFill>
            <a:srgbClr val="FA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1298448"/>
            <a:ext cx="1371600" cy="4370832"/>
          </a:xfrm>
          <a:prstGeom prst="rect">
            <a:avLst/>
          </a:prstGeom>
          <a:solidFill>
            <a:srgbClr val="FA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1298448"/>
            <a:ext cx="1371600" cy="4370832"/>
          </a:xfrm>
          <a:prstGeom prst="rect">
            <a:avLst/>
          </a:prstGeom>
          <a:solidFill>
            <a:srgbClr val="FA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298448"/>
            <a:ext cx="1371600" cy="4370832"/>
          </a:xfrm>
          <a:prstGeom prst="rect">
            <a:avLst/>
          </a:prstGeom>
          <a:solidFill>
            <a:srgbClr val="FA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298448"/>
            <a:ext cx="1371600" cy="4370832"/>
          </a:xfrm>
          <a:prstGeom prst="rect">
            <a:avLst/>
          </a:prstGeom>
          <a:solidFill>
            <a:srgbClr val="FA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463040" y="5669280"/>
            <a:ext cx="9601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63040" y="1280160"/>
            <a:ext cx="0" cy="43891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63040" y="960120"/>
            <a:ext cx="2743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2B4C"/>
                </a:solidFill>
                <a:latin typeface="Arial"/>
              </a:rPr>
              <a:t>α/β T-cell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960120"/>
            <a:ext cx="2743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D4A300"/>
                </a:solidFill>
                <a:latin typeface="Arial"/>
              </a:rPr>
              <a:t>γ/δ T-cell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960120"/>
            <a:ext cx="4114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A2B4C"/>
                </a:solidFill>
                <a:latin typeface="Arial"/>
              </a:rPr>
              <a:t>B-cell (IGH/K/L)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724144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TRA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111556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BBBBB"/>
                </a:solidFill>
                <a:latin typeface="Arial"/>
              </a:rPr>
              <a:t>P=0.55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920240" y="3551601"/>
            <a:ext cx="0" cy="179930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33372" y="5350908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33372" y="3551601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746504" y="4333739"/>
            <a:ext cx="347472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746504" y="4097632"/>
            <a:ext cx="347472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911169" y="351502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99196" y="363972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16348" y="370233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927604" y="375485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41512" y="383028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69570" y="386473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30628" y="388361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17202" y="401934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87527" y="406105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835968" y="406618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960668" y="407494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39729" y="413513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925712" y="429716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860811" y="4338250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967647" y="453369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847515" y="475845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89179" y="531433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2377440" y="3714487"/>
            <a:ext cx="0" cy="1179601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290572" y="4894088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290572" y="3714487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203704" y="4278515"/>
            <a:ext cx="347472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203704" y="4149493"/>
            <a:ext cx="347472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2283294" y="367791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288581" y="369591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395586" y="377019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358896" y="391876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397892" y="398114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347970" y="404744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374677" y="407654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374442" y="411091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310800" y="411491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77562" y="416136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278500" y="4232337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265475" y="423777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260769" y="425443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394555" y="428606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349332" y="450978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288613" y="485751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71800" y="5724144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TRB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17520" y="111556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BBBBB"/>
                </a:solidFill>
                <a:latin typeface="Arial"/>
              </a:rPr>
              <a:t>P=0.60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3291840" y="3545678"/>
            <a:ext cx="0" cy="86154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204972" y="4407220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204972" y="3545678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118104" y="3973817"/>
            <a:ext cx="347472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3118104" y="3885543"/>
            <a:ext cx="347472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3311456" y="350910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207418" y="3643841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282494" y="373495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292567" y="373631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187848" y="377012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13397" y="379483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220921" y="381043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04195" y="383112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315658" y="384896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313275" y="387380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203529" y="388600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336547" y="39081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169418" y="3937241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193222" y="412468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290315" y="423233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178395" y="426167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205024" y="437064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3749040" y="3591554"/>
            <a:ext cx="0" cy="115923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662172" y="4750789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662172" y="3591554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3575304" y="4033467"/>
            <a:ext cx="347472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3575304" y="3923683"/>
            <a:ext cx="347472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3695807" y="355497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661948" y="370435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726471" y="370508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725890" y="373035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92511" y="384405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631811" y="387068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731793" y="387148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670" y="387605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722611" y="3898157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726374" y="393147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661811" y="3936047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756357" y="397837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770936" y="405243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772999" y="412154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766762" y="452295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676138" y="471421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343400" y="5724144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TRG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389120" y="111556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BBBBB"/>
                </a:solidFill>
                <a:latin typeface="Arial"/>
              </a:rPr>
              <a:t>P=0.07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4663440" y="4479946"/>
            <a:ext cx="0" cy="118933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576572" y="5669280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576572" y="4479946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4489704" y="5002951"/>
            <a:ext cx="347472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4489704" y="4888644"/>
            <a:ext cx="347472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4665042" y="4443370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663767" y="456491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633888" y="458318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542269" y="461967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632643" y="467871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644157" y="4758311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648884" y="482769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631427" y="482769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688896" y="485206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4599349" y="493930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559907" y="493930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684027" y="493930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551510" y="496637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670809" y="528600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691304" y="528600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650744" y="535143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652477" y="56327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V="1">
            <a:off x="5120640" y="4769630"/>
            <a:ext cx="0" cy="89965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033772" y="5669280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033772" y="4769630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4946904" y="5186835"/>
            <a:ext cx="347472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4946904" y="5091390"/>
            <a:ext cx="347472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5037184" y="473305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032772" y="475845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035650" y="477647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013946" y="502598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092326" y="502598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070966" y="505400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020105" y="505562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093098" y="508320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5050742" y="508320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055947" y="535143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060636" y="563270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093526" y="563270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15000" y="5724144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TRD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760720" y="111556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BBBBB"/>
                </a:solidFill>
                <a:latin typeface="Arial"/>
              </a:rPr>
              <a:t>P=0.85</a:t>
            </a:r>
          </a:p>
        </p:txBody>
      </p:sp>
      <p:cxnSp>
        <p:nvCxnSpPr>
          <p:cNvPr id="164" name="Connector 163"/>
          <p:cNvCxnSpPr/>
          <p:nvPr/>
        </p:nvCxnSpPr>
        <p:spPr>
          <a:xfrm flipV="1">
            <a:off x="6035040" y="4832419"/>
            <a:ext cx="0" cy="836861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5948172" y="5669280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948172" y="4832419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5861304" y="5669280"/>
            <a:ext cx="347472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5861304" y="5669280"/>
            <a:ext cx="347472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Oval 168"/>
          <p:cNvSpPr/>
          <p:nvPr/>
        </p:nvSpPr>
        <p:spPr>
          <a:xfrm>
            <a:off x="5938728" y="479584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040899" y="496637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051716" y="501871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060983" y="507048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054806" y="5083200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042712" y="5083200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5969697" y="56327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5982128" y="56327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979615" y="56327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914640" y="56327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958022" y="56327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6058385" y="56327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6037695" y="56327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 flipV="1">
            <a:off x="6492240" y="4620726"/>
            <a:ext cx="0" cy="104855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6405372" y="5669280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6405372" y="4620726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>
          <a:xfrm>
            <a:off x="6318504" y="5669280"/>
            <a:ext cx="347472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6318504" y="5350908"/>
            <a:ext cx="347472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6510688" y="458415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377109" y="4939307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6397298" y="496637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407981" y="508805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6431176" y="511265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6387793" y="531433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6528337" y="563270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6504916" y="563270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6461398" y="563270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443436" y="563270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6494347" y="563270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086600" y="5724144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IGH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132320" y="111556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BBBBB"/>
                </a:solidFill>
                <a:latin typeface="Arial"/>
              </a:rPr>
              <a:t>P=0.44</a:t>
            </a:r>
          </a:p>
        </p:txBody>
      </p:sp>
      <p:cxnSp>
        <p:nvCxnSpPr>
          <p:cNvPr id="200" name="Connector 199"/>
          <p:cNvCxnSpPr/>
          <p:nvPr/>
        </p:nvCxnSpPr>
        <p:spPr>
          <a:xfrm flipV="1">
            <a:off x="7406640" y="1876218"/>
            <a:ext cx="0" cy="1252447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319772" y="3128665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319772" y="1876218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202"/>
          <p:cNvSpPr/>
          <p:nvPr/>
        </p:nvSpPr>
        <p:spPr>
          <a:xfrm>
            <a:off x="7232904" y="2777015"/>
            <a:ext cx="347472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>
            <a:off x="7232904" y="2551349"/>
            <a:ext cx="347472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7429874" y="183964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432861" y="196637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7359944" y="215346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401114" y="222895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338647" y="227043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379764" y="229786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7408614" y="236315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410616" y="236674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336178" y="251477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7434097" y="253734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345501" y="261392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451973" y="261874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317709" y="274043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329811" y="2882961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381323" y="296302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369470" y="304830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351928" y="309208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 flipV="1">
            <a:off x="7863840" y="1902487"/>
            <a:ext cx="0" cy="1824555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7776972" y="3727042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7776972" y="1902487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Rectangle 224"/>
          <p:cNvSpPr/>
          <p:nvPr/>
        </p:nvSpPr>
        <p:spPr>
          <a:xfrm>
            <a:off x="7690104" y="3074804"/>
            <a:ext cx="347472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>
            <a:off x="7690104" y="2638530"/>
            <a:ext cx="347472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Oval 226"/>
          <p:cNvSpPr/>
          <p:nvPr/>
        </p:nvSpPr>
        <p:spPr>
          <a:xfrm>
            <a:off x="7771746" y="186591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7811471" y="201909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7837208" y="208316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7869280" y="214237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7829809" y="230130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7819550" y="240871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7902156" y="246642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7867432" y="253359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750201" y="267031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893975" y="2721487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844322" y="286325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74470" y="299618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7907088" y="316437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7869008" y="354586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7891577" y="363515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841336" y="369046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8458200" y="5724144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IGK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503920" y="111556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BBBBB"/>
                </a:solidFill>
                <a:latin typeface="Arial"/>
              </a:rPr>
              <a:t>P=0.42</a:t>
            </a:r>
          </a:p>
        </p:txBody>
      </p:sp>
      <p:cxnSp>
        <p:nvCxnSpPr>
          <p:cNvPr id="245" name="Connector 244"/>
          <p:cNvCxnSpPr/>
          <p:nvPr/>
        </p:nvCxnSpPr>
        <p:spPr>
          <a:xfrm flipV="1">
            <a:off x="8778240" y="1829607"/>
            <a:ext cx="0" cy="150625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691372" y="3335861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691372" y="1829607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Rectangle 247"/>
          <p:cNvSpPr/>
          <p:nvPr/>
        </p:nvSpPr>
        <p:spPr>
          <a:xfrm>
            <a:off x="8604504" y="2792639"/>
            <a:ext cx="347472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>
            <a:off x="8604504" y="2352285"/>
            <a:ext cx="347472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Oval 249"/>
          <p:cNvSpPr/>
          <p:nvPr/>
        </p:nvSpPr>
        <p:spPr>
          <a:xfrm>
            <a:off x="8793296" y="1793031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656046" y="181564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715933" y="193601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821192" y="2029361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8707390" y="205870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8752881" y="215927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8818168" y="224056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8709609" y="2262861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8711006" y="231570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8693608" y="233908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8716408" y="256853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8825297" y="263855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8727202" y="275606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8664691" y="277750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8785928" y="2846239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8763161" y="3059223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8788422" y="3299285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 flipV="1">
            <a:off x="9235440" y="1679171"/>
            <a:ext cx="0" cy="224571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9148572" y="3924889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9148572" y="1679171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9061704" y="3201094"/>
            <a:ext cx="347472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>
            <a:off x="9061704" y="2676274"/>
            <a:ext cx="347472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Oval 271"/>
          <p:cNvSpPr/>
          <p:nvPr/>
        </p:nvSpPr>
        <p:spPr>
          <a:xfrm>
            <a:off x="9276756" y="164259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9243449" y="179479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9246969" y="181231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115069" y="190035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178076" y="192989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9216278" y="2400650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9218962" y="251328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9226585" y="258629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9177907" y="269310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9223414" y="276621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9145267" y="296920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9258777" y="315274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9285596" y="3199847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9278126" y="326989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9207784" y="361910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9128537" y="388831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9829800" y="5724144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IGL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9875520" y="1115568"/>
            <a:ext cx="1005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BBBBBB"/>
                </a:solidFill>
                <a:latin typeface="Arial"/>
              </a:rPr>
              <a:t>P=0.18</a:t>
            </a:r>
          </a:p>
        </p:txBody>
      </p:sp>
      <p:cxnSp>
        <p:nvCxnSpPr>
          <p:cNvPr id="290" name="Connector 289"/>
          <p:cNvCxnSpPr/>
          <p:nvPr/>
        </p:nvCxnSpPr>
        <p:spPr>
          <a:xfrm flipV="1">
            <a:off x="10149840" y="1991428"/>
            <a:ext cx="0" cy="124812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10062972" y="3239554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0062972" y="1991428"/>
            <a:ext cx="173736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9976104" y="2948470"/>
            <a:ext cx="347472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4" name="Connector 293"/>
          <p:cNvCxnSpPr/>
          <p:nvPr/>
        </p:nvCxnSpPr>
        <p:spPr>
          <a:xfrm>
            <a:off x="9976104" y="2537353"/>
            <a:ext cx="347472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Oval 294"/>
          <p:cNvSpPr/>
          <p:nvPr/>
        </p:nvSpPr>
        <p:spPr>
          <a:xfrm>
            <a:off x="10197992" y="195485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0090287" y="195619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0198465" y="209122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0122123" y="232334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0140085" y="2371111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0073520" y="241177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0044490" y="241296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0036998" y="244467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0134658" y="250077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10160069" y="2530470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095286" y="2844122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054115" y="2861637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0188476" y="291189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0196883" y="2933226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086981" y="294346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110920" y="3039784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036428" y="3202978"/>
            <a:ext cx="73152" cy="73152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2" name="Connector 311"/>
          <p:cNvCxnSpPr/>
          <p:nvPr/>
        </p:nvCxnSpPr>
        <p:spPr>
          <a:xfrm flipV="1">
            <a:off x="10607040" y="2095895"/>
            <a:ext cx="0" cy="206463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520172" y="4160525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0520172" y="2095895"/>
            <a:ext cx="173736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Rectangle 314"/>
          <p:cNvSpPr/>
          <p:nvPr/>
        </p:nvSpPr>
        <p:spPr>
          <a:xfrm>
            <a:off x="10433304" y="3364192"/>
            <a:ext cx="347472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6" name="Connector 315"/>
          <p:cNvCxnSpPr/>
          <p:nvPr/>
        </p:nvCxnSpPr>
        <p:spPr>
          <a:xfrm>
            <a:off x="10433304" y="2937024"/>
            <a:ext cx="347472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Oval 316"/>
          <p:cNvSpPr/>
          <p:nvPr/>
        </p:nvSpPr>
        <p:spPr>
          <a:xfrm>
            <a:off x="10567055" y="205931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10593191" y="207227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10551842" y="2108597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10528505" y="2231967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10534080" y="230678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10524110" y="2507841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0507166" y="260734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0585546" y="2865402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0545132" y="293549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0643068" y="3031943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0552164" y="3195444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0544796" y="328490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0573055" y="3455735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0511335" y="3566766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0645469" y="3801298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0558466" y="4123949"/>
            <a:ext cx="73152" cy="73152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463040" y="5943600"/>
            <a:ext cx="9601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Per-chain Mann–Whitney P (good vs bad) shown above each panel. Chain families: α/β T-cell (teal), γ/δ (gold), B-cell (coral).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