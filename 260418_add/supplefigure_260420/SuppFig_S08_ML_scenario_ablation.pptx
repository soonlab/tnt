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Nested LOOCV AUC across 5 feature-configuration scenarios × 2 models (LASSO / ElasticNet)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28800" y="5852160"/>
            <a:ext cx="941832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128016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47120" y="128016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1280160"/>
            <a:ext cx="941832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64792" y="5852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25880" y="5769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64792" y="5090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25880" y="5007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64792" y="4328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25880" y="4245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64792" y="3566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25880" y="3483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64792" y="2804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2721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64792" y="2042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25880" y="1959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64792" y="1280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25880" y="1197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56032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Outer-LOOCV AUC (95 % bootstrap CI)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7672" y="5925312"/>
            <a:ext cx="164592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Baseline
37 feat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8004" y="3944874"/>
            <a:ext cx="402336" cy="1145286"/>
          </a:xfrm>
          <a:prstGeom prst="rect">
            <a:avLst/>
          </a:prstGeom>
          <a:solidFill>
            <a:srgbClr val="0E4A68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519172" y="2558796"/>
            <a:ext cx="0" cy="288036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55164" y="2558796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455164" y="5439156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244852" y="3743706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0.650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20924" y="3670554"/>
            <a:ext cx="402336" cy="1419606"/>
          </a:xfrm>
          <a:prstGeom prst="rect">
            <a:avLst/>
          </a:prstGeom>
          <a:solidFill>
            <a:srgbClr val="8A2B4C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022092" y="2346960"/>
            <a:ext cx="0" cy="27432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58084" y="2346960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58084" y="5090160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7772" y="3469386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0.686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31336" y="5925312"/>
            <a:ext cx="164592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D4A300"/>
                </a:solidFill>
                <a:latin typeface="Arial"/>
              </a:rPr>
              <a:t>★ Drop CD8prolif
36 feat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1668" y="3446526"/>
            <a:ext cx="402336" cy="1643634"/>
          </a:xfrm>
          <a:prstGeom prst="rect">
            <a:avLst/>
          </a:prstGeom>
          <a:solidFill>
            <a:srgbClr val="0E4A68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402836" y="2176272"/>
            <a:ext cx="0" cy="2732532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338828" y="2176272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338828" y="4908804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128516" y="3245358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0.716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4588" y="3222498"/>
            <a:ext cx="402336" cy="1867662"/>
          </a:xfrm>
          <a:prstGeom prst="rect">
            <a:avLst/>
          </a:prstGeom>
          <a:solidFill>
            <a:srgbClr val="D4A300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4905756" y="2082546"/>
            <a:ext cx="0" cy="2525268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841748" y="2082546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841748" y="4607814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631436" y="3021330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222222"/>
                </a:solidFill>
                <a:latin typeface="Arial"/>
              </a:rPr>
              <a:t>0.745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5925312"/>
            <a:ext cx="164592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Add 3 immune
40 feat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5332" y="3944874"/>
            <a:ext cx="402336" cy="1145286"/>
          </a:xfrm>
          <a:prstGeom prst="rect">
            <a:avLst/>
          </a:prstGeom>
          <a:solidFill>
            <a:srgbClr val="0E4A68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6286500" y="2558796"/>
            <a:ext cx="0" cy="288036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222492" y="2558796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222492" y="5439156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012180" y="3743706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0.650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8252" y="3670554"/>
            <a:ext cx="402336" cy="1419606"/>
          </a:xfrm>
          <a:prstGeom prst="rect">
            <a:avLst/>
          </a:prstGeom>
          <a:solidFill>
            <a:srgbClr val="8A2B4C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6789420" y="2346960"/>
            <a:ext cx="0" cy="27432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725412" y="2346960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725412" y="5090160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515100" y="3469386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0.686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98664" y="5925312"/>
            <a:ext cx="164592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Swap CD8prolif→
CD8cytotoxic (37)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68996" y="3446526"/>
            <a:ext cx="402336" cy="1643634"/>
          </a:xfrm>
          <a:prstGeom prst="rect">
            <a:avLst/>
          </a:prstGeom>
          <a:solidFill>
            <a:srgbClr val="0E4A68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8170164" y="2176272"/>
            <a:ext cx="0" cy="2732532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106156" y="2176272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106156" y="4908804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895844" y="3245358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0.716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71916" y="3396996"/>
            <a:ext cx="402336" cy="1693164"/>
          </a:xfrm>
          <a:prstGeom prst="rect">
            <a:avLst/>
          </a:prstGeom>
          <a:solidFill>
            <a:srgbClr val="8A2B4C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8673084" y="2132076"/>
            <a:ext cx="0" cy="2707386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609076" y="2132076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609076" y="4839462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398764" y="3195828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0.722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82328" y="5925312"/>
            <a:ext cx="164592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Drop+Add
39 feat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52660" y="3446526"/>
            <a:ext cx="402336" cy="1643634"/>
          </a:xfrm>
          <a:prstGeom prst="rect">
            <a:avLst/>
          </a:prstGeom>
          <a:solidFill>
            <a:srgbClr val="0E4A68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0053828" y="2176272"/>
            <a:ext cx="0" cy="2732532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989820" y="2176272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989820" y="4908804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779508" y="3245358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0.716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355580" y="3297174"/>
            <a:ext cx="402336" cy="1792986"/>
          </a:xfrm>
          <a:prstGeom prst="rect">
            <a:avLst/>
          </a:prstGeom>
          <a:solidFill>
            <a:srgbClr val="8A2B4C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10556748" y="2101596"/>
            <a:ext cx="0" cy="2607564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492740" y="2101596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492740" y="4709160"/>
            <a:ext cx="128016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0282428" y="3096006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0.735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828800" y="5090160"/>
            <a:ext cx="9418320" cy="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1292840" y="4998720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Arial"/>
              </a:rPr>
              <a:t>AUC 0.5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01200" y="777240"/>
            <a:ext cx="164592" cy="109728"/>
          </a:xfrm>
          <a:prstGeom prst="rect">
            <a:avLst/>
          </a:prstGeom>
          <a:solidFill>
            <a:srgbClr val="0E4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02368" y="758952"/>
            <a:ext cx="10972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LASSO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601200" y="941832"/>
            <a:ext cx="164592" cy="109728"/>
          </a:xfrm>
          <a:prstGeom prst="rect">
            <a:avLst/>
          </a:prstGeom>
          <a:solidFill>
            <a:srgbClr val="8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02368" y="923544"/>
            <a:ext cx="10972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ElasticNet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01200" y="1106424"/>
            <a:ext cx="164592" cy="109728"/>
          </a:xfrm>
          <a:prstGeom prst="rect">
            <a:avLst/>
          </a:prstGeom>
          <a:solidFill>
            <a:srgbClr val="D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02368" y="1088136"/>
            <a:ext cx="1371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★ winning model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28800" y="6263640"/>
            <a:ext cx="941832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Winner: drop CD8-proliferation → 36-feature ElasticNet AUC 0.745 [0.56, 0.90]. The gain comes from REMOVING the cell-cycle-contaminated feature, not adding purified immune signatures (Methods §3.5).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Nested outer-LOOCV ROC overlay — 5 scenarios (ElasticNet)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5852160"/>
            <a:ext cx="54864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128016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128016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86000" y="1280160"/>
            <a:ext cx="54864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21992" y="5852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3080" y="5769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21992" y="4709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83080" y="4626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0.25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21992" y="3566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83080" y="3483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21992" y="2423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83080" y="2340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0.75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21992" y="1280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83080" y="1197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585216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20240" y="590702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0" y="585216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91840" y="590702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0.25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0" y="585216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63440" y="590702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0" y="585216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35040" y="590702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0.75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0" y="585216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06640" y="590702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6199632"/>
            <a:ext cx="5486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1 − Specificity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256032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Sensitivity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286000" y="1280160"/>
            <a:ext cx="5486400" cy="457200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286000" y="5506210"/>
            <a:ext cx="92990" cy="345950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378990" y="5270777"/>
            <a:ext cx="92990" cy="235433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471980" y="5070378"/>
            <a:ext cx="92989" cy="200399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564969" y="4891432"/>
            <a:ext cx="92990" cy="178946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657959" y="4727828"/>
            <a:ext cx="92990" cy="163604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750949" y="4576101"/>
            <a:ext cx="92990" cy="151727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843939" y="4434029"/>
            <a:ext cx="92990" cy="142072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936929" y="4300069"/>
            <a:ext cx="92990" cy="133960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029919" y="4173093"/>
            <a:ext cx="92989" cy="126976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122908" y="4052240"/>
            <a:ext cx="92990" cy="120853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215898" y="3936835"/>
            <a:ext cx="92990" cy="115405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308888" y="3826334"/>
            <a:ext cx="92990" cy="110501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401878" y="3720291"/>
            <a:ext cx="92990" cy="106043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494868" y="3618334"/>
            <a:ext cx="92990" cy="101957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587858" y="3520147"/>
            <a:ext cx="92989" cy="98187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680847" y="3425461"/>
            <a:ext cx="92990" cy="94686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773837" y="3334043"/>
            <a:ext cx="92990" cy="91418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866827" y="3245691"/>
            <a:ext cx="92990" cy="88352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959817" y="3160226"/>
            <a:ext cx="92990" cy="85465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052807" y="3077491"/>
            <a:ext cx="92990" cy="82735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145797" y="2997345"/>
            <a:ext cx="92989" cy="80146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38786" y="2919663"/>
            <a:ext cx="92990" cy="77682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331776" y="2844333"/>
            <a:ext cx="92990" cy="75330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424766" y="2771254"/>
            <a:ext cx="92990" cy="73079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517756" y="2700335"/>
            <a:ext cx="92990" cy="70919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610746" y="2631491"/>
            <a:ext cx="92990" cy="68844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703736" y="2564649"/>
            <a:ext cx="92989" cy="66842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796725" y="2499739"/>
            <a:ext cx="92990" cy="64910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889715" y="2436698"/>
            <a:ext cx="92990" cy="63041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982705" y="2375471"/>
            <a:ext cx="92990" cy="61227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075695" y="2316003"/>
            <a:ext cx="92990" cy="59468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168685" y="2258249"/>
            <a:ext cx="92990" cy="57754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261675" y="2202164"/>
            <a:ext cx="92989" cy="56085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54664" y="2147709"/>
            <a:ext cx="92990" cy="54455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447654" y="2094849"/>
            <a:ext cx="92990" cy="52860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540644" y="2043550"/>
            <a:ext cx="92990" cy="51299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633634" y="1993784"/>
            <a:ext cx="92990" cy="49766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726624" y="1945524"/>
            <a:ext cx="92990" cy="48260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819614" y="1898749"/>
            <a:ext cx="92989" cy="46775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912603" y="1853437"/>
            <a:ext cx="92990" cy="45312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005593" y="1809572"/>
            <a:ext cx="92990" cy="43865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098583" y="1767140"/>
            <a:ext cx="92990" cy="42432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191573" y="1726131"/>
            <a:ext cx="92990" cy="41009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284563" y="1686538"/>
            <a:ext cx="92990" cy="39593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377553" y="1648355"/>
            <a:ext cx="92989" cy="38183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470542" y="1611585"/>
            <a:ext cx="92990" cy="36770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563532" y="1576230"/>
            <a:ext cx="92990" cy="35355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656522" y="1542302"/>
            <a:ext cx="92990" cy="33928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749512" y="1509815"/>
            <a:ext cx="92990" cy="32487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842502" y="1478791"/>
            <a:ext cx="92990" cy="31024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935492" y="1449263"/>
            <a:ext cx="92989" cy="29528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028481" y="1421273"/>
            <a:ext cx="92990" cy="27990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121471" y="1394879"/>
            <a:ext cx="92990" cy="26394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214461" y="1370163"/>
            <a:ext cx="92990" cy="24716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307451" y="1347238"/>
            <a:ext cx="92990" cy="22925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400441" y="1326273"/>
            <a:ext cx="92990" cy="20965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493431" y="1307541"/>
            <a:ext cx="92989" cy="18732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586420" y="1291566"/>
            <a:ext cx="92990" cy="15975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7679410" y="1280160"/>
            <a:ext cx="92990" cy="11406"/>
          </a:xfrm>
          <a:prstGeom prst="line">
            <a:avLst/>
          </a:prstGeom>
          <a:ln w="1270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286000" y="5316322"/>
            <a:ext cx="92990" cy="535838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378990" y="5003537"/>
            <a:ext cx="92990" cy="312785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471980" y="4752336"/>
            <a:ext cx="92989" cy="251201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564969" y="4536967"/>
            <a:ext cx="92990" cy="215369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657959" y="4346294"/>
            <a:ext cx="92990" cy="190673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750949" y="4174177"/>
            <a:ext cx="92990" cy="172117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843939" y="4016764"/>
            <a:ext cx="92990" cy="157413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936929" y="3871433"/>
            <a:ext cx="92990" cy="145331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029919" y="3736294"/>
            <a:ext cx="92989" cy="135139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122908" y="3609929"/>
            <a:ext cx="92990" cy="126365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215898" y="3491237"/>
            <a:ext cx="92990" cy="118692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308888" y="3379343"/>
            <a:ext cx="92990" cy="111894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401878" y="3273534"/>
            <a:ext cx="92990" cy="105809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494868" y="3173222"/>
            <a:ext cx="92990" cy="100312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587858" y="3077915"/>
            <a:ext cx="92989" cy="95307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680847" y="2987194"/>
            <a:ext cx="92990" cy="90721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773837" y="2900698"/>
            <a:ext cx="92990" cy="86496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866827" y="2818118"/>
            <a:ext cx="92990" cy="82580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959817" y="2739180"/>
            <a:ext cx="92990" cy="78938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4052807" y="2663647"/>
            <a:ext cx="92990" cy="75533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4145797" y="2591306"/>
            <a:ext cx="92989" cy="72341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238786" y="2521968"/>
            <a:ext cx="92990" cy="69338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4331776" y="2455466"/>
            <a:ext cx="92990" cy="66502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424766" y="2391648"/>
            <a:ext cx="92990" cy="63818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4517756" y="2330377"/>
            <a:ext cx="92990" cy="61271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4610746" y="2271529"/>
            <a:ext cx="92990" cy="58848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4703736" y="2214992"/>
            <a:ext cx="92989" cy="56537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4796725" y="2160663"/>
            <a:ext cx="92990" cy="54329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4889715" y="2108447"/>
            <a:ext cx="92990" cy="52216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4982705" y="2058260"/>
            <a:ext cx="92990" cy="50187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5075695" y="2010023"/>
            <a:ext cx="92990" cy="48237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5168685" y="1963662"/>
            <a:ext cx="92990" cy="46361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5261675" y="1919112"/>
            <a:ext cx="92989" cy="44550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5354664" y="1876311"/>
            <a:ext cx="92990" cy="42801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5447654" y="1835203"/>
            <a:ext cx="92990" cy="41108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5540644" y="1795735"/>
            <a:ext cx="92990" cy="39468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5633634" y="1757860"/>
            <a:ext cx="92990" cy="37875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5726624" y="1721534"/>
            <a:ext cx="92990" cy="36326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5819614" y="1686715"/>
            <a:ext cx="92989" cy="34819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5912603" y="1653368"/>
            <a:ext cx="92990" cy="33347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005593" y="1621459"/>
            <a:ext cx="92990" cy="31909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6098583" y="1590958"/>
            <a:ext cx="92990" cy="30501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191573" y="1561836"/>
            <a:ext cx="92990" cy="29122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6284563" y="1534071"/>
            <a:ext cx="92990" cy="27765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377553" y="1507641"/>
            <a:ext cx="92989" cy="26430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6470542" y="1482530"/>
            <a:ext cx="92990" cy="25111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563532" y="1458722"/>
            <a:ext cx="92990" cy="23808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6656522" y="1436209"/>
            <a:ext cx="92990" cy="22513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749512" y="1414985"/>
            <a:ext cx="92990" cy="21224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6842502" y="1395048"/>
            <a:ext cx="92990" cy="19937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935492" y="1376405"/>
            <a:ext cx="92989" cy="18643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7028481" y="1359068"/>
            <a:ext cx="92990" cy="17337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7121471" y="1343060"/>
            <a:ext cx="92990" cy="16008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7214461" y="1328417"/>
            <a:ext cx="92990" cy="14643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7307451" y="1315195"/>
            <a:ext cx="92990" cy="13222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7400441" y="1303484"/>
            <a:ext cx="92990" cy="11711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7493431" y="1293433"/>
            <a:ext cx="92989" cy="10051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7586420" y="1285331"/>
            <a:ext cx="92990" cy="8102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7679410" y="1280160"/>
            <a:ext cx="92990" cy="5171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286000" y="5506210"/>
            <a:ext cx="92990" cy="345950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378990" y="5270777"/>
            <a:ext cx="92990" cy="235433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471980" y="5070378"/>
            <a:ext cx="92989" cy="200399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564969" y="4891432"/>
            <a:ext cx="92990" cy="178946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657959" y="4727828"/>
            <a:ext cx="92990" cy="163604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750949" y="4576101"/>
            <a:ext cx="92990" cy="151727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843939" y="4434029"/>
            <a:ext cx="92990" cy="142072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936929" y="4300069"/>
            <a:ext cx="92990" cy="133960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3029919" y="4173093"/>
            <a:ext cx="92989" cy="126976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3122908" y="4052240"/>
            <a:ext cx="92990" cy="120853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3215898" y="3936835"/>
            <a:ext cx="92990" cy="115405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3308888" y="3826334"/>
            <a:ext cx="92990" cy="110501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3401878" y="3720291"/>
            <a:ext cx="92990" cy="106043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3494868" y="3618334"/>
            <a:ext cx="92990" cy="101957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587858" y="3520147"/>
            <a:ext cx="92989" cy="98187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680847" y="3425461"/>
            <a:ext cx="92990" cy="94686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3773837" y="3334043"/>
            <a:ext cx="92990" cy="91418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866827" y="3245691"/>
            <a:ext cx="92990" cy="88352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959817" y="3160226"/>
            <a:ext cx="92990" cy="85465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052807" y="3077491"/>
            <a:ext cx="92990" cy="82735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145797" y="2997345"/>
            <a:ext cx="92989" cy="80146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238786" y="2919663"/>
            <a:ext cx="92990" cy="77682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331776" y="2844333"/>
            <a:ext cx="92990" cy="75330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424766" y="2771254"/>
            <a:ext cx="92990" cy="73079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4517756" y="2700335"/>
            <a:ext cx="92990" cy="70919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4610746" y="2631491"/>
            <a:ext cx="92990" cy="68844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4703736" y="2564649"/>
            <a:ext cx="92989" cy="66842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4796725" y="2499739"/>
            <a:ext cx="92990" cy="64910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4889715" y="2436698"/>
            <a:ext cx="92990" cy="63041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4982705" y="2375471"/>
            <a:ext cx="92990" cy="61227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075695" y="2316003"/>
            <a:ext cx="92990" cy="59468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168685" y="2258249"/>
            <a:ext cx="92990" cy="57754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5261675" y="2202164"/>
            <a:ext cx="92989" cy="56085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5354664" y="2147709"/>
            <a:ext cx="92990" cy="54455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5447654" y="2094849"/>
            <a:ext cx="92990" cy="52860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5540644" y="2043550"/>
            <a:ext cx="92990" cy="51299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5633634" y="1993784"/>
            <a:ext cx="92990" cy="49766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5726624" y="1945524"/>
            <a:ext cx="92990" cy="48260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5819614" y="1898749"/>
            <a:ext cx="92989" cy="46775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5912603" y="1853437"/>
            <a:ext cx="92990" cy="45312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6005593" y="1809572"/>
            <a:ext cx="92990" cy="43865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6098583" y="1767140"/>
            <a:ext cx="92990" cy="42432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6191573" y="1726131"/>
            <a:ext cx="92990" cy="41009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6284563" y="1686538"/>
            <a:ext cx="92990" cy="39593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6377553" y="1648355"/>
            <a:ext cx="92989" cy="38183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6470542" y="1611585"/>
            <a:ext cx="92990" cy="36770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563532" y="1576230"/>
            <a:ext cx="92990" cy="35355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656522" y="1542302"/>
            <a:ext cx="92990" cy="33928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749512" y="1509815"/>
            <a:ext cx="92990" cy="32487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6842502" y="1478791"/>
            <a:ext cx="92990" cy="31024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935492" y="1449263"/>
            <a:ext cx="92989" cy="29528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7028481" y="1421273"/>
            <a:ext cx="92990" cy="27990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7121471" y="1394879"/>
            <a:ext cx="92990" cy="26394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7214461" y="1370163"/>
            <a:ext cx="92990" cy="24716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7307451" y="1347238"/>
            <a:ext cx="92990" cy="22925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7400441" y="1326273"/>
            <a:ext cx="92990" cy="20965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7493431" y="1307541"/>
            <a:ext cx="92989" cy="18732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7586420" y="1291566"/>
            <a:ext cx="92990" cy="15975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7679410" y="1280160"/>
            <a:ext cx="92990" cy="11406"/>
          </a:xfrm>
          <a:prstGeom prst="line">
            <a:avLst/>
          </a:prstGeom>
          <a:ln w="1270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2286000" y="5399919"/>
            <a:ext cx="92990" cy="452241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2378990" y="5118832"/>
            <a:ext cx="92990" cy="281087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2471980" y="4887749"/>
            <a:ext cx="92989" cy="231083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2564969" y="4686364"/>
            <a:ext cx="92990" cy="201385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2657959" y="4505755"/>
            <a:ext cx="92990" cy="180609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2750949" y="4340944"/>
            <a:ext cx="92990" cy="164811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2843939" y="4188780"/>
            <a:ext cx="92990" cy="152164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2936929" y="4047102"/>
            <a:ext cx="92990" cy="141678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3029919" y="3914342"/>
            <a:ext cx="92989" cy="132760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3122908" y="3789317"/>
            <a:ext cx="92990" cy="125025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3215898" y="3671101"/>
            <a:ext cx="92990" cy="118216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3308888" y="3558958"/>
            <a:ext cx="92990" cy="112143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3401878" y="3452284"/>
            <a:ext cx="92990" cy="106674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3494868" y="3350580"/>
            <a:ext cx="92990" cy="101704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3587858" y="3253425"/>
            <a:ext cx="92989" cy="97155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3680847" y="3160460"/>
            <a:ext cx="92990" cy="92965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3773837" y="3071378"/>
            <a:ext cx="92990" cy="89082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3866827" y="2985909"/>
            <a:ext cx="92990" cy="85469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3959817" y="2903820"/>
            <a:ext cx="92990" cy="82089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4052807" y="2824903"/>
            <a:ext cx="92990" cy="78917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4145797" y="2748975"/>
            <a:ext cx="92989" cy="75928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4238786" y="2675873"/>
            <a:ext cx="92990" cy="73102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4331776" y="2605450"/>
            <a:ext cx="92990" cy="70423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4424766" y="2537573"/>
            <a:ext cx="92990" cy="67877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4517756" y="2472124"/>
            <a:ext cx="92990" cy="65449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4610746" y="2408994"/>
            <a:ext cx="92990" cy="63130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4703736" y="2348086"/>
            <a:ext cx="92989" cy="60908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4796725" y="2289308"/>
            <a:ext cx="92990" cy="58778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4889715" y="2232580"/>
            <a:ext cx="92990" cy="56728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4982705" y="2177827"/>
            <a:ext cx="92990" cy="54753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5075695" y="2124979"/>
            <a:ext cx="92990" cy="52848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5168685" y="2073974"/>
            <a:ext cx="92990" cy="51005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5261675" y="2024754"/>
            <a:ext cx="92989" cy="49220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5354664" y="1977265"/>
            <a:ext cx="92990" cy="47489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5447654" y="1931459"/>
            <a:ext cx="92990" cy="45806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5540644" y="1887291"/>
            <a:ext cx="92990" cy="44168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5633634" y="1844720"/>
            <a:ext cx="92990" cy="42571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5726624" y="1803710"/>
            <a:ext cx="92990" cy="41010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5819614" y="1764225"/>
            <a:ext cx="92989" cy="39485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5912603" y="1726235"/>
            <a:ext cx="92990" cy="37990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6005593" y="1689714"/>
            <a:ext cx="92990" cy="36521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6098583" y="1654636"/>
            <a:ext cx="92990" cy="35078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6191573" y="1620981"/>
            <a:ext cx="92990" cy="33655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6284563" y="1588731"/>
            <a:ext cx="92990" cy="32250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6377553" y="1557872"/>
            <a:ext cx="92989" cy="30859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6470542" y="1528392"/>
            <a:ext cx="92990" cy="29480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6563532" y="1500286"/>
            <a:ext cx="92990" cy="28106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6656522" y="1473550"/>
            <a:ext cx="92990" cy="26736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6749512" y="1448186"/>
            <a:ext cx="92990" cy="25364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6842502" y="1424203"/>
            <a:ext cx="92990" cy="23983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6935492" y="1401617"/>
            <a:ext cx="92989" cy="22586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7028481" y="1380451"/>
            <a:ext cx="92990" cy="21166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7121471" y="1360741"/>
            <a:ext cx="92990" cy="19710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7214461" y="1342542"/>
            <a:ext cx="92990" cy="18199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7307451" y="1325931"/>
            <a:ext cx="92990" cy="16611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7400441" y="1311028"/>
            <a:ext cx="92990" cy="14903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7493431" y="1298029"/>
            <a:ext cx="92989" cy="12999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7586420" y="1287312"/>
            <a:ext cx="92990" cy="10717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7679410" y="1280160"/>
            <a:ext cx="92990" cy="7152"/>
          </a:xfrm>
          <a:prstGeom prst="line">
            <a:avLst/>
          </a:prstGeom>
          <a:ln w="1270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2286000" y="5353799"/>
            <a:ext cx="92990" cy="498361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2378990" y="5054811"/>
            <a:ext cx="92990" cy="298988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2471980" y="4812245"/>
            <a:ext cx="92989" cy="242566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2564969" y="4602801"/>
            <a:ext cx="92990" cy="209444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2657959" y="4416334"/>
            <a:ext cx="92990" cy="186467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2750949" y="4247220"/>
            <a:ext cx="92990" cy="169114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2843939" y="4091917"/>
            <a:ext cx="92990" cy="155303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2936929" y="3948009"/>
            <a:ext cx="92990" cy="143908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3029919" y="3813746"/>
            <a:ext cx="92989" cy="134263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3122908" y="3687812"/>
            <a:ext cx="92990" cy="125934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3215898" y="3569186"/>
            <a:ext cx="92990" cy="118626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3308888" y="3457050"/>
            <a:ext cx="92990" cy="112136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3401878" y="3350740"/>
            <a:ext cx="92990" cy="10631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3494868" y="3249707"/>
            <a:ext cx="92990" cy="101033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3587858" y="3153488"/>
            <a:ext cx="92989" cy="96219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3680847" y="3061692"/>
            <a:ext cx="92990" cy="91796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3773837" y="2973980"/>
            <a:ext cx="92990" cy="87712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3866827" y="2890060"/>
            <a:ext cx="92990" cy="839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3959817" y="2809676"/>
            <a:ext cx="92990" cy="80384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4052807" y="2732603"/>
            <a:ext cx="92990" cy="77073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4145797" y="2658641"/>
            <a:ext cx="92989" cy="73962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4238786" y="2587612"/>
            <a:ext cx="92990" cy="71029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4331776" y="2519357"/>
            <a:ext cx="92990" cy="68255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4424766" y="2453732"/>
            <a:ext cx="92990" cy="65625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4517756" y="2390609"/>
            <a:ext cx="92990" cy="63123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4610746" y="2329870"/>
            <a:ext cx="92990" cy="60739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4703736" y="2271409"/>
            <a:ext cx="92989" cy="58461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4796725" y="2215128"/>
            <a:ext cx="92990" cy="56281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4889715" y="2160939"/>
            <a:ext cx="92990" cy="54189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4982705" y="2108759"/>
            <a:ext cx="92990" cy="5218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5075695" y="2058516"/>
            <a:ext cx="92990" cy="50243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5168685" y="2010139"/>
            <a:ext cx="92990" cy="48377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5261675" y="1963567"/>
            <a:ext cx="92989" cy="46572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5354664" y="1918741"/>
            <a:ext cx="92990" cy="44826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5447654" y="1875608"/>
            <a:ext cx="92990" cy="43133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5540644" y="1834119"/>
            <a:ext cx="92990" cy="41489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5633634" y="1794229"/>
            <a:ext cx="92990" cy="3989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5726624" y="1755896"/>
            <a:ext cx="92990" cy="38333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5819614" y="1719084"/>
            <a:ext cx="92989" cy="36812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5912603" y="1683757"/>
            <a:ext cx="92990" cy="35327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6005593" y="1649885"/>
            <a:ext cx="92990" cy="33872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6098583" y="1617440"/>
            <a:ext cx="92990" cy="32445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6191573" y="1586397"/>
            <a:ext cx="92990" cy="31043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6284563" y="1556736"/>
            <a:ext cx="92990" cy="29661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6377553" y="1528437"/>
            <a:ext cx="92989" cy="28299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6470542" y="1501486"/>
            <a:ext cx="92990" cy="26951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6563532" y="1475873"/>
            <a:ext cx="92990" cy="25613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6656522" y="1451589"/>
            <a:ext cx="92990" cy="24284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6749512" y="1428634"/>
            <a:ext cx="92990" cy="22955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6842502" y="1407010"/>
            <a:ext cx="92990" cy="21624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6935492" y="1386726"/>
            <a:ext cx="92989" cy="20284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7028481" y="1367801"/>
            <a:ext cx="92990" cy="18925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7121471" y="1350262"/>
            <a:ext cx="92990" cy="17539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7214461" y="1334153"/>
            <a:ext cx="92990" cy="16109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7307451" y="1319540"/>
            <a:ext cx="92990" cy="14613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7400441" y="1306524"/>
            <a:ext cx="92990" cy="13016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7493431" y="1295275"/>
            <a:ext cx="92989" cy="11249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7586420" y="1286118"/>
            <a:ext cx="92990" cy="9157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7679410" y="1280160"/>
            <a:ext cx="92990" cy="5958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TextBox 325"/>
          <p:cNvSpPr txBox="1"/>
          <p:nvPr/>
        </p:nvSpPr>
        <p:spPr>
          <a:xfrm>
            <a:off x="8412480" y="1170432"/>
            <a:ext cx="3200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Arial"/>
              </a:rPr>
              <a:t>Scenario (ElasticNet)</a:t>
            </a:r>
          </a:p>
        </p:txBody>
      </p:sp>
      <p:cxnSp>
        <p:nvCxnSpPr>
          <p:cNvPr id="327" name="Connector 326"/>
          <p:cNvCxnSpPr/>
          <p:nvPr/>
        </p:nvCxnSpPr>
        <p:spPr>
          <a:xfrm>
            <a:off x="8412480" y="1527048"/>
            <a:ext cx="320040" cy="0"/>
          </a:xfrm>
          <a:prstGeom prst="line">
            <a:avLst/>
          </a:prstGeom>
          <a:ln w="1524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TextBox 327"/>
          <p:cNvSpPr txBox="1"/>
          <p:nvPr/>
        </p:nvSpPr>
        <p:spPr>
          <a:xfrm>
            <a:off x="8778240" y="1444752"/>
            <a:ext cx="32918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  Baseline 37 feat  AUC=0.686</a:t>
            </a:r>
          </a:p>
        </p:txBody>
      </p:sp>
      <p:cxnSp>
        <p:nvCxnSpPr>
          <p:cNvPr id="329" name="Connector 328"/>
          <p:cNvCxnSpPr/>
          <p:nvPr/>
        </p:nvCxnSpPr>
        <p:spPr>
          <a:xfrm>
            <a:off x="8412480" y="1847088"/>
            <a:ext cx="320040" cy="0"/>
          </a:xfrm>
          <a:prstGeom prst="line">
            <a:avLst/>
          </a:prstGeom>
          <a:ln w="25400">
            <a:solidFill>
              <a:srgbClr val="D4A3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TextBox 329"/>
          <p:cNvSpPr txBox="1"/>
          <p:nvPr/>
        </p:nvSpPr>
        <p:spPr>
          <a:xfrm>
            <a:off x="8778240" y="1764792"/>
            <a:ext cx="32918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D4A300"/>
                </a:solidFill>
                <a:latin typeface="Arial"/>
              </a:rPr>
              <a:t>★ ★ Drop CD8prolif 36 feat  AUC=0.745</a:t>
            </a:r>
          </a:p>
        </p:txBody>
      </p:sp>
      <p:cxnSp>
        <p:nvCxnSpPr>
          <p:cNvPr id="331" name="Connector 330"/>
          <p:cNvCxnSpPr/>
          <p:nvPr/>
        </p:nvCxnSpPr>
        <p:spPr>
          <a:xfrm>
            <a:off x="8412480" y="2167128"/>
            <a:ext cx="320040" cy="0"/>
          </a:xfrm>
          <a:prstGeom prst="line">
            <a:avLst/>
          </a:prstGeom>
          <a:ln w="15240">
            <a:solidFill>
              <a:srgbClr val="0E4A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TextBox 331"/>
          <p:cNvSpPr txBox="1"/>
          <p:nvPr/>
        </p:nvSpPr>
        <p:spPr>
          <a:xfrm>
            <a:off x="8778240" y="2084832"/>
            <a:ext cx="32918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  Add 3 immune 40 feat  AUC=0.686</a:t>
            </a:r>
          </a:p>
        </p:txBody>
      </p:sp>
      <p:cxnSp>
        <p:nvCxnSpPr>
          <p:cNvPr id="333" name="Connector 332"/>
          <p:cNvCxnSpPr/>
          <p:nvPr/>
        </p:nvCxnSpPr>
        <p:spPr>
          <a:xfrm>
            <a:off x="8412480" y="2487167"/>
            <a:ext cx="320040" cy="0"/>
          </a:xfrm>
          <a:prstGeom prst="line">
            <a:avLst/>
          </a:prstGeom>
          <a:ln w="15240">
            <a:solidFill>
              <a:srgbClr val="8A2B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4" name="TextBox 333"/>
          <p:cNvSpPr txBox="1"/>
          <p:nvPr/>
        </p:nvSpPr>
        <p:spPr>
          <a:xfrm>
            <a:off x="8778240" y="2404871"/>
            <a:ext cx="32918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  Swap CD8prolif→ CD8cytotoxic (37)  AUC=0.722</a:t>
            </a:r>
          </a:p>
        </p:txBody>
      </p:sp>
      <p:cxnSp>
        <p:nvCxnSpPr>
          <p:cNvPr id="335" name="Connector 334"/>
          <p:cNvCxnSpPr/>
          <p:nvPr/>
        </p:nvCxnSpPr>
        <p:spPr>
          <a:xfrm>
            <a:off x="8412480" y="2807208"/>
            <a:ext cx="320040" cy="0"/>
          </a:xfrm>
          <a:prstGeom prst="line">
            <a:avLst/>
          </a:prstGeom>
          <a:ln w="1524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TextBox 335"/>
          <p:cNvSpPr txBox="1"/>
          <p:nvPr/>
        </p:nvSpPr>
        <p:spPr>
          <a:xfrm>
            <a:off x="8778240" y="2724912"/>
            <a:ext cx="32918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  Drop+Add 39 feat  AUC=0.735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Per-subject nested-outer predicted P(good) — drop-CD8prolif ElasticNet — 0.5 threshold transparency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5852160"/>
            <a:ext cx="1069848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97280" y="128016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795760" y="128016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97280" y="1280160"/>
            <a:ext cx="1069848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33272" y="5852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5769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272" y="4709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4626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0.25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2" y="3566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483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2" y="2423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340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0.75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2" y="1280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1197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256032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Predicted P(good)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97280" y="3566160"/>
            <a:ext cx="10698480" cy="0"/>
          </a:xfrm>
          <a:prstGeom prst="line">
            <a:avLst/>
          </a:prstGeom>
          <a:ln w="1016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841480" y="3474720"/>
            <a:ext cx="8229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</a:rPr>
              <a:t>threshold 0.5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6998" y="5220499"/>
            <a:ext cx="237744" cy="631661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8710" y="5037619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19.0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24178" y="4905718"/>
            <a:ext cx="237744" cy="946442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5890" y="4722838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446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22.0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21358" y="4760641"/>
            <a:ext cx="237744" cy="1091519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03070" y="4577761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35.0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8538" y="4571322"/>
            <a:ext cx="237744" cy="1280838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00250" y="438844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8882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18.0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15718" y="4488640"/>
            <a:ext cx="237744" cy="1363520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97430" y="4305760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17.0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12898" y="4484183"/>
            <a:ext cx="237744" cy="1367977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94610" y="4301303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8318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34.0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10078" y="4254254"/>
            <a:ext cx="237744" cy="1597906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91790" y="4071374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8.0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7258" y="4205262"/>
            <a:ext cx="237744" cy="1646898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88970" y="402238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7754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13.0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04438" y="4173850"/>
            <a:ext cx="237744" cy="1678310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86150" y="3990970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01618" y="4173075"/>
            <a:ext cx="237744" cy="1679085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83330" y="3990195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7190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15.0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98798" y="4037172"/>
            <a:ext cx="237744" cy="1814988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80510" y="385429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16.0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95978" y="3913609"/>
            <a:ext cx="237744" cy="1938551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77690" y="3730729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6626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23.0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93158" y="3679935"/>
            <a:ext cx="237744" cy="2172225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74870" y="3497055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25.0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90338" y="3512090"/>
            <a:ext cx="237744" cy="2340070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72050" y="3329210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6062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20.0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87518" y="3500227"/>
            <a:ext cx="237744" cy="2351933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69230" y="3317347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5780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7.0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84698" y="3429436"/>
            <a:ext cx="237744" cy="2422724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66410" y="3246556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498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12.0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81878" y="3418347"/>
            <a:ext cx="237744" cy="2433813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63590" y="3235467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5216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31.0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9058" y="3398674"/>
            <a:ext cx="237744" cy="2453486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0770" y="3215794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4934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28.0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76238" y="3371970"/>
            <a:ext cx="237744" cy="2480190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57950" y="3189090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4652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10.0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73418" y="3371792"/>
            <a:ext cx="237744" cy="2480368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55130" y="318891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4370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11.0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070598" y="3344843"/>
            <a:ext cx="237744" cy="2507317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52310" y="3161963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4088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33.0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67778" y="3312325"/>
            <a:ext cx="237744" cy="2539835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49490" y="3129445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3806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5.0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664958" y="3311476"/>
            <a:ext cx="237744" cy="2540684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46670" y="3128596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3524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30.0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962138" y="3289879"/>
            <a:ext cx="237744" cy="2562281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43850" y="3106999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3242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29.0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259318" y="3199728"/>
            <a:ext cx="237744" cy="2652432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41030" y="3016848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14.0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6498" y="3149564"/>
            <a:ext cx="237744" cy="2702596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538210" y="2966684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2678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21.0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853678" y="2985572"/>
            <a:ext cx="237744" cy="2866588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835390" y="280269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2396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9.0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50858" y="2982082"/>
            <a:ext cx="237744" cy="2870078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32570" y="279920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2114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6.0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448038" y="2935587"/>
            <a:ext cx="237744" cy="2916573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429750" y="2752707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41832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27.0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745218" y="2810031"/>
            <a:ext cx="237744" cy="3042129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726930" y="2627151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71550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2.0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42398" y="2652194"/>
            <a:ext cx="237744" cy="3199966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024110" y="2469314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01268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4.0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39578" y="2486811"/>
            <a:ext cx="237744" cy="3365349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21290" y="2303931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0986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26.0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636758" y="2238112"/>
            <a:ext cx="237744" cy="3614048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618470" y="2055232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60704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24.0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933938" y="2050016"/>
            <a:ext cx="237744" cy="3802144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915650" y="1867136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90422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3.0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231118" y="1866695"/>
            <a:ext cx="237744" cy="3985465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212830" y="1683815"/>
            <a:ext cx="274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D4A300"/>
                </a:solidFill>
                <a:latin typeface="Arial"/>
              </a:rPr>
              <a:t>✗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201400" y="5870448"/>
            <a:ext cx="2971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32.0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97280" y="6263640"/>
            <a:ext cx="105156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n_misclassified (0.5 threshold) = 35/35 — accuracy 0%. AUC 0.745 [0.56, 0.90] (threshold-free) is the load-bearing claim; this panel is transparency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