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Nested LOOCV AUC — 5 scenarios × 2 models (Chowell Science 2018-style reference bands)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5076444"/>
            <a:ext cx="9418320" cy="27432"/>
          </a:xfrm>
          <a:prstGeom prst="rect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0" y="1280160"/>
            <a:ext cx="9418320" cy="1143000"/>
          </a:xfrm>
          <a:prstGeom prst="rect">
            <a:avLst/>
          </a:prstGeom>
          <a:solidFill>
            <a:srgbClr val="FAF4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828800" y="5852160"/>
            <a:ext cx="941832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828800" y="1280160"/>
            <a:ext cx="0" cy="457200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247120" y="1280160"/>
            <a:ext cx="0" cy="457200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28800" y="1280160"/>
            <a:ext cx="9418320" cy="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764792" y="585216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325880" y="576986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0.4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764792" y="509016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325880" y="500786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64792" y="432816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325880" y="424586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0.6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764792" y="356616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325880" y="348386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0.7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764792" y="280416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325880" y="272186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0.8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764792" y="204216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325880" y="195986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0.9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764792" y="128016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325880" y="119786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2560320"/>
            <a:ext cx="365760" cy="20116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Outer-LOOCV AUC (95 % bootstrap CI)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828800" y="5090160"/>
            <a:ext cx="9418320" cy="0"/>
          </a:xfrm>
          <a:prstGeom prst="line">
            <a:avLst/>
          </a:prstGeom>
          <a:ln w="12700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1283696" y="4998720"/>
            <a:ext cx="13716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BBBBBB"/>
                </a:solidFill>
                <a:latin typeface="Arial"/>
              </a:rPr>
              <a:t>chance 0.5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828800" y="2423160"/>
            <a:ext cx="9418320" cy="0"/>
          </a:xfrm>
          <a:prstGeom prst="line">
            <a:avLst/>
          </a:prstGeom>
          <a:ln w="10160">
            <a:solidFill>
              <a:srgbClr val="D4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1283696" y="2331720"/>
            <a:ext cx="13716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D4A300"/>
                </a:solidFill>
                <a:latin typeface="Arial"/>
              </a:rPr>
              <a:t>excellent 0.85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47672" y="5925312"/>
            <a:ext cx="1645920" cy="5029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Baseline
37 feat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18004" y="3944874"/>
            <a:ext cx="402336" cy="1145286"/>
          </a:xfrm>
          <a:prstGeom prst="rect">
            <a:avLst/>
          </a:prstGeom>
          <a:solidFill>
            <a:srgbClr val="0E4A68"/>
          </a:solidFill>
          <a:ln w="635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2519172" y="2558796"/>
            <a:ext cx="0" cy="2880360"/>
          </a:xfrm>
          <a:prstGeom prst="line">
            <a:avLst/>
          </a:prstGeom>
          <a:ln w="1524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446020" y="2558796"/>
            <a:ext cx="146304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446020" y="5439156"/>
            <a:ext cx="146304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2244852" y="3743706"/>
            <a:ext cx="5486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0.650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20924" y="3670554"/>
            <a:ext cx="402336" cy="1419606"/>
          </a:xfrm>
          <a:prstGeom prst="rect">
            <a:avLst/>
          </a:prstGeom>
          <a:solidFill>
            <a:srgbClr val="8A2B4C"/>
          </a:solidFill>
          <a:ln w="635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3022092" y="2346960"/>
            <a:ext cx="0" cy="2743200"/>
          </a:xfrm>
          <a:prstGeom prst="line">
            <a:avLst/>
          </a:prstGeom>
          <a:ln w="1524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948940" y="2346960"/>
            <a:ext cx="146304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948940" y="5090160"/>
            <a:ext cx="146304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747772" y="3469386"/>
            <a:ext cx="5486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0.686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31336" y="5925312"/>
            <a:ext cx="1645920" cy="5029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D4A300"/>
                </a:solidFill>
                <a:latin typeface="Arial"/>
              </a:rPr>
              <a:t>★ Drop CD8prolif
36 feat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01668" y="3446526"/>
            <a:ext cx="402336" cy="1643634"/>
          </a:xfrm>
          <a:prstGeom prst="rect">
            <a:avLst/>
          </a:prstGeom>
          <a:solidFill>
            <a:srgbClr val="0E4A68"/>
          </a:solidFill>
          <a:ln w="635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4402836" y="2176272"/>
            <a:ext cx="0" cy="2732532"/>
          </a:xfrm>
          <a:prstGeom prst="line">
            <a:avLst/>
          </a:prstGeom>
          <a:ln w="1524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329684" y="2176272"/>
            <a:ext cx="146304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329684" y="4908804"/>
            <a:ext cx="146304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128516" y="3245358"/>
            <a:ext cx="5486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0.716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04588" y="3222498"/>
            <a:ext cx="402336" cy="1867662"/>
          </a:xfrm>
          <a:prstGeom prst="rect">
            <a:avLst/>
          </a:prstGeom>
          <a:solidFill>
            <a:srgbClr val="D4A300"/>
          </a:solidFill>
          <a:ln w="635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4905756" y="2082546"/>
            <a:ext cx="0" cy="2525268"/>
          </a:xfrm>
          <a:prstGeom prst="line">
            <a:avLst/>
          </a:prstGeom>
          <a:ln w="1524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832604" y="2082546"/>
            <a:ext cx="146304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832604" y="4607814"/>
            <a:ext cx="146304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4631436" y="3021330"/>
            <a:ext cx="5486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222222"/>
                </a:solidFill>
                <a:latin typeface="Arial"/>
              </a:rPr>
              <a:t>0.745</a:t>
            </a:r>
          </a:p>
        </p:txBody>
      </p:sp>
      <p:sp>
        <p:nvSpPr>
          <p:cNvPr id="51" name="5-Point Star 50"/>
          <p:cNvSpPr/>
          <p:nvPr/>
        </p:nvSpPr>
        <p:spPr>
          <a:xfrm>
            <a:off x="4832604" y="2829306"/>
            <a:ext cx="146304" cy="146304"/>
          </a:xfrm>
          <a:prstGeom prst="star5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15000" y="5925312"/>
            <a:ext cx="1645920" cy="5029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Add 3 immune
40 feat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85332" y="3944874"/>
            <a:ext cx="402336" cy="1145286"/>
          </a:xfrm>
          <a:prstGeom prst="rect">
            <a:avLst/>
          </a:prstGeom>
          <a:solidFill>
            <a:srgbClr val="0E4A68"/>
          </a:solidFill>
          <a:ln w="635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6286500" y="2558796"/>
            <a:ext cx="0" cy="2880360"/>
          </a:xfrm>
          <a:prstGeom prst="line">
            <a:avLst/>
          </a:prstGeom>
          <a:ln w="1524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213348" y="2558796"/>
            <a:ext cx="146304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6213348" y="5439156"/>
            <a:ext cx="146304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2180" y="3743706"/>
            <a:ext cx="5486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0.650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588252" y="3670554"/>
            <a:ext cx="402336" cy="1419606"/>
          </a:xfrm>
          <a:prstGeom prst="rect">
            <a:avLst/>
          </a:prstGeom>
          <a:solidFill>
            <a:srgbClr val="8A2B4C"/>
          </a:solidFill>
          <a:ln w="635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6789420" y="2346960"/>
            <a:ext cx="0" cy="2743200"/>
          </a:xfrm>
          <a:prstGeom prst="line">
            <a:avLst/>
          </a:prstGeom>
          <a:ln w="1524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6716268" y="2346960"/>
            <a:ext cx="146304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6716268" y="5090160"/>
            <a:ext cx="146304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515100" y="3469386"/>
            <a:ext cx="5486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0.686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98664" y="5925312"/>
            <a:ext cx="1645920" cy="5029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Swap CD8prolif→
CD8cytotoxic (37)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968996" y="3446526"/>
            <a:ext cx="402336" cy="1643634"/>
          </a:xfrm>
          <a:prstGeom prst="rect">
            <a:avLst/>
          </a:prstGeom>
          <a:solidFill>
            <a:srgbClr val="0E4A68"/>
          </a:solidFill>
          <a:ln w="635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8170164" y="2176272"/>
            <a:ext cx="0" cy="2732532"/>
          </a:xfrm>
          <a:prstGeom prst="line">
            <a:avLst/>
          </a:prstGeom>
          <a:ln w="1524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8097012" y="2176272"/>
            <a:ext cx="146304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8097012" y="4908804"/>
            <a:ext cx="146304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895844" y="3245358"/>
            <a:ext cx="5486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0.716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471916" y="3396996"/>
            <a:ext cx="402336" cy="1693164"/>
          </a:xfrm>
          <a:prstGeom prst="rect">
            <a:avLst/>
          </a:prstGeom>
          <a:solidFill>
            <a:srgbClr val="8A2B4C"/>
          </a:solidFill>
          <a:ln w="635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8673084" y="2132076"/>
            <a:ext cx="0" cy="2707386"/>
          </a:xfrm>
          <a:prstGeom prst="line">
            <a:avLst/>
          </a:prstGeom>
          <a:ln w="1524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8599932" y="2132076"/>
            <a:ext cx="146304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8599932" y="4839462"/>
            <a:ext cx="146304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8398764" y="3195828"/>
            <a:ext cx="5486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0.722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482328" y="5925312"/>
            <a:ext cx="1645920" cy="5029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Drop+Add
39 feat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852660" y="3446526"/>
            <a:ext cx="402336" cy="1643634"/>
          </a:xfrm>
          <a:prstGeom prst="rect">
            <a:avLst/>
          </a:prstGeom>
          <a:solidFill>
            <a:srgbClr val="0E4A68"/>
          </a:solidFill>
          <a:ln w="635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0053828" y="2176272"/>
            <a:ext cx="0" cy="2732532"/>
          </a:xfrm>
          <a:prstGeom prst="line">
            <a:avLst/>
          </a:prstGeom>
          <a:ln w="1524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9980676" y="2176272"/>
            <a:ext cx="146304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9980676" y="4908804"/>
            <a:ext cx="146304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9779508" y="3245358"/>
            <a:ext cx="5486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0.716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355580" y="3297174"/>
            <a:ext cx="402336" cy="1792986"/>
          </a:xfrm>
          <a:prstGeom prst="rect">
            <a:avLst/>
          </a:prstGeom>
          <a:solidFill>
            <a:srgbClr val="8A2B4C"/>
          </a:solidFill>
          <a:ln w="635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10556748" y="2101596"/>
            <a:ext cx="0" cy="2607564"/>
          </a:xfrm>
          <a:prstGeom prst="line">
            <a:avLst/>
          </a:prstGeom>
          <a:ln w="1524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0483596" y="2101596"/>
            <a:ext cx="146304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0483596" y="4709160"/>
            <a:ext cx="146304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10282428" y="3096006"/>
            <a:ext cx="5486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0.735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692640" y="777240"/>
            <a:ext cx="164592" cy="109728"/>
          </a:xfrm>
          <a:prstGeom prst="rect">
            <a:avLst/>
          </a:prstGeom>
          <a:solidFill>
            <a:srgbClr val="0E4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893808" y="758952"/>
            <a:ext cx="10972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222222"/>
                </a:solidFill>
                <a:latin typeface="Arial"/>
              </a:rPr>
              <a:t>LASSO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692640" y="941832"/>
            <a:ext cx="164592" cy="109728"/>
          </a:xfrm>
          <a:prstGeom prst="rect">
            <a:avLst/>
          </a:prstGeom>
          <a:solidFill>
            <a:srgbClr val="8A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893808" y="923544"/>
            <a:ext cx="10972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222222"/>
                </a:solidFill>
                <a:latin typeface="Arial"/>
              </a:rPr>
              <a:t>ElasticNet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692640" y="1106424"/>
            <a:ext cx="164592" cy="109728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893808" y="1088136"/>
            <a:ext cx="13716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222222"/>
                </a:solidFill>
                <a:latin typeface="Arial"/>
              </a:rPr>
              <a:t>★ winner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828800" y="6263640"/>
            <a:ext cx="9418320" cy="320040"/>
          </a:xfrm>
          <a:prstGeom prst="rect">
            <a:avLst/>
          </a:prstGeom>
          <a:solidFill>
            <a:srgbClr val="D4A300"/>
          </a:solidFill>
          <a:ln w="1016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828800" y="6263640"/>
            <a:ext cx="941832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Winner: drop-CD8-proliferation 36-feature ElasticNet  AUC = 0.745 [0.56, 0.90] — falls just below 'excellent' band (0.85) but clearly above chance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Nested outer-LOOCV ROC — 5 ElasticNet scenarios (winner AUC fill + Youden's J diamond)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60320" y="5852160"/>
            <a:ext cx="548640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560320" y="1280160"/>
            <a:ext cx="0" cy="457200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046720" y="1280160"/>
            <a:ext cx="0" cy="457200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560320" y="1280160"/>
            <a:ext cx="5486400" cy="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496312" y="585216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057400" y="576986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96312" y="470916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057400" y="462686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0.25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96312" y="356616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057400" y="348386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496312" y="242316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057400" y="234086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0.75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496312" y="128016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057400" y="119786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560320" y="585216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194560" y="590702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931920" y="585216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566160" y="590702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0.25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303520" y="585216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937760" y="590702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0.5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675120" y="585216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309360" y="590702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0.75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046720" y="585216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680960" y="590702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0" y="6199632"/>
            <a:ext cx="54864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1 − Specificity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40" y="2560320"/>
            <a:ext cx="365760" cy="20116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Sensitivity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2560320" y="1280160"/>
            <a:ext cx="5486400" cy="4572000"/>
          </a:xfrm>
          <a:prstGeom prst="line">
            <a:avLst/>
          </a:prstGeom>
          <a:ln w="7620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Freeform 30"/>
          <p:cNvSpPr/>
          <p:nvPr/>
        </p:nvSpPr>
        <p:spPr>
          <a:xfrm>
            <a:off x="2560320" y="1280160"/>
            <a:ext cx="5486400" cy="4572000"/>
          </a:xfrm>
          <a:custGeom>
            <a:avLst/>
            <a:gdLst/>
            <a:ahLst/>
            <a:cxnLst/>
            <a:rect l="l" t="t" r="r" b="b"/>
            <a:pathLst>
              <a:path w="5486400" h="4572000">
                <a:moveTo>
                  <a:pt x="0" y="4572000"/>
                </a:moveTo>
                <a:lnTo>
                  <a:pt x="0" y="4572000"/>
                </a:lnTo>
                <a:lnTo>
                  <a:pt x="92990" y="4036162"/>
                </a:lnTo>
                <a:lnTo>
                  <a:pt x="185980" y="3723377"/>
                </a:lnTo>
                <a:lnTo>
                  <a:pt x="278969" y="3472176"/>
                </a:lnTo>
                <a:lnTo>
                  <a:pt x="371959" y="3256807"/>
                </a:lnTo>
                <a:lnTo>
                  <a:pt x="464949" y="3066134"/>
                </a:lnTo>
                <a:lnTo>
                  <a:pt x="557939" y="2894017"/>
                </a:lnTo>
                <a:lnTo>
                  <a:pt x="650929" y="2736604"/>
                </a:lnTo>
                <a:lnTo>
                  <a:pt x="743919" y="2591273"/>
                </a:lnTo>
                <a:lnTo>
                  <a:pt x="836908" y="2456134"/>
                </a:lnTo>
                <a:lnTo>
                  <a:pt x="929898" y="2329769"/>
                </a:lnTo>
                <a:lnTo>
                  <a:pt x="1022888" y="2211077"/>
                </a:lnTo>
                <a:lnTo>
                  <a:pt x="1115878" y="2099183"/>
                </a:lnTo>
                <a:lnTo>
                  <a:pt x="1208868" y="1993374"/>
                </a:lnTo>
                <a:lnTo>
                  <a:pt x="1301858" y="1893062"/>
                </a:lnTo>
                <a:lnTo>
                  <a:pt x="1394847" y="1797755"/>
                </a:lnTo>
                <a:lnTo>
                  <a:pt x="1487837" y="1707034"/>
                </a:lnTo>
                <a:lnTo>
                  <a:pt x="1580827" y="1620538"/>
                </a:lnTo>
                <a:lnTo>
                  <a:pt x="1673817" y="1537958"/>
                </a:lnTo>
                <a:lnTo>
                  <a:pt x="1766807" y="1459020"/>
                </a:lnTo>
                <a:lnTo>
                  <a:pt x="1859797" y="1383487"/>
                </a:lnTo>
                <a:lnTo>
                  <a:pt x="1952786" y="1311146"/>
                </a:lnTo>
                <a:lnTo>
                  <a:pt x="2045776" y="1241808"/>
                </a:lnTo>
                <a:lnTo>
                  <a:pt x="2138766" y="1175306"/>
                </a:lnTo>
                <a:lnTo>
                  <a:pt x="2231756" y="1111488"/>
                </a:lnTo>
                <a:lnTo>
                  <a:pt x="2324746" y="1050217"/>
                </a:lnTo>
                <a:lnTo>
                  <a:pt x="2417736" y="991369"/>
                </a:lnTo>
                <a:lnTo>
                  <a:pt x="2510725" y="934832"/>
                </a:lnTo>
                <a:lnTo>
                  <a:pt x="2603715" y="880503"/>
                </a:lnTo>
                <a:lnTo>
                  <a:pt x="2696705" y="828287"/>
                </a:lnTo>
                <a:lnTo>
                  <a:pt x="2789695" y="778100"/>
                </a:lnTo>
                <a:lnTo>
                  <a:pt x="2882685" y="729863"/>
                </a:lnTo>
                <a:lnTo>
                  <a:pt x="2975675" y="683502"/>
                </a:lnTo>
                <a:lnTo>
                  <a:pt x="3068664" y="638952"/>
                </a:lnTo>
                <a:lnTo>
                  <a:pt x="3161654" y="596151"/>
                </a:lnTo>
                <a:lnTo>
                  <a:pt x="3254644" y="555043"/>
                </a:lnTo>
                <a:lnTo>
                  <a:pt x="3347634" y="515575"/>
                </a:lnTo>
                <a:lnTo>
                  <a:pt x="3440624" y="477700"/>
                </a:lnTo>
                <a:lnTo>
                  <a:pt x="3533614" y="441374"/>
                </a:lnTo>
                <a:lnTo>
                  <a:pt x="3626603" y="406555"/>
                </a:lnTo>
                <a:lnTo>
                  <a:pt x="3719593" y="373208"/>
                </a:lnTo>
                <a:lnTo>
                  <a:pt x="3812583" y="341299"/>
                </a:lnTo>
                <a:lnTo>
                  <a:pt x="3905573" y="310798"/>
                </a:lnTo>
                <a:lnTo>
                  <a:pt x="3998563" y="281676"/>
                </a:lnTo>
                <a:lnTo>
                  <a:pt x="4091553" y="253911"/>
                </a:lnTo>
                <a:lnTo>
                  <a:pt x="4184542" y="227481"/>
                </a:lnTo>
                <a:lnTo>
                  <a:pt x="4277532" y="202370"/>
                </a:lnTo>
                <a:lnTo>
                  <a:pt x="4370522" y="178562"/>
                </a:lnTo>
                <a:lnTo>
                  <a:pt x="4463512" y="156049"/>
                </a:lnTo>
                <a:lnTo>
                  <a:pt x="4556502" y="134825"/>
                </a:lnTo>
                <a:lnTo>
                  <a:pt x="4649492" y="114888"/>
                </a:lnTo>
                <a:lnTo>
                  <a:pt x="4742481" y="96245"/>
                </a:lnTo>
                <a:lnTo>
                  <a:pt x="4835471" y="78908"/>
                </a:lnTo>
                <a:lnTo>
                  <a:pt x="4928461" y="62900"/>
                </a:lnTo>
                <a:lnTo>
                  <a:pt x="5021451" y="48257"/>
                </a:lnTo>
                <a:lnTo>
                  <a:pt x="5114441" y="35035"/>
                </a:lnTo>
                <a:lnTo>
                  <a:pt x="5207431" y="23324"/>
                </a:lnTo>
                <a:lnTo>
                  <a:pt x="5300420" y="13273"/>
                </a:lnTo>
                <a:lnTo>
                  <a:pt x="5393410" y="5171"/>
                </a:lnTo>
                <a:lnTo>
                  <a:pt x="5486400" y="0"/>
                </a:lnTo>
                <a:lnTo>
                  <a:pt x="5486400" y="0"/>
                </a:lnTo>
                <a:close/>
              </a:path>
            </a:pathLst>
          </a:custGeom>
          <a:solidFill>
            <a:srgbClr val="E5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 flipV="1">
            <a:off x="2560320" y="5506210"/>
            <a:ext cx="92990" cy="345950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2653310" y="5270777"/>
            <a:ext cx="92990" cy="235433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2746300" y="5070378"/>
            <a:ext cx="92989" cy="200399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2839289" y="4891432"/>
            <a:ext cx="92990" cy="178946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932279" y="4727828"/>
            <a:ext cx="92990" cy="163604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025269" y="4576101"/>
            <a:ext cx="92990" cy="151727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118259" y="4434029"/>
            <a:ext cx="92990" cy="142072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211249" y="4300069"/>
            <a:ext cx="92990" cy="133960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304239" y="4173093"/>
            <a:ext cx="92989" cy="126976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397228" y="4052240"/>
            <a:ext cx="92990" cy="120853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490218" y="3936835"/>
            <a:ext cx="92990" cy="115405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583208" y="3826334"/>
            <a:ext cx="92990" cy="110501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76198" y="3720291"/>
            <a:ext cx="92990" cy="106043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769188" y="3618334"/>
            <a:ext cx="92990" cy="101957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862178" y="3520147"/>
            <a:ext cx="92989" cy="98187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955167" y="3425461"/>
            <a:ext cx="92990" cy="94686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4048157" y="3334043"/>
            <a:ext cx="92990" cy="91418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4141147" y="3245691"/>
            <a:ext cx="92990" cy="88352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4234137" y="3160226"/>
            <a:ext cx="92990" cy="85465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4327127" y="3077491"/>
            <a:ext cx="92990" cy="82735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420117" y="2997345"/>
            <a:ext cx="92989" cy="80146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513106" y="2919663"/>
            <a:ext cx="92990" cy="77682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606096" y="2844333"/>
            <a:ext cx="92990" cy="75330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699086" y="2771254"/>
            <a:ext cx="92990" cy="73079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4792076" y="2700335"/>
            <a:ext cx="92990" cy="70919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4885066" y="2631491"/>
            <a:ext cx="92990" cy="68844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978056" y="2564649"/>
            <a:ext cx="92989" cy="66842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5071045" y="2499739"/>
            <a:ext cx="92990" cy="64910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5164035" y="2436698"/>
            <a:ext cx="92990" cy="63041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5257025" y="2375471"/>
            <a:ext cx="92990" cy="61227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5350015" y="2316003"/>
            <a:ext cx="92990" cy="59468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5443005" y="2258249"/>
            <a:ext cx="92990" cy="57754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5535995" y="2202164"/>
            <a:ext cx="92989" cy="56085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5628984" y="2147709"/>
            <a:ext cx="92990" cy="54455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5721974" y="2094849"/>
            <a:ext cx="92990" cy="52860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5814964" y="2043550"/>
            <a:ext cx="92990" cy="51299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5907954" y="1993784"/>
            <a:ext cx="92990" cy="49766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6000944" y="1945524"/>
            <a:ext cx="92990" cy="48260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6093934" y="1898749"/>
            <a:ext cx="92989" cy="46775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6186923" y="1853437"/>
            <a:ext cx="92990" cy="45312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6279913" y="1809572"/>
            <a:ext cx="92990" cy="43865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6372903" y="1767140"/>
            <a:ext cx="92990" cy="42432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6465893" y="1726131"/>
            <a:ext cx="92990" cy="41009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6558883" y="1686538"/>
            <a:ext cx="92990" cy="39593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6651873" y="1648355"/>
            <a:ext cx="92989" cy="38183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6744862" y="1611585"/>
            <a:ext cx="92990" cy="36770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6837852" y="1576230"/>
            <a:ext cx="92990" cy="35355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6930842" y="1542302"/>
            <a:ext cx="92990" cy="33928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7023832" y="1509815"/>
            <a:ext cx="92990" cy="32487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7116822" y="1478791"/>
            <a:ext cx="92990" cy="31024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7209812" y="1449263"/>
            <a:ext cx="92989" cy="29528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7302801" y="1421273"/>
            <a:ext cx="92990" cy="27990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7395791" y="1394879"/>
            <a:ext cx="92990" cy="26394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7488781" y="1370163"/>
            <a:ext cx="92990" cy="24716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7581771" y="1347238"/>
            <a:ext cx="92990" cy="22925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7674761" y="1326273"/>
            <a:ext cx="92990" cy="20965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7767751" y="1307541"/>
            <a:ext cx="92989" cy="18732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7860740" y="1291566"/>
            <a:ext cx="92990" cy="15975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7953730" y="1280160"/>
            <a:ext cx="92990" cy="11406"/>
          </a:xfrm>
          <a:prstGeom prst="line">
            <a:avLst/>
          </a:prstGeom>
          <a:ln w="1270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2560320" y="5316322"/>
            <a:ext cx="92990" cy="535838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2653310" y="5003537"/>
            <a:ext cx="92990" cy="312785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746300" y="4752336"/>
            <a:ext cx="92989" cy="251201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839289" y="4536967"/>
            <a:ext cx="92990" cy="215369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932279" y="4346294"/>
            <a:ext cx="92990" cy="190673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025269" y="4174177"/>
            <a:ext cx="92990" cy="172117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3118259" y="4016764"/>
            <a:ext cx="92990" cy="157413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3211249" y="3871433"/>
            <a:ext cx="92990" cy="145331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3304239" y="3736294"/>
            <a:ext cx="92989" cy="135139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3397228" y="3609929"/>
            <a:ext cx="92990" cy="126365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3490218" y="3491237"/>
            <a:ext cx="92990" cy="118692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3583208" y="3379343"/>
            <a:ext cx="92990" cy="111894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3676198" y="3273534"/>
            <a:ext cx="92990" cy="105809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3769188" y="3173222"/>
            <a:ext cx="92990" cy="100312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3862178" y="3077915"/>
            <a:ext cx="92989" cy="95307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3955167" y="2987194"/>
            <a:ext cx="92990" cy="90721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4048157" y="2900698"/>
            <a:ext cx="92990" cy="86496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4141147" y="2818118"/>
            <a:ext cx="92990" cy="82580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4234137" y="2739180"/>
            <a:ext cx="92990" cy="78938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4327127" y="2663647"/>
            <a:ext cx="92990" cy="75533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4420117" y="2591306"/>
            <a:ext cx="92989" cy="72341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4513106" y="2521968"/>
            <a:ext cx="92990" cy="69338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4606096" y="2455466"/>
            <a:ext cx="92990" cy="66502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4699086" y="2391648"/>
            <a:ext cx="92990" cy="63818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4792076" y="2330377"/>
            <a:ext cx="92990" cy="61271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4885066" y="2271529"/>
            <a:ext cx="92990" cy="58848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4978056" y="2214992"/>
            <a:ext cx="92989" cy="56537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5071045" y="2160663"/>
            <a:ext cx="92990" cy="54329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5164035" y="2108447"/>
            <a:ext cx="92990" cy="52216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5257025" y="2058260"/>
            <a:ext cx="92990" cy="50187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5350015" y="2010023"/>
            <a:ext cx="92990" cy="48237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5443005" y="1963662"/>
            <a:ext cx="92990" cy="46361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5535995" y="1919112"/>
            <a:ext cx="92989" cy="44550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5628984" y="1876311"/>
            <a:ext cx="92990" cy="42801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5721974" y="1835203"/>
            <a:ext cx="92990" cy="41108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5814964" y="1795735"/>
            <a:ext cx="92990" cy="39468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5907954" y="1757860"/>
            <a:ext cx="92990" cy="37875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6000944" y="1721534"/>
            <a:ext cx="92990" cy="36326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6093934" y="1686715"/>
            <a:ext cx="92989" cy="34819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6186923" y="1653368"/>
            <a:ext cx="92990" cy="33347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6279913" y="1621459"/>
            <a:ext cx="92990" cy="31909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6372903" y="1590958"/>
            <a:ext cx="92990" cy="30501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6465893" y="1561836"/>
            <a:ext cx="92990" cy="29122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6558883" y="1534071"/>
            <a:ext cx="92990" cy="27765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6651873" y="1507641"/>
            <a:ext cx="92989" cy="26430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6744862" y="1482530"/>
            <a:ext cx="92990" cy="25111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6837852" y="1458722"/>
            <a:ext cx="92990" cy="23808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6930842" y="1436209"/>
            <a:ext cx="92990" cy="22513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7023832" y="1414985"/>
            <a:ext cx="92990" cy="21224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7116822" y="1395048"/>
            <a:ext cx="92990" cy="19937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7209812" y="1376405"/>
            <a:ext cx="92989" cy="18643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7302801" y="1359068"/>
            <a:ext cx="92990" cy="17337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7395791" y="1343060"/>
            <a:ext cx="92990" cy="16008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7488781" y="1328417"/>
            <a:ext cx="92990" cy="14643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7581771" y="1315195"/>
            <a:ext cx="92990" cy="13222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7674761" y="1303484"/>
            <a:ext cx="92990" cy="11711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7767751" y="1293433"/>
            <a:ext cx="92989" cy="10051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7860740" y="1285331"/>
            <a:ext cx="92990" cy="8102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7953730" y="1280160"/>
            <a:ext cx="92990" cy="5171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Diamond 149"/>
          <p:cNvSpPr/>
          <p:nvPr/>
        </p:nvSpPr>
        <p:spPr>
          <a:xfrm>
            <a:off x="4226543" y="2638596"/>
            <a:ext cx="201168" cy="201168"/>
          </a:xfrm>
          <a:prstGeom prst="diamond">
            <a:avLst/>
          </a:prstGeom>
          <a:solidFill>
            <a:srgbClr val="D4A300"/>
          </a:solidFill>
          <a:ln w="1270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4418567" y="2629452"/>
            <a:ext cx="201168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D4A300"/>
                </a:solidFill>
                <a:latin typeface="Arial"/>
              </a:rPr>
              <a:t>Youden J
sens=0.68
spec=0.68</a:t>
            </a:r>
          </a:p>
        </p:txBody>
      </p:sp>
      <p:cxnSp>
        <p:nvCxnSpPr>
          <p:cNvPr id="152" name="Connector 151"/>
          <p:cNvCxnSpPr/>
          <p:nvPr/>
        </p:nvCxnSpPr>
        <p:spPr>
          <a:xfrm flipV="1">
            <a:off x="2560320" y="5506210"/>
            <a:ext cx="92990" cy="345950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2653310" y="5270777"/>
            <a:ext cx="92990" cy="235433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2746300" y="5070378"/>
            <a:ext cx="92989" cy="200399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2839289" y="4891432"/>
            <a:ext cx="92990" cy="178946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2932279" y="4727828"/>
            <a:ext cx="92990" cy="163604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3025269" y="4576101"/>
            <a:ext cx="92990" cy="151727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3118259" y="4434029"/>
            <a:ext cx="92990" cy="142072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3211249" y="4300069"/>
            <a:ext cx="92990" cy="133960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3304239" y="4173093"/>
            <a:ext cx="92989" cy="126976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3397228" y="4052240"/>
            <a:ext cx="92990" cy="120853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3490218" y="3936835"/>
            <a:ext cx="92990" cy="115405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3583208" y="3826334"/>
            <a:ext cx="92990" cy="110501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3676198" y="3720291"/>
            <a:ext cx="92990" cy="106043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3769188" y="3618334"/>
            <a:ext cx="92990" cy="101957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3862178" y="3520147"/>
            <a:ext cx="92989" cy="98187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3955167" y="3425461"/>
            <a:ext cx="92990" cy="94686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4048157" y="3334043"/>
            <a:ext cx="92990" cy="91418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4141147" y="3245691"/>
            <a:ext cx="92990" cy="88352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4234137" y="3160226"/>
            <a:ext cx="92990" cy="85465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4327127" y="3077491"/>
            <a:ext cx="92990" cy="82735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4420117" y="2997345"/>
            <a:ext cx="92989" cy="80146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4513106" y="2919663"/>
            <a:ext cx="92990" cy="77682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4606096" y="2844333"/>
            <a:ext cx="92990" cy="75330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4699086" y="2771254"/>
            <a:ext cx="92990" cy="73079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4792076" y="2700335"/>
            <a:ext cx="92990" cy="70919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4885066" y="2631491"/>
            <a:ext cx="92990" cy="68844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4978056" y="2564649"/>
            <a:ext cx="92989" cy="66842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5071045" y="2499739"/>
            <a:ext cx="92990" cy="64910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5164035" y="2436698"/>
            <a:ext cx="92990" cy="63041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5257025" y="2375471"/>
            <a:ext cx="92990" cy="61227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5350015" y="2316003"/>
            <a:ext cx="92990" cy="59468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5443005" y="2258249"/>
            <a:ext cx="92990" cy="57754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V="1">
            <a:off x="5535995" y="2202164"/>
            <a:ext cx="92989" cy="56085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5628984" y="2147709"/>
            <a:ext cx="92990" cy="54455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5721974" y="2094849"/>
            <a:ext cx="92990" cy="52860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5814964" y="2043550"/>
            <a:ext cx="92990" cy="51299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5907954" y="1993784"/>
            <a:ext cx="92990" cy="49766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6000944" y="1945524"/>
            <a:ext cx="92990" cy="48260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6093934" y="1898749"/>
            <a:ext cx="92989" cy="46775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6186923" y="1853437"/>
            <a:ext cx="92990" cy="45312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6279913" y="1809572"/>
            <a:ext cx="92990" cy="43865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V="1">
            <a:off x="6372903" y="1767140"/>
            <a:ext cx="92990" cy="42432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V="1">
            <a:off x="6465893" y="1726131"/>
            <a:ext cx="92990" cy="41009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6558883" y="1686538"/>
            <a:ext cx="92990" cy="39593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6651873" y="1648355"/>
            <a:ext cx="92989" cy="38183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V="1">
            <a:off x="6744862" y="1611585"/>
            <a:ext cx="92990" cy="36770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6837852" y="1576230"/>
            <a:ext cx="92990" cy="35355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6930842" y="1542302"/>
            <a:ext cx="92990" cy="33928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7023832" y="1509815"/>
            <a:ext cx="92990" cy="32487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7116822" y="1478791"/>
            <a:ext cx="92990" cy="31024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7209812" y="1449263"/>
            <a:ext cx="92989" cy="29528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7302801" y="1421273"/>
            <a:ext cx="92990" cy="27990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7395791" y="1394879"/>
            <a:ext cx="92990" cy="26394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7488781" y="1370163"/>
            <a:ext cx="92990" cy="24716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7581771" y="1347238"/>
            <a:ext cx="92990" cy="22925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7674761" y="1326273"/>
            <a:ext cx="92990" cy="20965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7767751" y="1307541"/>
            <a:ext cx="92989" cy="18732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7860740" y="1291566"/>
            <a:ext cx="92990" cy="15975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V="1">
            <a:off x="7953730" y="1280160"/>
            <a:ext cx="92990" cy="11406"/>
          </a:xfrm>
          <a:prstGeom prst="line">
            <a:avLst/>
          </a:prstGeom>
          <a:ln w="1270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V="1">
            <a:off x="2560320" y="5399919"/>
            <a:ext cx="92990" cy="452241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V="1">
            <a:off x="2653310" y="5118832"/>
            <a:ext cx="92990" cy="281087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V="1">
            <a:off x="2746300" y="4887749"/>
            <a:ext cx="92989" cy="231083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2839289" y="4686364"/>
            <a:ext cx="92990" cy="201385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V="1">
            <a:off x="2932279" y="4505755"/>
            <a:ext cx="92990" cy="180609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3025269" y="4340944"/>
            <a:ext cx="92990" cy="164811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V="1">
            <a:off x="3118259" y="4188780"/>
            <a:ext cx="92990" cy="152164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V="1">
            <a:off x="3211249" y="4047102"/>
            <a:ext cx="92990" cy="141678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V="1">
            <a:off x="3304239" y="3914342"/>
            <a:ext cx="92989" cy="132760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V="1">
            <a:off x="3397228" y="3789317"/>
            <a:ext cx="92990" cy="125025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V="1">
            <a:off x="3490218" y="3671101"/>
            <a:ext cx="92990" cy="118216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V="1">
            <a:off x="3583208" y="3558958"/>
            <a:ext cx="92990" cy="112143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V="1">
            <a:off x="3676198" y="3452284"/>
            <a:ext cx="92990" cy="106674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V="1">
            <a:off x="3769188" y="3350580"/>
            <a:ext cx="92990" cy="101704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V="1">
            <a:off x="3862178" y="3253425"/>
            <a:ext cx="92989" cy="97155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V="1">
            <a:off x="3955167" y="3160460"/>
            <a:ext cx="92990" cy="92965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 flipV="1">
            <a:off x="4048157" y="3071378"/>
            <a:ext cx="92990" cy="89082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V="1">
            <a:off x="4141147" y="2985909"/>
            <a:ext cx="92990" cy="85469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 flipV="1">
            <a:off x="4234137" y="2903820"/>
            <a:ext cx="92990" cy="82089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V="1">
            <a:off x="4327127" y="2824903"/>
            <a:ext cx="92990" cy="78917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V="1">
            <a:off x="4420117" y="2748975"/>
            <a:ext cx="92989" cy="75928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4513106" y="2675873"/>
            <a:ext cx="92990" cy="73102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V="1">
            <a:off x="4606096" y="2605450"/>
            <a:ext cx="92990" cy="70423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V="1">
            <a:off x="4699086" y="2537573"/>
            <a:ext cx="92990" cy="67877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V="1">
            <a:off x="4792076" y="2472124"/>
            <a:ext cx="92990" cy="65449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V="1">
            <a:off x="4885066" y="2408994"/>
            <a:ext cx="92990" cy="63130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 flipV="1">
            <a:off x="4978056" y="2348086"/>
            <a:ext cx="92989" cy="60908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V="1">
            <a:off x="5071045" y="2289308"/>
            <a:ext cx="92990" cy="58778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5164035" y="2232580"/>
            <a:ext cx="92990" cy="56728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5257025" y="2177827"/>
            <a:ext cx="92990" cy="54753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5350015" y="2124979"/>
            <a:ext cx="92990" cy="52848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5443005" y="2073974"/>
            <a:ext cx="92990" cy="51005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5535995" y="2024754"/>
            <a:ext cx="92989" cy="49220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5628984" y="1977265"/>
            <a:ext cx="92990" cy="47489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5721974" y="1931459"/>
            <a:ext cx="92990" cy="45806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5814964" y="1887291"/>
            <a:ext cx="92990" cy="44168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5907954" y="1844720"/>
            <a:ext cx="92990" cy="42571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6000944" y="1803710"/>
            <a:ext cx="92990" cy="41010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6093934" y="1764225"/>
            <a:ext cx="92989" cy="39485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6186923" y="1726235"/>
            <a:ext cx="92990" cy="37990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6279913" y="1689714"/>
            <a:ext cx="92990" cy="36521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6372903" y="1654636"/>
            <a:ext cx="92990" cy="35078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V="1">
            <a:off x="6465893" y="1620981"/>
            <a:ext cx="92990" cy="33655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6558883" y="1588731"/>
            <a:ext cx="92990" cy="32250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6651873" y="1557872"/>
            <a:ext cx="92989" cy="30859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6744862" y="1528392"/>
            <a:ext cx="92990" cy="29480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6837852" y="1500286"/>
            <a:ext cx="92990" cy="28106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V="1">
            <a:off x="6930842" y="1473550"/>
            <a:ext cx="92990" cy="26736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 flipV="1">
            <a:off x="7023832" y="1448186"/>
            <a:ext cx="92990" cy="25364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V="1">
            <a:off x="7116822" y="1424203"/>
            <a:ext cx="92990" cy="23983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V="1">
            <a:off x="7209812" y="1401617"/>
            <a:ext cx="92989" cy="22586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V="1">
            <a:off x="7302801" y="1380451"/>
            <a:ext cx="92990" cy="21166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V="1">
            <a:off x="7395791" y="1360741"/>
            <a:ext cx="92990" cy="19710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V="1">
            <a:off x="7488781" y="1342542"/>
            <a:ext cx="92990" cy="18199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V="1">
            <a:off x="7581771" y="1325931"/>
            <a:ext cx="92990" cy="16611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V="1">
            <a:off x="7674761" y="1311028"/>
            <a:ext cx="92990" cy="14903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V="1">
            <a:off x="7767751" y="1298029"/>
            <a:ext cx="92989" cy="12999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V="1">
            <a:off x="7860740" y="1287312"/>
            <a:ext cx="92990" cy="10717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V="1">
            <a:off x="7953730" y="1280160"/>
            <a:ext cx="92990" cy="7152"/>
          </a:xfrm>
          <a:prstGeom prst="line">
            <a:avLst/>
          </a:prstGeom>
          <a:ln w="1270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V="1">
            <a:off x="2560320" y="5353799"/>
            <a:ext cx="92990" cy="498361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2653310" y="5054811"/>
            <a:ext cx="92990" cy="298988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V="1">
            <a:off x="2746300" y="4812245"/>
            <a:ext cx="92989" cy="242566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V="1">
            <a:off x="2839289" y="4602801"/>
            <a:ext cx="92990" cy="209444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V="1">
            <a:off x="2932279" y="4416334"/>
            <a:ext cx="92990" cy="186467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V="1">
            <a:off x="3025269" y="4247220"/>
            <a:ext cx="92990" cy="169114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V="1">
            <a:off x="3118259" y="4091917"/>
            <a:ext cx="92990" cy="155303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V="1">
            <a:off x="3211249" y="3948009"/>
            <a:ext cx="92990" cy="143908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V="1">
            <a:off x="3304239" y="3813746"/>
            <a:ext cx="92989" cy="134263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V="1">
            <a:off x="3397228" y="3687812"/>
            <a:ext cx="92990" cy="125934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V="1">
            <a:off x="3490218" y="3569186"/>
            <a:ext cx="92990" cy="118626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V="1">
            <a:off x="3583208" y="3457050"/>
            <a:ext cx="92990" cy="112136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3676198" y="3350740"/>
            <a:ext cx="92990" cy="10631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V="1">
            <a:off x="3769188" y="3249707"/>
            <a:ext cx="92990" cy="101033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V="1">
            <a:off x="3862178" y="3153488"/>
            <a:ext cx="92989" cy="96219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V="1">
            <a:off x="3955167" y="3061692"/>
            <a:ext cx="92990" cy="91796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V="1">
            <a:off x="4048157" y="2973980"/>
            <a:ext cx="92990" cy="87712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V="1">
            <a:off x="4141147" y="2890060"/>
            <a:ext cx="92990" cy="8392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V="1">
            <a:off x="4234137" y="2809676"/>
            <a:ext cx="92990" cy="80384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V="1">
            <a:off x="4327127" y="2732603"/>
            <a:ext cx="92990" cy="77073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 flipV="1">
            <a:off x="4420117" y="2658641"/>
            <a:ext cx="92989" cy="73962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V="1">
            <a:off x="4513106" y="2587612"/>
            <a:ext cx="92990" cy="71029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V="1">
            <a:off x="4606096" y="2519357"/>
            <a:ext cx="92990" cy="68255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 flipV="1">
            <a:off x="4699086" y="2453732"/>
            <a:ext cx="92990" cy="65625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 flipV="1">
            <a:off x="4792076" y="2390609"/>
            <a:ext cx="92990" cy="63123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 flipV="1">
            <a:off x="4885066" y="2329870"/>
            <a:ext cx="92990" cy="60739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V="1">
            <a:off x="4978056" y="2271409"/>
            <a:ext cx="92989" cy="58461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V="1">
            <a:off x="5071045" y="2215128"/>
            <a:ext cx="92990" cy="56281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 flipV="1">
            <a:off x="5164035" y="2160939"/>
            <a:ext cx="92990" cy="54189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V="1">
            <a:off x="5257025" y="2108759"/>
            <a:ext cx="92990" cy="5218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5350015" y="2058516"/>
            <a:ext cx="92990" cy="50243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 flipV="1">
            <a:off x="5443005" y="2010139"/>
            <a:ext cx="92990" cy="48377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5535995" y="1963567"/>
            <a:ext cx="92989" cy="46572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 flipV="1">
            <a:off x="5628984" y="1918741"/>
            <a:ext cx="92990" cy="44826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V="1">
            <a:off x="5721974" y="1875608"/>
            <a:ext cx="92990" cy="43133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 flipV="1">
            <a:off x="5814964" y="1834119"/>
            <a:ext cx="92990" cy="41489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V="1">
            <a:off x="5907954" y="1794229"/>
            <a:ext cx="92990" cy="3989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V="1">
            <a:off x="6000944" y="1755896"/>
            <a:ext cx="92990" cy="38333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V="1">
            <a:off x="6093934" y="1719084"/>
            <a:ext cx="92989" cy="36812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6186923" y="1683757"/>
            <a:ext cx="92990" cy="35327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6279913" y="1649885"/>
            <a:ext cx="92990" cy="33872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 flipV="1">
            <a:off x="6372903" y="1617440"/>
            <a:ext cx="92990" cy="32445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V="1">
            <a:off x="6465893" y="1586397"/>
            <a:ext cx="92990" cy="31043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 flipV="1">
            <a:off x="6558883" y="1556736"/>
            <a:ext cx="92990" cy="29661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 flipV="1">
            <a:off x="6651873" y="1528437"/>
            <a:ext cx="92989" cy="28299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 flipV="1">
            <a:off x="6744862" y="1501486"/>
            <a:ext cx="92990" cy="26951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 flipV="1">
            <a:off x="6837852" y="1475873"/>
            <a:ext cx="92990" cy="25613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 flipV="1">
            <a:off x="6930842" y="1451589"/>
            <a:ext cx="92990" cy="24284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 flipV="1">
            <a:off x="7023832" y="1428634"/>
            <a:ext cx="92990" cy="22955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 flipV="1">
            <a:off x="7116822" y="1407010"/>
            <a:ext cx="92990" cy="21624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 flipV="1">
            <a:off x="7209812" y="1386726"/>
            <a:ext cx="92989" cy="20284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 flipV="1">
            <a:off x="7302801" y="1367801"/>
            <a:ext cx="92990" cy="18925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 flipV="1">
            <a:off x="7395791" y="1350262"/>
            <a:ext cx="92990" cy="17539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 flipV="1">
            <a:off x="7488781" y="1334153"/>
            <a:ext cx="92990" cy="16109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 flipV="1">
            <a:off x="7581771" y="1319540"/>
            <a:ext cx="92990" cy="14613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 flipV="1">
            <a:off x="7674761" y="1306524"/>
            <a:ext cx="92990" cy="13016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V="1">
            <a:off x="7767751" y="1295275"/>
            <a:ext cx="92989" cy="11249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 flipV="1">
            <a:off x="7860740" y="1286118"/>
            <a:ext cx="92990" cy="9157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 flipV="1">
            <a:off x="7953730" y="1280160"/>
            <a:ext cx="92990" cy="5958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9" name="TextBox 328"/>
          <p:cNvSpPr txBox="1"/>
          <p:nvPr/>
        </p:nvSpPr>
        <p:spPr>
          <a:xfrm>
            <a:off x="8503920" y="1170432"/>
            <a:ext cx="32004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222222"/>
                </a:solidFill>
                <a:latin typeface="Arial"/>
              </a:rPr>
              <a:t>Scenario (ElasticNet)</a:t>
            </a:r>
          </a:p>
        </p:txBody>
      </p:sp>
      <p:cxnSp>
        <p:nvCxnSpPr>
          <p:cNvPr id="330" name="Connector 329"/>
          <p:cNvCxnSpPr/>
          <p:nvPr/>
        </p:nvCxnSpPr>
        <p:spPr>
          <a:xfrm>
            <a:off x="8503920" y="1527048"/>
            <a:ext cx="320040" cy="0"/>
          </a:xfrm>
          <a:prstGeom prst="line">
            <a:avLst/>
          </a:prstGeom>
          <a:ln w="1524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1" name="TextBox 330"/>
          <p:cNvSpPr txBox="1"/>
          <p:nvPr/>
        </p:nvSpPr>
        <p:spPr>
          <a:xfrm>
            <a:off x="8869680" y="1444752"/>
            <a:ext cx="329184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222222"/>
                </a:solidFill>
                <a:latin typeface="Arial"/>
              </a:rPr>
              <a:t>  Baseline 37 feat AUC=0.686</a:t>
            </a:r>
          </a:p>
        </p:txBody>
      </p:sp>
      <p:cxnSp>
        <p:nvCxnSpPr>
          <p:cNvPr id="332" name="Connector 331"/>
          <p:cNvCxnSpPr/>
          <p:nvPr/>
        </p:nvCxnSpPr>
        <p:spPr>
          <a:xfrm>
            <a:off x="8503920" y="1874520"/>
            <a:ext cx="320040" cy="0"/>
          </a:xfrm>
          <a:prstGeom prst="line">
            <a:avLst/>
          </a:prstGeom>
          <a:ln w="317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3" name="TextBox 332"/>
          <p:cNvSpPr txBox="1"/>
          <p:nvPr/>
        </p:nvSpPr>
        <p:spPr>
          <a:xfrm>
            <a:off x="8869680" y="1792224"/>
            <a:ext cx="329184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D4A300"/>
                </a:solidFill>
                <a:latin typeface="Arial"/>
              </a:rPr>
              <a:t>★ ★ Drop CD8prolif 36 feat AUC=0.745</a:t>
            </a:r>
          </a:p>
        </p:txBody>
      </p:sp>
      <p:cxnSp>
        <p:nvCxnSpPr>
          <p:cNvPr id="334" name="Connector 333"/>
          <p:cNvCxnSpPr/>
          <p:nvPr/>
        </p:nvCxnSpPr>
        <p:spPr>
          <a:xfrm>
            <a:off x="8503920" y="2221992"/>
            <a:ext cx="320040" cy="0"/>
          </a:xfrm>
          <a:prstGeom prst="line">
            <a:avLst/>
          </a:prstGeom>
          <a:ln w="15240">
            <a:solidFill>
              <a:srgbClr val="0E4A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5" name="TextBox 334"/>
          <p:cNvSpPr txBox="1"/>
          <p:nvPr/>
        </p:nvSpPr>
        <p:spPr>
          <a:xfrm>
            <a:off x="8869680" y="2139696"/>
            <a:ext cx="329184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222222"/>
                </a:solidFill>
                <a:latin typeface="Arial"/>
              </a:rPr>
              <a:t>  Add 3 immune 40 feat AUC=0.686</a:t>
            </a:r>
          </a:p>
        </p:txBody>
      </p:sp>
      <p:cxnSp>
        <p:nvCxnSpPr>
          <p:cNvPr id="336" name="Connector 335"/>
          <p:cNvCxnSpPr/>
          <p:nvPr/>
        </p:nvCxnSpPr>
        <p:spPr>
          <a:xfrm>
            <a:off x="8503920" y="2569464"/>
            <a:ext cx="320040" cy="0"/>
          </a:xfrm>
          <a:prstGeom prst="line">
            <a:avLst/>
          </a:prstGeom>
          <a:ln w="15240">
            <a:solidFill>
              <a:srgbClr val="8A2B4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TextBox 336"/>
          <p:cNvSpPr txBox="1"/>
          <p:nvPr/>
        </p:nvSpPr>
        <p:spPr>
          <a:xfrm>
            <a:off x="8869680" y="2487168"/>
            <a:ext cx="329184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222222"/>
                </a:solidFill>
                <a:latin typeface="Arial"/>
              </a:rPr>
              <a:t>  Swap CD8prolif→ CD8cytotoxic (37) AUC=0.722</a:t>
            </a:r>
          </a:p>
        </p:txBody>
      </p:sp>
      <p:cxnSp>
        <p:nvCxnSpPr>
          <p:cNvPr id="338" name="Connector 337"/>
          <p:cNvCxnSpPr/>
          <p:nvPr/>
        </p:nvCxnSpPr>
        <p:spPr>
          <a:xfrm>
            <a:off x="8503920" y="2916936"/>
            <a:ext cx="320040" cy="0"/>
          </a:xfrm>
          <a:prstGeom prst="line">
            <a:avLst/>
          </a:prstGeom>
          <a:ln w="1524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9" name="TextBox 338"/>
          <p:cNvSpPr txBox="1"/>
          <p:nvPr/>
        </p:nvSpPr>
        <p:spPr>
          <a:xfrm>
            <a:off x="8869680" y="2834640"/>
            <a:ext cx="329184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222222"/>
                </a:solidFill>
                <a:latin typeface="Arial"/>
              </a:rPr>
              <a:t>  Drop+Add 39 feat AUC=0.735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Per-subject nested-outer predicted P(good) — winning model (misclass = gold ✗)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097280" y="5852160"/>
            <a:ext cx="1069848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97280" y="1280160"/>
            <a:ext cx="0" cy="457200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795760" y="1280160"/>
            <a:ext cx="0" cy="457200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97280" y="1280160"/>
            <a:ext cx="10698480" cy="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33272" y="585216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94360" y="576986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33272" y="470916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462686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0.25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033272" y="356616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94360" y="348386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33272" y="242316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234086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0.75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33272" y="128016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94360" y="119786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" y="2560320"/>
            <a:ext cx="365760" cy="20116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Predicted P(good)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97280" y="3108960"/>
            <a:ext cx="10698480" cy="9144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1097280" y="3566160"/>
            <a:ext cx="10698480" cy="0"/>
          </a:xfrm>
          <a:prstGeom prst="line">
            <a:avLst/>
          </a:prstGeom>
          <a:ln w="10160">
            <a:solidFill>
              <a:srgbClr val="22222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1841480" y="3474720"/>
            <a:ext cx="13716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Arial"/>
              </a:rPr>
              <a:t>threshold 0.5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41480" y="2999232"/>
            <a:ext cx="13716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BBBBBB"/>
                </a:solidFill>
                <a:latin typeface="Arial"/>
              </a:rPr>
              <a:t>uncertainty band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26998" y="5220499"/>
            <a:ext cx="237744" cy="631661"/>
          </a:xfrm>
          <a:prstGeom prst="rect">
            <a:avLst/>
          </a:prstGeom>
          <a:solidFill>
            <a:srgbClr val="C53E1F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21054" y="5202211"/>
            <a:ext cx="249631" cy="36576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8710" y="5001043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5870448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19.0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424178" y="4905718"/>
            <a:ext cx="237744" cy="946442"/>
          </a:xfrm>
          <a:prstGeom prst="rect">
            <a:avLst/>
          </a:prstGeom>
          <a:solidFill>
            <a:srgbClr val="C53E1F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18234" y="4887430"/>
            <a:ext cx="249631" cy="36576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5890" y="4686262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4460" y="5870448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22.0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21358" y="4760641"/>
            <a:ext cx="237744" cy="1091519"/>
          </a:xfrm>
          <a:prstGeom prst="rect">
            <a:avLst/>
          </a:prstGeom>
          <a:solidFill>
            <a:srgbClr val="C53E1F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715414" y="4742353"/>
            <a:ext cx="249631" cy="36576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03070" y="4541185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91640" y="5870448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35.0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018538" y="4571322"/>
            <a:ext cx="237744" cy="1280838"/>
          </a:xfrm>
          <a:prstGeom prst="rect">
            <a:avLst/>
          </a:prstGeom>
          <a:solidFill>
            <a:srgbClr val="C53E1F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012594" y="4553034"/>
            <a:ext cx="249631" cy="36576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00250" y="4351866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88820" y="5870448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18.0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315718" y="4488640"/>
            <a:ext cx="237744" cy="1363520"/>
          </a:xfrm>
          <a:prstGeom prst="rect">
            <a:avLst/>
          </a:prstGeom>
          <a:solidFill>
            <a:srgbClr val="C53E1F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309774" y="4470352"/>
            <a:ext cx="249631" cy="36576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297430" y="4269184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86000" y="5870448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17.0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612898" y="4484183"/>
            <a:ext cx="237744" cy="1367977"/>
          </a:xfrm>
          <a:prstGeom prst="rect">
            <a:avLst/>
          </a:prstGeom>
          <a:solidFill>
            <a:srgbClr val="C53E1F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606954" y="4465895"/>
            <a:ext cx="249631" cy="36576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94610" y="4264727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83180" y="5870448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34.0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10078" y="4254254"/>
            <a:ext cx="237744" cy="1597906"/>
          </a:xfrm>
          <a:prstGeom prst="rect">
            <a:avLst/>
          </a:prstGeom>
          <a:solidFill>
            <a:srgbClr val="C53E1F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904134" y="4235966"/>
            <a:ext cx="249631" cy="36576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891790" y="4034798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80360" y="5870448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8.0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07258" y="4205262"/>
            <a:ext cx="237744" cy="1646898"/>
          </a:xfrm>
          <a:prstGeom prst="rect">
            <a:avLst/>
          </a:prstGeom>
          <a:solidFill>
            <a:srgbClr val="C53E1F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201314" y="4186974"/>
            <a:ext cx="249631" cy="36576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88970" y="3985806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177540" y="5870448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13.0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504438" y="4173850"/>
            <a:ext cx="237744" cy="1678310"/>
          </a:xfrm>
          <a:prstGeom prst="rect">
            <a:avLst/>
          </a:prstGeom>
          <a:solidFill>
            <a:srgbClr val="C53E1F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498494" y="4155562"/>
            <a:ext cx="249631" cy="36576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486150" y="3954394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74720" y="5870448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801618" y="4173075"/>
            <a:ext cx="237744" cy="1679085"/>
          </a:xfrm>
          <a:prstGeom prst="rect">
            <a:avLst/>
          </a:prstGeom>
          <a:solidFill>
            <a:srgbClr val="C53E1F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795674" y="4154787"/>
            <a:ext cx="249631" cy="36576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783330" y="3953619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771900" y="5870448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15.0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98798" y="4037172"/>
            <a:ext cx="237744" cy="1814988"/>
          </a:xfrm>
          <a:prstGeom prst="rect">
            <a:avLst/>
          </a:prstGeom>
          <a:solidFill>
            <a:srgbClr val="C53E1F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092854" y="4018884"/>
            <a:ext cx="249631" cy="36576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080510" y="3817716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069080" y="5870448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16.0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95978" y="3913609"/>
            <a:ext cx="237744" cy="1938551"/>
          </a:xfrm>
          <a:prstGeom prst="rect">
            <a:avLst/>
          </a:prstGeom>
          <a:solidFill>
            <a:srgbClr val="C53E1F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390034" y="3895321"/>
            <a:ext cx="249631" cy="36576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377690" y="3694153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66260" y="5870448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23.0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693158" y="3679935"/>
            <a:ext cx="237744" cy="2172225"/>
          </a:xfrm>
          <a:prstGeom prst="rect">
            <a:avLst/>
          </a:prstGeom>
          <a:solidFill>
            <a:srgbClr val="C53E1F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687214" y="3661647"/>
            <a:ext cx="249631" cy="36576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674870" y="3460479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663440" y="5870448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25.0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990338" y="3512090"/>
            <a:ext cx="237744" cy="2340070"/>
          </a:xfrm>
          <a:prstGeom prst="rect">
            <a:avLst/>
          </a:prstGeom>
          <a:solidFill>
            <a:srgbClr val="C53E1F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984394" y="3493802"/>
            <a:ext cx="249631" cy="36576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2050" y="3292634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960620" y="5870448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20.0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287518" y="3500227"/>
            <a:ext cx="237744" cy="2351933"/>
          </a:xfrm>
          <a:prstGeom prst="rect">
            <a:avLst/>
          </a:prstGeom>
          <a:solidFill>
            <a:srgbClr val="C53E1F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281574" y="3481939"/>
            <a:ext cx="249631" cy="36576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269230" y="3280771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257800" y="5870448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7.0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584698" y="3429436"/>
            <a:ext cx="237744" cy="2422724"/>
          </a:xfrm>
          <a:prstGeom prst="rect">
            <a:avLst/>
          </a:prstGeom>
          <a:solidFill>
            <a:srgbClr val="C53E1F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578754" y="3411148"/>
            <a:ext cx="249631" cy="36576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566410" y="3209980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554980" y="5870448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12.0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881878" y="3418347"/>
            <a:ext cx="237744" cy="2433813"/>
          </a:xfrm>
          <a:prstGeom prst="rect">
            <a:avLst/>
          </a:prstGeom>
          <a:solidFill>
            <a:srgbClr val="C53E1F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5875934" y="3400059"/>
            <a:ext cx="249631" cy="36576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863590" y="3198891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852160" y="5870448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31.0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179058" y="3398674"/>
            <a:ext cx="237744" cy="2453486"/>
          </a:xfrm>
          <a:prstGeom prst="rect">
            <a:avLst/>
          </a:prstGeom>
          <a:solidFill>
            <a:srgbClr val="C53E1F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173114" y="3380386"/>
            <a:ext cx="249631" cy="36576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160770" y="3179218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149340" y="5870448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28.0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476238" y="3371970"/>
            <a:ext cx="237744" cy="2480190"/>
          </a:xfrm>
          <a:prstGeom prst="rect">
            <a:avLst/>
          </a:prstGeom>
          <a:solidFill>
            <a:srgbClr val="C53E1F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470294" y="3353682"/>
            <a:ext cx="249631" cy="36576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57950" y="3152514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446520" y="5870448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10.0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773418" y="3371792"/>
            <a:ext cx="237744" cy="2480368"/>
          </a:xfrm>
          <a:prstGeom prst="rect">
            <a:avLst/>
          </a:prstGeom>
          <a:solidFill>
            <a:srgbClr val="C53E1F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767474" y="3353504"/>
            <a:ext cx="249631" cy="36576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755130" y="3152336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743700" y="5870448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11.0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7070598" y="3344843"/>
            <a:ext cx="237744" cy="2507317"/>
          </a:xfrm>
          <a:prstGeom prst="rect">
            <a:avLst/>
          </a:prstGeom>
          <a:solidFill>
            <a:srgbClr val="C53E1F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7064654" y="3326555"/>
            <a:ext cx="249631" cy="36576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052310" y="3125387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040880" y="5870448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33.0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7367778" y="3312325"/>
            <a:ext cx="237744" cy="2539835"/>
          </a:xfrm>
          <a:prstGeom prst="rect">
            <a:avLst/>
          </a:prstGeom>
          <a:solidFill>
            <a:srgbClr val="C53E1F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7361834" y="3294037"/>
            <a:ext cx="249631" cy="36576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349490" y="3092869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338060" y="5870448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5.0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7664958" y="3311476"/>
            <a:ext cx="237744" cy="2540684"/>
          </a:xfrm>
          <a:prstGeom prst="rect">
            <a:avLst/>
          </a:prstGeom>
          <a:solidFill>
            <a:srgbClr val="C53E1F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7659014" y="3293188"/>
            <a:ext cx="249631" cy="36576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7646670" y="3092020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635240" y="5870448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30.0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962138" y="3289879"/>
            <a:ext cx="237744" cy="2562281"/>
          </a:xfrm>
          <a:prstGeom prst="rect">
            <a:avLst/>
          </a:prstGeom>
          <a:solidFill>
            <a:srgbClr val="C53E1F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7956194" y="3271591"/>
            <a:ext cx="249631" cy="36576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943850" y="3070423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32420" y="5870448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29.0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8259318" y="3199728"/>
            <a:ext cx="237744" cy="2652432"/>
          </a:xfrm>
          <a:prstGeom prst="rect">
            <a:avLst/>
          </a:prstGeom>
          <a:solidFill>
            <a:srgbClr val="C53E1F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253374" y="3181440"/>
            <a:ext cx="249631" cy="36576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241030" y="2980272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29600" y="5870448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14.0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556498" y="3149564"/>
            <a:ext cx="237744" cy="2702596"/>
          </a:xfrm>
          <a:prstGeom prst="rect">
            <a:avLst/>
          </a:prstGeom>
          <a:solidFill>
            <a:srgbClr val="C53E1F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8550554" y="3131276"/>
            <a:ext cx="249631" cy="36576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538210" y="2930108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526780" y="5870448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21.0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853678" y="2985572"/>
            <a:ext cx="237744" cy="2866588"/>
          </a:xfrm>
          <a:prstGeom prst="rect">
            <a:avLst/>
          </a:prstGeom>
          <a:solidFill>
            <a:srgbClr val="C53E1F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8847734" y="2967284"/>
            <a:ext cx="249631" cy="36576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835390" y="2766116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823960" y="5870448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9.0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150858" y="2982082"/>
            <a:ext cx="237744" cy="2870078"/>
          </a:xfrm>
          <a:prstGeom prst="rect">
            <a:avLst/>
          </a:prstGeom>
          <a:solidFill>
            <a:srgbClr val="C53E1F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9144914" y="2963794"/>
            <a:ext cx="249631" cy="36576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32570" y="2762626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21140" y="5870448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6.0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9448038" y="2935587"/>
            <a:ext cx="237744" cy="2916573"/>
          </a:xfrm>
          <a:prstGeom prst="rect">
            <a:avLst/>
          </a:prstGeom>
          <a:solidFill>
            <a:srgbClr val="C53E1F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9442094" y="2917299"/>
            <a:ext cx="249631" cy="36576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429750" y="2716131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870448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27.0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9745218" y="2810031"/>
            <a:ext cx="237744" cy="3042129"/>
          </a:xfrm>
          <a:prstGeom prst="rect">
            <a:avLst/>
          </a:prstGeom>
          <a:solidFill>
            <a:srgbClr val="C53E1F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9739274" y="2791743"/>
            <a:ext cx="249631" cy="36576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726930" y="2590575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715500" y="5870448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2.0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10042398" y="2652194"/>
            <a:ext cx="237744" cy="3199966"/>
          </a:xfrm>
          <a:prstGeom prst="rect">
            <a:avLst/>
          </a:prstGeom>
          <a:solidFill>
            <a:srgbClr val="C53E1F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10036454" y="2633906"/>
            <a:ext cx="249631" cy="36576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0024110" y="2432738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5870448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4.0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10339578" y="2486811"/>
            <a:ext cx="237744" cy="3365349"/>
          </a:xfrm>
          <a:prstGeom prst="rect">
            <a:avLst/>
          </a:prstGeom>
          <a:solidFill>
            <a:srgbClr val="C53E1F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10333634" y="2468523"/>
            <a:ext cx="249631" cy="36576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0321290" y="2267355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309860" y="5870448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26.0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0636758" y="2238112"/>
            <a:ext cx="237744" cy="3614048"/>
          </a:xfrm>
          <a:prstGeom prst="rect">
            <a:avLst/>
          </a:prstGeom>
          <a:solidFill>
            <a:srgbClr val="C53E1F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10630814" y="2219824"/>
            <a:ext cx="249631" cy="36576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0618470" y="2018656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607040" y="5870448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24.0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0933938" y="2050016"/>
            <a:ext cx="237744" cy="3802144"/>
          </a:xfrm>
          <a:prstGeom prst="rect">
            <a:avLst/>
          </a:prstGeom>
          <a:solidFill>
            <a:srgbClr val="C53E1F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0927994" y="2031728"/>
            <a:ext cx="249631" cy="36576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0915650" y="1830560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904220" y="5870448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3.0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1231118" y="1866695"/>
            <a:ext cx="237744" cy="3985465"/>
          </a:xfrm>
          <a:prstGeom prst="rect">
            <a:avLst/>
          </a:prstGeom>
          <a:solidFill>
            <a:srgbClr val="C53E1F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1225174" y="1848407"/>
            <a:ext cx="249631" cy="36576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11212830" y="1647239"/>
            <a:ext cx="274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201400" y="5870448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32.0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1097280" y="6263640"/>
            <a:ext cx="10515600" cy="320040"/>
          </a:xfrm>
          <a:prstGeom prst="rect">
            <a:avLst/>
          </a:prstGeom>
          <a:solidFill>
            <a:srgbClr val="F0F0F0"/>
          </a:solidFill>
          <a:ln w="1016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097280" y="6263640"/>
            <a:ext cx="1051560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Misclassified at 0.5 threshold: 35/35 (accuracy 0 %). AUC 0.745 [0.56, 0.90] (threshold-free) is the load-bearing claim; threshold accuracy is provided for transparency only.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