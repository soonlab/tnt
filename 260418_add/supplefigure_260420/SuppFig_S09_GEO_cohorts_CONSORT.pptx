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9 GEO nCRT cohorts — inclusion / exclusion matrix (primary meta 5 of 9)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371600" cy="411480"/>
          </a:xfrm>
          <a:prstGeom prst="rect">
            <a:avLst/>
          </a:prstGeom>
          <a:solidFill>
            <a:srgbClr val="DDDDDD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128016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GSE accession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1188720"/>
            <a:ext cx="548640" cy="411480"/>
          </a:xfrm>
          <a:prstGeom prst="rect">
            <a:avLst/>
          </a:prstGeom>
          <a:solidFill>
            <a:srgbClr val="DDDDDD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234440"/>
            <a:ext cx="45720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188720"/>
            <a:ext cx="3840480" cy="411480"/>
          </a:xfrm>
          <a:prstGeom prst="rect">
            <a:avLst/>
          </a:prstGeom>
          <a:solidFill>
            <a:srgbClr val="DDDDDD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1234440"/>
            <a:ext cx="374904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Regimen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2103120" cy="411480"/>
          </a:xfrm>
          <a:prstGeom prst="rect">
            <a:avLst/>
          </a:prstGeom>
          <a:solidFill>
            <a:srgbClr val="DDDDDD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40"/>
            <a:ext cx="201168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Endpoint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188720"/>
            <a:ext cx="1280160" cy="411480"/>
          </a:xfrm>
          <a:prstGeom prst="rect">
            <a:avLst/>
          </a:prstGeom>
          <a:solidFill>
            <a:srgbClr val="DDDDDD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234440"/>
            <a:ext cx="118872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Thread 1
concord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188720"/>
            <a:ext cx="2011680" cy="411480"/>
          </a:xfrm>
          <a:prstGeom prst="rect">
            <a:avLst/>
          </a:prstGeom>
          <a:solidFill>
            <a:srgbClr val="DDDDDD"/>
          </a:solidFill>
          <a:ln w="762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38360" y="1234440"/>
            <a:ext cx="192024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Status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600200"/>
            <a:ext cx="137160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627632"/>
            <a:ext cx="128016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GSE35452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1600200"/>
            <a:ext cx="54864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1627632"/>
            <a:ext cx="45720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46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1600200"/>
            <a:ext cx="384048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1627632"/>
            <a:ext cx="37490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LC-CRT + concurrent cape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600200"/>
            <a:ext cx="210312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627632"/>
            <a:ext cx="201168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TRG 4-class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1600200"/>
            <a:ext cx="128016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1627632"/>
            <a:ext cx="118872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4/4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1600200"/>
            <a:ext cx="201168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38360" y="1627632"/>
            <a:ext cx="19202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primary 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092960"/>
            <a:ext cx="137160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120392"/>
            <a:ext cx="128016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GSE45404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2092960"/>
            <a:ext cx="54864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65960" y="2120392"/>
            <a:ext cx="45720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80" y="2092960"/>
            <a:ext cx="384048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2120392"/>
            <a:ext cx="37490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LC-CRT + concurrent cape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092960"/>
            <a:ext cx="210312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2120392"/>
            <a:ext cx="201168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pCR/non-pCR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2092960"/>
            <a:ext cx="128016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2120392"/>
            <a:ext cx="118872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3/4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2092960"/>
            <a:ext cx="201168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738360" y="2120392"/>
            <a:ext cx="19202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primary 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2585720"/>
            <a:ext cx="137160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2613152"/>
            <a:ext cx="128016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GSE56699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2585720"/>
            <a:ext cx="54864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65960" y="2613152"/>
            <a:ext cx="45720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72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0" y="2585720"/>
            <a:ext cx="384048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14600" y="2613152"/>
            <a:ext cx="37490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LC-CRT + concurrent cape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2585720"/>
            <a:ext cx="210312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2613152"/>
            <a:ext cx="201168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TRG 3-class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12480" y="2585720"/>
            <a:ext cx="128016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58200" y="2613152"/>
            <a:ext cx="118872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3/4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692640" y="2585720"/>
            <a:ext cx="201168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38360" y="2613152"/>
            <a:ext cx="19202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primary ★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3078480"/>
            <a:ext cx="137160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3105912"/>
            <a:ext cx="128016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GSE133057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20240" y="3078480"/>
            <a:ext cx="54864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65960" y="3105912"/>
            <a:ext cx="45720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33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0" y="3078480"/>
            <a:ext cx="384048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14600" y="3105912"/>
            <a:ext cx="37490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LC-CRT + concurrent cape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3078480"/>
            <a:ext cx="210312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5080" y="3105912"/>
            <a:ext cx="201168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OS/DFS-derived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12480" y="3078480"/>
            <a:ext cx="128016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458200" y="3105912"/>
            <a:ext cx="118872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3/4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92640" y="3078480"/>
            <a:ext cx="201168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38360" y="3105912"/>
            <a:ext cx="19202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primary ★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3571240"/>
            <a:ext cx="137160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4360" y="3598672"/>
            <a:ext cx="128016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GSE87211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20240" y="3571240"/>
            <a:ext cx="54864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65960" y="3598672"/>
            <a:ext cx="45720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287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68880" y="3571240"/>
            <a:ext cx="384048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14600" y="3598672"/>
            <a:ext cx="37490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LC-CRT + concurrent cape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09360" y="3571240"/>
            <a:ext cx="210312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355080" y="3598672"/>
            <a:ext cx="201168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TRG pooled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412480" y="3571240"/>
            <a:ext cx="128016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58200" y="3598672"/>
            <a:ext cx="118872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3/4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92640" y="3571240"/>
            <a:ext cx="2011680" cy="492760"/>
          </a:xfrm>
          <a:prstGeom prst="rect">
            <a:avLst/>
          </a:prstGeom>
          <a:solidFill>
            <a:srgbClr val="9FC9BE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38360" y="3598672"/>
            <a:ext cx="19202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primary ★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4064000"/>
            <a:ext cx="137160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" y="4091432"/>
            <a:ext cx="128016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GSE150082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20240" y="4064000"/>
            <a:ext cx="54864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65960" y="4091432"/>
            <a:ext cx="45720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39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68880" y="4064000"/>
            <a:ext cx="384048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14600" y="4091432"/>
            <a:ext cx="37490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short-course RT + TNT subset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09360" y="4064000"/>
            <a:ext cx="210312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355080" y="4091432"/>
            <a:ext cx="201168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pTRG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12480" y="4064000"/>
            <a:ext cx="128016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458200" y="4091432"/>
            <a:ext cx="118872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1/4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692640" y="4064000"/>
            <a:ext cx="201168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738360" y="4091432"/>
            <a:ext cx="19202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excluded (regimen)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8640" y="4556760"/>
            <a:ext cx="137160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94360" y="4584192"/>
            <a:ext cx="128016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GSE119409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20240" y="4556760"/>
            <a:ext cx="54864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965960" y="4584192"/>
            <a:ext cx="45720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66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68880" y="4556760"/>
            <a:ext cx="384048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14600" y="4584192"/>
            <a:ext cx="37490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RADIOTHERAPY ALONE (no chemo)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09360" y="4556760"/>
            <a:ext cx="210312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55080" y="4584192"/>
            <a:ext cx="201168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sensitivity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412480" y="4556760"/>
            <a:ext cx="128016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458200" y="4584192"/>
            <a:ext cx="118872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1/4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692640" y="4556760"/>
            <a:ext cx="201168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738360" y="4584192"/>
            <a:ext cx="19202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excluded (no chemo)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48640" y="5049520"/>
            <a:ext cx="137160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94360" y="5076952"/>
            <a:ext cx="128016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GSE94104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920240" y="5049520"/>
            <a:ext cx="54864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965960" y="5076952"/>
            <a:ext cx="45720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80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68880" y="5049520"/>
            <a:ext cx="384048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514600" y="5076952"/>
            <a:ext cx="37490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LC-CRT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309360" y="5049520"/>
            <a:ext cx="210312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355080" y="5076952"/>
            <a:ext cx="201168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CMS-stability (no resp)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412480" y="5049520"/>
            <a:ext cx="128016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458200" y="5076952"/>
            <a:ext cx="118872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n/a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692640" y="5049520"/>
            <a:ext cx="201168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738360" y="5076952"/>
            <a:ext cx="19202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excluded (no endpoint)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48640" y="5542280"/>
            <a:ext cx="137160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94360" y="5569712"/>
            <a:ext cx="128016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GSE46862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920240" y="5542280"/>
            <a:ext cx="54864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965960" y="5569712"/>
            <a:ext cx="45720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69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468880" y="5542280"/>
            <a:ext cx="384048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514600" y="5569712"/>
            <a:ext cx="37490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LC-CRT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309360" y="5542280"/>
            <a:ext cx="210312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355080" y="5569712"/>
            <a:ext cx="201168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TRG ambiguous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412480" y="5542280"/>
            <a:ext cx="128016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458200" y="5569712"/>
            <a:ext cx="118872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1/4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692640" y="5542280"/>
            <a:ext cx="2011680" cy="492760"/>
          </a:xfrm>
          <a:prstGeom prst="rect">
            <a:avLst/>
          </a:prstGeom>
          <a:solidFill>
            <a:srgbClr val="E9AE9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738360" y="5569712"/>
            <a:ext cx="1920240" cy="437896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excluded (1/4 discordant)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6263640"/>
            <a:ext cx="11155680" cy="32004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1">
                <a:solidFill>
                  <a:srgbClr val="222222"/>
                </a:solidFill>
                <a:latin typeface="Arial"/>
              </a:rPr>
              <a:t>Restricted meta (5 cohorts, N = 518) selected by objective ≥ 3 / 4 Thread-1-concordance rule BEFORE Z computation; four excluded on independent regimen / endpoint grounds.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External-validation CONSORT: 9 candidate cohorts → 5 primary meta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4389120" y="1005840"/>
            <a:ext cx="3383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462272" y="1078992"/>
            <a:ext cx="323697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9 GEO nCRT cohorts with response labels (N = 721)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737360"/>
            <a:ext cx="0" cy="457200"/>
          </a:xfrm>
          <a:prstGeom prst="line">
            <a:avLst/>
          </a:prstGeom>
          <a:ln w="1905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371600" y="2194560"/>
            <a:ext cx="4389120" cy="2560320"/>
          </a:xfrm>
          <a:prstGeom prst="rect">
            <a:avLst/>
          </a:prstGeom>
          <a:solidFill>
            <a:srgbClr val="9FC9BE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44752" y="2267712"/>
            <a:ext cx="42428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Primary meta (N = 518)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2523744"/>
            <a:ext cx="42428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5 LC-CRT cohorts with concurrent capecitabine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779776"/>
            <a:ext cx="42428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≥ 3 / 4 Thread-1 signature concordance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4752" y="3035808"/>
            <a:ext cx="42428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GSE35452 (N=46), GSE45404 (80),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3291840"/>
            <a:ext cx="42428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GSE56699 (72), GSE133057 (33),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547872"/>
            <a:ext cx="42428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GSE87211 (287)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803904"/>
            <a:ext cx="42428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4059936"/>
            <a:ext cx="42428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Restricted Z = +3.17 DSB, +3.21 cellcycle,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4315968"/>
            <a:ext cx="424281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+2.79 E2F/MYC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94560"/>
            <a:ext cx="4572000" cy="2560320"/>
          </a:xfrm>
          <a:prstGeom prst="rect">
            <a:avLst/>
          </a:prstGeom>
          <a:solidFill>
            <a:srgbClr val="E9AE9B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267712"/>
            <a:ext cx="44256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Excluded (N = 203)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523744"/>
            <a:ext cx="44256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779776"/>
            <a:ext cx="44256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GSE119409 (N=66): radiotherapy alone, no chemo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035808"/>
            <a:ext cx="44256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GSE94104 (80): CMS paper, no response 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291840"/>
            <a:ext cx="44256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GSE150082 (39): SC-RT + TNT subset, opposite biology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547872"/>
            <a:ext cx="44256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GSE46862 (69): TRG ambiguous, 1/4 Thread-1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803904"/>
            <a:ext cx="44256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059936"/>
            <a:ext cx="44256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Full 9-cohort sensitivity meta shown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2" y="4315968"/>
            <a:ext cx="442569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Supp Fig S19A (hollow diamond)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566160" y="1737360"/>
            <a:ext cx="2514600" cy="457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80760" y="1737360"/>
            <a:ext cx="2606040" cy="4572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474720" y="5120640"/>
            <a:ext cx="5212080" cy="1280160"/>
          </a:xfrm>
          <a:prstGeom prst="rect">
            <a:avLst/>
          </a:prstGeom>
          <a:solidFill>
            <a:srgbClr val="D4A30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47872" y="5193792"/>
            <a:ext cx="506577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222222"/>
                </a:solidFill>
                <a:latin typeface="Arial"/>
              </a:rPr>
              <a:t>Thread 2 augmentation — +Akiyoshi 2023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47872" y="5449824"/>
            <a:ext cx="506577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GSE216616 published-statistic (cytolytic activity P = 0.005, Z = +2.81)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47872" y="5705856"/>
            <a:ext cx="5065776" cy="2560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Arial"/>
              </a:rPr>
              <a:t>6-source CD8-cytotoxic meta: Z = +3.29, P = 0.001, N = 816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566160" y="4754880"/>
            <a:ext cx="0" cy="36576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