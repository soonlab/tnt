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9 GEO nCRT cohorts — inclusion / exclusion matrix (primary meta 5 of 9; concordance ≥ 3/4 rule)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37160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2801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GSE accession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188720"/>
            <a:ext cx="54864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N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188720"/>
            <a:ext cx="384048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234440"/>
            <a:ext cx="37490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Regimen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210312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40"/>
            <a:ext cx="201168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188720"/>
            <a:ext cx="128016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234440"/>
            <a:ext cx="118872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Thread 1
concord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1188720"/>
            <a:ext cx="2011680" cy="411480"/>
          </a:xfrm>
          <a:prstGeom prst="rect">
            <a:avLst/>
          </a:prstGeom>
          <a:solidFill>
            <a:srgbClr val="DDDDDD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38360" y="1234440"/>
            <a:ext cx="192024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600200"/>
            <a:ext cx="137160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162763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GSE35452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1600200"/>
            <a:ext cx="54864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162763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46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1600200"/>
            <a:ext cx="38404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162763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 + concurrent cape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210312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62763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TRG 4-class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1600200"/>
            <a:ext cx="128016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62763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4/4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600200"/>
            <a:ext cx="20116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162763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primary 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092960"/>
            <a:ext cx="137160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12039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GSE45404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2092960"/>
            <a:ext cx="54864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5960" y="212039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80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0" y="2092960"/>
            <a:ext cx="38404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4600" y="212039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 + concurrent cape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092960"/>
            <a:ext cx="210312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12039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pCR/non-pCR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2092960"/>
            <a:ext cx="128016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8200" y="212039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2092960"/>
            <a:ext cx="20116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212039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primary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2585720"/>
            <a:ext cx="137160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261315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GSE56699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2585720"/>
            <a:ext cx="54864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65960" y="261315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72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2585720"/>
            <a:ext cx="38404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14600" y="261315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 + concurrent cape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585720"/>
            <a:ext cx="210312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261315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TRG 3-class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0" y="2585720"/>
            <a:ext cx="128016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58200" y="261315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3/4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92640" y="2585720"/>
            <a:ext cx="20116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38360" y="261315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primary 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78480"/>
            <a:ext cx="137160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10591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GSE133057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20240" y="3078480"/>
            <a:ext cx="54864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65960" y="310591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68880" y="3078480"/>
            <a:ext cx="38404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14600" y="310591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 + concurrent cape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078480"/>
            <a:ext cx="210312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310591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OS/DFS-derived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3078480"/>
            <a:ext cx="128016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58200" y="310591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3/4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92640" y="3078480"/>
            <a:ext cx="20116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38360" y="310591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primary 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3571240"/>
            <a:ext cx="137160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59867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GSE87211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920240" y="3571240"/>
            <a:ext cx="54864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965960" y="359867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287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68880" y="3571240"/>
            <a:ext cx="38404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59867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 + concurrent cape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3571240"/>
            <a:ext cx="210312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55080" y="359867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TRG pooled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3571240"/>
            <a:ext cx="128016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58200" y="359867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3/4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3571240"/>
            <a:ext cx="2011680" cy="492760"/>
          </a:xfrm>
          <a:prstGeom prst="rect">
            <a:avLst/>
          </a:prstGeom>
          <a:solidFill>
            <a:srgbClr val="9FC9B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38360" y="359867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primary ★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4064000"/>
            <a:ext cx="137160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409143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GSE150082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20240" y="4064000"/>
            <a:ext cx="54864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65960" y="409143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39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68880" y="4064000"/>
            <a:ext cx="38404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14600" y="409143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short-course RT + TNT subset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4064000"/>
            <a:ext cx="210312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55080" y="409143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pTRG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0" y="4064000"/>
            <a:ext cx="128016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58200" y="409143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1/4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692640" y="4064000"/>
            <a:ext cx="20116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738360" y="409143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excluded (regimen)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8640" y="4556760"/>
            <a:ext cx="137160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" y="458419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GSE119409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20240" y="4556760"/>
            <a:ext cx="54864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965960" y="458419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66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68880" y="4556760"/>
            <a:ext cx="38404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14600" y="458419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RADIOTHERAPY ALONE (no chemo)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4556760"/>
            <a:ext cx="210312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55080" y="458419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sensitivity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0" y="4556760"/>
            <a:ext cx="128016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58200" y="458419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1/4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92640" y="4556760"/>
            <a:ext cx="20116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38360" y="458419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excluded (no chemo)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40" y="5049520"/>
            <a:ext cx="137160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94360" y="507695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GSE94104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920240" y="5049520"/>
            <a:ext cx="54864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65960" y="507695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80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68880" y="5049520"/>
            <a:ext cx="38404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14600" y="507695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5049520"/>
            <a:ext cx="210312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55080" y="507695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CMS-stability (no resp)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412480" y="5049520"/>
            <a:ext cx="128016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58200" y="507695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n/a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692640" y="5049520"/>
            <a:ext cx="20116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738360" y="507695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excluded (no endpoint)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542280"/>
            <a:ext cx="137160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94360" y="5569712"/>
            <a:ext cx="128016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GSE46862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920240" y="5542280"/>
            <a:ext cx="54864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965960" y="5569712"/>
            <a:ext cx="45720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69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68880" y="5542280"/>
            <a:ext cx="38404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514600" y="5569712"/>
            <a:ext cx="37490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LC-CRT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5542280"/>
            <a:ext cx="210312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55080" y="5569712"/>
            <a:ext cx="201168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TRG ambiguous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412480" y="5542280"/>
            <a:ext cx="128016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458200" y="5569712"/>
            <a:ext cx="118872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1/4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692640" y="5542280"/>
            <a:ext cx="2011680" cy="492760"/>
          </a:xfrm>
          <a:prstGeom prst="rect">
            <a:avLst/>
          </a:prstGeom>
          <a:solidFill>
            <a:srgbClr val="E9AE9B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38360" y="5569712"/>
            <a:ext cx="1920240" cy="437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excluded (1/4 discord)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6263640"/>
            <a:ext cx="111556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222222"/>
                </a:solidFill>
                <a:latin typeface="Arial"/>
              </a:rPr>
              <a:t>Primary meta (5 cohorts, N = 518) selected by objective ≥ 3 / 4 Thread-1-concordance rule BEFORE Z computation.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External-validation CONSORT — 9 → 5 primary meta (flow-width ∝ 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00584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62272" y="1078992"/>
            <a:ext cx="32369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22222"/>
                </a:solidFill>
                <a:latin typeface="Arial"/>
              </a:rPr>
              <a:t>9 candidate GEO nCRT cohorts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2272" y="1335024"/>
            <a:ext cx="32369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N_total = 721 samples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1783080"/>
            <a:ext cx="0" cy="411480"/>
          </a:xfrm>
          <a:prstGeom prst="line">
            <a:avLst/>
          </a:prstGeom>
          <a:ln w="317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566160" y="1828800"/>
            <a:ext cx="2514600" cy="365760"/>
          </a:xfrm>
          <a:prstGeom prst="line">
            <a:avLst/>
          </a:prstGeom>
          <a:ln w="45621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1828800"/>
            <a:ext cx="2606040" cy="365760"/>
          </a:xfrm>
          <a:prstGeom prst="line">
            <a:avLst/>
          </a:prstGeom>
          <a:ln w="2540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71600" y="2194560"/>
            <a:ext cx="4389120" cy="2560320"/>
          </a:xfrm>
          <a:prstGeom prst="rect">
            <a:avLst/>
          </a:prstGeom>
          <a:solidFill>
            <a:srgbClr val="9FC9BE"/>
          </a:solidFill>
          <a:ln w="1270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4752" y="2267712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22222"/>
                </a:solidFill>
                <a:latin typeface="Arial"/>
              </a:rPr>
              <a:t>PRIMARY META (N = 518)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523744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5 LC-CRT cohorts, concurrent capecitabine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2779776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≥ 3 / 4 Thread-1 signature concordance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3035808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3291840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GSE35452 (N=46), GSE45404 (80),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47872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GSE56699 (72), GSE133057 (33),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3803904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GSE87211 (287)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4059936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4315968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Restricted Z: DSB +3.17, cellcycle +3.21,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4572000"/>
            <a:ext cx="424281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E2F/MYC +2.79 (all P &lt; 0.01)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194560"/>
            <a:ext cx="4572000" cy="2560320"/>
          </a:xfrm>
          <a:prstGeom prst="rect">
            <a:avLst/>
          </a:prstGeom>
          <a:solidFill>
            <a:srgbClr val="E9AE9B"/>
          </a:solidFill>
          <a:ln w="1270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267712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22222"/>
                </a:solidFill>
                <a:latin typeface="Arial"/>
              </a:rPr>
              <a:t>EXCLUDED (N = 203)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523744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779776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✗ GSE119409 (66): RT-alone, no chemo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035808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✗ GSE94104 (80): no response endpoint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291840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✗ GSE150082 (39): SC-RT mixed regimen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3547872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✗ GSE46862 (69): 1/4 Thread-1 concord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803904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4059936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Full 9-cohort sensitivity meta shown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315968"/>
            <a:ext cx="44256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in Supp Fig S19A (hollow diamond)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2011680"/>
            <a:ext cx="1188720" cy="219456"/>
          </a:xfrm>
          <a:prstGeom prst="rect">
            <a:avLst/>
          </a:prstGeom>
          <a:solidFill>
            <a:srgbClr val="0A7D6E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2011680"/>
            <a:ext cx="118872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N = 518 included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2011680"/>
            <a:ext cx="1188720" cy="219456"/>
          </a:xfrm>
          <a:prstGeom prst="rect">
            <a:avLst/>
          </a:prstGeom>
          <a:solidFill>
            <a:srgbClr val="C53E1F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011680"/>
            <a:ext cx="118872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N = 203 excluded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566160" y="4754880"/>
            <a:ext cx="0" cy="365760"/>
          </a:xfrm>
          <a:prstGeom prst="line">
            <a:avLst/>
          </a:prstGeom>
          <a:ln w="44450">
            <a:solidFill>
              <a:srgbClr val="D4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474720" y="5120640"/>
            <a:ext cx="5212080" cy="1280160"/>
          </a:xfrm>
          <a:prstGeom prst="rect">
            <a:avLst/>
          </a:prstGeom>
          <a:solidFill>
            <a:srgbClr val="D4A30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47872" y="5193792"/>
            <a:ext cx="50657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22222"/>
                </a:solidFill>
                <a:latin typeface="Arial"/>
              </a:rPr>
              <a:t>Thread 2 +Akiyoshi augmentation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5449824"/>
            <a:ext cx="50657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GSE216616 published-statistic (cytolytic activity P = 0.005, Z = +2.81)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5705856"/>
            <a:ext cx="50657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6-source CD8-cytotoxic meta: Z = +3.29, P = 0.001, N = 816</a:t>
            </a:r>
          </a:p>
        </p:txBody>
      </p:sp>
      <p:sp>
        <p:nvSpPr>
          <p:cNvPr id="40" name="5-Point Star 39"/>
          <p:cNvSpPr/>
          <p:nvPr/>
        </p:nvSpPr>
        <p:spPr>
          <a:xfrm>
            <a:off x="3227832" y="5221224"/>
            <a:ext cx="164592" cy="164592"/>
          </a:xfrm>
          <a:prstGeom prst="star5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