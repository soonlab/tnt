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OptiType objective score distribution across 35 tumor and 28 normal samples (QC)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6035040"/>
            <a:ext cx="100584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71600" y="1188720"/>
            <a:ext cx="0" cy="48463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30000" y="1188720"/>
            <a:ext cx="0" cy="484632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1188720"/>
            <a:ext cx="100584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07592" y="60350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59527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787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07592" y="48234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47411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1061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07592" y="36118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5295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1334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07592" y="24003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23180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1608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075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1881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716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1752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408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817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4088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1226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1832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5256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1635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0642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2044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382512"/>
            <a:ext cx="10058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number of HLA reads used by OptiType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60604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OptiType objective score</a:t>
            </a:r>
          </a:p>
        </p:txBody>
      </p:sp>
      <p:sp>
        <p:nvSpPr>
          <p:cNvPr id="32" name="Oval 31"/>
          <p:cNvSpPr/>
          <p:nvPr/>
        </p:nvSpPr>
        <p:spPr>
          <a:xfrm>
            <a:off x="8512555" y="3288941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51453" y="5801133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17428" y="3542623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10704" y="4400584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56824" y="3192093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61607" y="4020641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92744" y="4079865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84396" y="4861796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25687" y="3191513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7040" y="4780576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79658" y="3866771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615849" y="3081730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691120" y="3840380"/>
            <a:ext cx="100584" cy="100584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99288" y="4110212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25551" y="3965648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465308" y="1535333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707817" y="2260858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624198" y="2332772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104297" y="3530012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30605" y="3009559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99333" y="3849691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304477" y="2607783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097889" y="2596324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445181" y="4206772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66571" y="3704507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05876" y="3879121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992654" y="4458058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443692" y="3290306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132320" y="2692490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319234" y="2530225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668467" y="2227047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46941" y="3517242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348746" y="2569666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147077" y="2679679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230696" y="2607087"/>
            <a:ext cx="100584" cy="100584"/>
          </a:xfrm>
          <a:prstGeom prst="ellipse">
            <a:avLst/>
          </a:prstGeom>
          <a:solidFill>
            <a:srgbClr val="BBBBB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15600" y="1280160"/>
            <a:ext cx="1371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Arial"/>
              </a:rPr>
              <a:t>Timepoint</a:t>
            </a:r>
          </a:p>
        </p:txBody>
      </p:sp>
      <p:sp>
        <p:nvSpPr>
          <p:cNvPr id="68" name="Oval 67"/>
          <p:cNvSpPr/>
          <p:nvPr/>
        </p:nvSpPr>
        <p:spPr>
          <a:xfrm>
            <a:off x="10543032" y="1536192"/>
            <a:ext cx="128016" cy="128016"/>
          </a:xfrm>
          <a:prstGeom prst="ellipse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44200" y="1508760"/>
            <a:ext cx="11887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Normal</a:t>
            </a:r>
          </a:p>
        </p:txBody>
      </p:sp>
      <p:sp>
        <p:nvSpPr>
          <p:cNvPr id="70" name="Oval 69"/>
          <p:cNvSpPr/>
          <p:nvPr/>
        </p:nvSpPr>
        <p:spPr>
          <a:xfrm>
            <a:off x="10543032" y="1792224"/>
            <a:ext cx="128016" cy="128016"/>
          </a:xfrm>
          <a:prstGeom prst="ellipse">
            <a:avLst/>
          </a:prstGeom>
          <a:solidFill>
            <a:srgbClr val="0E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744200" y="1764792"/>
            <a:ext cx="11887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Pre-CRT</a:t>
            </a:r>
          </a:p>
        </p:txBody>
      </p:sp>
      <p:sp>
        <p:nvSpPr>
          <p:cNvPr id="72" name="Oval 71"/>
          <p:cNvSpPr/>
          <p:nvPr/>
        </p:nvSpPr>
        <p:spPr>
          <a:xfrm>
            <a:off x="10543032" y="2048256"/>
            <a:ext cx="128016" cy="128016"/>
          </a:xfrm>
          <a:prstGeom prst="ellipse">
            <a:avLst/>
          </a:prstGeom>
          <a:solidFill>
            <a:srgbClr val="8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44200" y="2020824"/>
            <a:ext cx="11887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Post-CRT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71600" y="6263640"/>
            <a:ext cx="100584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All 35 samples passed OptiType default QC (objective score &gt; 0). Median reads per sample ~1400; no outliers removed.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Per-subject HLA class-I heterozygosity / homozygosity matrix (N samples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Arial"/>
              </a:rPr>
              <a:t>HLA-A</a:t>
            </a:r>
          </a:p>
        </p:txBody>
      </p:sp>
      <p:sp>
        <p:nvSpPr>
          <p:cNvPr id="5" name="Rectangle 4"/>
          <p:cNvSpPr/>
          <p:nvPr/>
        </p:nvSpPr>
        <p:spPr>
          <a:xfrm>
            <a:off x="1662474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93550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24626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55701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86777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7853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48929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80005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1081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42157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73232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4308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35384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66460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7536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28612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59688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0763" y="1481328"/>
            <a:ext cx="297968" cy="87782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1839" y="1481328"/>
            <a:ext cx="297968" cy="87782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2915" y="1481328"/>
            <a:ext cx="297968" cy="87782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83991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15067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46143" y="1481328"/>
            <a:ext cx="297968" cy="87782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77219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8294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39370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70446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01522" y="148132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468880"/>
            <a:ext cx="91440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Arial"/>
              </a:rPr>
              <a:t>HLA-B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62474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550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24626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55701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86777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17853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48929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80005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11081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42157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73232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4308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35384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66460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97536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28612" y="2578608"/>
            <a:ext cx="297968" cy="87782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59688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90763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621839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52915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83991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15067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46143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77219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08294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939370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70446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601522" y="257860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3566160"/>
            <a:ext cx="91440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Arial"/>
              </a:rPr>
              <a:t>HLA-C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62474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993550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324626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55701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986777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317853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48929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980005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11081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642157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973232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304308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35384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966460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97536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28612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59688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90763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21839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952915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83991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615067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46143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277219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08294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939370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70446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01522" y="3675888"/>
            <a:ext cx="297968" cy="877824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662474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5920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93550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76996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24626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08072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55701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39148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86777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970223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317853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301299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648929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32375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980005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963451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34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11081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94527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42157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625603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73232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956679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32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04308" y="4754880"/>
            <a:ext cx="2979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287754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35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35384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618830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966460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949906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97536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80982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628612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612058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959688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943134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290763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274210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621839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605286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952915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936361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283991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267437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15067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598513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946143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929589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27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277219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60665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30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608294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591741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31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939370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922817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70446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253892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28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01522" y="4754880"/>
            <a:ext cx="2979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584968" y="4919472"/>
            <a:ext cx="3310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29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371600" y="6062472"/>
            <a:ext cx="2011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627632" y="6053328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heterozygous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926080" y="6062472"/>
            <a:ext cx="2011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163824" y="6053328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homozygous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943600" y="6053328"/>
            <a:ext cx="5120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222222"/>
                </a:solidFill>
                <a:latin typeface="Arial"/>
              </a:rPr>
              <a:t>n subjects with ≥1 homozygous class-I locus: 5/28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