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PyClone-VI ELBO convergence per subject (paired subjects; iteration vs Δ-ELBO from iter 0)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5760720"/>
            <a:ext cx="10058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716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3000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1188720"/>
            <a:ext cx="10058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0759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07592" y="4617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4535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8500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07592" y="3474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392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17001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07592" y="2331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2249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25501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075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34002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716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752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4088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65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1832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5256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87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0" y="576072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064240" y="581558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108192"/>
            <a:ext cx="10058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iteration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ELBO − ELBO[0]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371600" y="4028681"/>
            <a:ext cx="92279" cy="173203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463879" y="4028433"/>
            <a:ext cx="92279" cy="24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556158" y="4028172"/>
            <a:ext cx="92279" cy="26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648437" y="4027565"/>
            <a:ext cx="92279" cy="60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740716" y="4026838"/>
            <a:ext cx="92278" cy="72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32994" y="4026511"/>
            <a:ext cx="92279" cy="32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25273" y="4026388"/>
            <a:ext cx="92279" cy="12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17552" y="4026319"/>
            <a:ext cx="92279" cy="6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109831" y="4026272"/>
            <a:ext cx="92279" cy="4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202110" y="4026235"/>
            <a:ext cx="92279" cy="3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294389" y="4026205"/>
            <a:ext cx="92279" cy="3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386668" y="4026179"/>
            <a:ext cx="92279" cy="2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78947" y="4026157"/>
            <a:ext cx="92279" cy="2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571226" y="4026139"/>
            <a:ext cx="92279" cy="1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663505" y="4026125"/>
            <a:ext cx="92278" cy="1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755783" y="4026113"/>
            <a:ext cx="92279" cy="1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848062" y="4026103"/>
            <a:ext cx="92279" cy="1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940341" y="4026094"/>
            <a:ext cx="92279" cy="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32620" y="4026085"/>
            <a:ext cx="92279" cy="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24899" y="4026076"/>
            <a:ext cx="92279" cy="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17178" y="4026066"/>
            <a:ext cx="92279" cy="1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309457" y="4026055"/>
            <a:ext cx="92279" cy="1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401736" y="4026043"/>
            <a:ext cx="92279" cy="1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494015" y="4026029"/>
            <a:ext cx="92279" cy="1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586294" y="4026012"/>
            <a:ext cx="92278" cy="1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678572" y="4025993"/>
            <a:ext cx="92279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770851" y="4025971"/>
            <a:ext cx="92279" cy="2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863130" y="4025947"/>
            <a:ext cx="92279" cy="2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955409" y="4025924"/>
            <a:ext cx="92279" cy="2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047688" y="4025902"/>
            <a:ext cx="92279" cy="2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139967" y="4025883"/>
            <a:ext cx="92279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232246" y="4025869"/>
            <a:ext cx="92279" cy="1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324525" y="4025861"/>
            <a:ext cx="92279" cy="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416804" y="4025856"/>
            <a:ext cx="92279" cy="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509083" y="4025850"/>
            <a:ext cx="92278" cy="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601361" y="4025845"/>
            <a:ext cx="92279" cy="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693640" y="4025839"/>
            <a:ext cx="92279" cy="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785919" y="4025832"/>
            <a:ext cx="92279" cy="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878198" y="4025825"/>
            <a:ext cx="92279" cy="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970477" y="4025817"/>
            <a:ext cx="92279" cy="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062756" y="4025809"/>
            <a:ext cx="92279" cy="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155035" y="4025800"/>
            <a:ext cx="92279" cy="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247314" y="4025790"/>
            <a:ext cx="92279" cy="1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39593" y="4025779"/>
            <a:ext cx="92279" cy="1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431872" y="4025766"/>
            <a:ext cx="92278" cy="1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524150" y="4025753"/>
            <a:ext cx="92279" cy="1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616429" y="4025738"/>
            <a:ext cx="92279" cy="1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08708" y="4025722"/>
            <a:ext cx="92279" cy="1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800987" y="4025704"/>
            <a:ext cx="92279" cy="1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893266" y="4025685"/>
            <a:ext cx="92279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985545" y="4025665"/>
            <a:ext cx="92279" cy="2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077824" y="4025644"/>
            <a:ext cx="92279" cy="2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170103" y="4025624"/>
            <a:ext cx="92279" cy="2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262382" y="4025604"/>
            <a:ext cx="92279" cy="2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354661" y="4025585"/>
            <a:ext cx="92278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446939" y="4025566"/>
            <a:ext cx="92279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539218" y="4025545"/>
            <a:ext cx="92279" cy="2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31497" y="4025526"/>
            <a:ext cx="92279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723776" y="4025507"/>
            <a:ext cx="92279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816055" y="4025491"/>
            <a:ext cx="92279" cy="1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908334" y="4025479"/>
            <a:ext cx="92279" cy="1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000613" y="4025473"/>
            <a:ext cx="92279" cy="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092892" y="4025472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85171" y="4025472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277450" y="4025472"/>
            <a:ext cx="92278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406304" y="39523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C53E1F"/>
                </a:solidFill>
                <a:latin typeface="Arial"/>
              </a:rPr>
              <a:t>s1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1371600" y="5251732"/>
            <a:ext cx="92279" cy="50898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463879" y="5247132"/>
            <a:ext cx="92279" cy="460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556158" y="5243620"/>
            <a:ext cx="92279" cy="351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648437" y="5242909"/>
            <a:ext cx="92279" cy="71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740716" y="5242665"/>
            <a:ext cx="92278" cy="24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832994" y="5242587"/>
            <a:ext cx="92279" cy="7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925273" y="5242566"/>
            <a:ext cx="92279" cy="2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017552" y="5242560"/>
            <a:ext cx="92279" cy="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109831" y="5242559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202110" y="5242559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294389" y="5242559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2423244" y="5169407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C53E1F"/>
                </a:solidFill>
                <a:latin typeface="Arial"/>
              </a:rPr>
              <a:t>s10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1371600" y="5123109"/>
            <a:ext cx="92279" cy="63761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463879" y="5103666"/>
            <a:ext cx="92279" cy="1944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556158" y="5100197"/>
            <a:ext cx="92279" cy="346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648437" y="5100001"/>
            <a:ext cx="92279" cy="19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740716" y="5099985"/>
            <a:ext cx="92278" cy="1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832994" y="5099982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925273" y="5099981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017552" y="5099980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109831" y="5099979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202110" y="5099979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294389" y="5099978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2386668" y="5099977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478947" y="5099977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571226" y="5099976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663505" y="5099975"/>
            <a:ext cx="92278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755783" y="5099975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848062" y="5099974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940341" y="509997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032620" y="5099973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124899" y="5099972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217178" y="5099972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309457" y="5099971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401736" y="5099970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494015" y="5099970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3586294" y="5099969"/>
            <a:ext cx="92278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678572" y="5099968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770851" y="5099967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863130" y="5099966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3955409" y="5099966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4047688" y="5099965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139967" y="5099964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4232246" y="5099963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324525" y="5099962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416804" y="5099961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509083" y="5099960"/>
            <a:ext cx="92278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4601361" y="5099958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4693640" y="5099957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4785919" y="5099956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878198" y="5099955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970477" y="5099953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5062756" y="5099952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5155035" y="5099950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5247314" y="5099949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339593" y="5099947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5431872" y="5099945"/>
            <a:ext cx="92278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524150" y="5099943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616429" y="5099941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708708" y="5099939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5800987" y="5099937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5893266" y="5099934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5985545" y="5099932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077824" y="5099929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170103" y="5099926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262382" y="5099922"/>
            <a:ext cx="92279" cy="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354661" y="5099919"/>
            <a:ext cx="92278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446939" y="5099915"/>
            <a:ext cx="92279" cy="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539218" y="5099911"/>
            <a:ext cx="92279" cy="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31497" y="5099907"/>
            <a:ext cx="92279" cy="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723776" y="5099902"/>
            <a:ext cx="92279" cy="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816055" y="5099896"/>
            <a:ext cx="92279" cy="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908334" y="5099890"/>
            <a:ext cx="92279" cy="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7000613" y="5099883"/>
            <a:ext cx="92279" cy="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7092892" y="5099876"/>
            <a:ext cx="92279" cy="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7185171" y="5099867"/>
            <a:ext cx="92279" cy="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7277450" y="5099858"/>
            <a:ext cx="92278" cy="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7369728" y="5099848"/>
            <a:ext cx="92279" cy="1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7462007" y="5099836"/>
            <a:ext cx="92279" cy="1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7554286" y="5099823"/>
            <a:ext cx="92279" cy="1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7646565" y="5099808"/>
            <a:ext cx="92279" cy="1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7738844" y="5099791"/>
            <a:ext cx="92279" cy="1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7831123" y="5099772"/>
            <a:ext cx="92279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7923402" y="5099751"/>
            <a:ext cx="92279" cy="2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8015681" y="5099731"/>
            <a:ext cx="92279" cy="2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8107960" y="5099713"/>
            <a:ext cx="92279" cy="1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8200239" y="5099702"/>
            <a:ext cx="92278" cy="1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8292517" y="5099699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84796" y="5099698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8477075" y="5099698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8605930" y="5026546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C53E1F"/>
                </a:solidFill>
                <a:latin typeface="Arial"/>
              </a:rPr>
              <a:t>s11</a:t>
            </a:r>
          </a:p>
        </p:txBody>
      </p:sp>
      <p:cxnSp>
        <p:nvCxnSpPr>
          <p:cNvPr id="189" name="Connector 188"/>
          <p:cNvCxnSpPr/>
          <p:nvPr/>
        </p:nvCxnSpPr>
        <p:spPr>
          <a:xfrm flipV="1">
            <a:off x="1371600" y="5057873"/>
            <a:ext cx="92279" cy="70284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463879" y="5056937"/>
            <a:ext cx="92279" cy="93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556158" y="5055321"/>
            <a:ext cx="92279" cy="161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648437" y="5054837"/>
            <a:ext cx="92279" cy="48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740716" y="5054773"/>
            <a:ext cx="92278" cy="6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832994" y="5054720"/>
            <a:ext cx="92279" cy="5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925273" y="5054679"/>
            <a:ext cx="92279" cy="4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017552" y="5054666"/>
            <a:ext cx="92279" cy="1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109831" y="5054664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2202110" y="505466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2294389" y="505466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2386668" y="505466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2478947" y="505466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2571226" y="5054663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2663505" y="5054663"/>
            <a:ext cx="92278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2755783" y="5054662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2848062" y="5054662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940341" y="5054661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032620" y="5054660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124899" y="5054659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217178" y="5054657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309457" y="5054655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3401736" y="5054652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3494015" y="5054649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3586294" y="5054644"/>
            <a:ext cx="92278" cy="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3678572" y="5054639"/>
            <a:ext cx="92279" cy="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3770851" y="5054632"/>
            <a:ext cx="92279" cy="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3863130" y="5054624"/>
            <a:ext cx="92279" cy="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3955409" y="5054614"/>
            <a:ext cx="92279" cy="1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4047688" y="5054602"/>
            <a:ext cx="92279" cy="1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4139967" y="5054587"/>
            <a:ext cx="92279" cy="1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232246" y="5054570"/>
            <a:ext cx="92279" cy="1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324525" y="5054550"/>
            <a:ext cx="92279" cy="2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416804" y="5054527"/>
            <a:ext cx="92279" cy="2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4509083" y="5054500"/>
            <a:ext cx="92278" cy="2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601361" y="5054471"/>
            <a:ext cx="92279" cy="2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693640" y="5054438"/>
            <a:ext cx="92279" cy="3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785919" y="5054402"/>
            <a:ext cx="92279" cy="3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878198" y="5054364"/>
            <a:ext cx="92279" cy="3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970477" y="5054323"/>
            <a:ext cx="92279" cy="4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5062756" y="5054282"/>
            <a:ext cx="92279" cy="4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5155035" y="5054240"/>
            <a:ext cx="92279" cy="4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5247314" y="5054199"/>
            <a:ext cx="92279" cy="4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5339593" y="5054159"/>
            <a:ext cx="92279" cy="4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5431872" y="5054123"/>
            <a:ext cx="92278" cy="3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5524150" y="5054091"/>
            <a:ext cx="92279" cy="3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5616429" y="5054063"/>
            <a:ext cx="92279" cy="2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5708708" y="5054042"/>
            <a:ext cx="92279" cy="2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5800987" y="5054026"/>
            <a:ext cx="92279" cy="1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5893266" y="5054015"/>
            <a:ext cx="92279" cy="1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5985545" y="5054008"/>
            <a:ext cx="92279" cy="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6077824" y="5054003"/>
            <a:ext cx="92279" cy="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6170103" y="5054001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6262382" y="5053999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6354661" y="5053998"/>
            <a:ext cx="92278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6446939" y="5053998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6539218" y="5053998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6631497" y="5053998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6723776" y="5053997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6852631" y="4980845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C53E1F"/>
                </a:solidFill>
                <a:latin typeface="Arial"/>
              </a:rPr>
              <a:t>s12</a:t>
            </a:r>
          </a:p>
        </p:txBody>
      </p:sp>
      <p:cxnSp>
        <p:nvCxnSpPr>
          <p:cNvPr id="249" name="Connector 248"/>
          <p:cNvCxnSpPr/>
          <p:nvPr/>
        </p:nvCxnSpPr>
        <p:spPr>
          <a:xfrm flipV="1">
            <a:off x="1371600" y="1206132"/>
            <a:ext cx="92279" cy="455458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1463879" y="1190237"/>
            <a:ext cx="92279" cy="1589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556158" y="1190075"/>
            <a:ext cx="92279" cy="16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648437" y="1189902"/>
            <a:ext cx="92279" cy="17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740716" y="1189734"/>
            <a:ext cx="92278" cy="16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832994" y="1189610"/>
            <a:ext cx="92279" cy="12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925273" y="1189593"/>
            <a:ext cx="92279" cy="1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2017552" y="1189584"/>
            <a:ext cx="92279" cy="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2109831" y="1189572"/>
            <a:ext cx="92279" cy="1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2202110" y="1189556"/>
            <a:ext cx="92279" cy="1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2294389" y="1189532"/>
            <a:ext cx="92279" cy="2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2386668" y="1189496"/>
            <a:ext cx="92279" cy="3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2478947" y="1189437"/>
            <a:ext cx="92279" cy="5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2571226" y="1189335"/>
            <a:ext cx="92279" cy="10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2663505" y="1189141"/>
            <a:ext cx="92278" cy="19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2755783" y="1188841"/>
            <a:ext cx="92279" cy="30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2848062" y="1188731"/>
            <a:ext cx="92279" cy="11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2940341" y="1188720"/>
            <a:ext cx="92279" cy="1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3032620" y="1188720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TextBox 267"/>
          <p:cNvSpPr txBox="1"/>
          <p:nvPr/>
        </p:nvSpPr>
        <p:spPr>
          <a:xfrm>
            <a:off x="3161475" y="1115568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C53E1F"/>
                </a:solidFill>
                <a:latin typeface="Arial"/>
              </a:rPr>
              <a:t>s13</a:t>
            </a:r>
          </a:p>
        </p:txBody>
      </p:sp>
      <p:cxnSp>
        <p:nvCxnSpPr>
          <p:cNvPr id="269" name="Connector 268"/>
          <p:cNvCxnSpPr/>
          <p:nvPr/>
        </p:nvCxnSpPr>
        <p:spPr>
          <a:xfrm flipV="1">
            <a:off x="1371600" y="4795794"/>
            <a:ext cx="92279" cy="96492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463879" y="4794255"/>
            <a:ext cx="92279" cy="153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556158" y="4790949"/>
            <a:ext cx="92279" cy="330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648437" y="4788525"/>
            <a:ext cx="92279" cy="242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740716" y="4787376"/>
            <a:ext cx="92278" cy="114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1832994" y="4786916"/>
            <a:ext cx="92279" cy="46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925273" y="4786742"/>
            <a:ext cx="92279" cy="17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017552" y="4786675"/>
            <a:ext cx="92279" cy="6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2109831" y="4786648"/>
            <a:ext cx="92279" cy="2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2202110" y="4786636"/>
            <a:ext cx="92279" cy="1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2294389" y="4786630"/>
            <a:ext cx="92279" cy="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2386668" y="4786627"/>
            <a:ext cx="92279" cy="3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2478947" y="4786625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2571226" y="4786623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2663505" y="4786621"/>
            <a:ext cx="92278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2755783" y="4786620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2848062" y="4786618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2940341" y="4786617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032620" y="4786615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3124899" y="4786613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3217178" y="4786611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3309457" y="4786609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3401736" y="4786607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3494015" y="4786605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3586294" y="4786603"/>
            <a:ext cx="92278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3678572" y="4786601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3770851" y="4786599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3863130" y="4786597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3955409" y="4786595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4047688" y="4786593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4139967" y="4786591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4232246" y="4786589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4324525" y="4786586"/>
            <a:ext cx="92279" cy="3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4416804" y="4786584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4509083" y="4786582"/>
            <a:ext cx="92278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4601361" y="4786580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4693640" y="4786578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4785919" y="4786576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4878198" y="4786574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4970477" y="4786572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062756" y="4786570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155035" y="4786569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5247314" y="4786567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5339593" y="4786565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5431872" y="4786563"/>
            <a:ext cx="92278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5524150" y="4786562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5616429" y="4786560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5708708" y="4786558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5800987" y="4786557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5893266" y="4786555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5985545" y="4786554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077824" y="4786552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6170103" y="4786551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262382" y="4786549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6354661" y="4786548"/>
            <a:ext cx="92278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6446939" y="4786547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6539218" y="4786546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6631497" y="4786544"/>
            <a:ext cx="92279" cy="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6723776" y="4786543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6816055" y="4786542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6908334" y="4786541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7000613" y="4786540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7092892" y="4786539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7185171" y="4786538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7277450" y="4786537"/>
            <a:ext cx="92278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369728" y="4786536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7462007" y="4786535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7554286" y="4786535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7646565" y="4786534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7738844" y="4786533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7831123" y="4786532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7923402" y="4786532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8015681" y="4786531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8107960" y="4786530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8200239" y="4786530"/>
            <a:ext cx="92278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8292517" y="4786529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8384796" y="4786528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8477075" y="478652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8569354" y="4786527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8661633" y="4786527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8753912" y="4786526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8846191" y="4786526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8938470" y="4786525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9030749" y="4786525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9123028" y="4786524"/>
            <a:ext cx="92278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9215306" y="4786524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9307585" y="4786523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9399864" y="4786523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9492143" y="4786523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9584422" y="4786522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9676701" y="4786522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9768980" y="4786522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9861259" y="4786521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9953538" y="4786521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0045817" y="4786521"/>
            <a:ext cx="92278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0138095" y="4786521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10230374" y="4786520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0322653" y="4786520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0414932" y="4786520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0507211" y="4786520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10599490" y="4786519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0691769" y="4786519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0784048" y="4786519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10876327" y="4786519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10968606" y="4786518"/>
            <a:ext cx="92278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11060884" y="478651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11153163" y="478651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11245442" y="478651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TextBox 376"/>
          <p:cNvSpPr txBox="1"/>
          <p:nvPr/>
        </p:nvSpPr>
        <p:spPr>
          <a:xfrm>
            <a:off x="11374297" y="4713366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A7D6E"/>
                </a:solidFill>
                <a:latin typeface="Arial"/>
              </a:rPr>
              <a:t>s14</a:t>
            </a:r>
          </a:p>
        </p:txBody>
      </p:sp>
      <p:cxnSp>
        <p:nvCxnSpPr>
          <p:cNvPr id="378" name="Connector 377"/>
          <p:cNvCxnSpPr/>
          <p:nvPr/>
        </p:nvCxnSpPr>
        <p:spPr>
          <a:xfrm flipV="1">
            <a:off x="1371600" y="5607257"/>
            <a:ext cx="92279" cy="153463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463879" y="5607116"/>
            <a:ext cx="92279" cy="14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1556158" y="5607087"/>
            <a:ext cx="92279" cy="2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1648437" y="5607058"/>
            <a:ext cx="92279" cy="2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1740716" y="5606982"/>
            <a:ext cx="92278" cy="7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1832994" y="5606888"/>
            <a:ext cx="92279" cy="9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1925273" y="5606879"/>
            <a:ext cx="92279" cy="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2017552" y="5606879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2109831" y="5606879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TextBox 386"/>
          <p:cNvSpPr txBox="1"/>
          <p:nvPr/>
        </p:nvSpPr>
        <p:spPr>
          <a:xfrm>
            <a:off x="2238686" y="5533727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A7D6E"/>
                </a:solidFill>
                <a:latin typeface="Arial"/>
              </a:rPr>
              <a:t>s2</a:t>
            </a:r>
          </a:p>
        </p:txBody>
      </p:sp>
      <p:cxnSp>
        <p:nvCxnSpPr>
          <p:cNvPr id="388" name="Connector 387"/>
          <p:cNvCxnSpPr/>
          <p:nvPr/>
        </p:nvCxnSpPr>
        <p:spPr>
          <a:xfrm flipV="1">
            <a:off x="1371600" y="4625830"/>
            <a:ext cx="92279" cy="113489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1463879" y="4623581"/>
            <a:ext cx="92279" cy="224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1556158" y="4622934"/>
            <a:ext cx="92279" cy="64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1648437" y="4622627"/>
            <a:ext cx="92279" cy="30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1740716" y="4622549"/>
            <a:ext cx="92278" cy="78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1832994" y="4622513"/>
            <a:ext cx="92279" cy="3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1925273" y="4622467"/>
            <a:ext cx="92279" cy="4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2017552" y="4622391"/>
            <a:ext cx="92279" cy="7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2109831" y="4622258"/>
            <a:ext cx="92279" cy="133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2202110" y="4622104"/>
            <a:ext cx="92279" cy="15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2294389" y="4622053"/>
            <a:ext cx="92279" cy="5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2386668" y="4622047"/>
            <a:ext cx="92279" cy="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2478947" y="4622047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2571226" y="4622047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>
            <a:off x="2700081" y="4548895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A7D6E"/>
                </a:solidFill>
                <a:latin typeface="Arial"/>
              </a:rPr>
              <a:t>s3</a:t>
            </a:r>
          </a:p>
        </p:txBody>
      </p:sp>
      <p:cxnSp>
        <p:nvCxnSpPr>
          <p:cNvPr id="403" name="Connector 402"/>
          <p:cNvCxnSpPr/>
          <p:nvPr/>
        </p:nvCxnSpPr>
        <p:spPr>
          <a:xfrm flipV="1">
            <a:off x="1371600" y="5635044"/>
            <a:ext cx="92279" cy="12567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1463879" y="5634019"/>
            <a:ext cx="92279" cy="102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1556158" y="5633717"/>
            <a:ext cx="92279" cy="30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1648437" y="5633613"/>
            <a:ext cx="92279" cy="10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1740716" y="5633571"/>
            <a:ext cx="92278" cy="4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1832994" y="5633552"/>
            <a:ext cx="92279" cy="1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1925273" y="5633541"/>
            <a:ext cx="92279" cy="1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2017552" y="5633532"/>
            <a:ext cx="92279" cy="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2109831" y="5633522"/>
            <a:ext cx="92279" cy="1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2202110" y="5633508"/>
            <a:ext cx="92279" cy="1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2294389" y="5633490"/>
            <a:ext cx="92279" cy="1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2386668" y="5633464"/>
            <a:ext cx="92279" cy="2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2478947" y="5633425"/>
            <a:ext cx="92279" cy="3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2571226" y="5633367"/>
            <a:ext cx="92279" cy="5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2663505" y="5633279"/>
            <a:ext cx="92278" cy="8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2755783" y="5633183"/>
            <a:ext cx="92279" cy="9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2848062" y="5633115"/>
            <a:ext cx="92279" cy="6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2940341" y="5633040"/>
            <a:ext cx="92279" cy="7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3032620" y="5633000"/>
            <a:ext cx="92279" cy="4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3124899" y="5632997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3217178" y="5632997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3309457" y="5632997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3438312" y="5559845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C53E1F"/>
                </a:solidFill>
                <a:latin typeface="Arial"/>
              </a:rPr>
              <a:t>s5</a:t>
            </a:r>
          </a:p>
        </p:txBody>
      </p:sp>
      <p:cxnSp>
        <p:nvCxnSpPr>
          <p:cNvPr id="426" name="Connector 425"/>
          <p:cNvCxnSpPr/>
          <p:nvPr/>
        </p:nvCxnSpPr>
        <p:spPr>
          <a:xfrm flipV="1">
            <a:off x="1371600" y="5159151"/>
            <a:ext cx="92279" cy="60156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1463879" y="5151868"/>
            <a:ext cx="92279" cy="7283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1556158" y="5149697"/>
            <a:ext cx="92279" cy="217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1648437" y="5149482"/>
            <a:ext cx="92279" cy="215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1740716" y="5149431"/>
            <a:ext cx="92278" cy="5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1832994" y="5149404"/>
            <a:ext cx="92279" cy="2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1925273" y="5149364"/>
            <a:ext cx="92279" cy="4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2017552" y="5149303"/>
            <a:ext cx="92279" cy="6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2109831" y="5149228"/>
            <a:ext cx="92279" cy="75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2202110" y="5149197"/>
            <a:ext cx="92279" cy="3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294389" y="5149196"/>
            <a:ext cx="92279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2386668" y="5149196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/>
          <p:cNvSpPr txBox="1"/>
          <p:nvPr/>
        </p:nvSpPr>
        <p:spPr>
          <a:xfrm>
            <a:off x="2515523" y="5076044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A7D6E"/>
                </a:solidFill>
                <a:latin typeface="Arial"/>
              </a:rPr>
              <a:t>s6</a:t>
            </a:r>
          </a:p>
        </p:txBody>
      </p:sp>
      <p:cxnSp>
        <p:nvCxnSpPr>
          <p:cNvPr id="439" name="Connector 438"/>
          <p:cNvCxnSpPr/>
          <p:nvPr/>
        </p:nvCxnSpPr>
        <p:spPr>
          <a:xfrm flipV="1">
            <a:off x="1371600" y="5678303"/>
            <a:ext cx="92279" cy="8241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1463879" y="5678256"/>
            <a:ext cx="92279" cy="4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1556158" y="5678248"/>
            <a:ext cx="92279" cy="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1648437" y="5678245"/>
            <a:ext cx="92279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1740716" y="5678242"/>
            <a:ext cx="92278" cy="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1832994" y="5678240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1925273" y="5678238"/>
            <a:ext cx="92279" cy="2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017552" y="5678237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2109831" y="5678236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202110" y="5678235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2294389" y="5678235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2386668" y="5678234"/>
            <a:ext cx="92279" cy="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2478947" y="567823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2571226" y="567823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2663505" y="5678234"/>
            <a:ext cx="92278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2755783" y="567823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2848062" y="567823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2940341" y="567823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3032620" y="5678234"/>
            <a:ext cx="92279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TextBox 457"/>
          <p:cNvSpPr txBox="1"/>
          <p:nvPr/>
        </p:nvSpPr>
        <p:spPr>
          <a:xfrm>
            <a:off x="3161475" y="5605082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C53E1F"/>
                </a:solidFill>
                <a:latin typeface="Arial"/>
              </a:rPr>
              <a:t>s7</a:t>
            </a:r>
          </a:p>
        </p:txBody>
      </p:sp>
      <p:cxnSp>
        <p:nvCxnSpPr>
          <p:cNvPr id="459" name="Connector 458"/>
          <p:cNvCxnSpPr/>
          <p:nvPr/>
        </p:nvCxnSpPr>
        <p:spPr>
          <a:xfrm flipV="1">
            <a:off x="1371600" y="5220106"/>
            <a:ext cx="92279" cy="54061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1463879" y="5219841"/>
            <a:ext cx="92279" cy="265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1556158" y="5219822"/>
            <a:ext cx="92279" cy="19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1648437" y="5219819"/>
            <a:ext cx="92279" cy="3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1740716" y="5219818"/>
            <a:ext cx="92278" cy="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1832994" y="521981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1925273" y="521981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2017552" y="521981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2109831" y="521981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202110" y="5219818"/>
            <a:ext cx="92279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TextBox 468"/>
          <p:cNvSpPr txBox="1"/>
          <p:nvPr/>
        </p:nvSpPr>
        <p:spPr>
          <a:xfrm>
            <a:off x="2330965" y="5146666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0A7D6E"/>
                </a:solidFill>
                <a:latin typeface="Arial"/>
              </a:rPr>
              <a:t>s9</a:t>
            </a:r>
          </a:p>
        </p:txBody>
      </p:sp>
      <p:cxnSp>
        <p:nvCxnSpPr>
          <p:cNvPr id="470" name="Connector 469"/>
          <p:cNvCxnSpPr/>
          <p:nvPr/>
        </p:nvCxnSpPr>
        <p:spPr>
          <a:xfrm>
            <a:off x="10698480" y="1371600"/>
            <a:ext cx="365760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TextBox 470"/>
          <p:cNvSpPr txBox="1"/>
          <p:nvPr/>
        </p:nvSpPr>
        <p:spPr>
          <a:xfrm>
            <a:off x="11109960" y="1298448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A7D6E"/>
                </a:solidFill>
                <a:latin typeface="Arial"/>
              </a:rPr>
              <a:t>good</a:t>
            </a:r>
          </a:p>
        </p:txBody>
      </p:sp>
      <p:cxnSp>
        <p:nvCxnSpPr>
          <p:cNvPr id="472" name="Connector 471"/>
          <p:cNvCxnSpPr/>
          <p:nvPr/>
        </p:nvCxnSpPr>
        <p:spPr>
          <a:xfrm>
            <a:off x="10698480" y="1600200"/>
            <a:ext cx="365760" cy="0"/>
          </a:xfrm>
          <a:prstGeom prst="line">
            <a:avLst/>
          </a:prstGeom>
          <a:ln w="190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11109960" y="1527048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53E1F"/>
                </a:solidFill>
                <a:latin typeface="Arial"/>
              </a:rPr>
              <a:t>bad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1371600" y="6263640"/>
            <a:ext cx="10058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12 paired-subject fits; all converged (monotone ELBO increase; plateau within 60–70 iterations).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Populated cluster count per subject (π &gt; 1 from PyClone-VI variational posterior)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45920" y="5943600"/>
            <a:ext cx="9601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1188720"/>
            <a:ext cx="0" cy="475488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1188720"/>
            <a:ext cx="0" cy="475488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1188720"/>
            <a:ext cx="9601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59436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58613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81912" y="55473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43000" y="54650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81912" y="51511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50688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81912" y="47548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46725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81912" y="43586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3000" y="42763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81912" y="39624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43000" y="38801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81912" y="3566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3483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81912" y="3169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43000" y="3087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81912" y="27736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43000" y="26913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81912" y="23774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43000" y="22951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81912" y="19812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43000" y="18989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81912" y="15849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43000" y="15026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8191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4300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256032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 populated clusters (π &gt; 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25980" y="1981200"/>
            <a:ext cx="516988" cy="39624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5197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0A7D6E"/>
                </a:solidFill>
                <a:latin typeface="Arial"/>
              </a:rPr>
              <a:t>s2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5197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64534" y="1981200"/>
            <a:ext cx="516988" cy="39624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53751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0A7D6E"/>
                </a:solidFill>
                <a:latin typeface="Arial"/>
              </a:rPr>
              <a:t>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53751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03088" y="1981200"/>
            <a:ext cx="516988" cy="39624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2305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0A7D6E"/>
                </a:solidFill>
                <a:latin typeface="Arial"/>
              </a:rPr>
              <a:t>s6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2305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1642" y="1981200"/>
            <a:ext cx="516988" cy="39624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30858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0A7D6E"/>
                </a:solidFill>
                <a:latin typeface="Arial"/>
              </a:rPr>
              <a:t>s9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0858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80195" y="1981200"/>
            <a:ext cx="516988" cy="39624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69412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0A7D6E"/>
                </a:solidFill>
                <a:latin typeface="Arial"/>
              </a:rPr>
              <a:t>s14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69412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18749" y="1981200"/>
            <a:ext cx="516988" cy="39624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07966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53E1F"/>
                </a:solidFill>
                <a:latin typeface="Arial"/>
              </a:rPr>
              <a:t>s1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07966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7303" y="1981200"/>
            <a:ext cx="516988" cy="39624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53E1F"/>
                </a:solidFill>
                <a:latin typeface="Arial"/>
              </a:rPr>
              <a:t>s5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95857" y="1981200"/>
            <a:ext cx="516988" cy="39624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85074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53E1F"/>
                </a:solidFill>
                <a:latin typeface="Arial"/>
              </a:rPr>
              <a:t>s7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85074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4411" y="1981200"/>
            <a:ext cx="516988" cy="39624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23628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53E1F"/>
                </a:solidFill>
                <a:latin typeface="Arial"/>
              </a:rPr>
              <a:t>s10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23628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2965" y="1981200"/>
            <a:ext cx="516988" cy="39624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62182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53E1F"/>
                </a:solidFill>
                <a:latin typeface="Arial"/>
              </a:rPr>
              <a:t>s11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62182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11518" y="1981200"/>
            <a:ext cx="516988" cy="39624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00735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53E1F"/>
                </a:solidFill>
                <a:latin typeface="Arial"/>
              </a:rPr>
              <a:t>s12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0735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50072" y="1981200"/>
            <a:ext cx="516988" cy="3962400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39289" y="5980176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53E1F"/>
                </a:solidFill>
                <a:latin typeface="Arial"/>
              </a:rPr>
              <a:t>s13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39289" y="1780032"/>
            <a:ext cx="738554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45920" y="6263640"/>
            <a:ext cx="9601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Range: 10–10 populated clusters per subject. Full posterior cluster weights in Table S10.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