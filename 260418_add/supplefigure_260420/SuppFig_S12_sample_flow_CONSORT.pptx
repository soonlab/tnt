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41148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222222"/>
                </a:solidFill>
                <a:latin typeface="Arial"/>
              </a:rPr>
              <a:t>S12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1560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  <a:latin typeface="Arial"/>
              </a:rPr>
              <a:t>CONSORT-style sample flow: 35 enrolled → per-analysis subsets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1005840"/>
            <a:ext cx="3017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645152" y="1115568"/>
            <a:ext cx="2871216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222222"/>
                </a:solidFill>
                <a:latin typeface="Arial"/>
              </a:rPr>
              <a:t>35 MSS LARC patients enrolled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45152" y="1371600"/>
            <a:ext cx="2871216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Short-course RT (25 Gy / 5 Fx) + FOLFOX/CAPOX consolidation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80760" y="1874519"/>
            <a:ext cx="0" cy="411481"/>
          </a:xfrm>
          <a:prstGeom prst="line">
            <a:avLst/>
          </a:prstGeom>
          <a:ln w="1905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554480" y="2377440"/>
            <a:ext cx="4114800" cy="1005840"/>
          </a:xfrm>
          <a:prstGeom prst="rect">
            <a:avLst/>
          </a:prstGeom>
          <a:solidFill>
            <a:srgbClr val="F0F0F0"/>
          </a:solidFill>
          <a:ln w="1270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27632" y="2487168"/>
            <a:ext cx="3968496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222222"/>
                </a:solidFill>
                <a:latin typeface="Arial"/>
              </a:rPr>
              <a:t>WES (77 libraries, 41 T-N pairs)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" y="2743200"/>
            <a:ext cx="3968496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28 matched normal + 35 pre-tumor + 14 post-tumor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2999232"/>
            <a:ext cx="3968496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Variant calling &amp; SBS refit: 49 tumor samples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2377440"/>
            <a:ext cx="4114800" cy="1005840"/>
          </a:xfrm>
          <a:prstGeom prst="rect">
            <a:avLst/>
          </a:prstGeom>
          <a:solidFill>
            <a:srgbClr val="F0F0F0"/>
          </a:solidFill>
          <a:ln w="1270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487168"/>
            <a:ext cx="3968496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222222"/>
                </a:solidFill>
                <a:latin typeface="Arial"/>
              </a:rPr>
              <a:t>RNA-seq (56 libraries)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743200"/>
            <a:ext cx="3968496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10 normal + 33 pre-tumor + 13 post-tumor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2999232"/>
            <a:ext cx="3968496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StringTie GRCh38 gene-level expression matrix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3611880" y="1874519"/>
            <a:ext cx="2468880" cy="502921"/>
          </a:xfrm>
          <a:prstGeom prst="line">
            <a:avLst/>
          </a:prstGeom>
          <a:ln w="1524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080760" y="1874519"/>
            <a:ext cx="2468880" cy="502921"/>
          </a:xfrm>
          <a:prstGeom prst="line">
            <a:avLst/>
          </a:prstGeom>
          <a:ln w="1524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365760" y="3840480"/>
            <a:ext cx="3017520" cy="914400"/>
          </a:xfrm>
          <a:prstGeom prst="rect">
            <a:avLst/>
          </a:prstGeom>
          <a:solidFill>
            <a:srgbClr val="9FC9BE"/>
          </a:solidFill>
          <a:ln w="1270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" y="3950208"/>
            <a:ext cx="2871216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222222"/>
                </a:solidFill>
                <a:latin typeface="Arial"/>
              </a:rPr>
              <a:t>WES-paired n = 14 (7 good + 7 bad)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" y="4206240"/>
            <a:ext cx="2871216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triplet subjects 1–14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" y="4462272"/>
            <a:ext cx="2871216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uses: SBS5 Δ, missense Δ, HLA-LOH pre→post, TMB 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20440" y="3840480"/>
            <a:ext cx="2377440" cy="914400"/>
          </a:xfrm>
          <a:prstGeom prst="rect">
            <a:avLst/>
          </a:prstGeom>
          <a:solidFill>
            <a:srgbClr val="9FC9BE"/>
          </a:solidFill>
          <a:ln w="1270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93592" y="3950208"/>
            <a:ext cx="2231136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222222"/>
                </a:solidFill>
                <a:latin typeface="Arial"/>
              </a:rPr>
              <a:t>pVACseq-paired n = 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93592" y="4206240"/>
            <a:ext cx="2231136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subjects w/ complete pVACseq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93592" y="4462272"/>
            <a:ext cx="2231136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uses: neoantigen 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0760" y="3840480"/>
            <a:ext cx="3017520" cy="914400"/>
          </a:xfrm>
          <a:prstGeom prst="rect">
            <a:avLst/>
          </a:prstGeom>
          <a:solidFill>
            <a:srgbClr val="9FC9BE"/>
          </a:solidFill>
          <a:ln w="1270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53912" y="3950208"/>
            <a:ext cx="2871216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222222"/>
                </a:solidFill>
                <a:latin typeface="Arial"/>
              </a:rPr>
              <a:t>RNA-paired n = 12 (6 good + 6 bad)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53912" y="4206240"/>
            <a:ext cx="2871216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excludes subj 3 (pre-only) and subj 11 (post-only)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53912" y="4462272"/>
            <a:ext cx="2871216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uses: ssGSEA Δ, TRUST4 IGH Δ, Treg / MHC-II 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81160" y="3840480"/>
            <a:ext cx="2560320" cy="914400"/>
          </a:xfrm>
          <a:prstGeom prst="rect">
            <a:avLst/>
          </a:prstGeom>
          <a:solidFill>
            <a:srgbClr val="9FC9BE"/>
          </a:solidFill>
          <a:ln w="1270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54312" y="3950208"/>
            <a:ext cx="2414016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222222"/>
                </a:solidFill>
                <a:latin typeface="Arial"/>
              </a:rPr>
              <a:t>Convergence test n = 12 RNA-paired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54312" y="4206240"/>
            <a:ext cx="2414016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9 baseline × 4 cascade-Δ = 36 pairs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54312" y="4462272"/>
            <a:ext cx="2414016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all Δ features RNA-derived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1874519" y="3383280"/>
            <a:ext cx="1737361" cy="45720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611880" y="3383280"/>
            <a:ext cx="1097280" cy="45720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7589520" y="3383280"/>
            <a:ext cx="960120" cy="45720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549640" y="3383280"/>
            <a:ext cx="2011680" cy="45720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3840480" y="5120640"/>
            <a:ext cx="4480560" cy="822960"/>
          </a:xfrm>
          <a:prstGeom prst="rect">
            <a:avLst/>
          </a:prstGeom>
          <a:solidFill>
            <a:srgbClr val="D4A300"/>
          </a:solidFill>
          <a:ln w="1270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13632" y="5230368"/>
            <a:ext cx="4334256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222222"/>
                </a:solidFill>
                <a:latin typeface="Arial"/>
              </a:rPr>
              <a:t>Pre-CRT RNA discovery cohort n = 33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13632" y="5486400"/>
            <a:ext cx="4334256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main-table univariate / nested-LOOCV ElasticNet AUC 0.745</a:t>
            </a:r>
          </a:p>
        </p:txBody>
      </p:sp>
      <p:cxnSp>
        <p:nvCxnSpPr>
          <p:cNvPr id="41" name="Connector 40"/>
          <p:cNvCxnSpPr/>
          <p:nvPr/>
        </p:nvCxnSpPr>
        <p:spPr>
          <a:xfrm flipH="1">
            <a:off x="6080760" y="4754880"/>
            <a:ext cx="1508760" cy="36576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365760" y="6172200"/>
            <a:ext cx="1143000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1">
                <a:solidFill>
                  <a:srgbClr val="222222"/>
                </a:solidFill>
                <a:latin typeface="Arial"/>
              </a:rPr>
              <a:t>Final TNT response (TRG) adjudicated after the full SC-RT → consolidation → surgery/watch regimen; labels propagate back to all pre-CRT analyses. Per-feature exact n tabulated in Table S8.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