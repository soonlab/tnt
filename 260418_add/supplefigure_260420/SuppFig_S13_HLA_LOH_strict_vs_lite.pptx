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HLA class I LOH prevalence — Bonferroni-strict IMGT vs LOHHLA-lite criteria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5760720"/>
            <a:ext cx="68580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1188720"/>
            <a:ext cx="68580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79192" y="576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40280" y="567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9192" y="48463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0280" y="47640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39319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40280" y="38496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9192" y="30175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40280" y="29352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9192" y="21031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40280" y="20208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91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402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24688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 subjects with ≥ 1 HLA class I LOH (pre-CRT)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0420" y="5833872"/>
            <a:ext cx="219456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Bonferroni-strict
IMGT (Δ≥0.20, P&lt;0.01/bonf)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71900" y="3931920"/>
            <a:ext cx="640080" cy="1828800"/>
          </a:xfrm>
          <a:prstGeom prst="rect">
            <a:avLst/>
          </a:prstGeom>
          <a:solidFill>
            <a:srgbClr val="0A7D6E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6180" y="36941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2/18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3420" y="5760720"/>
            <a:ext cx="640080" cy="1"/>
          </a:xfrm>
          <a:prstGeom prst="rect">
            <a:avLst/>
          </a:prstGeom>
          <a:solidFill>
            <a:srgbClr val="C53E1F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7700" y="55229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0/17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9420" y="5833872"/>
            <a:ext cx="219456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LOHHLA-lite
(Δ≥0.15, P&lt;0.05 uncorr)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900" y="3017520"/>
            <a:ext cx="640080" cy="2743200"/>
          </a:xfrm>
          <a:prstGeom prst="rect">
            <a:avLst/>
          </a:prstGeom>
          <a:solidFill>
            <a:srgbClr val="0A7D6E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5180" y="27797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3/18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32420" y="5760720"/>
            <a:ext cx="640080" cy="1"/>
          </a:xfrm>
          <a:prstGeom prst="rect">
            <a:avLst/>
          </a:prstGeom>
          <a:solidFill>
            <a:srgbClr val="C53E1F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6700" y="55229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0/17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777240"/>
            <a:ext cx="6858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222222"/>
                </a:solidFill>
                <a:latin typeface="Arial"/>
              </a:rPr>
              <a:t>strict: 2/16 good vs 0/12 bad (Fisher P=0.49) · lite: 4/16 vs 2/12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Strict HLA class I LOH — pre → post trajectory for subj 3 and subj 4 (both good)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5760720"/>
            <a:ext cx="68580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1371600"/>
            <a:ext cx="0" cy="43891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0" y="1371600"/>
            <a:ext cx="0" cy="43891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1371600"/>
            <a:ext cx="68580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79192" y="576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40280" y="567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9192" y="42976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0280" y="42153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28346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40280" y="27523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9192" y="13716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40280" y="12893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256032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 loci with strict LOH (HLA-A/B/C)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71900" y="2834640"/>
            <a:ext cx="1371600" cy="292608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71316" y="2734056"/>
            <a:ext cx="201168" cy="201168"/>
          </a:xfrm>
          <a:prstGeom prst="ellipse">
            <a:avLst/>
          </a:prstGeom>
          <a:solidFill>
            <a:srgbClr val="0A7D6E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42916" y="5660136"/>
            <a:ext cx="201168" cy="201168"/>
          </a:xfrm>
          <a:prstGeom prst="ellipse">
            <a:avLst/>
          </a:prstGeom>
          <a:solidFill>
            <a:srgbClr val="0A7D6E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6140" y="2542032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pre: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7740" y="5468112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post: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4700" y="5897880"/>
            <a:ext cx="1828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7D6E"/>
                </a:solidFill>
                <a:latin typeface="Arial"/>
              </a:rPr>
              <a:t>Subj 3 (good)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7580" y="5806440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Arial"/>
              </a:rPr>
              <a:t>pre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5806440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Arial"/>
              </a:rPr>
              <a:t>post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00900" y="4297680"/>
            <a:ext cx="1371600" cy="146304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100316" y="4197096"/>
            <a:ext cx="201168" cy="201168"/>
          </a:xfrm>
          <a:prstGeom prst="ellipse">
            <a:avLst/>
          </a:prstGeom>
          <a:solidFill>
            <a:srgbClr val="0A7D6E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71916" y="5660136"/>
            <a:ext cx="201168" cy="201168"/>
          </a:xfrm>
          <a:prstGeom prst="ellipse">
            <a:avLst/>
          </a:prstGeom>
          <a:solidFill>
            <a:srgbClr val="0A7D6E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5140" y="4005072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pre: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6740" y="5468112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post: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3700" y="5897880"/>
            <a:ext cx="1828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7D6E"/>
                </a:solidFill>
                <a:latin typeface="Arial"/>
              </a:rPr>
              <a:t>Subj 4 (good)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6580" y="5806440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Arial"/>
              </a:rPr>
              <a:t>pre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8180" y="5806440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Arial"/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6263640"/>
            <a:ext cx="68580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222222"/>
                </a:solidFill>
                <a:latin typeface="Arial"/>
              </a:rPr>
              <a:t>Both strict-LOH subjects (3 and 4) show complete pre → post resolution, consistent with radiation-phase clearance of HLA-LOH clones.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