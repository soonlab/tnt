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222222"/>
                </a:solidFill>
                <a:latin typeface="Arial"/>
              </a:rPr>
              <a:t>S14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Per-patient clinical waterfall (N = 35) — Cercek 2022-style treatment-phase bar + RECIST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2157984" cy="274320"/>
          </a:xfrm>
          <a:prstGeom prst="rect">
            <a:avLst/>
          </a:prstGeom>
          <a:solidFill>
            <a:srgbClr val="4F738E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215798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SC-RT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9504" y="868680"/>
            <a:ext cx="5934456" cy="274320"/>
          </a:xfrm>
          <a:prstGeom prst="rect">
            <a:avLst/>
          </a:prstGeom>
          <a:solidFill>
            <a:srgbClr val="A6622C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9504" y="868680"/>
            <a:ext cx="59344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FOLFOX/CAPOX</a:t>
            </a:r>
          </a:p>
        </p:txBody>
      </p:sp>
      <p:sp>
        <p:nvSpPr>
          <p:cNvPr id="8" name="Rectangle 7"/>
          <p:cNvSpPr/>
          <p:nvPr/>
        </p:nvSpPr>
        <p:spPr>
          <a:xfrm>
            <a:off x="8823960" y="868680"/>
            <a:ext cx="2697480" cy="274320"/>
          </a:xfrm>
          <a:prstGeom prst="rect">
            <a:avLst/>
          </a:prstGeom>
          <a:solidFill>
            <a:srgbClr val="444A58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23960" y="868680"/>
            <a:ext cx="26974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surgery / WW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67160" y="896112"/>
            <a:ext cx="5486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→ TRG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434840"/>
            <a:ext cx="1078992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1520" y="1325880"/>
            <a:ext cx="0" cy="310896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521440" y="1325880"/>
            <a:ext cx="0" cy="310896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" y="1325880"/>
            <a:ext cx="1078992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44348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28600" y="43525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 CR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67512" y="33985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28600" y="33162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 nCR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7512" y="23622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28600" y="22799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 PR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7512" y="13258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8600" y="12435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3 poor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137160" y="187452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TNT response score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3398520"/>
            <a:ext cx="10789920" cy="0"/>
          </a:xfrm>
          <a:prstGeom prst="line">
            <a:avLst/>
          </a:prstGeom>
          <a:ln w="12700">
            <a:solidFill>
              <a:srgbClr val="D4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567160" y="3307080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D4A300"/>
                </a:solidFill>
                <a:latin typeface="Arial"/>
              </a:rPr>
              <a:t>good/bad cutoff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49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121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124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6093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096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6065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068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6037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3040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6009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3012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5981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2984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5953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2956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5925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2928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5897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2900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5869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2872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58412" y="2362200"/>
            <a:ext cx="239776" cy="207264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28440" y="332536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58132" y="1325880"/>
            <a:ext cx="239776" cy="310896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28160" y="280720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poor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57852" y="1325880"/>
            <a:ext cx="239776" cy="310896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7880" y="280720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poor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57572" y="1325880"/>
            <a:ext cx="239776" cy="310896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27600" y="280720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poor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292" y="1325880"/>
            <a:ext cx="239776" cy="310896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27320" y="280720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poor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57012" y="1325880"/>
            <a:ext cx="239776" cy="3108960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27040" y="280720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poor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5673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2676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5645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2648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5617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2620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5589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2592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5561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2564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5533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2536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5505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2508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5477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2480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5449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2452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5421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52424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5393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2396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15365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2368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5337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2340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75309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72312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052812" y="4434840"/>
            <a:ext cx="239776" cy="1828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022840" y="436168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352532" y="3398520"/>
            <a:ext cx="239776" cy="1036320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322560" y="384352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nCR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652252" y="3398520"/>
            <a:ext cx="239776" cy="1036320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622280" y="384352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nCR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951972" y="3398520"/>
            <a:ext cx="239776" cy="1036320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922000" y="3843528"/>
            <a:ext cx="29972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nCR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8600" y="4526280"/>
            <a:ext cx="457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cT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61492" y="4526280"/>
            <a:ext cx="239776" cy="201168"/>
          </a:xfrm>
          <a:prstGeom prst="rect">
            <a:avLst/>
          </a:prstGeom>
          <a:solidFill>
            <a:srgbClr val="A8C8E1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61212" y="4526280"/>
            <a:ext cx="239776" cy="201168"/>
          </a:xfrm>
          <a:prstGeom prst="rect">
            <a:avLst/>
          </a:prstGeom>
          <a:solidFill>
            <a:srgbClr val="214A7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36093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66065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96037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260092" y="4526280"/>
            <a:ext cx="239776" cy="201168"/>
          </a:xfrm>
          <a:prstGeom prst="rect">
            <a:avLst/>
          </a:prstGeom>
          <a:solidFill>
            <a:srgbClr val="214A7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55981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85953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15925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458972" y="4526280"/>
            <a:ext cx="239776" cy="201168"/>
          </a:xfrm>
          <a:prstGeom prst="rect">
            <a:avLst/>
          </a:prstGeom>
          <a:solidFill>
            <a:srgbClr val="214A7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758692" y="4526280"/>
            <a:ext cx="239776" cy="201168"/>
          </a:xfrm>
          <a:prstGeom prst="rect">
            <a:avLst/>
          </a:prstGeom>
          <a:solidFill>
            <a:srgbClr val="214A7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05841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35813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657852" y="4526280"/>
            <a:ext cx="239776" cy="201168"/>
          </a:xfrm>
          <a:prstGeom prst="rect">
            <a:avLst/>
          </a:prstGeom>
          <a:solidFill>
            <a:srgbClr val="214A7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957572" y="4526280"/>
            <a:ext cx="239776" cy="201168"/>
          </a:xfrm>
          <a:prstGeom prst="rect">
            <a:avLst/>
          </a:prstGeom>
          <a:solidFill>
            <a:srgbClr val="214A7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25729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557012" y="4526280"/>
            <a:ext cx="239776" cy="201168"/>
          </a:xfrm>
          <a:prstGeom prst="rect">
            <a:avLst/>
          </a:prstGeom>
          <a:solidFill>
            <a:srgbClr val="214A7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85673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15645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45617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755892" y="4526280"/>
            <a:ext cx="239776" cy="201168"/>
          </a:xfrm>
          <a:prstGeom prst="rect">
            <a:avLst/>
          </a:prstGeom>
          <a:solidFill>
            <a:srgbClr val="214A7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05561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35533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655052" y="4526280"/>
            <a:ext cx="239776" cy="201168"/>
          </a:xfrm>
          <a:prstGeom prst="rect">
            <a:avLst/>
          </a:prstGeom>
          <a:solidFill>
            <a:srgbClr val="A8C8E1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954772" y="4526280"/>
            <a:ext cx="239776" cy="201168"/>
          </a:xfrm>
          <a:prstGeom prst="rect">
            <a:avLst/>
          </a:prstGeom>
          <a:solidFill>
            <a:srgbClr val="7DA7C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254492" y="4526280"/>
            <a:ext cx="239776" cy="201168"/>
          </a:xfrm>
          <a:prstGeom prst="rect">
            <a:avLst/>
          </a:prstGeom>
          <a:solidFill>
            <a:srgbClr val="A8C8E1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55421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53932" y="4526280"/>
            <a:ext cx="239776" cy="201168"/>
          </a:xfrm>
          <a:prstGeom prst="rect">
            <a:avLst/>
          </a:prstGeom>
          <a:solidFill>
            <a:srgbClr val="A8C8E1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15365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45337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753092" y="4526280"/>
            <a:ext cx="239776" cy="201168"/>
          </a:xfrm>
          <a:prstGeom prst="rect">
            <a:avLst/>
          </a:prstGeom>
          <a:solidFill>
            <a:srgbClr val="214A7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05281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352532" y="4526280"/>
            <a:ext cx="239776" cy="201168"/>
          </a:xfrm>
          <a:prstGeom prst="rect">
            <a:avLst/>
          </a:prstGeom>
          <a:solidFill>
            <a:srgbClr val="7DA7C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652252" y="4526280"/>
            <a:ext cx="239776" cy="201168"/>
          </a:xfrm>
          <a:prstGeom prst="rect">
            <a:avLst/>
          </a:prstGeom>
          <a:solidFill>
            <a:srgbClr val="A8C8E1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0951972" y="4526280"/>
            <a:ext cx="239776" cy="201168"/>
          </a:xfrm>
          <a:prstGeom prst="rect">
            <a:avLst/>
          </a:prstGeom>
          <a:solidFill>
            <a:srgbClr val="457A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28600" y="4764024"/>
            <a:ext cx="457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sex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6149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06121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36093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66065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96037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26009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55981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85953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15925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45897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75869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5841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35813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65785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5757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25729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55701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85673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15645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45617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75589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05561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35533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65505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795477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25449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55421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885393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915365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945337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975309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005281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35253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0652252" y="4764024"/>
            <a:ext cx="239776" cy="201168"/>
          </a:xfrm>
          <a:prstGeom prst="rect">
            <a:avLst/>
          </a:prstGeom>
          <a:solidFill>
            <a:srgbClr val="B4557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0951972" y="4764024"/>
            <a:ext cx="239776" cy="201168"/>
          </a:xfrm>
          <a:prstGeom prst="rect">
            <a:avLst/>
          </a:prstGeom>
          <a:solidFill>
            <a:srgbClr val="3B6B9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28600" y="5001768"/>
            <a:ext cx="457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age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61492" y="5001768"/>
            <a:ext cx="239776" cy="201168"/>
          </a:xfrm>
          <a:prstGeom prst="rect">
            <a:avLst/>
          </a:prstGeom>
          <a:solidFill>
            <a:srgbClr val="424242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3152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74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061212" y="5001768"/>
            <a:ext cx="239776" cy="201168"/>
          </a:xfrm>
          <a:prstGeom prst="rect">
            <a:avLst/>
          </a:prstGeom>
          <a:solidFill>
            <a:srgbClr val="E6E6E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3124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34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360932" y="5001768"/>
            <a:ext cx="239776" cy="201168"/>
          </a:xfrm>
          <a:prstGeom prst="rect">
            <a:avLst/>
          </a:prstGeom>
          <a:solidFill>
            <a:srgbClr val="989898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33096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53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660652" y="5001768"/>
            <a:ext cx="239776" cy="201168"/>
          </a:xfrm>
          <a:prstGeom prst="rect">
            <a:avLst/>
          </a:prstGeom>
          <a:solidFill>
            <a:srgbClr val="7B7B7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63068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60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960372" y="5001768"/>
            <a:ext cx="239776" cy="201168"/>
          </a:xfrm>
          <a:prstGeom prst="rect">
            <a:avLst/>
          </a:prstGeom>
          <a:solidFill>
            <a:srgbClr val="525252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93040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70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260092" y="5001768"/>
            <a:ext cx="239776" cy="201168"/>
          </a:xfrm>
          <a:prstGeom prst="rect">
            <a:avLst/>
          </a:prstGeom>
          <a:solidFill>
            <a:srgbClr val="737373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23012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559812" y="5001768"/>
            <a:ext cx="239776" cy="201168"/>
          </a:xfrm>
          <a:prstGeom prst="rect">
            <a:avLst/>
          </a:prstGeom>
          <a:solidFill>
            <a:srgbClr val="323232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252984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78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859532" y="5001768"/>
            <a:ext cx="239776" cy="201168"/>
          </a:xfrm>
          <a:prstGeom prst="rect">
            <a:avLst/>
          </a:prstGeom>
          <a:solidFill>
            <a:srgbClr val="737373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82956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62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3159252" y="5001768"/>
            <a:ext cx="239776" cy="201168"/>
          </a:xfrm>
          <a:prstGeom prst="rect">
            <a:avLst/>
          </a:prstGeom>
          <a:solidFill>
            <a:srgbClr val="BDBDBD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312928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458972" y="5001768"/>
            <a:ext cx="239776" cy="201168"/>
          </a:xfrm>
          <a:prstGeom prst="rect">
            <a:avLst/>
          </a:prstGeom>
          <a:solidFill>
            <a:srgbClr val="7F7F7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42900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59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758692" y="5001768"/>
            <a:ext cx="239776" cy="201168"/>
          </a:xfrm>
          <a:prstGeom prst="rect">
            <a:avLst/>
          </a:prstGeom>
          <a:solidFill>
            <a:srgbClr val="777777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72872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058412" y="5001768"/>
            <a:ext cx="239776" cy="201168"/>
          </a:xfrm>
          <a:prstGeom prst="rect">
            <a:avLst/>
          </a:prstGeom>
          <a:solidFill>
            <a:srgbClr val="8C8C8C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02844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56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358132" y="5001768"/>
            <a:ext cx="239776" cy="201168"/>
          </a:xfrm>
          <a:prstGeom prst="rect">
            <a:avLst/>
          </a:prstGeom>
          <a:solidFill>
            <a:srgbClr val="A4A4A4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432816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657852" y="5001768"/>
            <a:ext cx="239776" cy="201168"/>
          </a:xfrm>
          <a:prstGeom prst="rect">
            <a:avLst/>
          </a:prstGeom>
          <a:solidFill>
            <a:srgbClr val="464646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62788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73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957572" y="5001768"/>
            <a:ext cx="239776" cy="201168"/>
          </a:xfrm>
          <a:prstGeom prst="rect">
            <a:avLst/>
          </a:prstGeom>
          <a:solidFill>
            <a:srgbClr val="B4B4B4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92760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46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257292" y="5001768"/>
            <a:ext cx="239776" cy="201168"/>
          </a:xfrm>
          <a:prstGeom prst="rect">
            <a:avLst/>
          </a:prstGeom>
          <a:solidFill>
            <a:srgbClr val="4A4A4A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22732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72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557012" y="5001768"/>
            <a:ext cx="239776" cy="201168"/>
          </a:xfrm>
          <a:prstGeom prst="rect">
            <a:avLst/>
          </a:prstGeom>
          <a:solidFill>
            <a:srgbClr val="525252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552704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70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5856732" y="5001768"/>
            <a:ext cx="239776" cy="201168"/>
          </a:xfrm>
          <a:prstGeom prst="rect">
            <a:avLst/>
          </a:prstGeom>
          <a:solidFill>
            <a:srgbClr val="B0B0B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582676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47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156452" y="5001768"/>
            <a:ext cx="239776" cy="201168"/>
          </a:xfrm>
          <a:prstGeom prst="rect">
            <a:avLst/>
          </a:prstGeom>
          <a:solidFill>
            <a:srgbClr val="6B6B6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12648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6456172" y="5001768"/>
            <a:ext cx="239776" cy="201168"/>
          </a:xfrm>
          <a:prstGeom prst="rect">
            <a:avLst/>
          </a:prstGeom>
          <a:solidFill>
            <a:srgbClr val="878787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42620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57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6755892" y="5001768"/>
            <a:ext cx="239776" cy="201168"/>
          </a:xfrm>
          <a:prstGeom prst="rect">
            <a:avLst/>
          </a:prstGeom>
          <a:solidFill>
            <a:srgbClr val="7B7B7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72592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60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055612" y="5001768"/>
            <a:ext cx="239776" cy="201168"/>
          </a:xfrm>
          <a:prstGeom prst="rect">
            <a:avLst/>
          </a:prstGeom>
          <a:solidFill>
            <a:srgbClr val="424242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2564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74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7355332" y="5001768"/>
            <a:ext cx="239776" cy="201168"/>
          </a:xfrm>
          <a:prstGeom prst="rect">
            <a:avLst/>
          </a:prstGeom>
          <a:solidFill>
            <a:srgbClr val="90909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732536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55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7655052" y="5001768"/>
            <a:ext cx="239776" cy="201168"/>
          </a:xfrm>
          <a:prstGeom prst="rect">
            <a:avLst/>
          </a:prstGeom>
          <a:solidFill>
            <a:srgbClr val="6F6F6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762508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63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954772" y="5001768"/>
            <a:ext cx="239776" cy="201168"/>
          </a:xfrm>
          <a:prstGeom prst="rect">
            <a:avLst/>
          </a:prstGeom>
          <a:solidFill>
            <a:srgbClr val="A0A0A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92480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254492" y="5001768"/>
            <a:ext cx="239776" cy="201168"/>
          </a:xfrm>
          <a:prstGeom prst="rect">
            <a:avLst/>
          </a:prstGeom>
          <a:solidFill>
            <a:srgbClr val="4A4A4A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22452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72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8554212" y="5001768"/>
            <a:ext cx="239776" cy="201168"/>
          </a:xfrm>
          <a:prstGeom prst="rect">
            <a:avLst/>
          </a:prstGeom>
          <a:solidFill>
            <a:srgbClr val="5A5A5A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52424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68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8853932" y="5001768"/>
            <a:ext cx="239776" cy="201168"/>
          </a:xfrm>
          <a:prstGeom prst="rect">
            <a:avLst/>
          </a:prstGeom>
          <a:solidFill>
            <a:srgbClr val="6B6B6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882396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9153652" y="5001768"/>
            <a:ext cx="239776" cy="201168"/>
          </a:xfrm>
          <a:prstGeom prst="rect">
            <a:avLst/>
          </a:prstGeom>
          <a:solidFill>
            <a:srgbClr val="838383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912368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58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9453372" y="5001768"/>
            <a:ext cx="239776" cy="201168"/>
          </a:xfrm>
          <a:prstGeom prst="rect">
            <a:avLst/>
          </a:prstGeom>
          <a:solidFill>
            <a:srgbClr val="838383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942340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58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753092" y="5001768"/>
            <a:ext cx="239776" cy="201168"/>
          </a:xfrm>
          <a:prstGeom prst="rect">
            <a:avLst/>
          </a:prstGeom>
          <a:solidFill>
            <a:srgbClr val="A4A4A4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972312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10052812" y="5001768"/>
            <a:ext cx="239776" cy="201168"/>
          </a:xfrm>
          <a:prstGeom prst="rect">
            <a:avLst/>
          </a:prstGeom>
          <a:solidFill>
            <a:srgbClr val="676767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1002284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10352532" y="5001768"/>
            <a:ext cx="239776" cy="201168"/>
          </a:xfrm>
          <a:prstGeom prst="rect">
            <a:avLst/>
          </a:prstGeom>
          <a:solidFill>
            <a:srgbClr val="6B6B6B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032256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10652252" y="5001768"/>
            <a:ext cx="239776" cy="201168"/>
          </a:xfrm>
          <a:prstGeom prst="rect">
            <a:avLst/>
          </a:prstGeom>
          <a:solidFill>
            <a:srgbClr val="777777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062228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10951972" y="5001768"/>
            <a:ext cx="239776" cy="201168"/>
          </a:xfrm>
          <a:prstGeom prst="rect">
            <a:avLst/>
          </a:prstGeom>
          <a:solidFill>
            <a:srgbClr val="A0A0A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0922000" y="5001768"/>
            <a:ext cx="2997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FFFFFF"/>
                </a:solidFill>
                <a:latin typeface="Arial"/>
              </a:rPr>
              <a:t>51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73152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124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33096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7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63068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12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93040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223012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18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252984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19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282956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312928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22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342900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26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72872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33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02844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34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432816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62788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92760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522732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32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552704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35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82676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612648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642620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72592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8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02564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9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732536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14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762508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16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92480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17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822452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852424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23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882396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24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912368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942340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27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972312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02284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31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032256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6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062228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28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0922000" y="5239512"/>
            <a:ext cx="299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29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22960" y="6172200"/>
            <a:ext cx="3657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cT: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1280160" y="6208776"/>
            <a:ext cx="182880" cy="128016"/>
          </a:xfrm>
          <a:prstGeom prst="rect">
            <a:avLst/>
          </a:prstGeom>
          <a:solidFill>
            <a:srgbClr val="A8C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1499616" y="619048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T2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2103120" y="6208776"/>
            <a:ext cx="182880" cy="128016"/>
          </a:xfrm>
          <a:prstGeom prst="rect">
            <a:avLst/>
          </a:prstGeom>
          <a:solidFill>
            <a:srgbClr val="7DA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2322576" y="619048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T2/T3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2926080" y="6208776"/>
            <a:ext cx="182880" cy="128016"/>
          </a:xfrm>
          <a:prstGeom prst="rect">
            <a:avLst/>
          </a:prstGeom>
          <a:solidFill>
            <a:srgbClr val="45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3145536" y="619048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T3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3749040" y="6208776"/>
            <a:ext cx="182880" cy="128016"/>
          </a:xfrm>
          <a:prstGeom prst="rect">
            <a:avLst/>
          </a:prstGeom>
          <a:solidFill>
            <a:srgbClr val="21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3968496" y="619048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T4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4572000" y="6172200"/>
            <a:ext cx="3657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sex: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029200" y="6208776"/>
            <a:ext cx="182880" cy="128016"/>
          </a:xfrm>
          <a:prstGeom prst="rect">
            <a:avLst/>
          </a:prstGeom>
          <a:solidFill>
            <a:srgbClr val="3B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248656" y="6190488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M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5577840" y="6208776"/>
            <a:ext cx="182880" cy="128016"/>
          </a:xfrm>
          <a:prstGeom prst="rect">
            <a:avLst/>
          </a:prstGeom>
          <a:solidFill>
            <a:srgbClr val="B4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5797296" y="6190488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F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6858000" y="6172200"/>
            <a:ext cx="7315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response: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680960" y="6208776"/>
            <a:ext cx="182880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918704" y="6190488"/>
            <a:ext cx="1188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good (n=18)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9144000" y="6208776"/>
            <a:ext cx="182880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9381744" y="6190488"/>
            <a:ext cx="1188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bad (n=17)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0058400" y="6172200"/>
            <a:ext cx="1371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Phase timeline (top)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