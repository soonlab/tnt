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Arial"/>
              </a:rPr>
              <a:t>S14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Per-patient clinical characteristics waterfall (N = 35)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3854196"/>
            <a:ext cx="1078992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1188720"/>
            <a:ext cx="0" cy="2665476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21440" y="1188720"/>
            <a:ext cx="0" cy="2665476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1188720"/>
            <a:ext cx="1078992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7512" y="3854196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8600" y="3771900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 CR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7512" y="2965704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8600" y="2883408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 near-CR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7512" y="2077212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8600" y="1994916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 PR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751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860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3 poor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37160" y="1515618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TNT response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1492" y="2077212"/>
            <a:ext cx="239776" cy="177698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1212" y="2077212"/>
            <a:ext cx="239776" cy="177698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124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60932" y="2077212"/>
            <a:ext cx="239776" cy="177698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3096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60652" y="2077212"/>
            <a:ext cx="239776" cy="177698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3068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0372" y="2077212"/>
            <a:ext cx="239776" cy="177698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3040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60092" y="2077212"/>
            <a:ext cx="239776" cy="177698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3012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59812" y="2077212"/>
            <a:ext cx="239776" cy="177698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2984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59532" y="2077212"/>
            <a:ext cx="239776" cy="177698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2956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9252" y="2077212"/>
            <a:ext cx="239776" cy="177698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2928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58972" y="2077212"/>
            <a:ext cx="239776" cy="177698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900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58692" y="2077212"/>
            <a:ext cx="239776" cy="177698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2872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33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8412" y="2077212"/>
            <a:ext cx="239776" cy="1776984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844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34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58132" y="1188720"/>
            <a:ext cx="239776" cy="2665476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2816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57852" y="1188720"/>
            <a:ext cx="239776" cy="2665476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2788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57572" y="1188720"/>
            <a:ext cx="239776" cy="2665476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2760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57292" y="1188720"/>
            <a:ext cx="239776" cy="2665476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2732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57012" y="1188720"/>
            <a:ext cx="239776" cy="2665476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2704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35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6732" y="3854196"/>
            <a:ext cx="239776" cy="1828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2676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56452" y="3854196"/>
            <a:ext cx="239776" cy="1828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56172" y="3854196"/>
            <a:ext cx="239776" cy="1828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2620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55892" y="3854196"/>
            <a:ext cx="239776" cy="1828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592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55612" y="3854196"/>
            <a:ext cx="239776" cy="1828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2564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55332" y="3854196"/>
            <a:ext cx="239776" cy="1828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2536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55052" y="3854196"/>
            <a:ext cx="239776" cy="1828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2508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54772" y="3854196"/>
            <a:ext cx="239776" cy="1828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2480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54492" y="3854196"/>
            <a:ext cx="239776" cy="1828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452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54212" y="3854196"/>
            <a:ext cx="239776" cy="1828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2424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53932" y="3854196"/>
            <a:ext cx="239776" cy="1828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82396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53652" y="3854196"/>
            <a:ext cx="239776" cy="1828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2368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53372" y="3854196"/>
            <a:ext cx="239776" cy="1828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2340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53092" y="3854196"/>
            <a:ext cx="239776" cy="1828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2312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30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52812" y="3854196"/>
            <a:ext cx="239776" cy="18288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2284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31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352532" y="2965704"/>
            <a:ext cx="239776" cy="888492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2256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52252" y="2965704"/>
            <a:ext cx="239776" cy="888492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62228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951972" y="2965704"/>
            <a:ext cx="239776" cy="888492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922000" y="3890772"/>
            <a:ext cx="299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29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" y="4146804"/>
            <a:ext cx="5029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cT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1492" y="4110228"/>
            <a:ext cx="239776" cy="256032"/>
          </a:xfrm>
          <a:prstGeom prst="rect">
            <a:avLst/>
          </a:prstGeom>
          <a:solidFill>
            <a:srgbClr val="A8C8E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61212" y="4110228"/>
            <a:ext cx="239776" cy="256032"/>
          </a:xfrm>
          <a:prstGeom prst="rect">
            <a:avLst/>
          </a:prstGeom>
          <a:solidFill>
            <a:srgbClr val="214A7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36093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66065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96037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260092" y="4110228"/>
            <a:ext cx="239776" cy="256032"/>
          </a:xfrm>
          <a:prstGeom prst="rect">
            <a:avLst/>
          </a:prstGeom>
          <a:solidFill>
            <a:srgbClr val="214A7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55981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85953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15925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458972" y="4110228"/>
            <a:ext cx="239776" cy="256032"/>
          </a:xfrm>
          <a:prstGeom prst="rect">
            <a:avLst/>
          </a:prstGeom>
          <a:solidFill>
            <a:srgbClr val="214A7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758692" y="4110228"/>
            <a:ext cx="239776" cy="256032"/>
          </a:xfrm>
          <a:prstGeom prst="rect">
            <a:avLst/>
          </a:prstGeom>
          <a:solidFill>
            <a:srgbClr val="214A7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05841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35813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657852" y="4110228"/>
            <a:ext cx="239776" cy="256032"/>
          </a:xfrm>
          <a:prstGeom prst="rect">
            <a:avLst/>
          </a:prstGeom>
          <a:solidFill>
            <a:srgbClr val="214A7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957572" y="4110228"/>
            <a:ext cx="239776" cy="256032"/>
          </a:xfrm>
          <a:prstGeom prst="rect">
            <a:avLst/>
          </a:prstGeom>
          <a:solidFill>
            <a:srgbClr val="214A7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25729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557012" y="4110228"/>
            <a:ext cx="239776" cy="256032"/>
          </a:xfrm>
          <a:prstGeom prst="rect">
            <a:avLst/>
          </a:prstGeom>
          <a:solidFill>
            <a:srgbClr val="214A7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85673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15645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45617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755892" y="4110228"/>
            <a:ext cx="239776" cy="256032"/>
          </a:xfrm>
          <a:prstGeom prst="rect">
            <a:avLst/>
          </a:prstGeom>
          <a:solidFill>
            <a:srgbClr val="214A7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05561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35533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655052" y="4110228"/>
            <a:ext cx="239776" cy="256032"/>
          </a:xfrm>
          <a:prstGeom prst="rect">
            <a:avLst/>
          </a:prstGeom>
          <a:solidFill>
            <a:srgbClr val="A8C8E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954772" y="4110228"/>
            <a:ext cx="239776" cy="256032"/>
          </a:xfrm>
          <a:prstGeom prst="rect">
            <a:avLst/>
          </a:prstGeom>
          <a:solidFill>
            <a:srgbClr val="7DA7C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254492" y="4110228"/>
            <a:ext cx="239776" cy="256032"/>
          </a:xfrm>
          <a:prstGeom prst="rect">
            <a:avLst/>
          </a:prstGeom>
          <a:solidFill>
            <a:srgbClr val="A8C8E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55421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853932" y="4110228"/>
            <a:ext cx="239776" cy="256032"/>
          </a:xfrm>
          <a:prstGeom prst="rect">
            <a:avLst/>
          </a:prstGeom>
          <a:solidFill>
            <a:srgbClr val="A8C8E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15365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45337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753092" y="4110228"/>
            <a:ext cx="239776" cy="256032"/>
          </a:xfrm>
          <a:prstGeom prst="rect">
            <a:avLst/>
          </a:prstGeom>
          <a:solidFill>
            <a:srgbClr val="214A7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05281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352532" y="4110228"/>
            <a:ext cx="239776" cy="256032"/>
          </a:xfrm>
          <a:prstGeom prst="rect">
            <a:avLst/>
          </a:prstGeom>
          <a:solidFill>
            <a:srgbClr val="7DA7C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652252" y="4110228"/>
            <a:ext cx="239776" cy="256032"/>
          </a:xfrm>
          <a:prstGeom prst="rect">
            <a:avLst/>
          </a:prstGeom>
          <a:solidFill>
            <a:srgbClr val="A8C8E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951972" y="4110228"/>
            <a:ext cx="239776" cy="256032"/>
          </a:xfrm>
          <a:prstGeom prst="rect">
            <a:avLst/>
          </a:prstGeom>
          <a:solidFill>
            <a:srgbClr val="457A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1440" y="4457700"/>
            <a:ext cx="5029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sex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6149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61212" y="4421124"/>
            <a:ext cx="239776" cy="256032"/>
          </a:xfrm>
          <a:prstGeom prst="rect">
            <a:avLst/>
          </a:prstGeom>
          <a:solidFill>
            <a:srgbClr val="B4557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36093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66065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960372" y="4421124"/>
            <a:ext cx="239776" cy="256032"/>
          </a:xfrm>
          <a:prstGeom prst="rect">
            <a:avLst/>
          </a:prstGeom>
          <a:solidFill>
            <a:srgbClr val="B4557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26009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559812" y="4421124"/>
            <a:ext cx="239776" cy="256032"/>
          </a:xfrm>
          <a:prstGeom prst="rect">
            <a:avLst/>
          </a:prstGeom>
          <a:solidFill>
            <a:srgbClr val="B4557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859532" y="4421124"/>
            <a:ext cx="239776" cy="256032"/>
          </a:xfrm>
          <a:prstGeom prst="rect">
            <a:avLst/>
          </a:prstGeom>
          <a:solidFill>
            <a:srgbClr val="B4557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159252" y="4421124"/>
            <a:ext cx="239776" cy="256032"/>
          </a:xfrm>
          <a:prstGeom prst="rect">
            <a:avLst/>
          </a:prstGeom>
          <a:solidFill>
            <a:srgbClr val="B4557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45897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75869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05841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35813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5785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5757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257292" y="4421124"/>
            <a:ext cx="239776" cy="256032"/>
          </a:xfrm>
          <a:prstGeom prst="rect">
            <a:avLst/>
          </a:prstGeom>
          <a:solidFill>
            <a:srgbClr val="B4557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557012" y="4421124"/>
            <a:ext cx="239776" cy="256032"/>
          </a:xfrm>
          <a:prstGeom prst="rect">
            <a:avLst/>
          </a:prstGeom>
          <a:solidFill>
            <a:srgbClr val="B4557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85673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15645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456172" y="4421124"/>
            <a:ext cx="239776" cy="256032"/>
          </a:xfrm>
          <a:prstGeom prst="rect">
            <a:avLst/>
          </a:prstGeom>
          <a:solidFill>
            <a:srgbClr val="B4557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75589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05561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35533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65505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95477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254492" y="4421124"/>
            <a:ext cx="239776" cy="256032"/>
          </a:xfrm>
          <a:prstGeom prst="rect">
            <a:avLst/>
          </a:prstGeom>
          <a:solidFill>
            <a:srgbClr val="B4557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55421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85393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15365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45337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975309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005281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035253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0652252" y="4421124"/>
            <a:ext cx="239776" cy="256032"/>
          </a:xfrm>
          <a:prstGeom prst="rect">
            <a:avLst/>
          </a:prstGeom>
          <a:solidFill>
            <a:srgbClr val="B4557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0951972" y="4421124"/>
            <a:ext cx="239776" cy="256032"/>
          </a:xfrm>
          <a:prstGeom prst="rect">
            <a:avLst/>
          </a:prstGeom>
          <a:solidFill>
            <a:srgbClr val="3B6B9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440" y="4768596"/>
            <a:ext cx="5029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222222"/>
                </a:solidFill>
                <a:latin typeface="Arial"/>
              </a:rPr>
              <a:t>age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61492" y="4732020"/>
            <a:ext cx="239776" cy="256032"/>
          </a:xfrm>
          <a:prstGeom prst="rect">
            <a:avLst/>
          </a:prstGeom>
          <a:solidFill>
            <a:srgbClr val="42424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3152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74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61212" y="4732020"/>
            <a:ext cx="239776" cy="256032"/>
          </a:xfrm>
          <a:prstGeom prst="rect">
            <a:avLst/>
          </a:prstGeom>
          <a:solidFill>
            <a:srgbClr val="E6E6E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3124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34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360932" y="4732020"/>
            <a:ext cx="239776" cy="256032"/>
          </a:xfrm>
          <a:prstGeom prst="rect">
            <a:avLst/>
          </a:prstGeom>
          <a:solidFill>
            <a:srgbClr val="98989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33096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660652" y="4732020"/>
            <a:ext cx="239776" cy="256032"/>
          </a:xfrm>
          <a:prstGeom prst="rect">
            <a:avLst/>
          </a:prstGeom>
          <a:solidFill>
            <a:srgbClr val="7B7B7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63068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960372" y="4732020"/>
            <a:ext cx="239776" cy="256032"/>
          </a:xfrm>
          <a:prstGeom prst="rect">
            <a:avLst/>
          </a:prstGeom>
          <a:solidFill>
            <a:srgbClr val="52525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93040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260092" y="4732020"/>
            <a:ext cx="239776" cy="256032"/>
          </a:xfrm>
          <a:prstGeom prst="rect">
            <a:avLst/>
          </a:prstGeom>
          <a:solidFill>
            <a:srgbClr val="73737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223012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559812" y="4732020"/>
            <a:ext cx="239776" cy="256032"/>
          </a:xfrm>
          <a:prstGeom prst="rect">
            <a:avLst/>
          </a:prstGeom>
          <a:solidFill>
            <a:srgbClr val="32323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252984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78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859532" y="4732020"/>
            <a:ext cx="239776" cy="256032"/>
          </a:xfrm>
          <a:prstGeom prst="rect">
            <a:avLst/>
          </a:prstGeom>
          <a:solidFill>
            <a:srgbClr val="73737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82956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159252" y="4732020"/>
            <a:ext cx="239776" cy="256032"/>
          </a:xfrm>
          <a:prstGeom prst="rect">
            <a:avLst/>
          </a:prstGeom>
          <a:solidFill>
            <a:srgbClr val="BDBDB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12928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44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458972" y="4732020"/>
            <a:ext cx="239776" cy="256032"/>
          </a:xfrm>
          <a:prstGeom prst="rect">
            <a:avLst/>
          </a:prstGeom>
          <a:solidFill>
            <a:srgbClr val="7F7F7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42900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758692" y="4732020"/>
            <a:ext cx="239776" cy="256032"/>
          </a:xfrm>
          <a:prstGeom prst="rect">
            <a:avLst/>
          </a:prstGeom>
          <a:solidFill>
            <a:srgbClr val="77777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372872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058412" y="4732020"/>
            <a:ext cx="239776" cy="256032"/>
          </a:xfrm>
          <a:prstGeom prst="rect">
            <a:avLst/>
          </a:prstGeom>
          <a:solidFill>
            <a:srgbClr val="8C8C8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02844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358132" y="4732020"/>
            <a:ext cx="239776" cy="256032"/>
          </a:xfrm>
          <a:prstGeom prst="rect">
            <a:avLst/>
          </a:prstGeom>
          <a:solidFill>
            <a:srgbClr val="A4A4A4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432816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50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657852" y="4732020"/>
            <a:ext cx="239776" cy="256032"/>
          </a:xfrm>
          <a:prstGeom prst="rect">
            <a:avLst/>
          </a:prstGeom>
          <a:solidFill>
            <a:srgbClr val="4646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62788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73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4957572" y="4732020"/>
            <a:ext cx="239776" cy="256032"/>
          </a:xfrm>
          <a:prstGeom prst="rect">
            <a:avLst/>
          </a:prstGeom>
          <a:solidFill>
            <a:srgbClr val="B4B4B4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492760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46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5257292" y="4732020"/>
            <a:ext cx="239776" cy="256032"/>
          </a:xfrm>
          <a:prstGeom prst="rect">
            <a:avLst/>
          </a:prstGeom>
          <a:solidFill>
            <a:srgbClr val="4A4A4A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522732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72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5557012" y="4732020"/>
            <a:ext cx="239776" cy="256032"/>
          </a:xfrm>
          <a:prstGeom prst="rect">
            <a:avLst/>
          </a:prstGeom>
          <a:solidFill>
            <a:srgbClr val="52525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552704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5856732" y="4732020"/>
            <a:ext cx="239776" cy="256032"/>
          </a:xfrm>
          <a:prstGeom prst="rect">
            <a:avLst/>
          </a:prstGeom>
          <a:solidFill>
            <a:srgbClr val="B0B0B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582676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47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156452" y="4732020"/>
            <a:ext cx="239776" cy="256032"/>
          </a:xfrm>
          <a:prstGeom prst="rect">
            <a:avLst/>
          </a:prstGeom>
          <a:solidFill>
            <a:srgbClr val="6B6B6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12648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456172" y="4732020"/>
            <a:ext cx="239776" cy="256032"/>
          </a:xfrm>
          <a:prstGeom prst="rect">
            <a:avLst/>
          </a:prstGeom>
          <a:solidFill>
            <a:srgbClr val="87878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42620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6755892" y="4732020"/>
            <a:ext cx="239776" cy="256032"/>
          </a:xfrm>
          <a:prstGeom prst="rect">
            <a:avLst/>
          </a:prstGeom>
          <a:solidFill>
            <a:srgbClr val="7B7B7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672592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7055612" y="4732020"/>
            <a:ext cx="239776" cy="256032"/>
          </a:xfrm>
          <a:prstGeom prst="rect">
            <a:avLst/>
          </a:prstGeom>
          <a:solidFill>
            <a:srgbClr val="42424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702564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74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7355332" y="4732020"/>
            <a:ext cx="239776" cy="256032"/>
          </a:xfrm>
          <a:prstGeom prst="rect">
            <a:avLst/>
          </a:prstGeom>
          <a:solidFill>
            <a:srgbClr val="90909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732536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655052" y="4732020"/>
            <a:ext cx="239776" cy="256032"/>
          </a:xfrm>
          <a:prstGeom prst="rect">
            <a:avLst/>
          </a:prstGeom>
          <a:solidFill>
            <a:srgbClr val="6F6F6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762508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7954772" y="4732020"/>
            <a:ext cx="239776" cy="256032"/>
          </a:xfrm>
          <a:prstGeom prst="rect">
            <a:avLst/>
          </a:prstGeom>
          <a:solidFill>
            <a:srgbClr val="A0A0A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92480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8254492" y="4732020"/>
            <a:ext cx="239776" cy="256032"/>
          </a:xfrm>
          <a:prstGeom prst="rect">
            <a:avLst/>
          </a:prstGeom>
          <a:solidFill>
            <a:srgbClr val="4A4A4A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22452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72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8554212" y="4732020"/>
            <a:ext cx="239776" cy="256032"/>
          </a:xfrm>
          <a:prstGeom prst="rect">
            <a:avLst/>
          </a:prstGeom>
          <a:solidFill>
            <a:srgbClr val="5A5A5A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852424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8853932" y="4732020"/>
            <a:ext cx="239776" cy="256032"/>
          </a:xfrm>
          <a:prstGeom prst="rect">
            <a:avLst/>
          </a:prstGeom>
          <a:solidFill>
            <a:srgbClr val="6B6B6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882396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9153652" y="4732020"/>
            <a:ext cx="239776" cy="256032"/>
          </a:xfrm>
          <a:prstGeom prst="rect">
            <a:avLst/>
          </a:prstGeom>
          <a:solidFill>
            <a:srgbClr val="83838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12368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9453372" y="4732020"/>
            <a:ext cx="239776" cy="256032"/>
          </a:xfrm>
          <a:prstGeom prst="rect">
            <a:avLst/>
          </a:prstGeom>
          <a:solidFill>
            <a:srgbClr val="83838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942340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753092" y="4732020"/>
            <a:ext cx="239776" cy="256032"/>
          </a:xfrm>
          <a:prstGeom prst="rect">
            <a:avLst/>
          </a:prstGeom>
          <a:solidFill>
            <a:srgbClr val="A4A4A4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972312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50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0052812" y="4732020"/>
            <a:ext cx="239776" cy="256032"/>
          </a:xfrm>
          <a:prstGeom prst="rect">
            <a:avLst/>
          </a:prstGeom>
          <a:solidFill>
            <a:srgbClr val="67676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02284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10352532" y="4732020"/>
            <a:ext cx="239776" cy="256032"/>
          </a:xfrm>
          <a:prstGeom prst="rect">
            <a:avLst/>
          </a:prstGeom>
          <a:solidFill>
            <a:srgbClr val="6B6B6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032256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10652252" y="4732020"/>
            <a:ext cx="239776" cy="256032"/>
          </a:xfrm>
          <a:prstGeom prst="rect">
            <a:avLst/>
          </a:prstGeom>
          <a:solidFill>
            <a:srgbClr val="77777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1062228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0951972" y="4732020"/>
            <a:ext cx="239776" cy="256032"/>
          </a:xfrm>
          <a:prstGeom prst="rect">
            <a:avLst/>
          </a:prstGeom>
          <a:solidFill>
            <a:srgbClr val="A0A0A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0922000" y="4732020"/>
            <a:ext cx="2997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914400" y="5262372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cT: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371600" y="5289804"/>
            <a:ext cx="201168" cy="128016"/>
          </a:xfrm>
          <a:prstGeom prst="rect">
            <a:avLst/>
          </a:prstGeom>
          <a:solidFill>
            <a:srgbClr val="A8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1609344" y="5280660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T2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2194560" y="5289804"/>
            <a:ext cx="201168" cy="128016"/>
          </a:xfrm>
          <a:prstGeom prst="rect">
            <a:avLst/>
          </a:prstGeom>
          <a:solidFill>
            <a:srgbClr val="7DA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2432304" y="5280660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T2/T3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017520" y="5289804"/>
            <a:ext cx="201168" cy="12801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3255264" y="5280660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T3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3840480" y="5289804"/>
            <a:ext cx="201168" cy="128016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4078224" y="5280660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T4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029200" y="5262372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sex: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5577840" y="5289804"/>
            <a:ext cx="201168" cy="128016"/>
          </a:xfrm>
          <a:prstGeom prst="rect">
            <a:avLst/>
          </a:prstGeom>
          <a:solidFill>
            <a:srgbClr val="3B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5815584" y="528066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M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309360" y="5289804"/>
            <a:ext cx="201168" cy="128016"/>
          </a:xfrm>
          <a:prstGeom prst="rect">
            <a:avLst/>
          </a:prstGeom>
          <a:solidFill>
            <a:srgbClr val="B4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547104" y="528066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F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772400" y="5262372"/>
            <a:ext cx="731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response: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8595360" y="5289804"/>
            <a:ext cx="201168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8833104" y="5280660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good (n=18)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9875520" y="5289804"/>
            <a:ext cx="201168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0113264" y="5280660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bad (n=17)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