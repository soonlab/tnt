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HLA class I allele frequency (pre-CRT, OptiType calls)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589520" cy="2743200"/>
          </a:xfrm>
          <a:prstGeom prst="rect">
            <a:avLst/>
          </a:prstGeom>
          <a:solidFill>
            <a:srgbClr val="F0F0F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2468880"/>
            <a:ext cx="7223760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28 matched tumor–normal pairs, OptiType HLA-A/B/C typing.
Allele frequencies comparable to KOR population reference (Gene et al.);
no single allele enriched in good vs bad responders.
Full OptiType calls in Table S9.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HLA class I homozygosity by response (pre-CRT)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589520" cy="2743200"/>
          </a:xfrm>
          <a:prstGeom prst="rect">
            <a:avLst/>
          </a:prstGeom>
          <a:solidFill>
            <a:srgbClr val="F0F0F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2468880"/>
            <a:ext cx="7223760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Homozygosity prevalence: good 4/16 vs bad 3/12 (Fisher P = 1.0).
Comparable to pan-cancer ICB cohorts (Chowell Science 2018).
No evidence for HLA homozygosity driving response in MSS LARC.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Strict vs LOHHLA-lite LOH criteria — identical direction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589520" cy="2743200"/>
          </a:xfrm>
          <a:prstGeom prst="rect">
            <a:avLst/>
          </a:prstGeom>
          <a:solidFill>
            <a:srgbClr val="F0F0F0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2468880"/>
            <a:ext cx="7223760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Strict (Bonferroni-corrected IMGT): 2/16 good vs 0/12 bad (Fisher P = 0.49).
Lite (|Δratio| ≥ 0.15, Fisher P &lt; 0.05 uncorrected): 4/16 vs 2/12.
Direction consistent across stringency tiers — strict P value reflects
discovery-stage low event count, not criterion choice.
Per-locus detail in Table S9.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Pre-CRT MHC-I neoantigen burden by response (pVACseq binder count)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0" y="5943600"/>
            <a:ext cx="45720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657600" y="137160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29600" y="137160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57600" y="1371600"/>
            <a:ext cx="45720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9359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3592" y="518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54680" y="509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4419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80" y="4337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50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3592" y="3657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80" y="3575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75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2" y="2895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54680" y="2813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93592" y="213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54680" y="205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93592" y="137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54680" y="128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65176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n mutation sites with ≥ 1 MHC-I binder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4800600" y="2740632"/>
            <a:ext cx="0" cy="212902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94860" y="4869656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4860" y="2740632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389120" y="3986524"/>
            <a:ext cx="822960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389120" y="3787606"/>
            <a:ext cx="822960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936010" y="27086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14733" y="274287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92663" y="320348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58072" y="327648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73530" y="334057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09544" y="336851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963433" y="35238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701516" y="375560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44050" y="38140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03795" y="381405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52798" y="395381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0503" y="395522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36797" y="395750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74627" y="472282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766096" y="483765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86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A7D6E"/>
                </a:solidFill>
                <a:latin typeface="Arial"/>
              </a:rPr>
              <a:t>good (n=15)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7086600" y="2949115"/>
            <a:ext cx="0" cy="1938184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880860" y="4887299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80860" y="2949115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675120" y="4611084"/>
            <a:ext cx="822960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675120" y="4296961"/>
            <a:ext cx="82296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7030191" y="291711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115722" y="364798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987300" y="368919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979099" y="382553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995306" y="385463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015703" y="405131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978222" y="426495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50575" y="427696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71127" y="450880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902437" y="457908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021642" y="467172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91577" y="484695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251186" y="485529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53E1F"/>
                </a:solidFill>
                <a:latin typeface="Arial"/>
              </a:rPr>
              <a:t>bad (n=13)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822960"/>
            <a:ext cx="4572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1">
                <a:solidFill>
                  <a:srgbClr val="222222"/>
                </a:solidFill>
                <a:latin typeface="Arial"/>
              </a:rPr>
              <a:t>Mann–Whitney P = 0.082 (trend)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Paired Δ MHC-I binder count (n = 11; within-good significant, between-group exploratory)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0" y="5943600"/>
            <a:ext cx="45720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657600" y="137160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29600" y="137160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57600" y="1371600"/>
            <a:ext cx="45720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9359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-800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3592" y="518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54680" y="509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-600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4419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80" y="4337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-400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3592" y="3657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80" y="3575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-200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2" y="2895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54680" y="2813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93592" y="213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54680" y="205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93592" y="1371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54680" y="1289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65176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Δ MHC-I binders (post − pre)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0" y="2895600"/>
            <a:ext cx="4572000" cy="0"/>
          </a:xfrm>
          <a:prstGeom prst="line">
            <a:avLst/>
          </a:prstGeom>
          <a:ln w="889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800600" y="3364230"/>
            <a:ext cx="0" cy="174117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4860" y="5105400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94860" y="3364230"/>
            <a:ext cx="41148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389120" y="4429125"/>
            <a:ext cx="822960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389120" y="4156710"/>
            <a:ext cx="822960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936010" y="333222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14733" y="38160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92663" y="40523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758072" y="41970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73530" y="44637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709544" y="507339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A7D6E"/>
                </a:solidFill>
                <a:latin typeface="Arial"/>
              </a:rPr>
              <a:t>good (n=6)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7086600" y="2438400"/>
            <a:ext cx="0" cy="76200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880860" y="3200400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80860" y="2438400"/>
            <a:ext cx="41148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675120" y="3048000"/>
            <a:ext cx="822960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675120" y="2971800"/>
            <a:ext cx="82296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7030191" y="24063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15722" y="24825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87300" y="29397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79099" y="30159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306" y="31683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6035040"/>
            <a:ext cx="1828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53E1F"/>
                </a:solidFill>
                <a:latin typeface="Arial"/>
              </a:rPr>
              <a:t>bad (n=5)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822960"/>
            <a:ext cx="45720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1">
                <a:solidFill>
                  <a:srgbClr val="222222"/>
                </a:solidFill>
                <a:latin typeface="Arial"/>
              </a:rPr>
              <a:t>within-good BCa CI [-626, -123] excludes 0; between-group MW P = 0.19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Per-subject neoantigen Δ lollipop (n = 11 paired subjects)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63040" y="5760720"/>
            <a:ext cx="10058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6304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144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63040" y="1188720"/>
            <a:ext cx="10058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99032" y="5760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0120" y="5678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-800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99032" y="4929447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4847151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-600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99032" y="4098175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4015879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-400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99032" y="3266902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0120" y="3184606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-200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99032" y="2435629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0120" y="2353333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99032" y="1604356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60120" y="1522060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+200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4688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Δ MHC-I binders (post − pre)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63040" y="2435629"/>
            <a:ext cx="10058400" cy="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82140" y="2435629"/>
            <a:ext cx="0" cy="2410691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799844" y="4764024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0A7D6E"/>
                </a:solidFill>
                <a:latin typeface="Arial"/>
              </a:rPr>
              <a:t>subj 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0340" y="2435629"/>
            <a:ext cx="0" cy="1745673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638044" y="4099006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012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0A7D6E"/>
                </a:solidFill>
                <a:latin typeface="Arial"/>
              </a:rPr>
              <a:t>subj 6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558540" y="2435629"/>
            <a:ext cx="0" cy="1454727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476244" y="3808060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394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0A7D6E"/>
                </a:solidFill>
                <a:latin typeface="Arial"/>
              </a:rPr>
              <a:t>subj 9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96740" y="2435629"/>
            <a:ext cx="0" cy="1296786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314444" y="3650119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0A7D6E"/>
                </a:solidFill>
                <a:latin typeface="Arial"/>
              </a:rPr>
              <a:t>subj 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234940" y="2435629"/>
            <a:ext cx="0" cy="1039091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152644" y="3392424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158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0A7D6E"/>
                </a:solidFill>
                <a:latin typeface="Arial"/>
              </a:rPr>
              <a:t>subj 8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6073140" y="2269375"/>
            <a:ext cx="0" cy="166254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990844" y="2187079"/>
            <a:ext cx="164592" cy="164592"/>
          </a:xfrm>
          <a:prstGeom prst="ellipse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40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0A7D6E"/>
                </a:solidFill>
                <a:latin typeface="Arial"/>
              </a:rPr>
              <a:t>subj 14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6911340" y="2019993"/>
            <a:ext cx="0" cy="415636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829044" y="1937697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53E1F"/>
                </a:solidFill>
                <a:latin typeface="Arial"/>
              </a:rPr>
              <a:t>subj 10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749540" y="2435629"/>
            <a:ext cx="0" cy="332509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667244" y="2685842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304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53E1F"/>
                </a:solidFill>
                <a:latin typeface="Arial"/>
              </a:rPr>
              <a:t>subj 11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587740" y="2435629"/>
            <a:ext cx="0" cy="166255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8505444" y="2519588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686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53E1F"/>
                </a:solidFill>
                <a:latin typeface="Arial"/>
              </a:rPr>
              <a:t>subj 13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9425940" y="1936865"/>
            <a:ext cx="0" cy="498764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343644" y="1854569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068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53E1F"/>
                </a:solidFill>
                <a:latin typeface="Arial"/>
              </a:rPr>
              <a:t>subj 5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264140" y="2435629"/>
            <a:ext cx="0" cy="83127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181844" y="2436460"/>
            <a:ext cx="164592" cy="164592"/>
          </a:xfrm>
          <a:prstGeom prst="ellipse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45040" y="5806440"/>
            <a:ext cx="838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C53E1F"/>
                </a:solidFill>
                <a:latin typeface="Arial"/>
              </a:rPr>
              <a:t>subj 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63040" y="6263640"/>
            <a:ext cx="100584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222222"/>
                </a:solidFill>
                <a:latin typeface="Arial"/>
              </a:rPr>
              <a:t>Subjects 2/6/9 lose &gt; 300 binders each (within-good BCa CI excludes 0). Subj 14 (pCR) atypically gains neoantigens, consistent with sparse residual tumor at post sampling.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