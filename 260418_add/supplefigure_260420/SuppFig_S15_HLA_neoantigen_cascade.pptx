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HLA class-I allele frequency across 28 normal samples — top 15 alleles by subject carriers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00400" y="6035040"/>
            <a:ext cx="68580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00400" y="1188720"/>
            <a:ext cx="0" cy="484632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0" y="1188720"/>
            <a:ext cx="0" cy="484632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0" y="1188720"/>
            <a:ext cx="68580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8346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862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5204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062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2578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8920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436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778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636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3152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494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12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0010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6352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14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210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16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726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068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18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0058400" y="6035040"/>
            <a:ext cx="0" cy="64008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692640" y="6089904"/>
            <a:ext cx="731520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222222"/>
                </a:solidFill>
                <a:latin typeface="Arial"/>
              </a:rPr>
              <a:t>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6382512"/>
            <a:ext cx="6858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number of subject carriers (out of 28)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1253338"/>
            <a:ext cx="6172200" cy="193853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1204874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HLA-A*24:02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09176" y="1237183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4E79A7"/>
                </a:solidFill>
                <a:latin typeface="Arial"/>
              </a:rPr>
              <a:t>18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0" y="1576426"/>
            <a:ext cx="4114800" cy="193853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1527962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HLA-A*33:03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51776" y="1560271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4E79A7"/>
                </a:solidFill>
                <a:latin typeface="Arial"/>
              </a:rPr>
              <a:t>12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0" y="1899514"/>
            <a:ext cx="4114800" cy="193853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1851050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HLA-C*01:02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51776" y="1883359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9A14F"/>
                </a:solidFill>
                <a:latin typeface="Arial"/>
              </a:rPr>
              <a:t>12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2222602"/>
            <a:ext cx="3429000" cy="193853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2174138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HLA-A*02:01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65976" y="2206447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4E79A7"/>
                </a:solidFill>
                <a:latin typeface="Arial"/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0" y="2545690"/>
            <a:ext cx="2057400" cy="193853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2497226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HLA-B*51:01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294376" y="2529535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28E2B"/>
                </a:solidFill>
                <a:latin typeface="Arial"/>
              </a:rPr>
              <a:t>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0" y="2868778"/>
            <a:ext cx="2057400" cy="193853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" y="2820314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HLA-B*46:01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94376" y="2852623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28E2B"/>
                </a:solidFill>
                <a:latin typeface="Arial"/>
              </a:rPr>
              <a:t>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0" y="3191866"/>
            <a:ext cx="2057400" cy="193853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3143402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HLA-B*44:03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94376" y="3175711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28E2B"/>
                </a:solidFill>
                <a:latin typeface="Arial"/>
              </a:rPr>
              <a:t>6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0" y="3514954"/>
            <a:ext cx="2057400" cy="193853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3466490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HLA-C*14:02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94376" y="3498799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9A14F"/>
                </a:solidFill>
                <a:latin typeface="Arial"/>
              </a:rPr>
              <a:t>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0" y="3838042"/>
            <a:ext cx="2057400" cy="193853"/>
          </a:xfrm>
          <a:prstGeom prst="rect">
            <a:avLst/>
          </a:prstGeom>
          <a:solidFill>
            <a:srgbClr val="F28E2B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3789578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HLA-B*15:01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294376" y="3821887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F28E2B"/>
                </a:solidFill>
                <a:latin typeface="Arial"/>
              </a:rPr>
              <a:t>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0" y="4161130"/>
            <a:ext cx="1714500" cy="193853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0080" y="4112666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HLA-C*03:04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951476" y="4144975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9A14F"/>
                </a:solidFill>
                <a:latin typeface="Arial"/>
              </a:rPr>
              <a:t>5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0" y="4484218"/>
            <a:ext cx="1714500" cy="193853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4435754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HLA-C*03:03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51476" y="4468063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9A14F"/>
                </a:solidFill>
                <a:latin typeface="Arial"/>
              </a:rPr>
              <a:t>5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200400" y="4807306"/>
            <a:ext cx="1371600" cy="193853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0080" y="4758842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HLA-C*04:01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608576" y="4791151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9A14F"/>
                </a:solidFill>
                <a:latin typeface="Arial"/>
              </a:rPr>
              <a:t>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0" y="5130394"/>
            <a:ext cx="1371600" cy="193853"/>
          </a:xfrm>
          <a:prstGeom prst="rect">
            <a:avLst/>
          </a:prstGeom>
          <a:solidFill>
            <a:srgbClr val="59A14F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5081930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HLA-C*07:06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608576" y="5114239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59A14F"/>
                </a:solidFill>
                <a:latin typeface="Arial"/>
              </a:rPr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00400" y="5453482"/>
            <a:ext cx="1371600" cy="193853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0080" y="5405018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HLA-A*31:01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608576" y="5437327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4E79A7"/>
                </a:solidFill>
                <a:latin typeface="Arial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00400" y="5776570"/>
            <a:ext cx="1371600" cy="193853"/>
          </a:xfrm>
          <a:prstGeom prst="rect">
            <a:avLst/>
          </a:prstGeom>
          <a:solidFill>
            <a:srgbClr val="4E79A7"/>
          </a:solidFill>
          <a:ln w="381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728106"/>
            <a:ext cx="2468880" cy="29077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HLA-A*11:01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608576" y="5760415"/>
            <a:ext cx="457200" cy="226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 i="0">
                <a:solidFill>
                  <a:srgbClr val="4E79A7"/>
                </a:solidFill>
                <a:latin typeface="Arial"/>
              </a:rPr>
              <a:t>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1280160"/>
            <a:ext cx="137160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>
                <a:solidFill>
                  <a:srgbClr val="222222"/>
                </a:solidFill>
                <a:latin typeface="Arial"/>
              </a:rPr>
              <a:t>Locus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41280" y="1554480"/>
            <a:ext cx="164592" cy="128016"/>
          </a:xfrm>
          <a:prstGeom prst="rect">
            <a:avLst/>
          </a:prstGeom>
          <a:solidFill>
            <a:srgbClr val="4E7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442448" y="1536192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HLA-A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0241280" y="1810512"/>
            <a:ext cx="164592" cy="128016"/>
          </a:xfrm>
          <a:prstGeom prst="rect">
            <a:avLst/>
          </a:prstGeom>
          <a:solidFill>
            <a:srgbClr val="F28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0442448" y="1792224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HLA-B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241280" y="2066544"/>
            <a:ext cx="164592" cy="128016"/>
          </a:xfrm>
          <a:prstGeom prst="rect">
            <a:avLst/>
          </a:prstGeom>
          <a:solidFill>
            <a:srgbClr val="59A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442448" y="2048256"/>
            <a:ext cx="118872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Arial"/>
              </a:rPr>
              <a:t>HLA-C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200400" y="6263640"/>
            <a:ext cx="68580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 i="1">
                <a:solidFill>
                  <a:srgbClr val="222222"/>
                </a:solidFill>
                <a:latin typeface="Arial"/>
              </a:rPr>
              <a:t>Frequencies consistent with KOR population reference. No single allele enriched in good vs bad responders.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HLA class-I homozygosity per locus by response (n = 28 matched-normal typed subjects)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5760720"/>
            <a:ext cx="64008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1188720"/>
            <a:ext cx="64008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7919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028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2" y="499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491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4236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40280" y="4154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6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9192" y="3474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40280" y="3392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9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9192" y="2712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40280" y="2630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9192" y="195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40280" y="186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791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2402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452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 homozygous subjects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9920" y="585216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HLA-A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1632" y="4744720"/>
            <a:ext cx="585216" cy="1016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78480" y="4506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4/16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83152" y="5760720"/>
            <a:ext cx="585216" cy="1828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0000" y="5522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0/12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585216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HLA-B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285232" y="5506720"/>
            <a:ext cx="585216" cy="2540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80" y="5268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1/16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16752" y="5760720"/>
            <a:ext cx="585216" cy="1828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0" y="5522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0/12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37120" y="5852160"/>
            <a:ext cx="128016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222222"/>
                </a:solidFill>
                <a:latin typeface="Arial"/>
              </a:rPr>
              <a:t>HLA-C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18832" y="5760720"/>
            <a:ext cx="585216" cy="18288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45680" y="5522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7D6E"/>
                </a:solidFill>
                <a:latin typeface="Arial"/>
              </a:rPr>
              <a:t>0/16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50352" y="5760720"/>
            <a:ext cx="585216" cy="1828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77200" y="5522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C53E1F"/>
                </a:solidFill>
                <a:latin typeface="Arial"/>
              </a:rPr>
              <a:t>0/12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6263640"/>
            <a:ext cx="6400800" cy="27432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222222"/>
                </a:solidFill>
                <a:latin typeface="Arial"/>
              </a:rPr>
              <a:t>Overall homozygosity (≥ 1 locus) comparable across response groups; Fisher P not significant at any locus.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HLA class-I LOH prevalence — strict Bonferroni IMGT vs LOHHLA-lite (identical direction)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743200" y="5760720"/>
            <a:ext cx="64008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743200" y="118872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144000" y="118872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2743200" y="1188720"/>
            <a:ext cx="64008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2679192" y="5760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240280" y="5678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79192" y="48463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240280" y="47640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9192" y="39319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240280" y="38496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79192" y="30175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240280" y="29352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79192" y="21031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240280" y="20208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79192" y="118872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240280" y="110642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20" y="246888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 subjects with ≥1 HLA class-I LOH (pre-CRT)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852160"/>
            <a:ext cx="219456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Bonferroni-strict
IMGT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43884" y="3931920"/>
            <a:ext cx="621792" cy="18288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89020" y="36941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7D6E"/>
                </a:solidFill>
                <a:latin typeface="Arial"/>
              </a:rPr>
              <a:t>2/7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21124" y="5760720"/>
            <a:ext cx="621792" cy="1828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6260" y="5522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53E1F"/>
                </a:solidFill>
                <a:latin typeface="Arial"/>
              </a:rPr>
              <a:t>0/6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852160"/>
            <a:ext cx="219456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222222"/>
                </a:solidFill>
                <a:latin typeface="Arial"/>
              </a:rPr>
              <a:t>LOHHLA-lite
(uncorrected)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44284" y="3017520"/>
            <a:ext cx="621792" cy="2743200"/>
          </a:xfrm>
          <a:prstGeom prst="rect">
            <a:avLst/>
          </a:prstGeom>
          <a:solidFill>
            <a:srgbClr val="0A7D6E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89420" y="27797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7D6E"/>
                </a:solidFill>
                <a:latin typeface="Arial"/>
              </a:rPr>
              <a:t>3/7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21524" y="5760720"/>
            <a:ext cx="621792" cy="18288"/>
          </a:xfrm>
          <a:prstGeom prst="rect">
            <a:avLst/>
          </a:prstGeom>
          <a:solidFill>
            <a:srgbClr val="C53E1F"/>
          </a:solidFill>
          <a:ln w="508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6660" y="5522976"/>
            <a:ext cx="731520" cy="20116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53E1F"/>
                </a:solidFill>
                <a:latin typeface="Arial"/>
              </a:rPr>
              <a:t>0/6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777240"/>
            <a:ext cx="6400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222222"/>
                </a:solidFill>
                <a:latin typeface="Arial"/>
              </a:rPr>
              <a:t>strict: 2/7 good vs 0/6 bad (Fisher P ≈ 0.49); lite: 3/7 vs 0/6. Direction consistent.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Pre-CRT MHC-I neoantigen burden by response (neoantigen proxy count)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0" y="5943600"/>
            <a:ext cx="4572000" cy="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657600" y="1371600"/>
            <a:ext cx="0" cy="4572000"/>
          </a:xfrm>
          <a:prstGeom prst="line">
            <a:avLst/>
          </a:prstGeom>
          <a:ln w="12700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229600" y="1371600"/>
            <a:ext cx="0" cy="457200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657600" y="1371600"/>
            <a:ext cx="4572000" cy="0"/>
          </a:xfrm>
          <a:prstGeom prst="line">
            <a:avLst/>
          </a:prstGeom>
          <a:ln w="6350">
            <a:solidFill>
              <a:srgbClr val="DDDDD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593592" y="59436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154680" y="58613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93592" y="50292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54680" y="49469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432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93592" y="41148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154680" y="40325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864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93592" y="32004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154680" y="31181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1296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593592" y="22860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154680" y="22037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1728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93592" y="1371600"/>
            <a:ext cx="64008" cy="0"/>
          </a:xfrm>
          <a:prstGeom prst="line">
            <a:avLst/>
          </a:prstGeom>
          <a:ln w="9525">
            <a:solidFill>
              <a:srgbClr val="22222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154680" y="1289304"/>
            <a:ext cx="438912" cy="1645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800" b="0" i="0">
                <a:solidFill>
                  <a:srgbClr val="222222"/>
                </a:solidFill>
                <a:latin typeface="Arial"/>
              </a:rPr>
              <a:t>2160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2651760"/>
            <a:ext cx="365760" cy="20116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2"/>
                </a:solidFill>
                <a:latin typeface="Arial"/>
              </a:rPr>
              <a:t>neoantigen proxy count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800600" y="2387106"/>
            <a:ext cx="0" cy="352474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94860" y="5911846"/>
            <a:ext cx="41148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594860" y="2387106"/>
            <a:ext cx="411480" cy="0"/>
          </a:xfrm>
          <a:prstGeom prst="line">
            <a:avLst/>
          </a:prstGeom>
          <a:ln w="1016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4389120" y="5426606"/>
            <a:ext cx="822960" cy="1"/>
          </a:xfrm>
          <a:prstGeom prst="rect">
            <a:avLst/>
          </a:prstGeom>
          <a:noFill/>
          <a:ln w="10160">
            <a:solidFill>
              <a:srgbClr val="0A7D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4389120" y="4997319"/>
            <a:ext cx="822960" cy="0"/>
          </a:xfrm>
          <a:prstGeom prst="line">
            <a:avLst/>
          </a:prstGeom>
          <a:ln w="31750">
            <a:solidFill>
              <a:srgbClr val="0A7D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936010" y="235510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14733" y="273615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792663" y="3142611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758072" y="451440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73530" y="467952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09544" y="473033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963433" y="4863700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4701516" y="4870051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644050" y="4908157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903795" y="5022473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952798" y="513890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570503" y="5154190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936797" y="537545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574627" y="5400985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4766096" y="5428929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829223" y="5673311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573482" y="5869257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4674555" y="5879842"/>
            <a:ext cx="64008" cy="64008"/>
          </a:xfrm>
          <a:prstGeom prst="ellipse">
            <a:avLst/>
          </a:prstGeom>
          <a:solidFill>
            <a:srgbClr val="0A7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886200" y="6035040"/>
            <a:ext cx="1828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0A7D6E"/>
                </a:solidFill>
                <a:latin typeface="Arial"/>
              </a:rPr>
              <a:t>good (n=18)</a:t>
            </a:r>
          </a:p>
        </p:txBody>
      </p:sp>
      <p:cxnSp>
        <p:nvCxnSpPr>
          <p:cNvPr id="45" name="Connector 44"/>
          <p:cNvCxnSpPr/>
          <p:nvPr/>
        </p:nvCxnSpPr>
        <p:spPr>
          <a:xfrm flipV="1">
            <a:off x="7086600" y="1967948"/>
            <a:ext cx="0" cy="3937547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6880860" y="5905495"/>
            <a:ext cx="41148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880860" y="1967948"/>
            <a:ext cx="411480" cy="0"/>
          </a:xfrm>
          <a:prstGeom prst="line">
            <a:avLst/>
          </a:prstGeom>
          <a:ln w="1016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675120" y="5448231"/>
            <a:ext cx="822960" cy="1"/>
          </a:xfrm>
          <a:prstGeom prst="rect">
            <a:avLst/>
          </a:prstGeom>
          <a:noFill/>
          <a:ln w="10160">
            <a:solidFill>
              <a:srgbClr val="C53E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6675120" y="5079880"/>
            <a:ext cx="822960" cy="0"/>
          </a:xfrm>
          <a:prstGeom prst="line">
            <a:avLst/>
          </a:prstGeom>
          <a:ln w="31750">
            <a:solidFill>
              <a:srgbClr val="C53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7030191" y="1935944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115722" y="2075663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987300" y="3159547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6979099" y="354060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995306" y="3790401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7015703" y="471763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978222" y="483194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850575" y="4844648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171127" y="5047876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902437" y="5073280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021642" y="5162192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91577" y="5315883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251186" y="5416227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245310" y="5555947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965460" y="5562679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977284" y="5809982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138224" y="5873491"/>
            <a:ext cx="64008" cy="64008"/>
          </a:xfrm>
          <a:prstGeom prst="ellipse">
            <a:avLst/>
          </a:prstGeom>
          <a:solidFill>
            <a:srgbClr val="C53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172200" y="6035040"/>
            <a:ext cx="18288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C53E1F"/>
                </a:solidFill>
                <a:latin typeface="Arial"/>
              </a:rPr>
              <a:t>bad (n=17)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57600" y="822960"/>
            <a:ext cx="4572000" cy="1828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0" i="1">
                <a:solidFill>
                  <a:srgbClr val="222222"/>
                </a:solidFill>
                <a:latin typeface="Arial"/>
              </a:rPr>
              <a:t>Mann–Whitney P = 0.856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Paired Δ MHC-I binders (n = 11; within-good BCa CI excludes 0)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Within-good median Δ binders = −312 [BCa 95 % CI −626, −123].
Between-group Mann–Whitney P = 0.19 — exploratory; framed as cascade phenomenology.
Per-subject pVACseq output pending full paired-binder regeneration (see Methods §3.6).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41148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Per-subject neoantigen Δ lollipop (n = 11 paired subjects)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Subjects 2/6/9 each lose &gt; 300 MHC-I binders; subj 14 (pCR) atypically gains.
Per-subject data in neoantigen_proxy_summary.tsv; full pVACseq Δ in Table S10.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