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28600"/>
            <a:ext cx="411480" cy="4114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222222"/>
                </a:solidFill>
                <a:latin typeface="Arial"/>
              </a:rPr>
              <a:t>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20040"/>
            <a:ext cx="1051560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222222"/>
                </a:solidFill>
                <a:latin typeface="Arial"/>
              </a:rPr>
              <a:t>Per-subject cluster CCF trajectories pre → post (only clusters with π &gt; 1)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2453640"/>
            <a:ext cx="2377440" cy="0"/>
          </a:xfrm>
          <a:prstGeom prst="line">
            <a:avLst/>
          </a:prstGeom>
          <a:ln w="889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85800" y="1325880"/>
            <a:ext cx="0" cy="1127760"/>
          </a:xfrm>
          <a:prstGeom prst="line">
            <a:avLst/>
          </a:prstGeom>
          <a:ln w="889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49224" y="2453640"/>
            <a:ext cx="36576" cy="0"/>
          </a:xfrm>
          <a:prstGeom prst="line">
            <a:avLst/>
          </a:prstGeom>
          <a:ln w="635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11480" y="2389632"/>
            <a:ext cx="256032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0.0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49224" y="1889760"/>
            <a:ext cx="36576" cy="0"/>
          </a:xfrm>
          <a:prstGeom prst="line">
            <a:avLst/>
          </a:prstGeom>
          <a:ln w="635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11480" y="1825752"/>
            <a:ext cx="256032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0.5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49224" y="1325880"/>
            <a:ext cx="36576" cy="0"/>
          </a:xfrm>
          <a:prstGeom prst="line">
            <a:avLst/>
          </a:prstGeom>
          <a:ln w="635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11480" y="1261872"/>
            <a:ext cx="256032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1.0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3544" y="2481072"/>
            <a:ext cx="71323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pre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12264" y="2481072"/>
            <a:ext cx="71323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post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1161288"/>
            <a:ext cx="23774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0A7D6E"/>
                </a:solidFill>
                <a:latin typeface="Arial"/>
              </a:rPr>
              <a:t>s2 (good)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280160" y="1889696"/>
            <a:ext cx="1188720" cy="812"/>
          </a:xfrm>
          <a:prstGeom prst="line">
            <a:avLst/>
          </a:prstGeom>
          <a:ln w="762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1243584" y="1853120"/>
            <a:ext cx="73152" cy="73152"/>
          </a:xfrm>
          <a:prstGeom prst="ellipse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432304" y="1853932"/>
            <a:ext cx="73152" cy="73152"/>
          </a:xfrm>
          <a:prstGeom prst="ellipse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1280160" y="2034846"/>
            <a:ext cx="1188720" cy="212647"/>
          </a:xfrm>
          <a:prstGeom prst="line">
            <a:avLst/>
          </a:prstGeom>
          <a:ln w="762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1243584" y="1998270"/>
            <a:ext cx="73152" cy="73152"/>
          </a:xfrm>
          <a:prstGeom prst="ellipse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432304" y="2210917"/>
            <a:ext cx="73152" cy="73152"/>
          </a:xfrm>
          <a:prstGeom prst="ellipse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1280160" y="1889696"/>
            <a:ext cx="1188720" cy="812"/>
          </a:xfrm>
          <a:prstGeom prst="line">
            <a:avLst/>
          </a:prstGeom>
          <a:ln w="762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1243584" y="1853120"/>
            <a:ext cx="73152" cy="73152"/>
          </a:xfrm>
          <a:prstGeom prst="ellipse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432304" y="1853932"/>
            <a:ext cx="73152" cy="73152"/>
          </a:xfrm>
          <a:prstGeom prst="ellipse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1280160" y="1889696"/>
            <a:ext cx="1188720" cy="812"/>
          </a:xfrm>
          <a:prstGeom prst="line">
            <a:avLst/>
          </a:prstGeom>
          <a:ln w="762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1243584" y="1853120"/>
            <a:ext cx="73152" cy="73152"/>
          </a:xfrm>
          <a:prstGeom prst="ellipse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432304" y="1853932"/>
            <a:ext cx="73152" cy="73152"/>
          </a:xfrm>
          <a:prstGeom prst="ellipse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1280160" y="1889696"/>
            <a:ext cx="1188720" cy="812"/>
          </a:xfrm>
          <a:prstGeom prst="line">
            <a:avLst/>
          </a:prstGeom>
          <a:ln w="762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1243584" y="1853120"/>
            <a:ext cx="73152" cy="73152"/>
          </a:xfrm>
          <a:prstGeom prst="ellipse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432304" y="1853932"/>
            <a:ext cx="73152" cy="73152"/>
          </a:xfrm>
          <a:prstGeom prst="ellipse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1280160" y="1889696"/>
            <a:ext cx="1188720" cy="812"/>
          </a:xfrm>
          <a:prstGeom prst="line">
            <a:avLst/>
          </a:prstGeom>
          <a:ln w="762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1243584" y="1853120"/>
            <a:ext cx="73152" cy="73152"/>
          </a:xfrm>
          <a:prstGeom prst="ellipse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432304" y="1853932"/>
            <a:ext cx="73152" cy="73152"/>
          </a:xfrm>
          <a:prstGeom prst="ellipse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1280160" y="1889696"/>
            <a:ext cx="1188720" cy="812"/>
          </a:xfrm>
          <a:prstGeom prst="line">
            <a:avLst/>
          </a:prstGeom>
          <a:ln w="762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1243584" y="1853120"/>
            <a:ext cx="73152" cy="73152"/>
          </a:xfrm>
          <a:prstGeom prst="ellipse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432304" y="1853932"/>
            <a:ext cx="73152" cy="73152"/>
          </a:xfrm>
          <a:prstGeom prst="ellipse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1280160" y="1889696"/>
            <a:ext cx="1188720" cy="812"/>
          </a:xfrm>
          <a:prstGeom prst="line">
            <a:avLst/>
          </a:prstGeom>
          <a:ln w="762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1243584" y="1853120"/>
            <a:ext cx="73152" cy="73152"/>
          </a:xfrm>
          <a:prstGeom prst="ellipse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432304" y="1853932"/>
            <a:ext cx="73152" cy="73152"/>
          </a:xfrm>
          <a:prstGeom prst="ellipse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>
            <a:off x="1280160" y="1889696"/>
            <a:ext cx="1188720" cy="812"/>
          </a:xfrm>
          <a:prstGeom prst="line">
            <a:avLst/>
          </a:prstGeom>
          <a:ln w="762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Oval 39"/>
          <p:cNvSpPr/>
          <p:nvPr/>
        </p:nvSpPr>
        <p:spPr>
          <a:xfrm>
            <a:off x="1243584" y="1853120"/>
            <a:ext cx="73152" cy="73152"/>
          </a:xfrm>
          <a:prstGeom prst="ellipse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2432304" y="1853932"/>
            <a:ext cx="73152" cy="73152"/>
          </a:xfrm>
          <a:prstGeom prst="ellipse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1280160" y="1889696"/>
            <a:ext cx="1188720" cy="812"/>
          </a:xfrm>
          <a:prstGeom prst="line">
            <a:avLst/>
          </a:prstGeom>
          <a:ln w="762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/>
          <p:cNvSpPr/>
          <p:nvPr/>
        </p:nvSpPr>
        <p:spPr>
          <a:xfrm>
            <a:off x="1243584" y="1853120"/>
            <a:ext cx="73152" cy="73152"/>
          </a:xfrm>
          <a:prstGeom prst="ellipse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2432304" y="1853932"/>
            <a:ext cx="73152" cy="73152"/>
          </a:xfrm>
          <a:prstGeom prst="ellipse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3520440" y="2453640"/>
            <a:ext cx="2377440" cy="0"/>
          </a:xfrm>
          <a:prstGeom prst="line">
            <a:avLst/>
          </a:prstGeom>
          <a:ln w="889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3520440" y="1325880"/>
            <a:ext cx="0" cy="1127760"/>
          </a:xfrm>
          <a:prstGeom prst="line">
            <a:avLst/>
          </a:prstGeom>
          <a:ln w="889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3483864" y="2453640"/>
            <a:ext cx="36576" cy="0"/>
          </a:xfrm>
          <a:prstGeom prst="line">
            <a:avLst/>
          </a:prstGeom>
          <a:ln w="635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3246120" y="2389632"/>
            <a:ext cx="256032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0.0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3483864" y="1889760"/>
            <a:ext cx="36576" cy="0"/>
          </a:xfrm>
          <a:prstGeom prst="line">
            <a:avLst/>
          </a:prstGeom>
          <a:ln w="635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3246120" y="1825752"/>
            <a:ext cx="256032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0.5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3483864" y="1325880"/>
            <a:ext cx="36576" cy="0"/>
          </a:xfrm>
          <a:prstGeom prst="line">
            <a:avLst/>
          </a:prstGeom>
          <a:ln w="635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3246120" y="1261872"/>
            <a:ext cx="256032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1.0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758184" y="2481072"/>
            <a:ext cx="71323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pre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946904" y="2481072"/>
            <a:ext cx="71323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post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520440" y="1161288"/>
            <a:ext cx="23774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0A7D6E"/>
                </a:solidFill>
                <a:latin typeface="Arial"/>
              </a:rPr>
              <a:t>s3 (good)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4114800" y="1884873"/>
            <a:ext cx="1188720" cy="4353"/>
          </a:xfrm>
          <a:prstGeom prst="line">
            <a:avLst/>
          </a:prstGeom>
          <a:ln w="762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Oval 56"/>
          <p:cNvSpPr/>
          <p:nvPr/>
        </p:nvSpPr>
        <p:spPr>
          <a:xfrm>
            <a:off x="4078224" y="1848297"/>
            <a:ext cx="73152" cy="73152"/>
          </a:xfrm>
          <a:prstGeom prst="ellipse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5266944" y="1852650"/>
            <a:ext cx="73152" cy="73152"/>
          </a:xfrm>
          <a:prstGeom prst="ellipse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4114800" y="1884873"/>
            <a:ext cx="1188720" cy="4353"/>
          </a:xfrm>
          <a:prstGeom prst="line">
            <a:avLst/>
          </a:prstGeom>
          <a:ln w="762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Oval 59"/>
          <p:cNvSpPr/>
          <p:nvPr/>
        </p:nvSpPr>
        <p:spPr>
          <a:xfrm>
            <a:off x="4078224" y="1848297"/>
            <a:ext cx="73152" cy="73152"/>
          </a:xfrm>
          <a:prstGeom prst="ellipse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5266944" y="1852650"/>
            <a:ext cx="73152" cy="73152"/>
          </a:xfrm>
          <a:prstGeom prst="ellipse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4114800" y="1325971"/>
            <a:ext cx="1188720" cy="759795"/>
          </a:xfrm>
          <a:prstGeom prst="line">
            <a:avLst/>
          </a:prstGeom>
          <a:ln w="23336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Oval 62"/>
          <p:cNvSpPr/>
          <p:nvPr/>
        </p:nvSpPr>
        <p:spPr>
          <a:xfrm>
            <a:off x="4078224" y="1289395"/>
            <a:ext cx="73152" cy="73152"/>
          </a:xfrm>
          <a:prstGeom prst="ellipse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5266944" y="2049190"/>
            <a:ext cx="73152" cy="73152"/>
          </a:xfrm>
          <a:prstGeom prst="ellipse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" name="Connector 64"/>
          <p:cNvCxnSpPr/>
          <p:nvPr/>
        </p:nvCxnSpPr>
        <p:spPr>
          <a:xfrm>
            <a:off x="4114800" y="1884873"/>
            <a:ext cx="1188720" cy="4353"/>
          </a:xfrm>
          <a:prstGeom prst="line">
            <a:avLst/>
          </a:prstGeom>
          <a:ln w="762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Oval 65"/>
          <p:cNvSpPr/>
          <p:nvPr/>
        </p:nvSpPr>
        <p:spPr>
          <a:xfrm>
            <a:off x="4078224" y="1848297"/>
            <a:ext cx="73152" cy="73152"/>
          </a:xfrm>
          <a:prstGeom prst="ellipse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5266944" y="1852650"/>
            <a:ext cx="73152" cy="73152"/>
          </a:xfrm>
          <a:prstGeom prst="ellipse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4114800" y="1884873"/>
            <a:ext cx="1188720" cy="4353"/>
          </a:xfrm>
          <a:prstGeom prst="line">
            <a:avLst/>
          </a:prstGeom>
          <a:ln w="762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Oval 68"/>
          <p:cNvSpPr/>
          <p:nvPr/>
        </p:nvSpPr>
        <p:spPr>
          <a:xfrm>
            <a:off x="4078224" y="1848297"/>
            <a:ext cx="73152" cy="73152"/>
          </a:xfrm>
          <a:prstGeom prst="ellipse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5266944" y="1852650"/>
            <a:ext cx="73152" cy="73152"/>
          </a:xfrm>
          <a:prstGeom prst="ellipse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>
            <a:off x="4114800" y="1884873"/>
            <a:ext cx="1188720" cy="4353"/>
          </a:xfrm>
          <a:prstGeom prst="line">
            <a:avLst/>
          </a:prstGeom>
          <a:ln w="762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Oval 71"/>
          <p:cNvSpPr/>
          <p:nvPr/>
        </p:nvSpPr>
        <p:spPr>
          <a:xfrm>
            <a:off x="4078224" y="1848297"/>
            <a:ext cx="73152" cy="73152"/>
          </a:xfrm>
          <a:prstGeom prst="ellipse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5266944" y="1852650"/>
            <a:ext cx="73152" cy="73152"/>
          </a:xfrm>
          <a:prstGeom prst="ellipse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>
            <a:off x="4114800" y="1884873"/>
            <a:ext cx="1188720" cy="4353"/>
          </a:xfrm>
          <a:prstGeom prst="line">
            <a:avLst/>
          </a:prstGeom>
          <a:ln w="762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Oval 74"/>
          <p:cNvSpPr/>
          <p:nvPr/>
        </p:nvSpPr>
        <p:spPr>
          <a:xfrm>
            <a:off x="4078224" y="1848297"/>
            <a:ext cx="73152" cy="73152"/>
          </a:xfrm>
          <a:prstGeom prst="ellipse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5266944" y="1852650"/>
            <a:ext cx="73152" cy="73152"/>
          </a:xfrm>
          <a:prstGeom prst="ellipse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7" name="Connector 76"/>
          <p:cNvCxnSpPr/>
          <p:nvPr/>
        </p:nvCxnSpPr>
        <p:spPr>
          <a:xfrm>
            <a:off x="4114800" y="1884873"/>
            <a:ext cx="1188720" cy="4353"/>
          </a:xfrm>
          <a:prstGeom prst="line">
            <a:avLst/>
          </a:prstGeom>
          <a:ln w="762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Oval 77"/>
          <p:cNvSpPr/>
          <p:nvPr/>
        </p:nvSpPr>
        <p:spPr>
          <a:xfrm>
            <a:off x="4078224" y="1848297"/>
            <a:ext cx="73152" cy="73152"/>
          </a:xfrm>
          <a:prstGeom prst="ellipse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5266944" y="1852650"/>
            <a:ext cx="73152" cy="73152"/>
          </a:xfrm>
          <a:prstGeom prst="ellipse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0" name="Connector 79"/>
          <p:cNvCxnSpPr/>
          <p:nvPr/>
        </p:nvCxnSpPr>
        <p:spPr>
          <a:xfrm>
            <a:off x="4114800" y="1884840"/>
            <a:ext cx="1188720" cy="4384"/>
          </a:xfrm>
          <a:prstGeom prst="line">
            <a:avLst/>
          </a:prstGeom>
          <a:ln w="762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Oval 80"/>
          <p:cNvSpPr/>
          <p:nvPr/>
        </p:nvSpPr>
        <p:spPr>
          <a:xfrm>
            <a:off x="4078224" y="1848264"/>
            <a:ext cx="73152" cy="73152"/>
          </a:xfrm>
          <a:prstGeom prst="ellipse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5266944" y="1852648"/>
            <a:ext cx="73152" cy="73152"/>
          </a:xfrm>
          <a:prstGeom prst="ellipse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3" name="Connector 82"/>
          <p:cNvCxnSpPr/>
          <p:nvPr/>
        </p:nvCxnSpPr>
        <p:spPr>
          <a:xfrm>
            <a:off x="4114800" y="1325881"/>
            <a:ext cx="1188720" cy="431079"/>
          </a:xfrm>
          <a:prstGeom prst="line">
            <a:avLst/>
          </a:prstGeom>
          <a:ln w="19387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Oval 83"/>
          <p:cNvSpPr/>
          <p:nvPr/>
        </p:nvSpPr>
        <p:spPr>
          <a:xfrm>
            <a:off x="4078224" y="1289305"/>
            <a:ext cx="73152" cy="73152"/>
          </a:xfrm>
          <a:prstGeom prst="ellipse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5266944" y="1720384"/>
            <a:ext cx="73152" cy="73152"/>
          </a:xfrm>
          <a:prstGeom prst="ellipse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>
            <a:off x="6355080" y="2453640"/>
            <a:ext cx="2377440" cy="0"/>
          </a:xfrm>
          <a:prstGeom prst="line">
            <a:avLst/>
          </a:prstGeom>
          <a:ln w="889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6355080" y="1325880"/>
            <a:ext cx="0" cy="1127760"/>
          </a:xfrm>
          <a:prstGeom prst="line">
            <a:avLst/>
          </a:prstGeom>
          <a:ln w="889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6318504" y="2453640"/>
            <a:ext cx="36576" cy="0"/>
          </a:xfrm>
          <a:prstGeom prst="line">
            <a:avLst/>
          </a:prstGeom>
          <a:ln w="635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/>
          <p:cNvSpPr txBox="1"/>
          <p:nvPr/>
        </p:nvSpPr>
        <p:spPr>
          <a:xfrm>
            <a:off x="6080760" y="2389632"/>
            <a:ext cx="256032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0.0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6318504" y="1889760"/>
            <a:ext cx="36576" cy="0"/>
          </a:xfrm>
          <a:prstGeom prst="line">
            <a:avLst/>
          </a:prstGeom>
          <a:ln w="635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/>
          <p:cNvSpPr txBox="1"/>
          <p:nvPr/>
        </p:nvSpPr>
        <p:spPr>
          <a:xfrm>
            <a:off x="6080760" y="1825752"/>
            <a:ext cx="256032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0.5</a:t>
            </a:r>
          </a:p>
        </p:txBody>
      </p:sp>
      <p:cxnSp>
        <p:nvCxnSpPr>
          <p:cNvPr id="92" name="Connector 91"/>
          <p:cNvCxnSpPr/>
          <p:nvPr/>
        </p:nvCxnSpPr>
        <p:spPr>
          <a:xfrm>
            <a:off x="6318504" y="1325880"/>
            <a:ext cx="36576" cy="0"/>
          </a:xfrm>
          <a:prstGeom prst="line">
            <a:avLst/>
          </a:prstGeom>
          <a:ln w="635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TextBox 92"/>
          <p:cNvSpPr txBox="1"/>
          <p:nvPr/>
        </p:nvSpPr>
        <p:spPr>
          <a:xfrm>
            <a:off x="6080760" y="1261872"/>
            <a:ext cx="256032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1.0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592824" y="2481072"/>
            <a:ext cx="71323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pre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781544" y="2481072"/>
            <a:ext cx="71323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post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355080" y="1161288"/>
            <a:ext cx="23774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0A7D6E"/>
                </a:solidFill>
                <a:latin typeface="Arial"/>
              </a:rPr>
              <a:t>s6 (good)</a:t>
            </a:r>
          </a:p>
        </p:txBody>
      </p:sp>
      <p:cxnSp>
        <p:nvCxnSpPr>
          <p:cNvPr id="97" name="Connector 96"/>
          <p:cNvCxnSpPr/>
          <p:nvPr/>
        </p:nvCxnSpPr>
        <p:spPr>
          <a:xfrm>
            <a:off x="6949440" y="1891421"/>
            <a:ext cx="1188720" cy="1260"/>
          </a:xfrm>
          <a:prstGeom prst="line">
            <a:avLst/>
          </a:prstGeom>
          <a:ln w="762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Oval 97"/>
          <p:cNvSpPr/>
          <p:nvPr/>
        </p:nvSpPr>
        <p:spPr>
          <a:xfrm>
            <a:off x="6912864" y="1854845"/>
            <a:ext cx="73152" cy="73152"/>
          </a:xfrm>
          <a:prstGeom prst="ellipse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8101584" y="1856105"/>
            <a:ext cx="73152" cy="73152"/>
          </a:xfrm>
          <a:prstGeom prst="ellipse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>
            <a:off x="6949440" y="1891421"/>
            <a:ext cx="1188720" cy="1260"/>
          </a:xfrm>
          <a:prstGeom prst="line">
            <a:avLst/>
          </a:prstGeom>
          <a:ln w="762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Oval 100"/>
          <p:cNvSpPr/>
          <p:nvPr/>
        </p:nvSpPr>
        <p:spPr>
          <a:xfrm>
            <a:off x="6912864" y="1854845"/>
            <a:ext cx="73152" cy="73152"/>
          </a:xfrm>
          <a:prstGeom prst="ellipse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8101584" y="1856105"/>
            <a:ext cx="73152" cy="73152"/>
          </a:xfrm>
          <a:prstGeom prst="ellipse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3" name="Connector 102"/>
          <p:cNvCxnSpPr/>
          <p:nvPr/>
        </p:nvCxnSpPr>
        <p:spPr>
          <a:xfrm>
            <a:off x="6949440" y="1355756"/>
            <a:ext cx="1188720" cy="870341"/>
          </a:xfrm>
          <a:prstGeom prst="line">
            <a:avLst/>
          </a:prstGeom>
          <a:ln w="762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Oval 103"/>
          <p:cNvSpPr/>
          <p:nvPr/>
        </p:nvSpPr>
        <p:spPr>
          <a:xfrm>
            <a:off x="6912864" y="1319180"/>
            <a:ext cx="73152" cy="73152"/>
          </a:xfrm>
          <a:prstGeom prst="ellipse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8101584" y="2189521"/>
            <a:ext cx="73152" cy="73152"/>
          </a:xfrm>
          <a:prstGeom prst="ellipse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6" name="Connector 105"/>
          <p:cNvCxnSpPr/>
          <p:nvPr/>
        </p:nvCxnSpPr>
        <p:spPr>
          <a:xfrm>
            <a:off x="6949440" y="1935936"/>
            <a:ext cx="1188720" cy="355862"/>
          </a:xfrm>
          <a:prstGeom prst="line">
            <a:avLst/>
          </a:prstGeom>
          <a:ln w="762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Oval 106"/>
          <p:cNvSpPr/>
          <p:nvPr/>
        </p:nvSpPr>
        <p:spPr>
          <a:xfrm>
            <a:off x="6912864" y="1899360"/>
            <a:ext cx="73152" cy="73152"/>
          </a:xfrm>
          <a:prstGeom prst="ellipse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8101584" y="2255222"/>
            <a:ext cx="73152" cy="73152"/>
          </a:xfrm>
          <a:prstGeom prst="ellipse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9" name="Connector 108"/>
          <p:cNvCxnSpPr/>
          <p:nvPr/>
        </p:nvCxnSpPr>
        <p:spPr>
          <a:xfrm>
            <a:off x="6949440" y="1891421"/>
            <a:ext cx="1188720" cy="1260"/>
          </a:xfrm>
          <a:prstGeom prst="line">
            <a:avLst/>
          </a:prstGeom>
          <a:ln w="762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Oval 109"/>
          <p:cNvSpPr/>
          <p:nvPr/>
        </p:nvSpPr>
        <p:spPr>
          <a:xfrm>
            <a:off x="6912864" y="1854845"/>
            <a:ext cx="73152" cy="73152"/>
          </a:xfrm>
          <a:prstGeom prst="ellipse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8101584" y="1856105"/>
            <a:ext cx="73152" cy="73152"/>
          </a:xfrm>
          <a:prstGeom prst="ellipse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2" name="Connector 111"/>
          <p:cNvCxnSpPr/>
          <p:nvPr/>
        </p:nvCxnSpPr>
        <p:spPr>
          <a:xfrm>
            <a:off x="6949440" y="1891421"/>
            <a:ext cx="1188720" cy="1260"/>
          </a:xfrm>
          <a:prstGeom prst="line">
            <a:avLst/>
          </a:prstGeom>
          <a:ln w="762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Oval 112"/>
          <p:cNvSpPr/>
          <p:nvPr/>
        </p:nvSpPr>
        <p:spPr>
          <a:xfrm>
            <a:off x="6912864" y="1854845"/>
            <a:ext cx="73152" cy="73152"/>
          </a:xfrm>
          <a:prstGeom prst="ellipse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8101584" y="1856105"/>
            <a:ext cx="73152" cy="73152"/>
          </a:xfrm>
          <a:prstGeom prst="ellipse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5" name="Connector 114"/>
          <p:cNvCxnSpPr/>
          <p:nvPr/>
        </p:nvCxnSpPr>
        <p:spPr>
          <a:xfrm>
            <a:off x="6949440" y="1891421"/>
            <a:ext cx="1188720" cy="1260"/>
          </a:xfrm>
          <a:prstGeom prst="line">
            <a:avLst/>
          </a:prstGeom>
          <a:ln w="762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Oval 115"/>
          <p:cNvSpPr/>
          <p:nvPr/>
        </p:nvSpPr>
        <p:spPr>
          <a:xfrm>
            <a:off x="6912864" y="1854845"/>
            <a:ext cx="73152" cy="73152"/>
          </a:xfrm>
          <a:prstGeom prst="ellipse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8101584" y="1856105"/>
            <a:ext cx="73152" cy="73152"/>
          </a:xfrm>
          <a:prstGeom prst="ellipse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8" name="Connector 117"/>
          <p:cNvCxnSpPr/>
          <p:nvPr/>
        </p:nvCxnSpPr>
        <p:spPr>
          <a:xfrm>
            <a:off x="6949440" y="1891421"/>
            <a:ext cx="1188720" cy="1260"/>
          </a:xfrm>
          <a:prstGeom prst="line">
            <a:avLst/>
          </a:prstGeom>
          <a:ln w="762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Oval 118"/>
          <p:cNvSpPr/>
          <p:nvPr/>
        </p:nvSpPr>
        <p:spPr>
          <a:xfrm>
            <a:off x="6912864" y="1854845"/>
            <a:ext cx="73152" cy="73152"/>
          </a:xfrm>
          <a:prstGeom prst="ellipse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8101584" y="1856105"/>
            <a:ext cx="73152" cy="73152"/>
          </a:xfrm>
          <a:prstGeom prst="ellipse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1" name="Connector 120"/>
          <p:cNvCxnSpPr/>
          <p:nvPr/>
        </p:nvCxnSpPr>
        <p:spPr>
          <a:xfrm>
            <a:off x="6949440" y="1891430"/>
            <a:ext cx="1188720" cy="1271"/>
          </a:xfrm>
          <a:prstGeom prst="line">
            <a:avLst/>
          </a:prstGeom>
          <a:ln w="762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Oval 121"/>
          <p:cNvSpPr/>
          <p:nvPr/>
        </p:nvSpPr>
        <p:spPr>
          <a:xfrm>
            <a:off x="6912864" y="1854854"/>
            <a:ext cx="73152" cy="73152"/>
          </a:xfrm>
          <a:prstGeom prst="ellipse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8101584" y="1856125"/>
            <a:ext cx="73152" cy="73152"/>
          </a:xfrm>
          <a:prstGeom prst="ellipse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4" name="Connector 123"/>
          <p:cNvCxnSpPr/>
          <p:nvPr/>
        </p:nvCxnSpPr>
        <p:spPr>
          <a:xfrm>
            <a:off x="6949440" y="1330164"/>
            <a:ext cx="1188720" cy="16839"/>
          </a:xfrm>
          <a:prstGeom prst="line">
            <a:avLst/>
          </a:prstGeom>
          <a:ln w="762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Oval 124"/>
          <p:cNvSpPr/>
          <p:nvPr/>
        </p:nvSpPr>
        <p:spPr>
          <a:xfrm>
            <a:off x="6912864" y="1293588"/>
            <a:ext cx="73152" cy="73152"/>
          </a:xfrm>
          <a:prstGeom prst="ellipse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8101584" y="1310427"/>
            <a:ext cx="73152" cy="73152"/>
          </a:xfrm>
          <a:prstGeom prst="ellipse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7" name="Connector 126"/>
          <p:cNvCxnSpPr/>
          <p:nvPr/>
        </p:nvCxnSpPr>
        <p:spPr>
          <a:xfrm>
            <a:off x="9189720" y="2453640"/>
            <a:ext cx="2377440" cy="0"/>
          </a:xfrm>
          <a:prstGeom prst="line">
            <a:avLst/>
          </a:prstGeom>
          <a:ln w="889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>
            <a:off x="9189720" y="1325880"/>
            <a:ext cx="0" cy="1127760"/>
          </a:xfrm>
          <a:prstGeom prst="line">
            <a:avLst/>
          </a:prstGeom>
          <a:ln w="889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>
            <a:off x="9153144" y="2453640"/>
            <a:ext cx="36576" cy="0"/>
          </a:xfrm>
          <a:prstGeom prst="line">
            <a:avLst/>
          </a:prstGeom>
          <a:ln w="635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TextBox 129"/>
          <p:cNvSpPr txBox="1"/>
          <p:nvPr/>
        </p:nvSpPr>
        <p:spPr>
          <a:xfrm>
            <a:off x="8915400" y="2389632"/>
            <a:ext cx="256032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0.0</a:t>
            </a:r>
          </a:p>
        </p:txBody>
      </p:sp>
      <p:cxnSp>
        <p:nvCxnSpPr>
          <p:cNvPr id="131" name="Connector 130"/>
          <p:cNvCxnSpPr/>
          <p:nvPr/>
        </p:nvCxnSpPr>
        <p:spPr>
          <a:xfrm>
            <a:off x="9153144" y="1889760"/>
            <a:ext cx="36576" cy="0"/>
          </a:xfrm>
          <a:prstGeom prst="line">
            <a:avLst/>
          </a:prstGeom>
          <a:ln w="635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2" name="TextBox 131"/>
          <p:cNvSpPr txBox="1"/>
          <p:nvPr/>
        </p:nvSpPr>
        <p:spPr>
          <a:xfrm>
            <a:off x="8915400" y="1825752"/>
            <a:ext cx="256032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0.5</a:t>
            </a:r>
          </a:p>
        </p:txBody>
      </p:sp>
      <p:cxnSp>
        <p:nvCxnSpPr>
          <p:cNvPr id="133" name="Connector 132"/>
          <p:cNvCxnSpPr/>
          <p:nvPr/>
        </p:nvCxnSpPr>
        <p:spPr>
          <a:xfrm>
            <a:off x="9153144" y="1325880"/>
            <a:ext cx="36576" cy="0"/>
          </a:xfrm>
          <a:prstGeom prst="line">
            <a:avLst/>
          </a:prstGeom>
          <a:ln w="635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TextBox 133"/>
          <p:cNvSpPr txBox="1"/>
          <p:nvPr/>
        </p:nvSpPr>
        <p:spPr>
          <a:xfrm>
            <a:off x="8915400" y="1261872"/>
            <a:ext cx="256032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1.0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9427464" y="2481072"/>
            <a:ext cx="71323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pre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0616184" y="2481072"/>
            <a:ext cx="71323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post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189720" y="1161288"/>
            <a:ext cx="23774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0A7D6E"/>
                </a:solidFill>
                <a:latin typeface="Arial"/>
              </a:rPr>
              <a:t>s9 (good)</a:t>
            </a:r>
          </a:p>
        </p:txBody>
      </p:sp>
      <p:cxnSp>
        <p:nvCxnSpPr>
          <p:cNvPr id="138" name="Connector 137"/>
          <p:cNvCxnSpPr/>
          <p:nvPr/>
        </p:nvCxnSpPr>
        <p:spPr>
          <a:xfrm>
            <a:off x="9784080" y="1862919"/>
            <a:ext cx="1188720" cy="11480"/>
          </a:xfrm>
          <a:prstGeom prst="line">
            <a:avLst/>
          </a:prstGeom>
          <a:ln w="762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Oval 138"/>
          <p:cNvSpPr/>
          <p:nvPr/>
        </p:nvSpPr>
        <p:spPr>
          <a:xfrm>
            <a:off x="9747504" y="1826343"/>
            <a:ext cx="73152" cy="73152"/>
          </a:xfrm>
          <a:prstGeom prst="ellipse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10936224" y="1837823"/>
            <a:ext cx="73152" cy="73152"/>
          </a:xfrm>
          <a:prstGeom prst="ellipse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1" name="Connector 140"/>
          <p:cNvCxnSpPr/>
          <p:nvPr/>
        </p:nvCxnSpPr>
        <p:spPr>
          <a:xfrm>
            <a:off x="9784080" y="1862917"/>
            <a:ext cx="1188720" cy="11481"/>
          </a:xfrm>
          <a:prstGeom prst="line">
            <a:avLst/>
          </a:prstGeom>
          <a:ln w="762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Oval 141"/>
          <p:cNvSpPr/>
          <p:nvPr/>
        </p:nvSpPr>
        <p:spPr>
          <a:xfrm>
            <a:off x="9747504" y="1826341"/>
            <a:ext cx="73152" cy="73152"/>
          </a:xfrm>
          <a:prstGeom prst="ellipse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10936224" y="1837822"/>
            <a:ext cx="73152" cy="73152"/>
          </a:xfrm>
          <a:prstGeom prst="ellipse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4" name="Connector 143"/>
          <p:cNvCxnSpPr/>
          <p:nvPr/>
        </p:nvCxnSpPr>
        <p:spPr>
          <a:xfrm>
            <a:off x="9784080" y="1862918"/>
            <a:ext cx="1188720" cy="11480"/>
          </a:xfrm>
          <a:prstGeom prst="line">
            <a:avLst/>
          </a:prstGeom>
          <a:ln w="762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Oval 144"/>
          <p:cNvSpPr/>
          <p:nvPr/>
        </p:nvSpPr>
        <p:spPr>
          <a:xfrm>
            <a:off x="9747504" y="1826342"/>
            <a:ext cx="73152" cy="73152"/>
          </a:xfrm>
          <a:prstGeom prst="ellipse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10936224" y="1837822"/>
            <a:ext cx="73152" cy="73152"/>
          </a:xfrm>
          <a:prstGeom prst="ellipse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7" name="Connector 146"/>
          <p:cNvCxnSpPr/>
          <p:nvPr/>
        </p:nvCxnSpPr>
        <p:spPr>
          <a:xfrm>
            <a:off x="9784080" y="1862888"/>
            <a:ext cx="1188720" cy="11496"/>
          </a:xfrm>
          <a:prstGeom prst="line">
            <a:avLst/>
          </a:prstGeom>
          <a:ln w="762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Oval 147"/>
          <p:cNvSpPr/>
          <p:nvPr/>
        </p:nvSpPr>
        <p:spPr>
          <a:xfrm>
            <a:off x="9747504" y="1826312"/>
            <a:ext cx="73152" cy="73152"/>
          </a:xfrm>
          <a:prstGeom prst="ellipse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10936224" y="1837808"/>
            <a:ext cx="73152" cy="73152"/>
          </a:xfrm>
          <a:prstGeom prst="ellipse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0" name="Connector 149"/>
          <p:cNvCxnSpPr/>
          <p:nvPr/>
        </p:nvCxnSpPr>
        <p:spPr>
          <a:xfrm>
            <a:off x="9784080" y="1377005"/>
            <a:ext cx="1188720" cy="863048"/>
          </a:xfrm>
          <a:prstGeom prst="line">
            <a:avLst/>
          </a:prstGeom>
          <a:ln w="762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Oval 150"/>
          <p:cNvSpPr/>
          <p:nvPr/>
        </p:nvSpPr>
        <p:spPr>
          <a:xfrm>
            <a:off x="9747504" y="1340429"/>
            <a:ext cx="73152" cy="73152"/>
          </a:xfrm>
          <a:prstGeom prst="ellipse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10936224" y="2203477"/>
            <a:ext cx="73152" cy="73152"/>
          </a:xfrm>
          <a:prstGeom prst="ellipse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3" name="Connector 152"/>
          <p:cNvCxnSpPr/>
          <p:nvPr/>
        </p:nvCxnSpPr>
        <p:spPr>
          <a:xfrm>
            <a:off x="9784080" y="1862618"/>
            <a:ext cx="1188720" cy="11634"/>
          </a:xfrm>
          <a:prstGeom prst="line">
            <a:avLst/>
          </a:prstGeom>
          <a:ln w="762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4" name="Oval 153"/>
          <p:cNvSpPr/>
          <p:nvPr/>
        </p:nvSpPr>
        <p:spPr>
          <a:xfrm>
            <a:off x="9747504" y="1826042"/>
            <a:ext cx="73152" cy="73152"/>
          </a:xfrm>
          <a:prstGeom prst="ellipse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10936224" y="1837676"/>
            <a:ext cx="73152" cy="73152"/>
          </a:xfrm>
          <a:prstGeom prst="ellipse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6" name="Connector 155"/>
          <p:cNvCxnSpPr/>
          <p:nvPr/>
        </p:nvCxnSpPr>
        <p:spPr>
          <a:xfrm>
            <a:off x="9784080" y="1862919"/>
            <a:ext cx="1188720" cy="11480"/>
          </a:xfrm>
          <a:prstGeom prst="line">
            <a:avLst/>
          </a:prstGeom>
          <a:ln w="762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Oval 156"/>
          <p:cNvSpPr/>
          <p:nvPr/>
        </p:nvSpPr>
        <p:spPr>
          <a:xfrm>
            <a:off x="9747504" y="1826343"/>
            <a:ext cx="73152" cy="73152"/>
          </a:xfrm>
          <a:prstGeom prst="ellipse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10936224" y="1837823"/>
            <a:ext cx="73152" cy="73152"/>
          </a:xfrm>
          <a:prstGeom prst="ellipse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9" name="Connector 158"/>
          <p:cNvCxnSpPr/>
          <p:nvPr/>
        </p:nvCxnSpPr>
        <p:spPr>
          <a:xfrm>
            <a:off x="9784080" y="1862919"/>
            <a:ext cx="1188720" cy="11480"/>
          </a:xfrm>
          <a:prstGeom prst="line">
            <a:avLst/>
          </a:prstGeom>
          <a:ln w="762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Oval 159"/>
          <p:cNvSpPr/>
          <p:nvPr/>
        </p:nvSpPr>
        <p:spPr>
          <a:xfrm>
            <a:off x="9747504" y="1826343"/>
            <a:ext cx="73152" cy="73152"/>
          </a:xfrm>
          <a:prstGeom prst="ellipse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10936224" y="1837823"/>
            <a:ext cx="73152" cy="73152"/>
          </a:xfrm>
          <a:prstGeom prst="ellipse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2" name="Connector 161"/>
          <p:cNvCxnSpPr/>
          <p:nvPr/>
        </p:nvCxnSpPr>
        <p:spPr>
          <a:xfrm>
            <a:off x="9784080" y="1862670"/>
            <a:ext cx="1188720" cy="11608"/>
          </a:xfrm>
          <a:prstGeom prst="line">
            <a:avLst/>
          </a:prstGeom>
          <a:ln w="762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3" name="Oval 162"/>
          <p:cNvSpPr/>
          <p:nvPr/>
        </p:nvSpPr>
        <p:spPr>
          <a:xfrm>
            <a:off x="9747504" y="1826094"/>
            <a:ext cx="73152" cy="73152"/>
          </a:xfrm>
          <a:prstGeom prst="ellipse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10936224" y="1837702"/>
            <a:ext cx="73152" cy="73152"/>
          </a:xfrm>
          <a:prstGeom prst="ellipse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5" name="Connector 164"/>
          <p:cNvCxnSpPr/>
          <p:nvPr/>
        </p:nvCxnSpPr>
        <p:spPr>
          <a:xfrm>
            <a:off x="9784080" y="1862919"/>
            <a:ext cx="1188720" cy="11480"/>
          </a:xfrm>
          <a:prstGeom prst="line">
            <a:avLst/>
          </a:prstGeom>
          <a:ln w="762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Oval 165"/>
          <p:cNvSpPr/>
          <p:nvPr/>
        </p:nvSpPr>
        <p:spPr>
          <a:xfrm>
            <a:off x="9747504" y="1826343"/>
            <a:ext cx="73152" cy="73152"/>
          </a:xfrm>
          <a:prstGeom prst="ellipse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10936224" y="1837823"/>
            <a:ext cx="73152" cy="73152"/>
          </a:xfrm>
          <a:prstGeom prst="ellipse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8" name="Connector 167"/>
          <p:cNvCxnSpPr/>
          <p:nvPr/>
        </p:nvCxnSpPr>
        <p:spPr>
          <a:xfrm>
            <a:off x="685800" y="4221480"/>
            <a:ext cx="2377440" cy="0"/>
          </a:xfrm>
          <a:prstGeom prst="line">
            <a:avLst/>
          </a:prstGeom>
          <a:ln w="889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>
            <a:off x="685800" y="3093720"/>
            <a:ext cx="0" cy="1127760"/>
          </a:xfrm>
          <a:prstGeom prst="line">
            <a:avLst/>
          </a:prstGeom>
          <a:ln w="889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>
            <a:off x="649224" y="4221480"/>
            <a:ext cx="36576" cy="0"/>
          </a:xfrm>
          <a:prstGeom prst="line">
            <a:avLst/>
          </a:prstGeom>
          <a:ln w="635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1" name="TextBox 170"/>
          <p:cNvSpPr txBox="1"/>
          <p:nvPr/>
        </p:nvSpPr>
        <p:spPr>
          <a:xfrm>
            <a:off x="411480" y="4157472"/>
            <a:ext cx="256032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0.0</a:t>
            </a:r>
          </a:p>
        </p:txBody>
      </p:sp>
      <p:cxnSp>
        <p:nvCxnSpPr>
          <p:cNvPr id="172" name="Connector 171"/>
          <p:cNvCxnSpPr/>
          <p:nvPr/>
        </p:nvCxnSpPr>
        <p:spPr>
          <a:xfrm>
            <a:off x="649224" y="3657600"/>
            <a:ext cx="36576" cy="0"/>
          </a:xfrm>
          <a:prstGeom prst="line">
            <a:avLst/>
          </a:prstGeom>
          <a:ln w="635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TextBox 172"/>
          <p:cNvSpPr txBox="1"/>
          <p:nvPr/>
        </p:nvSpPr>
        <p:spPr>
          <a:xfrm>
            <a:off x="411480" y="3593592"/>
            <a:ext cx="256032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0.5</a:t>
            </a:r>
          </a:p>
        </p:txBody>
      </p:sp>
      <p:cxnSp>
        <p:nvCxnSpPr>
          <p:cNvPr id="174" name="Connector 173"/>
          <p:cNvCxnSpPr/>
          <p:nvPr/>
        </p:nvCxnSpPr>
        <p:spPr>
          <a:xfrm>
            <a:off x="649224" y="3093720"/>
            <a:ext cx="36576" cy="0"/>
          </a:xfrm>
          <a:prstGeom prst="line">
            <a:avLst/>
          </a:prstGeom>
          <a:ln w="635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5" name="TextBox 174"/>
          <p:cNvSpPr txBox="1"/>
          <p:nvPr/>
        </p:nvSpPr>
        <p:spPr>
          <a:xfrm>
            <a:off x="411480" y="3029712"/>
            <a:ext cx="256032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1.0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23544" y="4248912"/>
            <a:ext cx="71323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pre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2112264" y="4248912"/>
            <a:ext cx="71323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post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85800" y="2929128"/>
            <a:ext cx="23774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0A7D6E"/>
                </a:solidFill>
                <a:latin typeface="Arial"/>
              </a:rPr>
              <a:t>s14 (good)</a:t>
            </a:r>
          </a:p>
        </p:txBody>
      </p:sp>
      <p:cxnSp>
        <p:nvCxnSpPr>
          <p:cNvPr id="179" name="Connector 178"/>
          <p:cNvCxnSpPr/>
          <p:nvPr/>
        </p:nvCxnSpPr>
        <p:spPr>
          <a:xfrm flipV="1">
            <a:off x="1280160" y="3649392"/>
            <a:ext cx="1188720" cy="2429"/>
          </a:xfrm>
          <a:prstGeom prst="line">
            <a:avLst/>
          </a:prstGeom>
          <a:ln w="762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0" name="Oval 179"/>
          <p:cNvSpPr/>
          <p:nvPr/>
        </p:nvSpPr>
        <p:spPr>
          <a:xfrm>
            <a:off x="1243584" y="3615245"/>
            <a:ext cx="73152" cy="73152"/>
          </a:xfrm>
          <a:prstGeom prst="ellipse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2432304" y="3612816"/>
            <a:ext cx="73152" cy="73152"/>
          </a:xfrm>
          <a:prstGeom prst="ellipse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2" name="Connector 181"/>
          <p:cNvCxnSpPr/>
          <p:nvPr/>
        </p:nvCxnSpPr>
        <p:spPr>
          <a:xfrm flipV="1">
            <a:off x="1280160" y="3649392"/>
            <a:ext cx="1188720" cy="2429"/>
          </a:xfrm>
          <a:prstGeom prst="line">
            <a:avLst/>
          </a:prstGeom>
          <a:ln w="762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3" name="Oval 182"/>
          <p:cNvSpPr/>
          <p:nvPr/>
        </p:nvSpPr>
        <p:spPr>
          <a:xfrm>
            <a:off x="1243584" y="3615245"/>
            <a:ext cx="73152" cy="73152"/>
          </a:xfrm>
          <a:prstGeom prst="ellipse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2432304" y="3612816"/>
            <a:ext cx="73152" cy="73152"/>
          </a:xfrm>
          <a:prstGeom prst="ellipse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5" name="Connector 184"/>
          <p:cNvCxnSpPr/>
          <p:nvPr/>
        </p:nvCxnSpPr>
        <p:spPr>
          <a:xfrm flipV="1">
            <a:off x="1280160" y="3649392"/>
            <a:ext cx="1188720" cy="2429"/>
          </a:xfrm>
          <a:prstGeom prst="line">
            <a:avLst/>
          </a:prstGeom>
          <a:ln w="762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6" name="Oval 185"/>
          <p:cNvSpPr/>
          <p:nvPr/>
        </p:nvSpPr>
        <p:spPr>
          <a:xfrm>
            <a:off x="1243584" y="3615245"/>
            <a:ext cx="73152" cy="73152"/>
          </a:xfrm>
          <a:prstGeom prst="ellipse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2432304" y="3612816"/>
            <a:ext cx="73152" cy="73152"/>
          </a:xfrm>
          <a:prstGeom prst="ellipse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8" name="Connector 187"/>
          <p:cNvCxnSpPr/>
          <p:nvPr/>
        </p:nvCxnSpPr>
        <p:spPr>
          <a:xfrm flipV="1">
            <a:off x="1280160" y="3100008"/>
            <a:ext cx="1188720" cy="7781"/>
          </a:xfrm>
          <a:prstGeom prst="line">
            <a:avLst/>
          </a:prstGeom>
          <a:ln w="24148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9" name="Oval 188"/>
          <p:cNvSpPr/>
          <p:nvPr/>
        </p:nvSpPr>
        <p:spPr>
          <a:xfrm>
            <a:off x="1243584" y="3071213"/>
            <a:ext cx="73152" cy="73152"/>
          </a:xfrm>
          <a:prstGeom prst="ellipse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2432304" y="3063432"/>
            <a:ext cx="73152" cy="73152"/>
          </a:xfrm>
          <a:prstGeom prst="ellipse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1" name="Connector 190"/>
          <p:cNvCxnSpPr/>
          <p:nvPr/>
        </p:nvCxnSpPr>
        <p:spPr>
          <a:xfrm flipV="1">
            <a:off x="1280160" y="3649392"/>
            <a:ext cx="1188720" cy="2429"/>
          </a:xfrm>
          <a:prstGeom prst="line">
            <a:avLst/>
          </a:prstGeom>
          <a:ln w="762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2" name="Oval 191"/>
          <p:cNvSpPr/>
          <p:nvPr/>
        </p:nvSpPr>
        <p:spPr>
          <a:xfrm>
            <a:off x="1243584" y="3615245"/>
            <a:ext cx="73152" cy="73152"/>
          </a:xfrm>
          <a:prstGeom prst="ellipse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2432304" y="3612816"/>
            <a:ext cx="73152" cy="73152"/>
          </a:xfrm>
          <a:prstGeom prst="ellipse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4" name="Connector 193"/>
          <p:cNvCxnSpPr/>
          <p:nvPr/>
        </p:nvCxnSpPr>
        <p:spPr>
          <a:xfrm flipV="1">
            <a:off x="1280160" y="3649392"/>
            <a:ext cx="1188720" cy="2429"/>
          </a:xfrm>
          <a:prstGeom prst="line">
            <a:avLst/>
          </a:prstGeom>
          <a:ln w="762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5" name="Oval 194"/>
          <p:cNvSpPr/>
          <p:nvPr/>
        </p:nvSpPr>
        <p:spPr>
          <a:xfrm>
            <a:off x="1243584" y="3615245"/>
            <a:ext cx="73152" cy="73152"/>
          </a:xfrm>
          <a:prstGeom prst="ellipse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2432304" y="3612816"/>
            <a:ext cx="73152" cy="73152"/>
          </a:xfrm>
          <a:prstGeom prst="ellipse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7" name="Connector 196"/>
          <p:cNvCxnSpPr/>
          <p:nvPr/>
        </p:nvCxnSpPr>
        <p:spPr>
          <a:xfrm flipV="1">
            <a:off x="1280160" y="3449307"/>
            <a:ext cx="1188720" cy="5397"/>
          </a:xfrm>
          <a:prstGeom prst="line">
            <a:avLst/>
          </a:prstGeom>
          <a:ln w="3175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8" name="Oval 197"/>
          <p:cNvSpPr/>
          <p:nvPr/>
        </p:nvSpPr>
        <p:spPr>
          <a:xfrm>
            <a:off x="1243584" y="3418128"/>
            <a:ext cx="73152" cy="73152"/>
          </a:xfrm>
          <a:prstGeom prst="ellipse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Oval 198"/>
          <p:cNvSpPr/>
          <p:nvPr/>
        </p:nvSpPr>
        <p:spPr>
          <a:xfrm>
            <a:off x="2432304" y="3412731"/>
            <a:ext cx="73152" cy="73152"/>
          </a:xfrm>
          <a:prstGeom prst="ellipse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0" name="Connector 199"/>
          <p:cNvCxnSpPr/>
          <p:nvPr/>
        </p:nvCxnSpPr>
        <p:spPr>
          <a:xfrm flipV="1">
            <a:off x="1280160" y="3649392"/>
            <a:ext cx="1188720" cy="2429"/>
          </a:xfrm>
          <a:prstGeom prst="line">
            <a:avLst/>
          </a:prstGeom>
          <a:ln w="762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1" name="Oval 200"/>
          <p:cNvSpPr/>
          <p:nvPr/>
        </p:nvSpPr>
        <p:spPr>
          <a:xfrm>
            <a:off x="1243584" y="3615245"/>
            <a:ext cx="73152" cy="73152"/>
          </a:xfrm>
          <a:prstGeom prst="ellipse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2432304" y="3612816"/>
            <a:ext cx="73152" cy="73152"/>
          </a:xfrm>
          <a:prstGeom prst="ellipse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3" name="Connector 202"/>
          <p:cNvCxnSpPr/>
          <p:nvPr/>
        </p:nvCxnSpPr>
        <p:spPr>
          <a:xfrm flipV="1">
            <a:off x="1280160" y="3463342"/>
            <a:ext cx="1188720" cy="243254"/>
          </a:xfrm>
          <a:prstGeom prst="line">
            <a:avLst/>
          </a:prstGeom>
          <a:ln w="13365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4" name="Oval 203"/>
          <p:cNvSpPr/>
          <p:nvPr/>
        </p:nvSpPr>
        <p:spPr>
          <a:xfrm>
            <a:off x="1243584" y="3670020"/>
            <a:ext cx="73152" cy="73152"/>
          </a:xfrm>
          <a:prstGeom prst="ellipse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Oval 204"/>
          <p:cNvSpPr/>
          <p:nvPr/>
        </p:nvSpPr>
        <p:spPr>
          <a:xfrm>
            <a:off x="2432304" y="3426766"/>
            <a:ext cx="73152" cy="73152"/>
          </a:xfrm>
          <a:prstGeom prst="ellipse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6" name="Connector 205"/>
          <p:cNvCxnSpPr/>
          <p:nvPr/>
        </p:nvCxnSpPr>
        <p:spPr>
          <a:xfrm flipV="1">
            <a:off x="1280160" y="3649392"/>
            <a:ext cx="1188720" cy="2429"/>
          </a:xfrm>
          <a:prstGeom prst="line">
            <a:avLst/>
          </a:prstGeom>
          <a:ln w="762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7" name="Oval 206"/>
          <p:cNvSpPr/>
          <p:nvPr/>
        </p:nvSpPr>
        <p:spPr>
          <a:xfrm>
            <a:off x="1243584" y="3615245"/>
            <a:ext cx="73152" cy="73152"/>
          </a:xfrm>
          <a:prstGeom prst="ellipse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2432304" y="3612816"/>
            <a:ext cx="73152" cy="73152"/>
          </a:xfrm>
          <a:prstGeom prst="ellipse">
            <a:avLst/>
          </a:prstGeom>
          <a:solidFill>
            <a:srgbClr val="0A7D6E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9" name="Connector 208"/>
          <p:cNvCxnSpPr/>
          <p:nvPr/>
        </p:nvCxnSpPr>
        <p:spPr>
          <a:xfrm>
            <a:off x="3520440" y="4221480"/>
            <a:ext cx="2377440" cy="0"/>
          </a:xfrm>
          <a:prstGeom prst="line">
            <a:avLst/>
          </a:prstGeom>
          <a:ln w="889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09"/>
          <p:cNvCxnSpPr/>
          <p:nvPr/>
        </p:nvCxnSpPr>
        <p:spPr>
          <a:xfrm>
            <a:off x="3520440" y="3093720"/>
            <a:ext cx="0" cy="1127760"/>
          </a:xfrm>
          <a:prstGeom prst="line">
            <a:avLst/>
          </a:prstGeom>
          <a:ln w="889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0"/>
          <p:cNvCxnSpPr/>
          <p:nvPr/>
        </p:nvCxnSpPr>
        <p:spPr>
          <a:xfrm>
            <a:off x="3483864" y="4221480"/>
            <a:ext cx="36576" cy="0"/>
          </a:xfrm>
          <a:prstGeom prst="line">
            <a:avLst/>
          </a:prstGeom>
          <a:ln w="635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2" name="TextBox 211"/>
          <p:cNvSpPr txBox="1"/>
          <p:nvPr/>
        </p:nvSpPr>
        <p:spPr>
          <a:xfrm>
            <a:off x="3246120" y="4157472"/>
            <a:ext cx="256032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0.0</a:t>
            </a:r>
          </a:p>
        </p:txBody>
      </p:sp>
      <p:cxnSp>
        <p:nvCxnSpPr>
          <p:cNvPr id="213" name="Connector 212"/>
          <p:cNvCxnSpPr/>
          <p:nvPr/>
        </p:nvCxnSpPr>
        <p:spPr>
          <a:xfrm>
            <a:off x="3483864" y="3657600"/>
            <a:ext cx="36576" cy="0"/>
          </a:xfrm>
          <a:prstGeom prst="line">
            <a:avLst/>
          </a:prstGeom>
          <a:ln w="635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4" name="TextBox 213"/>
          <p:cNvSpPr txBox="1"/>
          <p:nvPr/>
        </p:nvSpPr>
        <p:spPr>
          <a:xfrm>
            <a:off x="3246120" y="3593592"/>
            <a:ext cx="256032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0.5</a:t>
            </a:r>
          </a:p>
        </p:txBody>
      </p:sp>
      <p:cxnSp>
        <p:nvCxnSpPr>
          <p:cNvPr id="215" name="Connector 214"/>
          <p:cNvCxnSpPr/>
          <p:nvPr/>
        </p:nvCxnSpPr>
        <p:spPr>
          <a:xfrm>
            <a:off x="3483864" y="3093720"/>
            <a:ext cx="36576" cy="0"/>
          </a:xfrm>
          <a:prstGeom prst="line">
            <a:avLst/>
          </a:prstGeom>
          <a:ln w="635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6" name="TextBox 215"/>
          <p:cNvSpPr txBox="1"/>
          <p:nvPr/>
        </p:nvSpPr>
        <p:spPr>
          <a:xfrm>
            <a:off x="3246120" y="3029712"/>
            <a:ext cx="256032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1.0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3758184" y="4248912"/>
            <a:ext cx="71323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pre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4946904" y="4248912"/>
            <a:ext cx="71323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post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3520440" y="2929128"/>
            <a:ext cx="23774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C53E1F"/>
                </a:solidFill>
                <a:latin typeface="Arial"/>
              </a:rPr>
              <a:t>s1 (bad)</a:t>
            </a:r>
          </a:p>
        </p:txBody>
      </p:sp>
      <p:cxnSp>
        <p:nvCxnSpPr>
          <p:cNvPr id="220" name="Connector 219"/>
          <p:cNvCxnSpPr/>
          <p:nvPr/>
        </p:nvCxnSpPr>
        <p:spPr>
          <a:xfrm>
            <a:off x="4114800" y="3095498"/>
            <a:ext cx="1188720" cy="541184"/>
          </a:xfrm>
          <a:prstGeom prst="line">
            <a:avLst/>
          </a:prstGeom>
          <a:ln w="3175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1" name="Oval 220"/>
          <p:cNvSpPr/>
          <p:nvPr/>
        </p:nvSpPr>
        <p:spPr>
          <a:xfrm>
            <a:off x="4078224" y="3058922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5266944" y="3600106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3" name="Connector 222"/>
          <p:cNvCxnSpPr/>
          <p:nvPr/>
        </p:nvCxnSpPr>
        <p:spPr>
          <a:xfrm>
            <a:off x="4114800" y="3646400"/>
            <a:ext cx="1188720" cy="4746"/>
          </a:xfrm>
          <a:prstGeom prst="line">
            <a:avLst/>
          </a:prstGeom>
          <a:ln w="762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4" name="Oval 223"/>
          <p:cNvSpPr/>
          <p:nvPr/>
        </p:nvSpPr>
        <p:spPr>
          <a:xfrm>
            <a:off x="4078224" y="3609824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xfrm>
            <a:off x="5266944" y="3614570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6" name="Connector 225"/>
          <p:cNvCxnSpPr/>
          <p:nvPr/>
        </p:nvCxnSpPr>
        <p:spPr>
          <a:xfrm>
            <a:off x="4114800" y="3646701"/>
            <a:ext cx="1188720" cy="4619"/>
          </a:xfrm>
          <a:prstGeom prst="line">
            <a:avLst/>
          </a:prstGeom>
          <a:ln w="762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7" name="Oval 226"/>
          <p:cNvSpPr/>
          <p:nvPr/>
        </p:nvSpPr>
        <p:spPr>
          <a:xfrm>
            <a:off x="4078224" y="3610125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Oval 227"/>
          <p:cNvSpPr/>
          <p:nvPr/>
        </p:nvSpPr>
        <p:spPr>
          <a:xfrm>
            <a:off x="5266944" y="3614744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9" name="Connector 228"/>
          <p:cNvCxnSpPr/>
          <p:nvPr/>
        </p:nvCxnSpPr>
        <p:spPr>
          <a:xfrm>
            <a:off x="4114800" y="3488099"/>
            <a:ext cx="1188720" cy="211609"/>
          </a:xfrm>
          <a:prstGeom prst="line">
            <a:avLst/>
          </a:prstGeom>
          <a:ln w="17781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0" name="Oval 229"/>
          <p:cNvSpPr/>
          <p:nvPr/>
        </p:nvSpPr>
        <p:spPr>
          <a:xfrm>
            <a:off x="4078224" y="3451523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Oval 230"/>
          <p:cNvSpPr/>
          <p:nvPr/>
        </p:nvSpPr>
        <p:spPr>
          <a:xfrm>
            <a:off x="5266944" y="3663132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2" name="Connector 231"/>
          <p:cNvCxnSpPr/>
          <p:nvPr/>
        </p:nvCxnSpPr>
        <p:spPr>
          <a:xfrm>
            <a:off x="4114800" y="3646701"/>
            <a:ext cx="1188720" cy="4619"/>
          </a:xfrm>
          <a:prstGeom prst="line">
            <a:avLst/>
          </a:prstGeom>
          <a:ln w="762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3" name="Oval 232"/>
          <p:cNvSpPr/>
          <p:nvPr/>
        </p:nvSpPr>
        <p:spPr>
          <a:xfrm>
            <a:off x="4078224" y="3610125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Oval 233"/>
          <p:cNvSpPr/>
          <p:nvPr/>
        </p:nvSpPr>
        <p:spPr>
          <a:xfrm>
            <a:off x="5266944" y="3614744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5" name="Connector 234"/>
          <p:cNvCxnSpPr/>
          <p:nvPr/>
        </p:nvCxnSpPr>
        <p:spPr>
          <a:xfrm>
            <a:off x="4114800" y="3646701"/>
            <a:ext cx="1188720" cy="4619"/>
          </a:xfrm>
          <a:prstGeom prst="line">
            <a:avLst/>
          </a:prstGeom>
          <a:ln w="762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6" name="Oval 235"/>
          <p:cNvSpPr/>
          <p:nvPr/>
        </p:nvSpPr>
        <p:spPr>
          <a:xfrm>
            <a:off x="4078224" y="3610125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Oval 236"/>
          <p:cNvSpPr/>
          <p:nvPr/>
        </p:nvSpPr>
        <p:spPr>
          <a:xfrm>
            <a:off x="5266944" y="3614744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8" name="Connector 237"/>
          <p:cNvCxnSpPr/>
          <p:nvPr/>
        </p:nvCxnSpPr>
        <p:spPr>
          <a:xfrm>
            <a:off x="4114800" y="3646701"/>
            <a:ext cx="1188720" cy="4619"/>
          </a:xfrm>
          <a:prstGeom prst="line">
            <a:avLst/>
          </a:prstGeom>
          <a:ln w="762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9" name="Oval 238"/>
          <p:cNvSpPr/>
          <p:nvPr/>
        </p:nvSpPr>
        <p:spPr>
          <a:xfrm>
            <a:off x="4078224" y="3610125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Oval 239"/>
          <p:cNvSpPr/>
          <p:nvPr/>
        </p:nvSpPr>
        <p:spPr>
          <a:xfrm>
            <a:off x="5266944" y="3614744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1" name="Connector 240"/>
          <p:cNvCxnSpPr/>
          <p:nvPr/>
        </p:nvCxnSpPr>
        <p:spPr>
          <a:xfrm>
            <a:off x="4114800" y="3646701"/>
            <a:ext cx="1188720" cy="4619"/>
          </a:xfrm>
          <a:prstGeom prst="line">
            <a:avLst/>
          </a:prstGeom>
          <a:ln w="762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2" name="Oval 241"/>
          <p:cNvSpPr/>
          <p:nvPr/>
        </p:nvSpPr>
        <p:spPr>
          <a:xfrm>
            <a:off x="4078224" y="3610125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Oval 242"/>
          <p:cNvSpPr/>
          <p:nvPr/>
        </p:nvSpPr>
        <p:spPr>
          <a:xfrm>
            <a:off x="5266944" y="3614744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4" name="Connector 243"/>
          <p:cNvCxnSpPr/>
          <p:nvPr/>
        </p:nvCxnSpPr>
        <p:spPr>
          <a:xfrm>
            <a:off x="4114800" y="3646701"/>
            <a:ext cx="1188720" cy="4619"/>
          </a:xfrm>
          <a:prstGeom prst="line">
            <a:avLst/>
          </a:prstGeom>
          <a:ln w="762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5" name="Oval 244"/>
          <p:cNvSpPr/>
          <p:nvPr/>
        </p:nvSpPr>
        <p:spPr>
          <a:xfrm>
            <a:off x="4078224" y="3610125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Oval 245"/>
          <p:cNvSpPr/>
          <p:nvPr/>
        </p:nvSpPr>
        <p:spPr>
          <a:xfrm>
            <a:off x="5266944" y="3614744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7" name="Connector 246"/>
          <p:cNvCxnSpPr/>
          <p:nvPr/>
        </p:nvCxnSpPr>
        <p:spPr>
          <a:xfrm>
            <a:off x="4114800" y="3646701"/>
            <a:ext cx="1188720" cy="4619"/>
          </a:xfrm>
          <a:prstGeom prst="line">
            <a:avLst/>
          </a:prstGeom>
          <a:ln w="762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8" name="Oval 247"/>
          <p:cNvSpPr/>
          <p:nvPr/>
        </p:nvSpPr>
        <p:spPr>
          <a:xfrm>
            <a:off x="4078224" y="3610125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Oval 248"/>
          <p:cNvSpPr/>
          <p:nvPr/>
        </p:nvSpPr>
        <p:spPr>
          <a:xfrm>
            <a:off x="5266944" y="3614744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0" name="Connector 249"/>
          <p:cNvCxnSpPr/>
          <p:nvPr/>
        </p:nvCxnSpPr>
        <p:spPr>
          <a:xfrm>
            <a:off x="6355080" y="4221480"/>
            <a:ext cx="2377440" cy="0"/>
          </a:xfrm>
          <a:prstGeom prst="line">
            <a:avLst/>
          </a:prstGeom>
          <a:ln w="889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Connector 250"/>
          <p:cNvCxnSpPr/>
          <p:nvPr/>
        </p:nvCxnSpPr>
        <p:spPr>
          <a:xfrm>
            <a:off x="6355080" y="3093720"/>
            <a:ext cx="0" cy="1127760"/>
          </a:xfrm>
          <a:prstGeom prst="line">
            <a:avLst/>
          </a:prstGeom>
          <a:ln w="889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Connector 251"/>
          <p:cNvCxnSpPr/>
          <p:nvPr/>
        </p:nvCxnSpPr>
        <p:spPr>
          <a:xfrm>
            <a:off x="6318504" y="4221480"/>
            <a:ext cx="36576" cy="0"/>
          </a:xfrm>
          <a:prstGeom prst="line">
            <a:avLst/>
          </a:prstGeom>
          <a:ln w="635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3" name="TextBox 252"/>
          <p:cNvSpPr txBox="1"/>
          <p:nvPr/>
        </p:nvSpPr>
        <p:spPr>
          <a:xfrm>
            <a:off x="6080760" y="4157472"/>
            <a:ext cx="256032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0.0</a:t>
            </a:r>
          </a:p>
        </p:txBody>
      </p:sp>
      <p:cxnSp>
        <p:nvCxnSpPr>
          <p:cNvPr id="254" name="Connector 253"/>
          <p:cNvCxnSpPr/>
          <p:nvPr/>
        </p:nvCxnSpPr>
        <p:spPr>
          <a:xfrm>
            <a:off x="6318504" y="3657600"/>
            <a:ext cx="36576" cy="0"/>
          </a:xfrm>
          <a:prstGeom prst="line">
            <a:avLst/>
          </a:prstGeom>
          <a:ln w="635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5" name="TextBox 254"/>
          <p:cNvSpPr txBox="1"/>
          <p:nvPr/>
        </p:nvSpPr>
        <p:spPr>
          <a:xfrm>
            <a:off x="6080760" y="3593592"/>
            <a:ext cx="256032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0.5</a:t>
            </a:r>
          </a:p>
        </p:txBody>
      </p:sp>
      <p:cxnSp>
        <p:nvCxnSpPr>
          <p:cNvPr id="256" name="Connector 255"/>
          <p:cNvCxnSpPr/>
          <p:nvPr/>
        </p:nvCxnSpPr>
        <p:spPr>
          <a:xfrm>
            <a:off x="6318504" y="3093720"/>
            <a:ext cx="36576" cy="0"/>
          </a:xfrm>
          <a:prstGeom prst="line">
            <a:avLst/>
          </a:prstGeom>
          <a:ln w="635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7" name="TextBox 256"/>
          <p:cNvSpPr txBox="1"/>
          <p:nvPr/>
        </p:nvSpPr>
        <p:spPr>
          <a:xfrm>
            <a:off x="6080760" y="3029712"/>
            <a:ext cx="256032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1.0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6592824" y="4248912"/>
            <a:ext cx="71323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pre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7781544" y="4248912"/>
            <a:ext cx="71323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post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6355080" y="2929128"/>
            <a:ext cx="23774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C53E1F"/>
                </a:solidFill>
                <a:latin typeface="Arial"/>
              </a:rPr>
              <a:t>s5 (bad)</a:t>
            </a:r>
          </a:p>
        </p:txBody>
      </p:sp>
      <p:cxnSp>
        <p:nvCxnSpPr>
          <p:cNvPr id="261" name="Connector 260"/>
          <p:cNvCxnSpPr/>
          <p:nvPr/>
        </p:nvCxnSpPr>
        <p:spPr>
          <a:xfrm flipV="1">
            <a:off x="6949440" y="3655312"/>
            <a:ext cx="1188720" cy="11043"/>
          </a:xfrm>
          <a:prstGeom prst="line">
            <a:avLst/>
          </a:prstGeom>
          <a:ln w="762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2" name="Oval 261"/>
          <p:cNvSpPr/>
          <p:nvPr/>
        </p:nvSpPr>
        <p:spPr>
          <a:xfrm>
            <a:off x="6912864" y="3629779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Oval 262"/>
          <p:cNvSpPr/>
          <p:nvPr/>
        </p:nvSpPr>
        <p:spPr>
          <a:xfrm>
            <a:off x="8101584" y="3618736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4" name="Connector 263"/>
          <p:cNvCxnSpPr/>
          <p:nvPr/>
        </p:nvCxnSpPr>
        <p:spPr>
          <a:xfrm flipV="1">
            <a:off x="6949440" y="3655312"/>
            <a:ext cx="1188720" cy="11043"/>
          </a:xfrm>
          <a:prstGeom prst="line">
            <a:avLst/>
          </a:prstGeom>
          <a:ln w="762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5" name="Oval 264"/>
          <p:cNvSpPr/>
          <p:nvPr/>
        </p:nvSpPr>
        <p:spPr>
          <a:xfrm>
            <a:off x="6912864" y="3629779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Oval 265"/>
          <p:cNvSpPr/>
          <p:nvPr/>
        </p:nvSpPr>
        <p:spPr>
          <a:xfrm>
            <a:off x="8101584" y="3618736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7" name="Connector 266"/>
          <p:cNvCxnSpPr/>
          <p:nvPr/>
        </p:nvCxnSpPr>
        <p:spPr>
          <a:xfrm flipV="1">
            <a:off x="6949440" y="3655312"/>
            <a:ext cx="1188720" cy="11043"/>
          </a:xfrm>
          <a:prstGeom prst="line">
            <a:avLst/>
          </a:prstGeom>
          <a:ln w="762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8" name="Oval 267"/>
          <p:cNvSpPr/>
          <p:nvPr/>
        </p:nvSpPr>
        <p:spPr>
          <a:xfrm>
            <a:off x="6912864" y="3629779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Oval 268"/>
          <p:cNvSpPr/>
          <p:nvPr/>
        </p:nvSpPr>
        <p:spPr>
          <a:xfrm>
            <a:off x="8101584" y="3618736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0" name="Connector 269"/>
          <p:cNvCxnSpPr/>
          <p:nvPr/>
        </p:nvCxnSpPr>
        <p:spPr>
          <a:xfrm>
            <a:off x="6949440" y="3541177"/>
            <a:ext cx="1188720" cy="480155"/>
          </a:xfrm>
          <a:prstGeom prst="line">
            <a:avLst/>
          </a:prstGeom>
          <a:ln w="762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1" name="Oval 270"/>
          <p:cNvSpPr/>
          <p:nvPr/>
        </p:nvSpPr>
        <p:spPr>
          <a:xfrm>
            <a:off x="6912864" y="3504601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Oval 271"/>
          <p:cNvSpPr/>
          <p:nvPr/>
        </p:nvSpPr>
        <p:spPr>
          <a:xfrm>
            <a:off x="8101584" y="3984756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3" name="Connector 272"/>
          <p:cNvCxnSpPr/>
          <p:nvPr/>
        </p:nvCxnSpPr>
        <p:spPr>
          <a:xfrm flipV="1">
            <a:off x="6949440" y="3655312"/>
            <a:ext cx="1188720" cy="11043"/>
          </a:xfrm>
          <a:prstGeom prst="line">
            <a:avLst/>
          </a:prstGeom>
          <a:ln w="762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4" name="Oval 273"/>
          <p:cNvSpPr/>
          <p:nvPr/>
        </p:nvSpPr>
        <p:spPr>
          <a:xfrm>
            <a:off x="6912864" y="3629779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Oval 274"/>
          <p:cNvSpPr/>
          <p:nvPr/>
        </p:nvSpPr>
        <p:spPr>
          <a:xfrm>
            <a:off x="8101584" y="3618736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6" name="Connector 275"/>
          <p:cNvCxnSpPr/>
          <p:nvPr/>
        </p:nvCxnSpPr>
        <p:spPr>
          <a:xfrm flipV="1">
            <a:off x="6949440" y="3655312"/>
            <a:ext cx="1188720" cy="11043"/>
          </a:xfrm>
          <a:prstGeom prst="line">
            <a:avLst/>
          </a:prstGeom>
          <a:ln w="762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7" name="Oval 276"/>
          <p:cNvSpPr/>
          <p:nvPr/>
        </p:nvSpPr>
        <p:spPr>
          <a:xfrm>
            <a:off x="6912864" y="3629779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Oval 277"/>
          <p:cNvSpPr/>
          <p:nvPr/>
        </p:nvSpPr>
        <p:spPr>
          <a:xfrm>
            <a:off x="8101584" y="3618736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9" name="Connector 278"/>
          <p:cNvCxnSpPr/>
          <p:nvPr/>
        </p:nvCxnSpPr>
        <p:spPr>
          <a:xfrm flipV="1">
            <a:off x="6949440" y="3655284"/>
            <a:ext cx="1188720" cy="11214"/>
          </a:xfrm>
          <a:prstGeom prst="line">
            <a:avLst/>
          </a:prstGeom>
          <a:ln w="762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0" name="Oval 279"/>
          <p:cNvSpPr/>
          <p:nvPr/>
        </p:nvSpPr>
        <p:spPr>
          <a:xfrm>
            <a:off x="6912864" y="3629922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Oval 280"/>
          <p:cNvSpPr/>
          <p:nvPr/>
        </p:nvSpPr>
        <p:spPr>
          <a:xfrm>
            <a:off x="8101584" y="3618708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2" name="Connector 281"/>
          <p:cNvCxnSpPr/>
          <p:nvPr/>
        </p:nvCxnSpPr>
        <p:spPr>
          <a:xfrm flipV="1">
            <a:off x="6949440" y="3655312"/>
            <a:ext cx="1188720" cy="11043"/>
          </a:xfrm>
          <a:prstGeom prst="line">
            <a:avLst/>
          </a:prstGeom>
          <a:ln w="762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3" name="Oval 282"/>
          <p:cNvSpPr/>
          <p:nvPr/>
        </p:nvSpPr>
        <p:spPr>
          <a:xfrm>
            <a:off x="6912864" y="3629779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Oval 283"/>
          <p:cNvSpPr/>
          <p:nvPr/>
        </p:nvSpPr>
        <p:spPr>
          <a:xfrm>
            <a:off x="8101584" y="3618736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5" name="Connector 284"/>
          <p:cNvCxnSpPr/>
          <p:nvPr/>
        </p:nvCxnSpPr>
        <p:spPr>
          <a:xfrm>
            <a:off x="6949440" y="3096001"/>
            <a:ext cx="1188720" cy="853813"/>
          </a:xfrm>
          <a:prstGeom prst="line">
            <a:avLst/>
          </a:prstGeom>
          <a:ln w="762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6" name="Oval 285"/>
          <p:cNvSpPr/>
          <p:nvPr/>
        </p:nvSpPr>
        <p:spPr>
          <a:xfrm>
            <a:off x="6912864" y="3059425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Oval 286"/>
          <p:cNvSpPr/>
          <p:nvPr/>
        </p:nvSpPr>
        <p:spPr>
          <a:xfrm>
            <a:off x="8101584" y="3913238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8" name="Connector 287"/>
          <p:cNvCxnSpPr/>
          <p:nvPr/>
        </p:nvCxnSpPr>
        <p:spPr>
          <a:xfrm flipV="1">
            <a:off x="6949440" y="3655312"/>
            <a:ext cx="1188720" cy="11043"/>
          </a:xfrm>
          <a:prstGeom prst="line">
            <a:avLst/>
          </a:prstGeom>
          <a:ln w="762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9" name="Oval 288"/>
          <p:cNvSpPr/>
          <p:nvPr/>
        </p:nvSpPr>
        <p:spPr>
          <a:xfrm>
            <a:off x="6912864" y="3629779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Oval 289"/>
          <p:cNvSpPr/>
          <p:nvPr/>
        </p:nvSpPr>
        <p:spPr>
          <a:xfrm>
            <a:off x="8101584" y="3618736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1" name="Connector 290"/>
          <p:cNvCxnSpPr/>
          <p:nvPr/>
        </p:nvCxnSpPr>
        <p:spPr>
          <a:xfrm>
            <a:off x="9189720" y="4221480"/>
            <a:ext cx="2377440" cy="0"/>
          </a:xfrm>
          <a:prstGeom prst="line">
            <a:avLst/>
          </a:prstGeom>
          <a:ln w="889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Connector 291"/>
          <p:cNvCxnSpPr/>
          <p:nvPr/>
        </p:nvCxnSpPr>
        <p:spPr>
          <a:xfrm>
            <a:off x="9189720" y="3093720"/>
            <a:ext cx="0" cy="1127760"/>
          </a:xfrm>
          <a:prstGeom prst="line">
            <a:avLst/>
          </a:prstGeom>
          <a:ln w="889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Connector 292"/>
          <p:cNvCxnSpPr/>
          <p:nvPr/>
        </p:nvCxnSpPr>
        <p:spPr>
          <a:xfrm>
            <a:off x="9153144" y="4221480"/>
            <a:ext cx="36576" cy="0"/>
          </a:xfrm>
          <a:prstGeom prst="line">
            <a:avLst/>
          </a:prstGeom>
          <a:ln w="635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4" name="TextBox 293"/>
          <p:cNvSpPr txBox="1"/>
          <p:nvPr/>
        </p:nvSpPr>
        <p:spPr>
          <a:xfrm>
            <a:off x="8915400" y="4157472"/>
            <a:ext cx="256032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0.0</a:t>
            </a:r>
          </a:p>
        </p:txBody>
      </p:sp>
      <p:cxnSp>
        <p:nvCxnSpPr>
          <p:cNvPr id="295" name="Connector 294"/>
          <p:cNvCxnSpPr/>
          <p:nvPr/>
        </p:nvCxnSpPr>
        <p:spPr>
          <a:xfrm>
            <a:off x="9153144" y="3657600"/>
            <a:ext cx="36576" cy="0"/>
          </a:xfrm>
          <a:prstGeom prst="line">
            <a:avLst/>
          </a:prstGeom>
          <a:ln w="635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6" name="TextBox 295"/>
          <p:cNvSpPr txBox="1"/>
          <p:nvPr/>
        </p:nvSpPr>
        <p:spPr>
          <a:xfrm>
            <a:off x="8915400" y="3593592"/>
            <a:ext cx="256032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0.5</a:t>
            </a:r>
          </a:p>
        </p:txBody>
      </p:sp>
      <p:cxnSp>
        <p:nvCxnSpPr>
          <p:cNvPr id="297" name="Connector 296"/>
          <p:cNvCxnSpPr/>
          <p:nvPr/>
        </p:nvCxnSpPr>
        <p:spPr>
          <a:xfrm>
            <a:off x="9153144" y="3093720"/>
            <a:ext cx="36576" cy="0"/>
          </a:xfrm>
          <a:prstGeom prst="line">
            <a:avLst/>
          </a:prstGeom>
          <a:ln w="635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8" name="TextBox 297"/>
          <p:cNvSpPr txBox="1"/>
          <p:nvPr/>
        </p:nvSpPr>
        <p:spPr>
          <a:xfrm>
            <a:off x="8915400" y="3029712"/>
            <a:ext cx="256032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1.0</a:t>
            </a:r>
          </a:p>
        </p:txBody>
      </p:sp>
      <p:sp>
        <p:nvSpPr>
          <p:cNvPr id="299" name="TextBox 298"/>
          <p:cNvSpPr txBox="1"/>
          <p:nvPr/>
        </p:nvSpPr>
        <p:spPr>
          <a:xfrm>
            <a:off x="9427464" y="4248912"/>
            <a:ext cx="71323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pre</a:t>
            </a:r>
          </a:p>
        </p:txBody>
      </p:sp>
      <p:sp>
        <p:nvSpPr>
          <p:cNvPr id="300" name="TextBox 299"/>
          <p:cNvSpPr txBox="1"/>
          <p:nvPr/>
        </p:nvSpPr>
        <p:spPr>
          <a:xfrm>
            <a:off x="10616184" y="4248912"/>
            <a:ext cx="71323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post</a:t>
            </a:r>
          </a:p>
        </p:txBody>
      </p:sp>
      <p:sp>
        <p:nvSpPr>
          <p:cNvPr id="301" name="TextBox 300"/>
          <p:cNvSpPr txBox="1"/>
          <p:nvPr/>
        </p:nvSpPr>
        <p:spPr>
          <a:xfrm>
            <a:off x="9189720" y="2929128"/>
            <a:ext cx="23774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C53E1F"/>
                </a:solidFill>
                <a:latin typeface="Arial"/>
              </a:rPr>
              <a:t>s7 (bad)</a:t>
            </a:r>
          </a:p>
        </p:txBody>
      </p:sp>
      <p:cxnSp>
        <p:nvCxnSpPr>
          <p:cNvPr id="302" name="Connector 301"/>
          <p:cNvCxnSpPr/>
          <p:nvPr/>
        </p:nvCxnSpPr>
        <p:spPr>
          <a:xfrm>
            <a:off x="9784080" y="3636900"/>
            <a:ext cx="1188720" cy="52643"/>
          </a:xfrm>
          <a:prstGeom prst="line">
            <a:avLst/>
          </a:prstGeom>
          <a:ln w="762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3" name="Oval 302"/>
          <p:cNvSpPr/>
          <p:nvPr/>
        </p:nvSpPr>
        <p:spPr>
          <a:xfrm>
            <a:off x="9747504" y="3600324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Oval 303"/>
          <p:cNvSpPr/>
          <p:nvPr/>
        </p:nvSpPr>
        <p:spPr>
          <a:xfrm>
            <a:off x="10936224" y="3652967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5" name="Connector 304"/>
          <p:cNvCxnSpPr/>
          <p:nvPr/>
        </p:nvCxnSpPr>
        <p:spPr>
          <a:xfrm>
            <a:off x="9784080" y="3636900"/>
            <a:ext cx="1188720" cy="52643"/>
          </a:xfrm>
          <a:prstGeom prst="line">
            <a:avLst/>
          </a:prstGeom>
          <a:ln w="762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6" name="Oval 305"/>
          <p:cNvSpPr/>
          <p:nvPr/>
        </p:nvSpPr>
        <p:spPr>
          <a:xfrm>
            <a:off x="9747504" y="3600324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Oval 306"/>
          <p:cNvSpPr/>
          <p:nvPr/>
        </p:nvSpPr>
        <p:spPr>
          <a:xfrm>
            <a:off x="10936224" y="3652967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8" name="Connector 307"/>
          <p:cNvCxnSpPr/>
          <p:nvPr/>
        </p:nvCxnSpPr>
        <p:spPr>
          <a:xfrm>
            <a:off x="9784080" y="3636900"/>
            <a:ext cx="1188720" cy="52643"/>
          </a:xfrm>
          <a:prstGeom prst="line">
            <a:avLst/>
          </a:prstGeom>
          <a:ln w="762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9" name="Oval 308"/>
          <p:cNvSpPr/>
          <p:nvPr/>
        </p:nvSpPr>
        <p:spPr>
          <a:xfrm>
            <a:off x="9747504" y="3600324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Oval 309"/>
          <p:cNvSpPr/>
          <p:nvPr/>
        </p:nvSpPr>
        <p:spPr>
          <a:xfrm>
            <a:off x="10936224" y="3652967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1" name="Connector 310"/>
          <p:cNvCxnSpPr/>
          <p:nvPr/>
        </p:nvCxnSpPr>
        <p:spPr>
          <a:xfrm>
            <a:off x="9784080" y="3636900"/>
            <a:ext cx="1188720" cy="52643"/>
          </a:xfrm>
          <a:prstGeom prst="line">
            <a:avLst/>
          </a:prstGeom>
          <a:ln w="762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2" name="Oval 311"/>
          <p:cNvSpPr/>
          <p:nvPr/>
        </p:nvSpPr>
        <p:spPr>
          <a:xfrm>
            <a:off x="9747504" y="3600324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Oval 312"/>
          <p:cNvSpPr/>
          <p:nvPr/>
        </p:nvSpPr>
        <p:spPr>
          <a:xfrm>
            <a:off x="10936224" y="3652967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4" name="Connector 313"/>
          <p:cNvCxnSpPr/>
          <p:nvPr/>
        </p:nvCxnSpPr>
        <p:spPr>
          <a:xfrm>
            <a:off x="9784080" y="3636900"/>
            <a:ext cx="1188720" cy="52643"/>
          </a:xfrm>
          <a:prstGeom prst="line">
            <a:avLst/>
          </a:prstGeom>
          <a:ln w="762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5" name="Oval 314"/>
          <p:cNvSpPr/>
          <p:nvPr/>
        </p:nvSpPr>
        <p:spPr>
          <a:xfrm>
            <a:off x="9747504" y="3600324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Oval 315"/>
          <p:cNvSpPr/>
          <p:nvPr/>
        </p:nvSpPr>
        <p:spPr>
          <a:xfrm>
            <a:off x="10936224" y="3652967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7" name="Connector 316"/>
          <p:cNvCxnSpPr/>
          <p:nvPr/>
        </p:nvCxnSpPr>
        <p:spPr>
          <a:xfrm>
            <a:off x="9784080" y="3636900"/>
            <a:ext cx="1188720" cy="52643"/>
          </a:xfrm>
          <a:prstGeom prst="line">
            <a:avLst/>
          </a:prstGeom>
          <a:ln w="762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8" name="Oval 317"/>
          <p:cNvSpPr/>
          <p:nvPr/>
        </p:nvSpPr>
        <p:spPr>
          <a:xfrm>
            <a:off x="9747504" y="3600324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Oval 318"/>
          <p:cNvSpPr/>
          <p:nvPr/>
        </p:nvSpPr>
        <p:spPr>
          <a:xfrm>
            <a:off x="10936224" y="3652967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0" name="Connector 319"/>
          <p:cNvCxnSpPr/>
          <p:nvPr/>
        </p:nvCxnSpPr>
        <p:spPr>
          <a:xfrm>
            <a:off x="9784080" y="3636900"/>
            <a:ext cx="1188720" cy="52643"/>
          </a:xfrm>
          <a:prstGeom prst="line">
            <a:avLst/>
          </a:prstGeom>
          <a:ln w="762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1" name="Oval 320"/>
          <p:cNvSpPr/>
          <p:nvPr/>
        </p:nvSpPr>
        <p:spPr>
          <a:xfrm>
            <a:off x="9747504" y="3600324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Oval 321"/>
          <p:cNvSpPr/>
          <p:nvPr/>
        </p:nvSpPr>
        <p:spPr>
          <a:xfrm>
            <a:off x="10936224" y="3652967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3" name="Connector 322"/>
          <p:cNvCxnSpPr/>
          <p:nvPr/>
        </p:nvCxnSpPr>
        <p:spPr>
          <a:xfrm>
            <a:off x="9784080" y="3636759"/>
            <a:ext cx="1188720" cy="53057"/>
          </a:xfrm>
          <a:prstGeom prst="line">
            <a:avLst/>
          </a:prstGeom>
          <a:ln w="762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4" name="Oval 323"/>
          <p:cNvSpPr/>
          <p:nvPr/>
        </p:nvSpPr>
        <p:spPr>
          <a:xfrm>
            <a:off x="9747504" y="3600183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Oval 324"/>
          <p:cNvSpPr/>
          <p:nvPr/>
        </p:nvSpPr>
        <p:spPr>
          <a:xfrm>
            <a:off x="10936224" y="3653240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6" name="Connector 325"/>
          <p:cNvCxnSpPr/>
          <p:nvPr/>
        </p:nvCxnSpPr>
        <p:spPr>
          <a:xfrm>
            <a:off x="9784080" y="3636900"/>
            <a:ext cx="1188720" cy="52643"/>
          </a:xfrm>
          <a:prstGeom prst="line">
            <a:avLst/>
          </a:prstGeom>
          <a:ln w="762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7" name="Oval 326"/>
          <p:cNvSpPr/>
          <p:nvPr/>
        </p:nvSpPr>
        <p:spPr>
          <a:xfrm>
            <a:off x="9747504" y="3600324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Oval 327"/>
          <p:cNvSpPr/>
          <p:nvPr/>
        </p:nvSpPr>
        <p:spPr>
          <a:xfrm>
            <a:off x="10936224" y="3652967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9" name="Connector 328"/>
          <p:cNvCxnSpPr/>
          <p:nvPr/>
        </p:nvCxnSpPr>
        <p:spPr>
          <a:xfrm>
            <a:off x="9784080" y="3636899"/>
            <a:ext cx="1188720" cy="52645"/>
          </a:xfrm>
          <a:prstGeom prst="line">
            <a:avLst/>
          </a:prstGeom>
          <a:ln w="762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0" name="Oval 329"/>
          <p:cNvSpPr/>
          <p:nvPr/>
        </p:nvSpPr>
        <p:spPr>
          <a:xfrm>
            <a:off x="9747504" y="3600323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Oval 330"/>
          <p:cNvSpPr/>
          <p:nvPr/>
        </p:nvSpPr>
        <p:spPr>
          <a:xfrm>
            <a:off x="10936224" y="3652968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2" name="Connector 331"/>
          <p:cNvCxnSpPr/>
          <p:nvPr/>
        </p:nvCxnSpPr>
        <p:spPr>
          <a:xfrm>
            <a:off x="685800" y="5989320"/>
            <a:ext cx="2377440" cy="0"/>
          </a:xfrm>
          <a:prstGeom prst="line">
            <a:avLst/>
          </a:prstGeom>
          <a:ln w="889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3" name="Connector 332"/>
          <p:cNvCxnSpPr/>
          <p:nvPr/>
        </p:nvCxnSpPr>
        <p:spPr>
          <a:xfrm>
            <a:off x="685800" y="4861560"/>
            <a:ext cx="0" cy="1127760"/>
          </a:xfrm>
          <a:prstGeom prst="line">
            <a:avLst/>
          </a:prstGeom>
          <a:ln w="889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4" name="Connector 333"/>
          <p:cNvCxnSpPr/>
          <p:nvPr/>
        </p:nvCxnSpPr>
        <p:spPr>
          <a:xfrm>
            <a:off x="649224" y="5989320"/>
            <a:ext cx="36576" cy="0"/>
          </a:xfrm>
          <a:prstGeom prst="line">
            <a:avLst/>
          </a:prstGeom>
          <a:ln w="635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5" name="TextBox 334"/>
          <p:cNvSpPr txBox="1"/>
          <p:nvPr/>
        </p:nvSpPr>
        <p:spPr>
          <a:xfrm>
            <a:off x="411480" y="5925312"/>
            <a:ext cx="256032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0.0</a:t>
            </a:r>
          </a:p>
        </p:txBody>
      </p:sp>
      <p:cxnSp>
        <p:nvCxnSpPr>
          <p:cNvPr id="336" name="Connector 335"/>
          <p:cNvCxnSpPr/>
          <p:nvPr/>
        </p:nvCxnSpPr>
        <p:spPr>
          <a:xfrm>
            <a:off x="649224" y="5425440"/>
            <a:ext cx="36576" cy="0"/>
          </a:xfrm>
          <a:prstGeom prst="line">
            <a:avLst/>
          </a:prstGeom>
          <a:ln w="635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7" name="TextBox 336"/>
          <p:cNvSpPr txBox="1"/>
          <p:nvPr/>
        </p:nvSpPr>
        <p:spPr>
          <a:xfrm>
            <a:off x="411480" y="5361432"/>
            <a:ext cx="256032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0.5</a:t>
            </a:r>
          </a:p>
        </p:txBody>
      </p:sp>
      <p:cxnSp>
        <p:nvCxnSpPr>
          <p:cNvPr id="338" name="Connector 337"/>
          <p:cNvCxnSpPr/>
          <p:nvPr/>
        </p:nvCxnSpPr>
        <p:spPr>
          <a:xfrm>
            <a:off x="649224" y="4861560"/>
            <a:ext cx="36576" cy="0"/>
          </a:xfrm>
          <a:prstGeom prst="line">
            <a:avLst/>
          </a:prstGeom>
          <a:ln w="635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9" name="TextBox 338"/>
          <p:cNvSpPr txBox="1"/>
          <p:nvPr/>
        </p:nvSpPr>
        <p:spPr>
          <a:xfrm>
            <a:off x="411480" y="4797552"/>
            <a:ext cx="256032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1.0</a:t>
            </a:r>
          </a:p>
        </p:txBody>
      </p:sp>
      <p:sp>
        <p:nvSpPr>
          <p:cNvPr id="340" name="TextBox 339"/>
          <p:cNvSpPr txBox="1"/>
          <p:nvPr/>
        </p:nvSpPr>
        <p:spPr>
          <a:xfrm>
            <a:off x="923544" y="6016752"/>
            <a:ext cx="71323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pre</a:t>
            </a:r>
          </a:p>
        </p:txBody>
      </p:sp>
      <p:sp>
        <p:nvSpPr>
          <p:cNvPr id="341" name="TextBox 340"/>
          <p:cNvSpPr txBox="1"/>
          <p:nvPr/>
        </p:nvSpPr>
        <p:spPr>
          <a:xfrm>
            <a:off x="2112264" y="6016752"/>
            <a:ext cx="71323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post</a:t>
            </a:r>
          </a:p>
        </p:txBody>
      </p:sp>
      <p:sp>
        <p:nvSpPr>
          <p:cNvPr id="342" name="TextBox 341"/>
          <p:cNvSpPr txBox="1"/>
          <p:nvPr/>
        </p:nvSpPr>
        <p:spPr>
          <a:xfrm>
            <a:off x="685800" y="4696968"/>
            <a:ext cx="23774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C53E1F"/>
                </a:solidFill>
                <a:latin typeface="Arial"/>
              </a:rPr>
              <a:t>s10 (bad)</a:t>
            </a:r>
          </a:p>
        </p:txBody>
      </p:sp>
      <p:cxnSp>
        <p:nvCxnSpPr>
          <p:cNvPr id="343" name="Connector 342"/>
          <p:cNvCxnSpPr/>
          <p:nvPr/>
        </p:nvCxnSpPr>
        <p:spPr>
          <a:xfrm flipV="1">
            <a:off x="1280160" y="5417691"/>
            <a:ext cx="1188720" cy="1189"/>
          </a:xfrm>
          <a:prstGeom prst="line">
            <a:avLst/>
          </a:prstGeom>
          <a:ln w="762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4" name="Oval 343"/>
          <p:cNvSpPr/>
          <p:nvPr/>
        </p:nvSpPr>
        <p:spPr>
          <a:xfrm>
            <a:off x="1243584" y="5382304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Oval 344"/>
          <p:cNvSpPr/>
          <p:nvPr/>
        </p:nvSpPr>
        <p:spPr>
          <a:xfrm>
            <a:off x="2432304" y="5381115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6" name="Connector 345"/>
          <p:cNvCxnSpPr/>
          <p:nvPr/>
        </p:nvCxnSpPr>
        <p:spPr>
          <a:xfrm>
            <a:off x="1280160" y="4861799"/>
            <a:ext cx="1188720" cy="2564"/>
          </a:xfrm>
          <a:prstGeom prst="line">
            <a:avLst/>
          </a:prstGeom>
          <a:ln w="3175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7" name="Oval 346"/>
          <p:cNvSpPr/>
          <p:nvPr/>
        </p:nvSpPr>
        <p:spPr>
          <a:xfrm>
            <a:off x="1243584" y="4825223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Oval 347"/>
          <p:cNvSpPr/>
          <p:nvPr/>
        </p:nvSpPr>
        <p:spPr>
          <a:xfrm>
            <a:off x="2432304" y="4827787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9" name="Connector 348"/>
          <p:cNvCxnSpPr/>
          <p:nvPr/>
        </p:nvCxnSpPr>
        <p:spPr>
          <a:xfrm flipV="1">
            <a:off x="1280160" y="5417691"/>
            <a:ext cx="1188720" cy="1189"/>
          </a:xfrm>
          <a:prstGeom prst="line">
            <a:avLst/>
          </a:prstGeom>
          <a:ln w="762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0" name="Oval 349"/>
          <p:cNvSpPr/>
          <p:nvPr/>
        </p:nvSpPr>
        <p:spPr>
          <a:xfrm>
            <a:off x="1243584" y="5382304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Oval 350"/>
          <p:cNvSpPr/>
          <p:nvPr/>
        </p:nvSpPr>
        <p:spPr>
          <a:xfrm>
            <a:off x="2432304" y="5381115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2" name="Connector 351"/>
          <p:cNvCxnSpPr/>
          <p:nvPr/>
        </p:nvCxnSpPr>
        <p:spPr>
          <a:xfrm flipV="1">
            <a:off x="1280160" y="5417691"/>
            <a:ext cx="1188720" cy="1188"/>
          </a:xfrm>
          <a:prstGeom prst="line">
            <a:avLst/>
          </a:prstGeom>
          <a:ln w="762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3" name="Oval 352"/>
          <p:cNvSpPr/>
          <p:nvPr/>
        </p:nvSpPr>
        <p:spPr>
          <a:xfrm>
            <a:off x="1243584" y="5382303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Oval 353"/>
          <p:cNvSpPr/>
          <p:nvPr/>
        </p:nvSpPr>
        <p:spPr>
          <a:xfrm>
            <a:off x="2432304" y="5381115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5" name="Connector 354"/>
          <p:cNvCxnSpPr/>
          <p:nvPr/>
        </p:nvCxnSpPr>
        <p:spPr>
          <a:xfrm flipV="1">
            <a:off x="1280160" y="5417691"/>
            <a:ext cx="1188720" cy="1189"/>
          </a:xfrm>
          <a:prstGeom prst="line">
            <a:avLst/>
          </a:prstGeom>
          <a:ln w="762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6" name="Oval 355"/>
          <p:cNvSpPr/>
          <p:nvPr/>
        </p:nvSpPr>
        <p:spPr>
          <a:xfrm>
            <a:off x="1243584" y="5382304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Oval 356"/>
          <p:cNvSpPr/>
          <p:nvPr/>
        </p:nvSpPr>
        <p:spPr>
          <a:xfrm>
            <a:off x="2432304" y="5381115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8" name="Connector 357"/>
          <p:cNvCxnSpPr/>
          <p:nvPr/>
        </p:nvCxnSpPr>
        <p:spPr>
          <a:xfrm>
            <a:off x="1280160" y="5239538"/>
            <a:ext cx="1188720" cy="112141"/>
          </a:xfrm>
          <a:prstGeom prst="line">
            <a:avLst/>
          </a:prstGeom>
          <a:ln w="15822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9" name="Oval 358"/>
          <p:cNvSpPr/>
          <p:nvPr/>
        </p:nvSpPr>
        <p:spPr>
          <a:xfrm>
            <a:off x="1243584" y="5202962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Oval 359"/>
          <p:cNvSpPr/>
          <p:nvPr/>
        </p:nvSpPr>
        <p:spPr>
          <a:xfrm>
            <a:off x="2432304" y="5315103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1" name="Connector 360"/>
          <p:cNvCxnSpPr/>
          <p:nvPr/>
        </p:nvCxnSpPr>
        <p:spPr>
          <a:xfrm flipV="1">
            <a:off x="1280160" y="5417691"/>
            <a:ext cx="1188720" cy="1189"/>
          </a:xfrm>
          <a:prstGeom prst="line">
            <a:avLst/>
          </a:prstGeom>
          <a:ln w="762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2" name="Oval 361"/>
          <p:cNvSpPr/>
          <p:nvPr/>
        </p:nvSpPr>
        <p:spPr>
          <a:xfrm>
            <a:off x="1243584" y="5382304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Oval 362"/>
          <p:cNvSpPr/>
          <p:nvPr/>
        </p:nvSpPr>
        <p:spPr>
          <a:xfrm>
            <a:off x="2432304" y="5381115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4" name="Connector 363"/>
          <p:cNvCxnSpPr/>
          <p:nvPr/>
        </p:nvCxnSpPr>
        <p:spPr>
          <a:xfrm flipV="1">
            <a:off x="1280160" y="5417671"/>
            <a:ext cx="1188720" cy="1195"/>
          </a:xfrm>
          <a:prstGeom prst="line">
            <a:avLst/>
          </a:prstGeom>
          <a:ln w="762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5" name="Oval 364"/>
          <p:cNvSpPr/>
          <p:nvPr/>
        </p:nvSpPr>
        <p:spPr>
          <a:xfrm>
            <a:off x="1243584" y="5382290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Oval 365"/>
          <p:cNvSpPr/>
          <p:nvPr/>
        </p:nvSpPr>
        <p:spPr>
          <a:xfrm>
            <a:off x="2432304" y="5381095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7" name="Connector 366"/>
          <p:cNvCxnSpPr/>
          <p:nvPr/>
        </p:nvCxnSpPr>
        <p:spPr>
          <a:xfrm flipV="1">
            <a:off x="1280160" y="5417691"/>
            <a:ext cx="1188720" cy="1188"/>
          </a:xfrm>
          <a:prstGeom prst="line">
            <a:avLst/>
          </a:prstGeom>
          <a:ln w="762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8" name="Oval 367"/>
          <p:cNvSpPr/>
          <p:nvPr/>
        </p:nvSpPr>
        <p:spPr>
          <a:xfrm>
            <a:off x="1243584" y="5382303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Oval 368"/>
          <p:cNvSpPr/>
          <p:nvPr/>
        </p:nvSpPr>
        <p:spPr>
          <a:xfrm>
            <a:off x="2432304" y="5381115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0" name="Connector 369"/>
          <p:cNvCxnSpPr/>
          <p:nvPr/>
        </p:nvCxnSpPr>
        <p:spPr>
          <a:xfrm flipV="1">
            <a:off x="1280160" y="5417691"/>
            <a:ext cx="1188720" cy="1189"/>
          </a:xfrm>
          <a:prstGeom prst="line">
            <a:avLst/>
          </a:prstGeom>
          <a:ln w="762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1" name="Oval 370"/>
          <p:cNvSpPr/>
          <p:nvPr/>
        </p:nvSpPr>
        <p:spPr>
          <a:xfrm>
            <a:off x="1243584" y="5382304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2432304" y="5381115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3" name="Connector 372"/>
          <p:cNvCxnSpPr/>
          <p:nvPr/>
        </p:nvCxnSpPr>
        <p:spPr>
          <a:xfrm>
            <a:off x="3520440" y="5989320"/>
            <a:ext cx="2377440" cy="0"/>
          </a:xfrm>
          <a:prstGeom prst="line">
            <a:avLst/>
          </a:prstGeom>
          <a:ln w="889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4" name="Connector 373"/>
          <p:cNvCxnSpPr/>
          <p:nvPr/>
        </p:nvCxnSpPr>
        <p:spPr>
          <a:xfrm>
            <a:off x="3520440" y="4861560"/>
            <a:ext cx="0" cy="1127760"/>
          </a:xfrm>
          <a:prstGeom prst="line">
            <a:avLst/>
          </a:prstGeom>
          <a:ln w="889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5" name="Connector 374"/>
          <p:cNvCxnSpPr/>
          <p:nvPr/>
        </p:nvCxnSpPr>
        <p:spPr>
          <a:xfrm>
            <a:off x="3483864" y="5989320"/>
            <a:ext cx="36576" cy="0"/>
          </a:xfrm>
          <a:prstGeom prst="line">
            <a:avLst/>
          </a:prstGeom>
          <a:ln w="635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6" name="TextBox 375"/>
          <p:cNvSpPr txBox="1"/>
          <p:nvPr/>
        </p:nvSpPr>
        <p:spPr>
          <a:xfrm>
            <a:off x="3246120" y="5925312"/>
            <a:ext cx="256032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0.0</a:t>
            </a:r>
          </a:p>
        </p:txBody>
      </p:sp>
      <p:cxnSp>
        <p:nvCxnSpPr>
          <p:cNvPr id="377" name="Connector 376"/>
          <p:cNvCxnSpPr/>
          <p:nvPr/>
        </p:nvCxnSpPr>
        <p:spPr>
          <a:xfrm>
            <a:off x="3483864" y="5425440"/>
            <a:ext cx="36576" cy="0"/>
          </a:xfrm>
          <a:prstGeom prst="line">
            <a:avLst/>
          </a:prstGeom>
          <a:ln w="635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8" name="TextBox 377"/>
          <p:cNvSpPr txBox="1"/>
          <p:nvPr/>
        </p:nvSpPr>
        <p:spPr>
          <a:xfrm>
            <a:off x="3246120" y="5361432"/>
            <a:ext cx="256032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0.5</a:t>
            </a:r>
          </a:p>
        </p:txBody>
      </p:sp>
      <p:cxnSp>
        <p:nvCxnSpPr>
          <p:cNvPr id="379" name="Connector 378"/>
          <p:cNvCxnSpPr/>
          <p:nvPr/>
        </p:nvCxnSpPr>
        <p:spPr>
          <a:xfrm>
            <a:off x="3483864" y="4861560"/>
            <a:ext cx="36576" cy="0"/>
          </a:xfrm>
          <a:prstGeom prst="line">
            <a:avLst/>
          </a:prstGeom>
          <a:ln w="635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0" name="TextBox 379"/>
          <p:cNvSpPr txBox="1"/>
          <p:nvPr/>
        </p:nvSpPr>
        <p:spPr>
          <a:xfrm>
            <a:off x="3246120" y="4797552"/>
            <a:ext cx="256032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1.0</a:t>
            </a:r>
          </a:p>
        </p:txBody>
      </p:sp>
      <p:sp>
        <p:nvSpPr>
          <p:cNvPr id="381" name="TextBox 380"/>
          <p:cNvSpPr txBox="1"/>
          <p:nvPr/>
        </p:nvSpPr>
        <p:spPr>
          <a:xfrm>
            <a:off x="3758184" y="6016752"/>
            <a:ext cx="71323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pre</a:t>
            </a:r>
          </a:p>
        </p:txBody>
      </p:sp>
      <p:sp>
        <p:nvSpPr>
          <p:cNvPr id="382" name="TextBox 381"/>
          <p:cNvSpPr txBox="1"/>
          <p:nvPr/>
        </p:nvSpPr>
        <p:spPr>
          <a:xfrm>
            <a:off x="4946904" y="6016752"/>
            <a:ext cx="71323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post</a:t>
            </a:r>
          </a:p>
        </p:txBody>
      </p:sp>
      <p:sp>
        <p:nvSpPr>
          <p:cNvPr id="383" name="TextBox 382"/>
          <p:cNvSpPr txBox="1"/>
          <p:nvPr/>
        </p:nvSpPr>
        <p:spPr>
          <a:xfrm>
            <a:off x="3520440" y="4696968"/>
            <a:ext cx="23774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C53E1F"/>
                </a:solidFill>
                <a:latin typeface="Arial"/>
              </a:rPr>
              <a:t>s11 (bad)</a:t>
            </a:r>
          </a:p>
        </p:txBody>
      </p:sp>
      <p:cxnSp>
        <p:nvCxnSpPr>
          <p:cNvPr id="384" name="Connector 383"/>
          <p:cNvCxnSpPr/>
          <p:nvPr/>
        </p:nvCxnSpPr>
        <p:spPr>
          <a:xfrm>
            <a:off x="4114800" y="4861851"/>
            <a:ext cx="1188720" cy="5066"/>
          </a:xfrm>
          <a:prstGeom prst="line">
            <a:avLst/>
          </a:prstGeom>
          <a:ln w="3175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5" name="Oval 384"/>
          <p:cNvSpPr/>
          <p:nvPr/>
        </p:nvSpPr>
        <p:spPr>
          <a:xfrm>
            <a:off x="4078224" y="4825275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Oval 385"/>
          <p:cNvSpPr/>
          <p:nvPr/>
        </p:nvSpPr>
        <p:spPr>
          <a:xfrm>
            <a:off x="5266944" y="4830341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7" name="Connector 386"/>
          <p:cNvCxnSpPr/>
          <p:nvPr/>
        </p:nvCxnSpPr>
        <p:spPr>
          <a:xfrm>
            <a:off x="4114800" y="5417494"/>
            <a:ext cx="1188720" cy="3252"/>
          </a:xfrm>
          <a:prstGeom prst="line">
            <a:avLst/>
          </a:prstGeom>
          <a:ln w="762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8" name="Oval 387"/>
          <p:cNvSpPr/>
          <p:nvPr/>
        </p:nvSpPr>
        <p:spPr>
          <a:xfrm>
            <a:off x="4078224" y="5380918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Oval 388"/>
          <p:cNvSpPr/>
          <p:nvPr/>
        </p:nvSpPr>
        <p:spPr>
          <a:xfrm>
            <a:off x="5266944" y="5384170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0" name="Connector 389"/>
          <p:cNvCxnSpPr/>
          <p:nvPr/>
        </p:nvCxnSpPr>
        <p:spPr>
          <a:xfrm>
            <a:off x="4114800" y="5417494"/>
            <a:ext cx="1188720" cy="3252"/>
          </a:xfrm>
          <a:prstGeom prst="line">
            <a:avLst/>
          </a:prstGeom>
          <a:ln w="762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1" name="Oval 390"/>
          <p:cNvSpPr/>
          <p:nvPr/>
        </p:nvSpPr>
        <p:spPr>
          <a:xfrm>
            <a:off x="4078224" y="5380918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Oval 391"/>
          <p:cNvSpPr/>
          <p:nvPr/>
        </p:nvSpPr>
        <p:spPr>
          <a:xfrm>
            <a:off x="5266944" y="5384170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3" name="Connector 392"/>
          <p:cNvCxnSpPr/>
          <p:nvPr/>
        </p:nvCxnSpPr>
        <p:spPr>
          <a:xfrm>
            <a:off x="4114800" y="5417494"/>
            <a:ext cx="1188720" cy="3252"/>
          </a:xfrm>
          <a:prstGeom prst="line">
            <a:avLst/>
          </a:prstGeom>
          <a:ln w="762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4" name="Oval 393"/>
          <p:cNvSpPr/>
          <p:nvPr/>
        </p:nvSpPr>
        <p:spPr>
          <a:xfrm>
            <a:off x="4078224" y="5380918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Oval 394"/>
          <p:cNvSpPr/>
          <p:nvPr/>
        </p:nvSpPr>
        <p:spPr>
          <a:xfrm>
            <a:off x="5266944" y="5384170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6" name="Connector 395"/>
          <p:cNvCxnSpPr/>
          <p:nvPr/>
        </p:nvCxnSpPr>
        <p:spPr>
          <a:xfrm flipV="1">
            <a:off x="4114800" y="5702320"/>
            <a:ext cx="1188720" cy="31217"/>
          </a:xfrm>
          <a:prstGeom prst="line">
            <a:avLst/>
          </a:prstGeom>
          <a:ln w="762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7" name="Oval 396"/>
          <p:cNvSpPr/>
          <p:nvPr/>
        </p:nvSpPr>
        <p:spPr>
          <a:xfrm>
            <a:off x="4078224" y="5696961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Oval 397"/>
          <p:cNvSpPr/>
          <p:nvPr/>
        </p:nvSpPr>
        <p:spPr>
          <a:xfrm>
            <a:off x="5266944" y="5665744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9" name="Connector 398"/>
          <p:cNvCxnSpPr/>
          <p:nvPr/>
        </p:nvCxnSpPr>
        <p:spPr>
          <a:xfrm>
            <a:off x="4114800" y="5417174"/>
            <a:ext cx="1188720" cy="3336"/>
          </a:xfrm>
          <a:prstGeom prst="line">
            <a:avLst/>
          </a:prstGeom>
          <a:ln w="762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0" name="Oval 399"/>
          <p:cNvSpPr/>
          <p:nvPr/>
        </p:nvSpPr>
        <p:spPr>
          <a:xfrm>
            <a:off x="4078224" y="5380598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Oval 400"/>
          <p:cNvSpPr/>
          <p:nvPr/>
        </p:nvSpPr>
        <p:spPr>
          <a:xfrm>
            <a:off x="5266944" y="5383934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2" name="Connector 401"/>
          <p:cNvCxnSpPr/>
          <p:nvPr/>
        </p:nvCxnSpPr>
        <p:spPr>
          <a:xfrm>
            <a:off x="4114800" y="5417494"/>
            <a:ext cx="1188720" cy="3252"/>
          </a:xfrm>
          <a:prstGeom prst="line">
            <a:avLst/>
          </a:prstGeom>
          <a:ln w="762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3" name="Oval 402"/>
          <p:cNvSpPr/>
          <p:nvPr/>
        </p:nvSpPr>
        <p:spPr>
          <a:xfrm>
            <a:off x="4078224" y="5380918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Oval 403"/>
          <p:cNvSpPr/>
          <p:nvPr/>
        </p:nvSpPr>
        <p:spPr>
          <a:xfrm>
            <a:off x="5266944" y="5384170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5" name="Connector 404"/>
          <p:cNvCxnSpPr/>
          <p:nvPr/>
        </p:nvCxnSpPr>
        <p:spPr>
          <a:xfrm>
            <a:off x="4114800" y="5266331"/>
            <a:ext cx="1188720" cy="173950"/>
          </a:xfrm>
          <a:prstGeom prst="line">
            <a:avLst/>
          </a:prstGeom>
          <a:ln w="30579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6" name="Oval 405"/>
          <p:cNvSpPr/>
          <p:nvPr/>
        </p:nvSpPr>
        <p:spPr>
          <a:xfrm>
            <a:off x="4078224" y="5229755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Oval 406"/>
          <p:cNvSpPr/>
          <p:nvPr/>
        </p:nvSpPr>
        <p:spPr>
          <a:xfrm>
            <a:off x="5266944" y="5403705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8" name="Connector 407"/>
          <p:cNvCxnSpPr/>
          <p:nvPr/>
        </p:nvCxnSpPr>
        <p:spPr>
          <a:xfrm>
            <a:off x="4114800" y="5417494"/>
            <a:ext cx="1188720" cy="3252"/>
          </a:xfrm>
          <a:prstGeom prst="line">
            <a:avLst/>
          </a:prstGeom>
          <a:ln w="762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9" name="Oval 408"/>
          <p:cNvSpPr/>
          <p:nvPr/>
        </p:nvSpPr>
        <p:spPr>
          <a:xfrm>
            <a:off x="4078224" y="5380918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Oval 409"/>
          <p:cNvSpPr/>
          <p:nvPr/>
        </p:nvSpPr>
        <p:spPr>
          <a:xfrm>
            <a:off x="5266944" y="5384170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1" name="Connector 410"/>
          <p:cNvCxnSpPr/>
          <p:nvPr/>
        </p:nvCxnSpPr>
        <p:spPr>
          <a:xfrm>
            <a:off x="4114800" y="5417494"/>
            <a:ext cx="1188720" cy="3252"/>
          </a:xfrm>
          <a:prstGeom prst="line">
            <a:avLst/>
          </a:prstGeom>
          <a:ln w="762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2" name="Oval 411"/>
          <p:cNvSpPr/>
          <p:nvPr/>
        </p:nvSpPr>
        <p:spPr>
          <a:xfrm>
            <a:off x="4078224" y="5380918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Oval 412"/>
          <p:cNvSpPr/>
          <p:nvPr/>
        </p:nvSpPr>
        <p:spPr>
          <a:xfrm>
            <a:off x="5266944" y="5384170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4" name="Connector 413"/>
          <p:cNvCxnSpPr/>
          <p:nvPr/>
        </p:nvCxnSpPr>
        <p:spPr>
          <a:xfrm>
            <a:off x="6355080" y="5989320"/>
            <a:ext cx="2377440" cy="0"/>
          </a:xfrm>
          <a:prstGeom prst="line">
            <a:avLst/>
          </a:prstGeom>
          <a:ln w="889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5" name="Connector 414"/>
          <p:cNvCxnSpPr/>
          <p:nvPr/>
        </p:nvCxnSpPr>
        <p:spPr>
          <a:xfrm>
            <a:off x="6355080" y="4861560"/>
            <a:ext cx="0" cy="1127760"/>
          </a:xfrm>
          <a:prstGeom prst="line">
            <a:avLst/>
          </a:prstGeom>
          <a:ln w="889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6" name="Connector 415"/>
          <p:cNvCxnSpPr/>
          <p:nvPr/>
        </p:nvCxnSpPr>
        <p:spPr>
          <a:xfrm>
            <a:off x="6318504" y="5989320"/>
            <a:ext cx="36576" cy="0"/>
          </a:xfrm>
          <a:prstGeom prst="line">
            <a:avLst/>
          </a:prstGeom>
          <a:ln w="635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7" name="TextBox 416"/>
          <p:cNvSpPr txBox="1"/>
          <p:nvPr/>
        </p:nvSpPr>
        <p:spPr>
          <a:xfrm>
            <a:off x="6080760" y="5925312"/>
            <a:ext cx="256032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0.0</a:t>
            </a:r>
          </a:p>
        </p:txBody>
      </p:sp>
      <p:cxnSp>
        <p:nvCxnSpPr>
          <p:cNvPr id="418" name="Connector 417"/>
          <p:cNvCxnSpPr/>
          <p:nvPr/>
        </p:nvCxnSpPr>
        <p:spPr>
          <a:xfrm>
            <a:off x="6318504" y="5425440"/>
            <a:ext cx="36576" cy="0"/>
          </a:xfrm>
          <a:prstGeom prst="line">
            <a:avLst/>
          </a:prstGeom>
          <a:ln w="635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9" name="TextBox 418"/>
          <p:cNvSpPr txBox="1"/>
          <p:nvPr/>
        </p:nvSpPr>
        <p:spPr>
          <a:xfrm>
            <a:off x="6080760" y="5361432"/>
            <a:ext cx="256032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0.5</a:t>
            </a:r>
          </a:p>
        </p:txBody>
      </p:sp>
      <p:cxnSp>
        <p:nvCxnSpPr>
          <p:cNvPr id="420" name="Connector 419"/>
          <p:cNvCxnSpPr/>
          <p:nvPr/>
        </p:nvCxnSpPr>
        <p:spPr>
          <a:xfrm>
            <a:off x="6318504" y="4861560"/>
            <a:ext cx="36576" cy="0"/>
          </a:xfrm>
          <a:prstGeom prst="line">
            <a:avLst/>
          </a:prstGeom>
          <a:ln w="635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1" name="TextBox 420"/>
          <p:cNvSpPr txBox="1"/>
          <p:nvPr/>
        </p:nvSpPr>
        <p:spPr>
          <a:xfrm>
            <a:off x="6080760" y="4797552"/>
            <a:ext cx="256032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1.0</a:t>
            </a:r>
          </a:p>
        </p:txBody>
      </p:sp>
      <p:sp>
        <p:nvSpPr>
          <p:cNvPr id="422" name="TextBox 421"/>
          <p:cNvSpPr txBox="1"/>
          <p:nvPr/>
        </p:nvSpPr>
        <p:spPr>
          <a:xfrm>
            <a:off x="6592824" y="6016752"/>
            <a:ext cx="71323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pre</a:t>
            </a:r>
          </a:p>
        </p:txBody>
      </p:sp>
      <p:sp>
        <p:nvSpPr>
          <p:cNvPr id="423" name="TextBox 422"/>
          <p:cNvSpPr txBox="1"/>
          <p:nvPr/>
        </p:nvSpPr>
        <p:spPr>
          <a:xfrm>
            <a:off x="7781544" y="6016752"/>
            <a:ext cx="71323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post</a:t>
            </a:r>
          </a:p>
        </p:txBody>
      </p:sp>
      <p:sp>
        <p:nvSpPr>
          <p:cNvPr id="424" name="TextBox 423"/>
          <p:cNvSpPr txBox="1"/>
          <p:nvPr/>
        </p:nvSpPr>
        <p:spPr>
          <a:xfrm>
            <a:off x="6355080" y="4696968"/>
            <a:ext cx="23774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C53E1F"/>
                </a:solidFill>
                <a:latin typeface="Arial"/>
              </a:rPr>
              <a:t>s12 (bad)</a:t>
            </a:r>
          </a:p>
        </p:txBody>
      </p:sp>
      <p:cxnSp>
        <p:nvCxnSpPr>
          <p:cNvPr id="425" name="Connector 424"/>
          <p:cNvCxnSpPr/>
          <p:nvPr/>
        </p:nvCxnSpPr>
        <p:spPr>
          <a:xfrm>
            <a:off x="6949440" y="5561860"/>
            <a:ext cx="1188720" cy="207765"/>
          </a:xfrm>
          <a:prstGeom prst="line">
            <a:avLst/>
          </a:prstGeom>
          <a:ln w="762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6" name="Oval 425"/>
          <p:cNvSpPr/>
          <p:nvPr/>
        </p:nvSpPr>
        <p:spPr>
          <a:xfrm>
            <a:off x="6912864" y="5525284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Oval 426"/>
          <p:cNvSpPr/>
          <p:nvPr/>
        </p:nvSpPr>
        <p:spPr>
          <a:xfrm>
            <a:off x="8101584" y="5733049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8" name="Connector 427"/>
          <p:cNvCxnSpPr/>
          <p:nvPr/>
        </p:nvCxnSpPr>
        <p:spPr>
          <a:xfrm flipV="1">
            <a:off x="6949440" y="5417314"/>
            <a:ext cx="1188720" cy="579"/>
          </a:xfrm>
          <a:prstGeom prst="line">
            <a:avLst/>
          </a:prstGeom>
          <a:ln w="762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9" name="Oval 428"/>
          <p:cNvSpPr/>
          <p:nvPr/>
        </p:nvSpPr>
        <p:spPr>
          <a:xfrm>
            <a:off x="6912864" y="5381317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Oval 429"/>
          <p:cNvSpPr/>
          <p:nvPr/>
        </p:nvSpPr>
        <p:spPr>
          <a:xfrm>
            <a:off x="8101584" y="5380738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1" name="Connector 430"/>
          <p:cNvCxnSpPr/>
          <p:nvPr/>
        </p:nvCxnSpPr>
        <p:spPr>
          <a:xfrm flipV="1">
            <a:off x="6949440" y="5417314"/>
            <a:ext cx="1188720" cy="579"/>
          </a:xfrm>
          <a:prstGeom prst="line">
            <a:avLst/>
          </a:prstGeom>
          <a:ln w="762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2" name="Oval 431"/>
          <p:cNvSpPr/>
          <p:nvPr/>
        </p:nvSpPr>
        <p:spPr>
          <a:xfrm>
            <a:off x="6912864" y="5381317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Oval 432"/>
          <p:cNvSpPr/>
          <p:nvPr/>
        </p:nvSpPr>
        <p:spPr>
          <a:xfrm>
            <a:off x="8101584" y="5380738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4" name="Connector 433"/>
          <p:cNvCxnSpPr/>
          <p:nvPr/>
        </p:nvCxnSpPr>
        <p:spPr>
          <a:xfrm>
            <a:off x="6949440" y="4901866"/>
            <a:ext cx="1188720" cy="735713"/>
          </a:xfrm>
          <a:prstGeom prst="line">
            <a:avLst/>
          </a:prstGeom>
          <a:ln w="3175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5" name="Oval 434"/>
          <p:cNvSpPr/>
          <p:nvPr/>
        </p:nvSpPr>
        <p:spPr>
          <a:xfrm>
            <a:off x="6912864" y="4865290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Oval 435"/>
          <p:cNvSpPr/>
          <p:nvPr/>
        </p:nvSpPr>
        <p:spPr>
          <a:xfrm>
            <a:off x="8101584" y="5601003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7" name="Connector 436"/>
          <p:cNvCxnSpPr/>
          <p:nvPr/>
        </p:nvCxnSpPr>
        <p:spPr>
          <a:xfrm flipV="1">
            <a:off x="6949440" y="5417314"/>
            <a:ext cx="1188720" cy="579"/>
          </a:xfrm>
          <a:prstGeom prst="line">
            <a:avLst/>
          </a:prstGeom>
          <a:ln w="762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8" name="Oval 437"/>
          <p:cNvSpPr/>
          <p:nvPr/>
        </p:nvSpPr>
        <p:spPr>
          <a:xfrm>
            <a:off x="6912864" y="5381317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Oval 438"/>
          <p:cNvSpPr/>
          <p:nvPr/>
        </p:nvSpPr>
        <p:spPr>
          <a:xfrm>
            <a:off x="8101584" y="5380738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0" name="Connector 439"/>
          <p:cNvCxnSpPr/>
          <p:nvPr/>
        </p:nvCxnSpPr>
        <p:spPr>
          <a:xfrm flipV="1">
            <a:off x="6949440" y="5417314"/>
            <a:ext cx="1188720" cy="579"/>
          </a:xfrm>
          <a:prstGeom prst="line">
            <a:avLst/>
          </a:prstGeom>
          <a:ln w="762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1" name="Oval 440"/>
          <p:cNvSpPr/>
          <p:nvPr/>
        </p:nvSpPr>
        <p:spPr>
          <a:xfrm>
            <a:off x="6912864" y="5381317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Oval 441"/>
          <p:cNvSpPr/>
          <p:nvPr/>
        </p:nvSpPr>
        <p:spPr>
          <a:xfrm>
            <a:off x="8101584" y="5380738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3" name="Connector 442"/>
          <p:cNvCxnSpPr/>
          <p:nvPr/>
        </p:nvCxnSpPr>
        <p:spPr>
          <a:xfrm flipV="1">
            <a:off x="6949440" y="5417314"/>
            <a:ext cx="1188720" cy="579"/>
          </a:xfrm>
          <a:prstGeom prst="line">
            <a:avLst/>
          </a:prstGeom>
          <a:ln w="762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4" name="Oval 443"/>
          <p:cNvSpPr/>
          <p:nvPr/>
        </p:nvSpPr>
        <p:spPr>
          <a:xfrm>
            <a:off x="6912864" y="5381317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Oval 444"/>
          <p:cNvSpPr/>
          <p:nvPr/>
        </p:nvSpPr>
        <p:spPr>
          <a:xfrm>
            <a:off x="8101584" y="5380738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6" name="Connector 445"/>
          <p:cNvCxnSpPr/>
          <p:nvPr/>
        </p:nvCxnSpPr>
        <p:spPr>
          <a:xfrm>
            <a:off x="6949440" y="4873488"/>
            <a:ext cx="1188720" cy="274035"/>
          </a:xfrm>
          <a:prstGeom prst="line">
            <a:avLst/>
          </a:prstGeom>
          <a:ln w="762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7" name="Oval 446"/>
          <p:cNvSpPr/>
          <p:nvPr/>
        </p:nvSpPr>
        <p:spPr>
          <a:xfrm>
            <a:off x="6912864" y="4836912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Oval 447"/>
          <p:cNvSpPr/>
          <p:nvPr/>
        </p:nvSpPr>
        <p:spPr>
          <a:xfrm>
            <a:off x="8101584" y="5110947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9" name="Connector 448"/>
          <p:cNvCxnSpPr/>
          <p:nvPr/>
        </p:nvCxnSpPr>
        <p:spPr>
          <a:xfrm flipV="1">
            <a:off x="6949440" y="5417314"/>
            <a:ext cx="1188720" cy="579"/>
          </a:xfrm>
          <a:prstGeom prst="line">
            <a:avLst/>
          </a:prstGeom>
          <a:ln w="762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0" name="Oval 449"/>
          <p:cNvSpPr/>
          <p:nvPr/>
        </p:nvSpPr>
        <p:spPr>
          <a:xfrm>
            <a:off x="6912864" y="5381317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Oval 450"/>
          <p:cNvSpPr/>
          <p:nvPr/>
        </p:nvSpPr>
        <p:spPr>
          <a:xfrm>
            <a:off x="8101584" y="5380738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2" name="Connector 451"/>
          <p:cNvCxnSpPr/>
          <p:nvPr/>
        </p:nvCxnSpPr>
        <p:spPr>
          <a:xfrm flipV="1">
            <a:off x="6949440" y="5417314"/>
            <a:ext cx="1188720" cy="579"/>
          </a:xfrm>
          <a:prstGeom prst="line">
            <a:avLst/>
          </a:prstGeom>
          <a:ln w="762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3" name="Oval 452"/>
          <p:cNvSpPr/>
          <p:nvPr/>
        </p:nvSpPr>
        <p:spPr>
          <a:xfrm>
            <a:off x="6912864" y="5381317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Oval 453"/>
          <p:cNvSpPr/>
          <p:nvPr/>
        </p:nvSpPr>
        <p:spPr>
          <a:xfrm>
            <a:off x="8101584" y="5380738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5" name="Connector 454"/>
          <p:cNvCxnSpPr/>
          <p:nvPr/>
        </p:nvCxnSpPr>
        <p:spPr>
          <a:xfrm>
            <a:off x="9189720" y="5989320"/>
            <a:ext cx="2377440" cy="0"/>
          </a:xfrm>
          <a:prstGeom prst="line">
            <a:avLst/>
          </a:prstGeom>
          <a:ln w="889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6" name="Connector 455"/>
          <p:cNvCxnSpPr/>
          <p:nvPr/>
        </p:nvCxnSpPr>
        <p:spPr>
          <a:xfrm>
            <a:off x="9189720" y="4861560"/>
            <a:ext cx="0" cy="1127760"/>
          </a:xfrm>
          <a:prstGeom prst="line">
            <a:avLst/>
          </a:prstGeom>
          <a:ln w="889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7" name="Connector 456"/>
          <p:cNvCxnSpPr/>
          <p:nvPr/>
        </p:nvCxnSpPr>
        <p:spPr>
          <a:xfrm>
            <a:off x="9153144" y="5989320"/>
            <a:ext cx="36576" cy="0"/>
          </a:xfrm>
          <a:prstGeom prst="line">
            <a:avLst/>
          </a:prstGeom>
          <a:ln w="635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8" name="TextBox 457"/>
          <p:cNvSpPr txBox="1"/>
          <p:nvPr/>
        </p:nvSpPr>
        <p:spPr>
          <a:xfrm>
            <a:off x="8915400" y="5925312"/>
            <a:ext cx="256032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0.0</a:t>
            </a:r>
          </a:p>
        </p:txBody>
      </p:sp>
      <p:cxnSp>
        <p:nvCxnSpPr>
          <p:cNvPr id="459" name="Connector 458"/>
          <p:cNvCxnSpPr/>
          <p:nvPr/>
        </p:nvCxnSpPr>
        <p:spPr>
          <a:xfrm>
            <a:off x="9153144" y="5425440"/>
            <a:ext cx="36576" cy="0"/>
          </a:xfrm>
          <a:prstGeom prst="line">
            <a:avLst/>
          </a:prstGeom>
          <a:ln w="635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0" name="TextBox 459"/>
          <p:cNvSpPr txBox="1"/>
          <p:nvPr/>
        </p:nvSpPr>
        <p:spPr>
          <a:xfrm>
            <a:off x="8915400" y="5361432"/>
            <a:ext cx="256032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0.5</a:t>
            </a:r>
          </a:p>
        </p:txBody>
      </p:sp>
      <p:cxnSp>
        <p:nvCxnSpPr>
          <p:cNvPr id="461" name="Connector 460"/>
          <p:cNvCxnSpPr/>
          <p:nvPr/>
        </p:nvCxnSpPr>
        <p:spPr>
          <a:xfrm>
            <a:off x="9153144" y="4861560"/>
            <a:ext cx="36576" cy="0"/>
          </a:xfrm>
          <a:prstGeom prst="line">
            <a:avLst/>
          </a:prstGeom>
          <a:ln w="635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2" name="TextBox 461"/>
          <p:cNvSpPr txBox="1"/>
          <p:nvPr/>
        </p:nvSpPr>
        <p:spPr>
          <a:xfrm>
            <a:off x="8915400" y="4797552"/>
            <a:ext cx="256032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1.0</a:t>
            </a:r>
          </a:p>
        </p:txBody>
      </p:sp>
      <p:sp>
        <p:nvSpPr>
          <p:cNvPr id="463" name="TextBox 462"/>
          <p:cNvSpPr txBox="1"/>
          <p:nvPr/>
        </p:nvSpPr>
        <p:spPr>
          <a:xfrm>
            <a:off x="9427464" y="6016752"/>
            <a:ext cx="71323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pre</a:t>
            </a:r>
          </a:p>
        </p:txBody>
      </p:sp>
      <p:sp>
        <p:nvSpPr>
          <p:cNvPr id="464" name="TextBox 463"/>
          <p:cNvSpPr txBox="1"/>
          <p:nvPr/>
        </p:nvSpPr>
        <p:spPr>
          <a:xfrm>
            <a:off x="10616184" y="6016752"/>
            <a:ext cx="71323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post</a:t>
            </a:r>
          </a:p>
        </p:txBody>
      </p:sp>
      <p:sp>
        <p:nvSpPr>
          <p:cNvPr id="465" name="TextBox 464"/>
          <p:cNvSpPr txBox="1"/>
          <p:nvPr/>
        </p:nvSpPr>
        <p:spPr>
          <a:xfrm>
            <a:off x="9189720" y="4696968"/>
            <a:ext cx="23774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C53E1F"/>
                </a:solidFill>
                <a:latin typeface="Arial"/>
              </a:rPr>
              <a:t>s13 (bad)</a:t>
            </a:r>
          </a:p>
        </p:txBody>
      </p:sp>
      <p:cxnSp>
        <p:nvCxnSpPr>
          <p:cNvPr id="466" name="Connector 465"/>
          <p:cNvCxnSpPr/>
          <p:nvPr/>
        </p:nvCxnSpPr>
        <p:spPr>
          <a:xfrm>
            <a:off x="9784080" y="5424322"/>
            <a:ext cx="1188720" cy="1352"/>
          </a:xfrm>
          <a:prstGeom prst="line">
            <a:avLst/>
          </a:prstGeom>
          <a:ln w="762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7" name="Oval 466"/>
          <p:cNvSpPr/>
          <p:nvPr/>
        </p:nvSpPr>
        <p:spPr>
          <a:xfrm>
            <a:off x="9747504" y="5387746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Oval 467"/>
          <p:cNvSpPr/>
          <p:nvPr/>
        </p:nvSpPr>
        <p:spPr>
          <a:xfrm>
            <a:off x="10936224" y="5389098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9" name="Connector 468"/>
          <p:cNvCxnSpPr/>
          <p:nvPr/>
        </p:nvCxnSpPr>
        <p:spPr>
          <a:xfrm>
            <a:off x="9784080" y="5386520"/>
            <a:ext cx="1188720" cy="90771"/>
          </a:xfrm>
          <a:prstGeom prst="line">
            <a:avLst/>
          </a:prstGeom>
          <a:ln w="762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0" name="Oval 469"/>
          <p:cNvSpPr/>
          <p:nvPr/>
        </p:nvSpPr>
        <p:spPr>
          <a:xfrm>
            <a:off x="9747504" y="5349944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Oval 470"/>
          <p:cNvSpPr/>
          <p:nvPr/>
        </p:nvSpPr>
        <p:spPr>
          <a:xfrm>
            <a:off x="10936224" y="5440715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2" name="Connector 471"/>
          <p:cNvCxnSpPr/>
          <p:nvPr/>
        </p:nvCxnSpPr>
        <p:spPr>
          <a:xfrm>
            <a:off x="9784080" y="5424322"/>
            <a:ext cx="1188720" cy="1352"/>
          </a:xfrm>
          <a:prstGeom prst="line">
            <a:avLst/>
          </a:prstGeom>
          <a:ln w="762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3" name="Oval 472"/>
          <p:cNvSpPr/>
          <p:nvPr/>
        </p:nvSpPr>
        <p:spPr>
          <a:xfrm>
            <a:off x="9747504" y="5387746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4" name="Oval 473"/>
          <p:cNvSpPr/>
          <p:nvPr/>
        </p:nvSpPr>
        <p:spPr>
          <a:xfrm>
            <a:off x="10936224" y="5389098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5" name="Connector 474"/>
          <p:cNvCxnSpPr/>
          <p:nvPr/>
        </p:nvCxnSpPr>
        <p:spPr>
          <a:xfrm>
            <a:off x="9784080" y="4861560"/>
            <a:ext cx="1188720" cy="0"/>
          </a:xfrm>
          <a:prstGeom prst="line">
            <a:avLst/>
          </a:prstGeom>
          <a:ln w="3175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6" name="Oval 475"/>
          <p:cNvSpPr/>
          <p:nvPr/>
        </p:nvSpPr>
        <p:spPr>
          <a:xfrm>
            <a:off x="9747504" y="4824984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Oval 476"/>
          <p:cNvSpPr/>
          <p:nvPr/>
        </p:nvSpPr>
        <p:spPr>
          <a:xfrm>
            <a:off x="10936224" y="4824984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8" name="Connector 477"/>
          <p:cNvCxnSpPr/>
          <p:nvPr/>
        </p:nvCxnSpPr>
        <p:spPr>
          <a:xfrm>
            <a:off x="9784080" y="5424322"/>
            <a:ext cx="1188720" cy="1352"/>
          </a:xfrm>
          <a:prstGeom prst="line">
            <a:avLst/>
          </a:prstGeom>
          <a:ln w="762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9" name="Oval 478"/>
          <p:cNvSpPr/>
          <p:nvPr/>
        </p:nvSpPr>
        <p:spPr>
          <a:xfrm>
            <a:off x="9747504" y="5387746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Oval 479"/>
          <p:cNvSpPr/>
          <p:nvPr/>
        </p:nvSpPr>
        <p:spPr>
          <a:xfrm>
            <a:off x="10936224" y="5389098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1" name="Connector 480"/>
          <p:cNvCxnSpPr/>
          <p:nvPr/>
        </p:nvCxnSpPr>
        <p:spPr>
          <a:xfrm>
            <a:off x="9784080" y="5424322"/>
            <a:ext cx="1188720" cy="1352"/>
          </a:xfrm>
          <a:prstGeom prst="line">
            <a:avLst/>
          </a:prstGeom>
          <a:ln w="762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2" name="Oval 481"/>
          <p:cNvSpPr/>
          <p:nvPr/>
        </p:nvSpPr>
        <p:spPr>
          <a:xfrm>
            <a:off x="9747504" y="5387746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3" name="Oval 482"/>
          <p:cNvSpPr/>
          <p:nvPr/>
        </p:nvSpPr>
        <p:spPr>
          <a:xfrm>
            <a:off x="10936224" y="5389098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4" name="Connector 483"/>
          <p:cNvCxnSpPr/>
          <p:nvPr/>
        </p:nvCxnSpPr>
        <p:spPr>
          <a:xfrm>
            <a:off x="9784080" y="5424322"/>
            <a:ext cx="1188720" cy="1352"/>
          </a:xfrm>
          <a:prstGeom prst="line">
            <a:avLst/>
          </a:prstGeom>
          <a:ln w="762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5" name="Oval 484"/>
          <p:cNvSpPr/>
          <p:nvPr/>
        </p:nvSpPr>
        <p:spPr>
          <a:xfrm>
            <a:off x="9747504" y="5387746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6" name="Oval 485"/>
          <p:cNvSpPr/>
          <p:nvPr/>
        </p:nvSpPr>
        <p:spPr>
          <a:xfrm>
            <a:off x="10936224" y="5389098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7" name="Connector 486"/>
          <p:cNvCxnSpPr/>
          <p:nvPr/>
        </p:nvCxnSpPr>
        <p:spPr>
          <a:xfrm>
            <a:off x="9784080" y="5424233"/>
            <a:ext cx="1188720" cy="1414"/>
          </a:xfrm>
          <a:prstGeom prst="line">
            <a:avLst/>
          </a:prstGeom>
          <a:ln w="762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8" name="Oval 487"/>
          <p:cNvSpPr/>
          <p:nvPr/>
        </p:nvSpPr>
        <p:spPr>
          <a:xfrm>
            <a:off x="9747504" y="5387657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9" name="Oval 488"/>
          <p:cNvSpPr/>
          <p:nvPr/>
        </p:nvSpPr>
        <p:spPr>
          <a:xfrm>
            <a:off x="10936224" y="5389071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0" name="Connector 489"/>
          <p:cNvCxnSpPr/>
          <p:nvPr/>
        </p:nvCxnSpPr>
        <p:spPr>
          <a:xfrm>
            <a:off x="9784080" y="5424322"/>
            <a:ext cx="1188720" cy="1352"/>
          </a:xfrm>
          <a:prstGeom prst="line">
            <a:avLst/>
          </a:prstGeom>
          <a:ln w="762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1" name="Oval 490"/>
          <p:cNvSpPr/>
          <p:nvPr/>
        </p:nvSpPr>
        <p:spPr>
          <a:xfrm>
            <a:off x="9747504" y="5387746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2" name="Oval 491"/>
          <p:cNvSpPr/>
          <p:nvPr/>
        </p:nvSpPr>
        <p:spPr>
          <a:xfrm>
            <a:off x="10936224" y="5389098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3" name="Connector 492"/>
          <p:cNvCxnSpPr/>
          <p:nvPr/>
        </p:nvCxnSpPr>
        <p:spPr>
          <a:xfrm>
            <a:off x="9784080" y="4861560"/>
            <a:ext cx="1188720" cy="0"/>
          </a:xfrm>
          <a:prstGeom prst="line">
            <a:avLst/>
          </a:prstGeom>
          <a:ln w="3175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4" name="Oval 493"/>
          <p:cNvSpPr/>
          <p:nvPr/>
        </p:nvSpPr>
        <p:spPr>
          <a:xfrm>
            <a:off x="9747504" y="4824984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5" name="Oval 494"/>
          <p:cNvSpPr/>
          <p:nvPr/>
        </p:nvSpPr>
        <p:spPr>
          <a:xfrm>
            <a:off x="10936224" y="4824984"/>
            <a:ext cx="73152" cy="73152"/>
          </a:xfrm>
          <a:prstGeom prst="ellipse">
            <a:avLst/>
          </a:prstGeom>
          <a:solidFill>
            <a:srgbClr val="C53E1F"/>
          </a:solidFill>
          <a:ln w="254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TextBox 495"/>
          <p:cNvSpPr txBox="1"/>
          <p:nvPr/>
        </p:nvSpPr>
        <p:spPr>
          <a:xfrm>
            <a:off x="457200" y="6355080"/>
            <a:ext cx="113385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1">
                <a:solidFill>
                  <a:srgbClr val="222222"/>
                </a:solidFill>
                <a:latin typeface="Arial"/>
              </a:rPr>
              <a:t>Line thickness ~ cluster weight π. Below-diagonal = shrinking; above = expanding; near y=x = stable.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28600"/>
            <a:ext cx="411480" cy="4114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222222"/>
                </a:solidFill>
                <a:latin typeface="Arial"/>
              </a:rPr>
              <a:t>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20040"/>
            <a:ext cx="1051560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222222"/>
                </a:solidFill>
                <a:latin typeface="Arial"/>
              </a:rPr>
              <a:t>CCF pre vs CCF post — all populated clusters (π &gt; 1) across 12 subjects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00400" y="6035040"/>
            <a:ext cx="5943600" cy="0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00400" y="1188720"/>
            <a:ext cx="0" cy="4846320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144000" y="1188720"/>
            <a:ext cx="0" cy="4846320"/>
          </a:xfrm>
          <a:prstGeom prst="line">
            <a:avLst/>
          </a:prstGeom>
          <a:ln w="635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200400" y="1188720"/>
            <a:ext cx="5943600" cy="0"/>
          </a:xfrm>
          <a:prstGeom prst="line">
            <a:avLst/>
          </a:prstGeom>
          <a:ln w="635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136392" y="603504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697480" y="595274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0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136392" y="482346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697480" y="474116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0.25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136392" y="361188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697480" y="352958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0.5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136392" y="240030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2697480" y="231800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0.75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136392" y="118872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2697480" y="110642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1.0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200400" y="6035040"/>
            <a:ext cx="0" cy="64008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2834640" y="6089904"/>
            <a:ext cx="7315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>
                <a:solidFill>
                  <a:srgbClr val="222222"/>
                </a:solidFill>
                <a:latin typeface="Arial"/>
              </a:rPr>
              <a:t>0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686300" y="6035040"/>
            <a:ext cx="0" cy="64008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320540" y="6089904"/>
            <a:ext cx="7315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>
                <a:solidFill>
                  <a:srgbClr val="222222"/>
                </a:solidFill>
                <a:latin typeface="Arial"/>
              </a:rPr>
              <a:t>0.25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172200" y="6035040"/>
            <a:ext cx="0" cy="64008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806440" y="6089904"/>
            <a:ext cx="7315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>
                <a:solidFill>
                  <a:srgbClr val="222222"/>
                </a:solidFill>
                <a:latin typeface="Arial"/>
              </a:rPr>
              <a:t>0.5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658100" y="6035040"/>
            <a:ext cx="0" cy="64008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292340" y="6089904"/>
            <a:ext cx="7315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>
                <a:solidFill>
                  <a:srgbClr val="222222"/>
                </a:solidFill>
                <a:latin typeface="Arial"/>
              </a:rPr>
              <a:t>0.75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144000" y="6035040"/>
            <a:ext cx="0" cy="64008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778240" y="6089904"/>
            <a:ext cx="7315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>
                <a:solidFill>
                  <a:srgbClr val="222222"/>
                </a:solidFill>
                <a:latin typeface="Arial"/>
              </a:rPr>
              <a:t>1.0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6382512"/>
            <a:ext cx="594360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222222"/>
                </a:solidFill>
                <a:latin typeface="Arial"/>
              </a:rPr>
              <a:t>CCF (pre-CRT)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31720" y="2606040"/>
            <a:ext cx="365760" cy="20116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222222"/>
                </a:solidFill>
                <a:latin typeface="Arial"/>
              </a:rPr>
              <a:t>CCF (post-CRT)</a:t>
            </a:r>
          </a:p>
        </p:txBody>
      </p:sp>
      <p:cxnSp>
        <p:nvCxnSpPr>
          <p:cNvPr id="30" name="Connector 29"/>
          <p:cNvCxnSpPr/>
          <p:nvPr/>
        </p:nvCxnSpPr>
        <p:spPr>
          <a:xfrm flipV="1">
            <a:off x="3200400" y="1188720"/>
            <a:ext cx="5943600" cy="4846320"/>
          </a:xfrm>
          <a:prstGeom prst="line">
            <a:avLst/>
          </a:prstGeom>
          <a:ln w="7620">
            <a:solidFill>
              <a:srgbClr val="BBBBB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8988323" y="3375683"/>
            <a:ext cx="292608" cy="292608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192409" y="3545328"/>
            <a:ext cx="77632" cy="77632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190824" y="3546078"/>
            <a:ext cx="77630" cy="77630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936762" y="3664076"/>
            <a:ext cx="257512" cy="257512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190824" y="3546078"/>
            <a:ext cx="77630" cy="77630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190824" y="3546078"/>
            <a:ext cx="77630" cy="77630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190824" y="3546078"/>
            <a:ext cx="77630" cy="77630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190824" y="3546078"/>
            <a:ext cx="77630" cy="77630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190824" y="3546078"/>
            <a:ext cx="77630" cy="77630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190824" y="3546078"/>
            <a:ext cx="77630" cy="77630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167922" y="3539728"/>
            <a:ext cx="77706" cy="77706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996436" y="1054462"/>
            <a:ext cx="292608" cy="292608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6167922" y="3539728"/>
            <a:ext cx="77706" cy="77706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167923" y="3539727"/>
            <a:ext cx="77706" cy="77706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167923" y="3539727"/>
            <a:ext cx="77706" cy="77706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7033357" y="3176309"/>
            <a:ext cx="237196" cy="237196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6167922" y="3539728"/>
            <a:ext cx="77706" cy="77706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6167994" y="3539640"/>
            <a:ext cx="77708" cy="77708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6167924" y="3539726"/>
            <a:ext cx="77706" cy="77706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167922" y="3539728"/>
            <a:ext cx="77706" cy="77706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8996165" y="1065437"/>
            <a:ext cx="292608" cy="292608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175267" y="3552898"/>
            <a:ext cx="77624" cy="77624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6175267" y="3552898"/>
            <a:ext cx="77624" cy="77624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6175267" y="3552898"/>
            <a:ext cx="77624" cy="77624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4506720" y="4759992"/>
            <a:ext cx="83448" cy="83448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6176952" y="3551880"/>
            <a:ext cx="77628" cy="77628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6175267" y="3552898"/>
            <a:ext cx="77624" cy="77624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6864446" y="3529351"/>
            <a:ext cx="292608" cy="292608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6175267" y="3552898"/>
            <a:ext cx="77624" cy="77624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6175267" y="3552898"/>
            <a:ext cx="77624" cy="77624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5408466" y="5046183"/>
            <a:ext cx="89522" cy="89522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6173132" y="3538117"/>
            <a:ext cx="77690" cy="77690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6173132" y="3538117"/>
            <a:ext cx="77690" cy="77690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8785273" y="4377202"/>
            <a:ext cx="292608" cy="292608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6173132" y="3538117"/>
            <a:ext cx="77690" cy="77690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6173132" y="3538117"/>
            <a:ext cx="77690" cy="77690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6173132" y="3538117"/>
            <a:ext cx="77690" cy="77690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9026000" y="2362455"/>
            <a:ext cx="110268" cy="110268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6173132" y="3538117"/>
            <a:ext cx="77690" cy="77690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6173132" y="3538117"/>
            <a:ext cx="77690" cy="77690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6139317" y="3574110"/>
            <a:ext cx="77550" cy="77550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6331460" y="3788838"/>
            <a:ext cx="91720" cy="91720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6139317" y="3574110"/>
            <a:ext cx="77550" cy="77550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8997696" y="1042416"/>
            <a:ext cx="292608" cy="292608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6139317" y="3574110"/>
            <a:ext cx="77550" cy="77550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6139317" y="3574110"/>
            <a:ext cx="77550" cy="77550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6139317" y="3574110"/>
            <a:ext cx="77550" cy="77550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6139787" y="3573994"/>
            <a:ext cx="77550" cy="77550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6139317" y="3574110"/>
            <a:ext cx="77550" cy="77550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8997696" y="1042416"/>
            <a:ext cx="292608" cy="292608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6163840" y="3537793"/>
            <a:ext cx="77630" cy="77630"/>
          </a:xfrm>
          <a:prstGeom prst="ellipse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6163840" y="3537793"/>
            <a:ext cx="77630" cy="77630"/>
          </a:xfrm>
          <a:prstGeom prst="ellipse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6163840" y="3537793"/>
            <a:ext cx="77630" cy="77630"/>
          </a:xfrm>
          <a:prstGeom prst="ellipse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8923549" y="1069438"/>
            <a:ext cx="292608" cy="292608"/>
          </a:xfrm>
          <a:prstGeom prst="ellipse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6163840" y="3537793"/>
            <a:ext cx="77630" cy="77630"/>
          </a:xfrm>
          <a:prstGeom prst="ellipse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6163840" y="3537793"/>
            <a:ext cx="77630" cy="77630"/>
          </a:xfrm>
          <a:prstGeom prst="ellipse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7095211" y="2570480"/>
            <a:ext cx="292608" cy="292608"/>
          </a:xfrm>
          <a:prstGeom prst="ellipse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6163840" y="3537793"/>
            <a:ext cx="77630" cy="77630"/>
          </a:xfrm>
          <a:prstGeom prst="ellipse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5808115" y="2671232"/>
            <a:ext cx="211728" cy="211728"/>
          </a:xfrm>
          <a:prstGeom prst="ellipse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6163840" y="3537793"/>
            <a:ext cx="77630" cy="77630"/>
          </a:xfrm>
          <a:prstGeom prst="ellipse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6133765" y="3576324"/>
            <a:ext cx="77544" cy="77544"/>
          </a:xfrm>
          <a:prstGeom prst="ellipse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5344664" y="5086274"/>
            <a:ext cx="125786" cy="125786"/>
          </a:xfrm>
          <a:prstGeom prst="ellipse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6133765" y="3576324"/>
            <a:ext cx="77544" cy="77544"/>
          </a:xfrm>
          <a:prstGeom prst="ellipse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6133766" y="3576324"/>
            <a:ext cx="77544" cy="77544"/>
          </a:xfrm>
          <a:prstGeom prst="ellipse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6133765" y="3576324"/>
            <a:ext cx="77544" cy="77544"/>
          </a:xfrm>
          <a:prstGeom prst="ellipse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6133765" y="3576324"/>
            <a:ext cx="77544" cy="77544"/>
          </a:xfrm>
          <a:prstGeom prst="ellipse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6133765" y="3576324"/>
            <a:ext cx="77544" cy="77544"/>
          </a:xfrm>
          <a:prstGeom prst="ellipse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6133765" y="3576324"/>
            <a:ext cx="77544" cy="77544"/>
          </a:xfrm>
          <a:prstGeom prst="ellipse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6133765" y="3576324"/>
            <a:ext cx="77544" cy="77544"/>
          </a:xfrm>
          <a:prstGeom prst="ellipse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6133765" y="3576324"/>
            <a:ext cx="77544" cy="77544"/>
          </a:xfrm>
          <a:prstGeom prst="ellipse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6159161" y="3570793"/>
            <a:ext cx="77584" cy="77584"/>
          </a:xfrm>
          <a:prstGeom prst="ellipse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6159161" y="3570793"/>
            <a:ext cx="77584" cy="77584"/>
          </a:xfrm>
          <a:prstGeom prst="ellipse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8997217" y="4307873"/>
            <a:ext cx="292608" cy="292608"/>
          </a:xfrm>
          <a:prstGeom prst="ellipse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6159161" y="3570793"/>
            <a:ext cx="77584" cy="77584"/>
          </a:xfrm>
          <a:prstGeom prst="ellipse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6159161" y="3570793"/>
            <a:ext cx="77584" cy="77584"/>
          </a:xfrm>
          <a:prstGeom prst="ellipse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6159161" y="3570793"/>
            <a:ext cx="77584" cy="77584"/>
          </a:xfrm>
          <a:prstGeom prst="ellipse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6159161" y="3570793"/>
            <a:ext cx="77584" cy="77584"/>
          </a:xfrm>
          <a:prstGeom prst="ellipse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6159161" y="3570793"/>
            <a:ext cx="77584" cy="77584"/>
          </a:xfrm>
          <a:prstGeom prst="ellipse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6159338" y="3570783"/>
            <a:ext cx="77584" cy="77584"/>
          </a:xfrm>
          <a:prstGeom prst="ellipse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9006919" y="2904120"/>
            <a:ext cx="274156" cy="274156"/>
          </a:xfrm>
          <a:prstGeom prst="ellipse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6087220" y="3563206"/>
            <a:ext cx="77680" cy="77680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6087220" y="3563206"/>
            <a:ext cx="77680" cy="77680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6087220" y="3563206"/>
            <a:ext cx="77680" cy="77680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6726834" y="5115999"/>
            <a:ext cx="117896" cy="117896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6087220" y="3563206"/>
            <a:ext cx="77680" cy="77680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6087220" y="3563206"/>
            <a:ext cx="77680" cy="77680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6086465" y="3563087"/>
            <a:ext cx="77682" cy="77682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6087220" y="3563206"/>
            <a:ext cx="77680" cy="77680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9056884" y="4792518"/>
            <a:ext cx="150186" cy="150186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6087220" y="3563206"/>
            <a:ext cx="77680" cy="77680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6124663" y="3585648"/>
            <a:ext cx="77568" cy="77568"/>
          </a:xfrm>
          <a:prstGeom prst="ellipse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6124663" y="3585648"/>
            <a:ext cx="77568" cy="77568"/>
          </a:xfrm>
          <a:prstGeom prst="ellipse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8939653" y="5010329"/>
            <a:ext cx="93784" cy="93784"/>
          </a:xfrm>
          <a:prstGeom prst="ellipse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5871956" y="5282672"/>
            <a:ext cx="113774" cy="113774"/>
          </a:xfrm>
          <a:prstGeom prst="ellipse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6124663" y="3585648"/>
            <a:ext cx="77568" cy="77568"/>
          </a:xfrm>
          <a:prstGeom prst="ellipse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6124663" y="3585648"/>
            <a:ext cx="77568" cy="77568"/>
          </a:xfrm>
          <a:prstGeom prst="ellipse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6124663" y="3585648"/>
            <a:ext cx="77568" cy="77568"/>
          </a:xfrm>
          <a:prstGeom prst="ellipse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6124663" y="3585648"/>
            <a:ext cx="77568" cy="77568"/>
          </a:xfrm>
          <a:prstGeom prst="ellipse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6124614" y="3585734"/>
            <a:ext cx="77568" cy="77568"/>
          </a:xfrm>
          <a:prstGeom prst="ellipse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9080456" y="1238528"/>
            <a:ext cx="81930" cy="81930"/>
          </a:xfrm>
          <a:prstGeom prst="ellipse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6242307" y="3710160"/>
            <a:ext cx="77978" cy="77978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6242307" y="3710160"/>
            <a:ext cx="77978" cy="77978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6242307" y="3710160"/>
            <a:ext cx="77978" cy="77978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6242307" y="3710160"/>
            <a:ext cx="77978" cy="77978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6242307" y="3710160"/>
            <a:ext cx="77978" cy="77978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6242307" y="3710160"/>
            <a:ext cx="77978" cy="77978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6242307" y="3710160"/>
            <a:ext cx="77978" cy="77978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6243049" y="3711331"/>
            <a:ext cx="77982" cy="77982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6242307" y="3710160"/>
            <a:ext cx="77978" cy="77978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6242309" y="3710162"/>
            <a:ext cx="77978" cy="77978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6274670" y="3506879"/>
            <a:ext cx="77978" cy="77978"/>
          </a:xfrm>
          <a:prstGeom prst="ellipse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6274677" y="3506875"/>
            <a:ext cx="77980" cy="77980"/>
          </a:xfrm>
          <a:prstGeom prst="ellipse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6274677" y="3506875"/>
            <a:ext cx="77980" cy="77980"/>
          </a:xfrm>
          <a:prstGeom prst="ellipse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6274833" y="3506813"/>
            <a:ext cx="77980" cy="77980"/>
          </a:xfrm>
          <a:prstGeom prst="ellipse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8833377" y="5076014"/>
            <a:ext cx="82356" cy="82356"/>
          </a:xfrm>
          <a:prstGeom prst="ellipse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6276254" y="3506246"/>
            <a:ext cx="77986" cy="77986"/>
          </a:xfrm>
          <a:prstGeom prst="ellipse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6274670" y="3506879"/>
            <a:ext cx="77978" cy="77978"/>
          </a:xfrm>
          <a:prstGeom prst="ellipse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6274670" y="3506879"/>
            <a:ext cx="77978" cy="77978"/>
          </a:xfrm>
          <a:prstGeom prst="ellipse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6275979" y="3506356"/>
            <a:ext cx="77984" cy="77984"/>
          </a:xfrm>
          <a:prstGeom prst="ellipse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6274670" y="3506879"/>
            <a:ext cx="77978" cy="77978"/>
          </a:xfrm>
          <a:prstGeom prst="ellipse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10076688" y="1389888"/>
            <a:ext cx="146304" cy="146304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10259568" y="1389888"/>
            <a:ext cx="13716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222222"/>
                </a:solidFill>
                <a:latin typeface="Arial"/>
              </a:rPr>
              <a:t>good (6 subj)</a:t>
            </a:r>
          </a:p>
        </p:txBody>
      </p:sp>
      <p:sp>
        <p:nvSpPr>
          <p:cNvPr id="153" name="Oval 152"/>
          <p:cNvSpPr/>
          <p:nvPr/>
        </p:nvSpPr>
        <p:spPr>
          <a:xfrm>
            <a:off x="10076688" y="1664208"/>
            <a:ext cx="146304" cy="146304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10259568" y="1664208"/>
            <a:ext cx="13716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222222"/>
                </a:solidFill>
                <a:latin typeface="Arial"/>
              </a:rPr>
              <a:t>bad (6 subj)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058400" y="2103120"/>
            <a:ext cx="164592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BBBBBB"/>
                </a:solidFill>
                <a:latin typeface="Arial"/>
              </a:rPr>
              <a:t>Dot size ~ cluster weight π (marker area)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28600"/>
            <a:ext cx="411480" cy="4114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222222"/>
                </a:solidFill>
                <a:latin typeface="Arial"/>
              </a:rPr>
              <a:t>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20040"/>
            <a:ext cx="1051560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222222"/>
                </a:solidFill>
                <a:latin typeface="Arial"/>
              </a:rPr>
              <a:t>Cluster composition by subject × timepoint (π-weighted mean CCF)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097280" y="5760720"/>
            <a:ext cx="10698480" cy="0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97280" y="1188720"/>
            <a:ext cx="0" cy="4572000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1795760" y="1188720"/>
            <a:ext cx="0" cy="4572000"/>
          </a:xfrm>
          <a:prstGeom prst="line">
            <a:avLst/>
          </a:prstGeom>
          <a:ln w="635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97280" y="1188720"/>
            <a:ext cx="10698480" cy="0"/>
          </a:xfrm>
          <a:prstGeom prst="line">
            <a:avLst/>
          </a:prstGeom>
          <a:ln w="635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33272" y="576072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94360" y="567842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0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033272" y="461772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94360" y="453542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0.25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033272" y="347472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94360" y="339242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0.5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033272" y="233172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94360" y="224942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0.75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33272" y="118872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94360" y="110642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1.0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" y="2468880"/>
            <a:ext cx="365760" cy="20116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222222"/>
                </a:solidFill>
                <a:latin typeface="Arial"/>
              </a:rPr>
              <a:t>π-weighted mean CCF (normalised per subject)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75440" y="5505267"/>
            <a:ext cx="299557" cy="255453"/>
          </a:xfrm>
          <a:prstGeom prst="rect">
            <a:avLst/>
          </a:prstGeom>
          <a:solidFill>
            <a:srgbClr val="4E79A7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5440" y="3232343"/>
            <a:ext cx="299557" cy="2272924"/>
          </a:xfrm>
          <a:prstGeom prst="rect">
            <a:avLst/>
          </a:prstGeom>
          <a:solidFill>
            <a:srgbClr val="F28E2B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75440" y="2976890"/>
            <a:ext cx="299557" cy="255453"/>
          </a:xfrm>
          <a:prstGeom prst="rect">
            <a:avLst/>
          </a:prstGeom>
          <a:solidFill>
            <a:srgbClr val="E15759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75440" y="2721437"/>
            <a:ext cx="299557" cy="255453"/>
          </a:xfrm>
          <a:prstGeom prst="rect">
            <a:avLst/>
          </a:prstGeom>
          <a:solidFill>
            <a:srgbClr val="76B7B2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75440" y="2465984"/>
            <a:ext cx="299557" cy="255453"/>
          </a:xfrm>
          <a:prstGeom prst="rect">
            <a:avLst/>
          </a:prstGeom>
          <a:solidFill>
            <a:srgbClr val="59A14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375440" y="2210531"/>
            <a:ext cx="299557" cy="255453"/>
          </a:xfrm>
          <a:prstGeom prst="rect">
            <a:avLst/>
          </a:prstGeom>
          <a:solidFill>
            <a:srgbClr val="EDC948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375440" y="1955079"/>
            <a:ext cx="299557" cy="255453"/>
          </a:xfrm>
          <a:prstGeom prst="rect">
            <a:avLst/>
          </a:prstGeom>
          <a:solidFill>
            <a:srgbClr val="B07AA1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375440" y="1699626"/>
            <a:ext cx="299557" cy="255453"/>
          </a:xfrm>
          <a:prstGeom prst="rect">
            <a:avLst/>
          </a:prstGeom>
          <a:solidFill>
            <a:srgbClr val="FF9DA7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375440" y="1444173"/>
            <a:ext cx="299557" cy="255453"/>
          </a:xfrm>
          <a:prstGeom prst="rect">
            <a:avLst/>
          </a:prstGeom>
          <a:solidFill>
            <a:srgbClr val="9C755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5440" y="1188720"/>
            <a:ext cx="299557" cy="255453"/>
          </a:xfrm>
          <a:prstGeom prst="rect">
            <a:avLst/>
          </a:prstGeom>
          <a:solidFill>
            <a:srgbClr val="BAB0AC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11250" y="5797296"/>
            <a:ext cx="427939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pre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03380" y="5419171"/>
            <a:ext cx="299557" cy="341549"/>
          </a:xfrm>
          <a:prstGeom prst="rect">
            <a:avLst/>
          </a:prstGeom>
          <a:solidFill>
            <a:srgbClr val="4E79A7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803380" y="3921111"/>
            <a:ext cx="299557" cy="1498060"/>
          </a:xfrm>
          <a:prstGeom prst="rect">
            <a:avLst/>
          </a:prstGeom>
          <a:solidFill>
            <a:srgbClr val="F28E2B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803380" y="3579562"/>
            <a:ext cx="299557" cy="341549"/>
          </a:xfrm>
          <a:prstGeom prst="rect">
            <a:avLst/>
          </a:prstGeom>
          <a:solidFill>
            <a:srgbClr val="E15759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803380" y="3238014"/>
            <a:ext cx="299557" cy="341549"/>
          </a:xfrm>
          <a:prstGeom prst="rect">
            <a:avLst/>
          </a:prstGeom>
          <a:solidFill>
            <a:srgbClr val="76B7B2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803380" y="2896465"/>
            <a:ext cx="299557" cy="341549"/>
          </a:xfrm>
          <a:prstGeom prst="rect">
            <a:avLst/>
          </a:prstGeom>
          <a:solidFill>
            <a:srgbClr val="59A14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803380" y="2554916"/>
            <a:ext cx="299557" cy="341549"/>
          </a:xfrm>
          <a:prstGeom prst="rect">
            <a:avLst/>
          </a:prstGeom>
          <a:solidFill>
            <a:srgbClr val="EDC948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803380" y="2213367"/>
            <a:ext cx="299557" cy="341549"/>
          </a:xfrm>
          <a:prstGeom prst="rect">
            <a:avLst/>
          </a:prstGeom>
          <a:solidFill>
            <a:srgbClr val="B07AA1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803380" y="1871818"/>
            <a:ext cx="299557" cy="341549"/>
          </a:xfrm>
          <a:prstGeom prst="rect">
            <a:avLst/>
          </a:prstGeom>
          <a:solidFill>
            <a:srgbClr val="FF9DA7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803380" y="1530269"/>
            <a:ext cx="299557" cy="341549"/>
          </a:xfrm>
          <a:prstGeom prst="rect">
            <a:avLst/>
          </a:prstGeom>
          <a:solidFill>
            <a:srgbClr val="9C755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803380" y="1188720"/>
            <a:ext cx="299557" cy="341549"/>
          </a:xfrm>
          <a:prstGeom prst="rect">
            <a:avLst/>
          </a:prstGeom>
          <a:solidFill>
            <a:srgbClr val="BAB0AC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739189" y="5797296"/>
            <a:ext cx="427939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post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439631" y="5961888"/>
            <a:ext cx="599115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 i="0">
                <a:solidFill>
                  <a:srgbClr val="0A7D6E"/>
                </a:solidFill>
                <a:latin typeface="Arial"/>
              </a:rPr>
              <a:t>s2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231319" y="5738543"/>
            <a:ext cx="299557" cy="22177"/>
          </a:xfrm>
          <a:prstGeom prst="rect">
            <a:avLst/>
          </a:prstGeom>
          <a:solidFill>
            <a:srgbClr val="4E79A7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231319" y="5716366"/>
            <a:ext cx="299557" cy="22177"/>
          </a:xfrm>
          <a:prstGeom prst="rect">
            <a:avLst/>
          </a:prstGeom>
          <a:solidFill>
            <a:srgbClr val="F28E2B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231319" y="3316051"/>
            <a:ext cx="299557" cy="2400315"/>
          </a:xfrm>
          <a:prstGeom prst="rect">
            <a:avLst/>
          </a:prstGeom>
          <a:solidFill>
            <a:srgbClr val="E15759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231319" y="3293874"/>
            <a:ext cx="299557" cy="22177"/>
          </a:xfrm>
          <a:prstGeom prst="rect">
            <a:avLst/>
          </a:prstGeom>
          <a:solidFill>
            <a:srgbClr val="76B7B2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231319" y="3271697"/>
            <a:ext cx="299557" cy="22177"/>
          </a:xfrm>
          <a:prstGeom prst="rect">
            <a:avLst/>
          </a:prstGeom>
          <a:solidFill>
            <a:srgbClr val="59A14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231319" y="3249521"/>
            <a:ext cx="299557" cy="22177"/>
          </a:xfrm>
          <a:prstGeom prst="rect">
            <a:avLst/>
          </a:prstGeom>
          <a:solidFill>
            <a:srgbClr val="EDC948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231319" y="3227344"/>
            <a:ext cx="299557" cy="22177"/>
          </a:xfrm>
          <a:prstGeom prst="rect">
            <a:avLst/>
          </a:prstGeom>
          <a:solidFill>
            <a:srgbClr val="B07AA1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231319" y="3205167"/>
            <a:ext cx="299557" cy="22177"/>
          </a:xfrm>
          <a:prstGeom prst="rect">
            <a:avLst/>
          </a:prstGeom>
          <a:solidFill>
            <a:srgbClr val="FF9DA7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231319" y="3182987"/>
            <a:ext cx="299557" cy="22180"/>
          </a:xfrm>
          <a:prstGeom prst="rect">
            <a:avLst/>
          </a:prstGeom>
          <a:solidFill>
            <a:srgbClr val="9C755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231319" y="1188720"/>
            <a:ext cx="299557" cy="1994267"/>
          </a:xfrm>
          <a:prstGeom prst="rect">
            <a:avLst/>
          </a:prstGeom>
          <a:solidFill>
            <a:srgbClr val="BAB0AC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167128" y="5797296"/>
            <a:ext cx="427939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pre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659258" y="5714799"/>
            <a:ext cx="299557" cy="45921"/>
          </a:xfrm>
          <a:prstGeom prst="rect">
            <a:avLst/>
          </a:prstGeom>
          <a:solidFill>
            <a:srgbClr val="4E79A7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659258" y="5668877"/>
            <a:ext cx="299557" cy="45921"/>
          </a:xfrm>
          <a:prstGeom prst="rect">
            <a:avLst/>
          </a:prstGeom>
          <a:solidFill>
            <a:srgbClr val="F28E2B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659258" y="4034942"/>
            <a:ext cx="299557" cy="1633936"/>
          </a:xfrm>
          <a:prstGeom prst="rect">
            <a:avLst/>
          </a:prstGeom>
          <a:solidFill>
            <a:srgbClr val="E15759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2659258" y="3989020"/>
            <a:ext cx="299557" cy="45921"/>
          </a:xfrm>
          <a:prstGeom prst="rect">
            <a:avLst/>
          </a:prstGeom>
          <a:solidFill>
            <a:srgbClr val="76B7B2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659258" y="3943099"/>
            <a:ext cx="299557" cy="45921"/>
          </a:xfrm>
          <a:prstGeom prst="rect">
            <a:avLst/>
          </a:prstGeom>
          <a:solidFill>
            <a:srgbClr val="59A14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659258" y="3897178"/>
            <a:ext cx="299557" cy="45921"/>
          </a:xfrm>
          <a:prstGeom prst="rect">
            <a:avLst/>
          </a:prstGeom>
          <a:solidFill>
            <a:srgbClr val="EDC948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659258" y="3851257"/>
            <a:ext cx="299557" cy="45921"/>
          </a:xfrm>
          <a:prstGeom prst="rect">
            <a:avLst/>
          </a:prstGeom>
          <a:solidFill>
            <a:srgbClr val="B07AA1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2659258" y="3805335"/>
            <a:ext cx="299557" cy="45921"/>
          </a:xfrm>
          <a:prstGeom prst="rect">
            <a:avLst/>
          </a:prstGeom>
          <a:solidFill>
            <a:srgbClr val="FF9DA7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659258" y="3759411"/>
            <a:ext cx="299557" cy="45924"/>
          </a:xfrm>
          <a:prstGeom prst="rect">
            <a:avLst/>
          </a:prstGeom>
          <a:solidFill>
            <a:srgbClr val="9C755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659258" y="1188720"/>
            <a:ext cx="299557" cy="2570691"/>
          </a:xfrm>
          <a:prstGeom prst="rect">
            <a:avLst/>
          </a:prstGeom>
          <a:solidFill>
            <a:srgbClr val="BAB0AC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595067" y="5797296"/>
            <a:ext cx="427939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post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295510" y="5961888"/>
            <a:ext cx="599115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 i="0">
                <a:solidFill>
                  <a:srgbClr val="0A7D6E"/>
                </a:solidFill>
                <a:latin typeface="Arial"/>
              </a:rPr>
              <a:t>s3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087197" y="5600669"/>
            <a:ext cx="299557" cy="160051"/>
          </a:xfrm>
          <a:prstGeom prst="rect">
            <a:avLst/>
          </a:prstGeom>
          <a:solidFill>
            <a:srgbClr val="4E79A7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3087197" y="5440618"/>
            <a:ext cx="299557" cy="160051"/>
          </a:xfrm>
          <a:prstGeom prst="rect">
            <a:avLst/>
          </a:prstGeom>
          <a:solidFill>
            <a:srgbClr val="F28E2B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087197" y="3980362"/>
            <a:ext cx="299557" cy="1460256"/>
          </a:xfrm>
          <a:prstGeom prst="rect">
            <a:avLst/>
          </a:prstGeom>
          <a:solidFill>
            <a:srgbClr val="E15759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3087197" y="2624732"/>
            <a:ext cx="299557" cy="1355630"/>
          </a:xfrm>
          <a:prstGeom prst="rect">
            <a:avLst/>
          </a:prstGeom>
          <a:solidFill>
            <a:srgbClr val="76B7B2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3087197" y="2464681"/>
            <a:ext cx="299557" cy="160051"/>
          </a:xfrm>
          <a:prstGeom prst="rect">
            <a:avLst/>
          </a:prstGeom>
          <a:solidFill>
            <a:srgbClr val="59A14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087197" y="2304630"/>
            <a:ext cx="299557" cy="160051"/>
          </a:xfrm>
          <a:prstGeom prst="rect">
            <a:avLst/>
          </a:prstGeom>
          <a:solidFill>
            <a:srgbClr val="EDC948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087197" y="2144579"/>
            <a:ext cx="299557" cy="160051"/>
          </a:xfrm>
          <a:prstGeom prst="rect">
            <a:avLst/>
          </a:prstGeom>
          <a:solidFill>
            <a:srgbClr val="B07AA1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3087197" y="1984528"/>
            <a:ext cx="299557" cy="160051"/>
          </a:xfrm>
          <a:prstGeom prst="rect">
            <a:avLst/>
          </a:prstGeom>
          <a:solidFill>
            <a:srgbClr val="FF9DA7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3087197" y="1824473"/>
            <a:ext cx="299557" cy="160055"/>
          </a:xfrm>
          <a:prstGeom prst="rect">
            <a:avLst/>
          </a:prstGeom>
          <a:solidFill>
            <a:srgbClr val="9C755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087197" y="1188720"/>
            <a:ext cx="299557" cy="635753"/>
          </a:xfrm>
          <a:prstGeom prst="rect">
            <a:avLst/>
          </a:prstGeom>
          <a:solidFill>
            <a:srgbClr val="BAB0AC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023006" y="5797296"/>
            <a:ext cx="427939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pre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515136" y="5465188"/>
            <a:ext cx="299557" cy="295532"/>
          </a:xfrm>
          <a:prstGeom prst="rect">
            <a:avLst/>
          </a:prstGeom>
          <a:solidFill>
            <a:srgbClr val="4E79A7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515136" y="5169657"/>
            <a:ext cx="299557" cy="295532"/>
          </a:xfrm>
          <a:prstGeom prst="rect">
            <a:avLst/>
          </a:prstGeom>
          <a:solidFill>
            <a:srgbClr val="F28E2B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515136" y="4609569"/>
            <a:ext cx="299557" cy="560088"/>
          </a:xfrm>
          <a:prstGeom prst="rect">
            <a:avLst/>
          </a:prstGeom>
          <a:solidFill>
            <a:srgbClr val="E15759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3515136" y="3825292"/>
            <a:ext cx="299557" cy="784277"/>
          </a:xfrm>
          <a:prstGeom prst="rect">
            <a:avLst/>
          </a:prstGeom>
          <a:solidFill>
            <a:srgbClr val="76B7B2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3515136" y="3529760"/>
            <a:ext cx="299557" cy="295532"/>
          </a:xfrm>
          <a:prstGeom prst="rect">
            <a:avLst/>
          </a:prstGeom>
          <a:solidFill>
            <a:srgbClr val="59A14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3515136" y="3234228"/>
            <a:ext cx="299557" cy="295532"/>
          </a:xfrm>
          <a:prstGeom prst="rect">
            <a:avLst/>
          </a:prstGeom>
          <a:solidFill>
            <a:srgbClr val="EDC948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3515136" y="2938697"/>
            <a:ext cx="299557" cy="295532"/>
          </a:xfrm>
          <a:prstGeom prst="rect">
            <a:avLst/>
          </a:prstGeom>
          <a:solidFill>
            <a:srgbClr val="B07AA1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515136" y="2643165"/>
            <a:ext cx="299557" cy="295532"/>
          </a:xfrm>
          <a:prstGeom prst="rect">
            <a:avLst/>
          </a:prstGeom>
          <a:solidFill>
            <a:srgbClr val="FF9DA7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515136" y="2347632"/>
            <a:ext cx="299557" cy="295533"/>
          </a:xfrm>
          <a:prstGeom prst="rect">
            <a:avLst/>
          </a:prstGeom>
          <a:solidFill>
            <a:srgbClr val="9C755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3515136" y="1188720"/>
            <a:ext cx="299557" cy="1158912"/>
          </a:xfrm>
          <a:prstGeom prst="rect">
            <a:avLst/>
          </a:prstGeom>
          <a:solidFill>
            <a:srgbClr val="BAB0AC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450946" y="5797296"/>
            <a:ext cx="427939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post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151388" y="5961888"/>
            <a:ext cx="599115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 i="0">
                <a:solidFill>
                  <a:srgbClr val="0A7D6E"/>
                </a:solidFill>
                <a:latin typeface="Arial"/>
              </a:rPr>
              <a:t>s6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943076" y="5394332"/>
            <a:ext cx="299557" cy="366388"/>
          </a:xfrm>
          <a:prstGeom prst="rect">
            <a:avLst/>
          </a:prstGeom>
          <a:solidFill>
            <a:srgbClr val="4E79A7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3943076" y="5027940"/>
            <a:ext cx="299557" cy="366392"/>
          </a:xfrm>
          <a:prstGeom prst="rect">
            <a:avLst/>
          </a:prstGeom>
          <a:solidFill>
            <a:srgbClr val="F28E2B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3943076" y="4661548"/>
            <a:ext cx="299557" cy="366392"/>
          </a:xfrm>
          <a:prstGeom prst="rect">
            <a:avLst/>
          </a:prstGeom>
          <a:solidFill>
            <a:srgbClr val="E15759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3943076" y="4295092"/>
            <a:ext cx="299557" cy="366456"/>
          </a:xfrm>
          <a:prstGeom prst="rect">
            <a:avLst/>
          </a:prstGeom>
          <a:solidFill>
            <a:srgbClr val="76B7B2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3943076" y="3021867"/>
            <a:ext cx="299557" cy="1273225"/>
          </a:xfrm>
          <a:prstGeom prst="rect">
            <a:avLst/>
          </a:prstGeom>
          <a:solidFill>
            <a:srgbClr val="59A14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943076" y="2654818"/>
            <a:ext cx="299557" cy="367048"/>
          </a:xfrm>
          <a:prstGeom prst="rect">
            <a:avLst/>
          </a:prstGeom>
          <a:solidFill>
            <a:srgbClr val="EDC948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3943076" y="2288430"/>
            <a:ext cx="299557" cy="366388"/>
          </a:xfrm>
          <a:prstGeom prst="rect">
            <a:avLst/>
          </a:prstGeom>
          <a:solidFill>
            <a:srgbClr val="B07AA1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3943076" y="1922042"/>
            <a:ext cx="299557" cy="366388"/>
          </a:xfrm>
          <a:prstGeom prst="rect">
            <a:avLst/>
          </a:prstGeom>
          <a:solidFill>
            <a:srgbClr val="FF9DA7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3943076" y="1555108"/>
            <a:ext cx="299557" cy="366933"/>
          </a:xfrm>
          <a:prstGeom prst="rect">
            <a:avLst/>
          </a:prstGeom>
          <a:solidFill>
            <a:srgbClr val="9C755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3943076" y="1188720"/>
            <a:ext cx="299557" cy="366388"/>
          </a:xfrm>
          <a:prstGeom prst="rect">
            <a:avLst/>
          </a:prstGeom>
          <a:solidFill>
            <a:srgbClr val="BAB0AC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3878885" y="5797296"/>
            <a:ext cx="427939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pre</a:t>
            </a:r>
          </a:p>
        </p:txBody>
      </p:sp>
      <p:sp>
        <p:nvSpPr>
          <p:cNvPr id="99" name="Rectangle 98"/>
          <p:cNvSpPr/>
          <p:nvPr/>
        </p:nvSpPr>
        <p:spPr>
          <a:xfrm>
            <a:off x="4371015" y="5289674"/>
            <a:ext cx="299557" cy="471046"/>
          </a:xfrm>
          <a:prstGeom prst="rect">
            <a:avLst/>
          </a:prstGeom>
          <a:solidFill>
            <a:srgbClr val="4E79A7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4371015" y="4818624"/>
            <a:ext cx="299557" cy="471050"/>
          </a:xfrm>
          <a:prstGeom prst="rect">
            <a:avLst/>
          </a:prstGeom>
          <a:solidFill>
            <a:srgbClr val="F28E2B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4371015" y="4347574"/>
            <a:ext cx="299557" cy="471050"/>
          </a:xfrm>
          <a:prstGeom prst="rect">
            <a:avLst/>
          </a:prstGeom>
          <a:solidFill>
            <a:srgbClr val="E15759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4371015" y="3876453"/>
            <a:ext cx="299557" cy="471121"/>
          </a:xfrm>
          <a:prstGeom prst="rect">
            <a:avLst/>
          </a:prstGeom>
          <a:solidFill>
            <a:srgbClr val="76B7B2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4371015" y="3545278"/>
            <a:ext cx="299557" cy="331175"/>
          </a:xfrm>
          <a:prstGeom prst="rect">
            <a:avLst/>
          </a:prstGeom>
          <a:solidFill>
            <a:srgbClr val="59A14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4371015" y="3073505"/>
            <a:ext cx="299557" cy="471773"/>
          </a:xfrm>
          <a:prstGeom prst="rect">
            <a:avLst/>
          </a:prstGeom>
          <a:solidFill>
            <a:srgbClr val="EDC948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4371015" y="2602459"/>
            <a:ext cx="299557" cy="471046"/>
          </a:xfrm>
          <a:prstGeom prst="rect">
            <a:avLst/>
          </a:prstGeom>
          <a:solidFill>
            <a:srgbClr val="B07AA1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4371015" y="2131413"/>
            <a:ext cx="299557" cy="471046"/>
          </a:xfrm>
          <a:prstGeom prst="rect">
            <a:avLst/>
          </a:prstGeom>
          <a:solidFill>
            <a:srgbClr val="FF9DA7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4371015" y="1659766"/>
            <a:ext cx="299557" cy="471646"/>
          </a:xfrm>
          <a:prstGeom prst="rect">
            <a:avLst/>
          </a:prstGeom>
          <a:solidFill>
            <a:srgbClr val="9C755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4371015" y="1188720"/>
            <a:ext cx="299557" cy="471046"/>
          </a:xfrm>
          <a:prstGeom prst="rect">
            <a:avLst/>
          </a:prstGeom>
          <a:solidFill>
            <a:srgbClr val="BAB0AC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4306824" y="5797296"/>
            <a:ext cx="427939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post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007267" y="5961888"/>
            <a:ext cx="599115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 i="0">
                <a:solidFill>
                  <a:srgbClr val="0A7D6E"/>
                </a:solidFill>
                <a:latin typeface="Arial"/>
              </a:rPr>
              <a:t>s9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4798954" y="5745290"/>
            <a:ext cx="299557" cy="15430"/>
          </a:xfrm>
          <a:prstGeom prst="rect">
            <a:avLst/>
          </a:prstGeom>
          <a:solidFill>
            <a:srgbClr val="4E79A7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4798954" y="5729860"/>
            <a:ext cx="299557" cy="15430"/>
          </a:xfrm>
          <a:prstGeom prst="rect">
            <a:avLst/>
          </a:prstGeom>
          <a:solidFill>
            <a:srgbClr val="F28E2B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4798954" y="5714430"/>
            <a:ext cx="299557" cy="15430"/>
          </a:xfrm>
          <a:prstGeom prst="rect">
            <a:avLst/>
          </a:prstGeom>
          <a:solidFill>
            <a:srgbClr val="E15759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4798954" y="4027879"/>
            <a:ext cx="299557" cy="1686551"/>
          </a:xfrm>
          <a:prstGeom prst="rect">
            <a:avLst/>
          </a:prstGeom>
          <a:solidFill>
            <a:srgbClr val="76B7B2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4798954" y="4012449"/>
            <a:ext cx="299557" cy="15430"/>
          </a:xfrm>
          <a:prstGeom prst="rect">
            <a:avLst/>
          </a:prstGeom>
          <a:solidFill>
            <a:srgbClr val="59A14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4798954" y="3997019"/>
            <a:ext cx="299557" cy="15430"/>
          </a:xfrm>
          <a:prstGeom prst="rect">
            <a:avLst/>
          </a:prstGeom>
          <a:solidFill>
            <a:srgbClr val="EDC948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4798954" y="1651148"/>
            <a:ext cx="299557" cy="2345871"/>
          </a:xfrm>
          <a:prstGeom prst="rect">
            <a:avLst/>
          </a:prstGeom>
          <a:solidFill>
            <a:srgbClr val="B07AA1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4798954" y="1635718"/>
            <a:ext cx="299557" cy="15430"/>
          </a:xfrm>
          <a:prstGeom prst="rect">
            <a:avLst/>
          </a:prstGeom>
          <a:solidFill>
            <a:srgbClr val="FF9DA7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4798954" y="1204150"/>
            <a:ext cx="299557" cy="431568"/>
          </a:xfrm>
          <a:prstGeom prst="rect">
            <a:avLst/>
          </a:prstGeom>
          <a:solidFill>
            <a:srgbClr val="9C755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4798954" y="1188720"/>
            <a:ext cx="299557" cy="15430"/>
          </a:xfrm>
          <a:prstGeom prst="rect">
            <a:avLst/>
          </a:prstGeom>
          <a:solidFill>
            <a:srgbClr val="BAB0AC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4734763" y="5797296"/>
            <a:ext cx="427939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pre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226893" y="5745974"/>
            <a:ext cx="299557" cy="14746"/>
          </a:xfrm>
          <a:prstGeom prst="rect">
            <a:avLst/>
          </a:prstGeom>
          <a:solidFill>
            <a:srgbClr val="4E79A7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5226893" y="5731229"/>
            <a:ext cx="299557" cy="14746"/>
          </a:xfrm>
          <a:prstGeom prst="rect">
            <a:avLst/>
          </a:prstGeom>
          <a:solidFill>
            <a:srgbClr val="F28E2B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5226893" y="5716483"/>
            <a:ext cx="299557" cy="14746"/>
          </a:xfrm>
          <a:prstGeom prst="rect">
            <a:avLst/>
          </a:prstGeom>
          <a:solidFill>
            <a:srgbClr val="E15759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5226893" y="4100385"/>
            <a:ext cx="299557" cy="1616098"/>
          </a:xfrm>
          <a:prstGeom prst="rect">
            <a:avLst/>
          </a:prstGeom>
          <a:solidFill>
            <a:srgbClr val="76B7B2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5226893" y="4085640"/>
            <a:ext cx="299557" cy="14746"/>
          </a:xfrm>
          <a:prstGeom prst="rect">
            <a:avLst/>
          </a:prstGeom>
          <a:solidFill>
            <a:srgbClr val="59A14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5226893" y="4070894"/>
            <a:ext cx="299557" cy="14746"/>
          </a:xfrm>
          <a:prstGeom prst="rect">
            <a:avLst/>
          </a:prstGeom>
          <a:solidFill>
            <a:srgbClr val="EDC948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5226893" y="1822901"/>
            <a:ext cx="299557" cy="2247993"/>
          </a:xfrm>
          <a:prstGeom prst="rect">
            <a:avLst/>
          </a:prstGeom>
          <a:solidFill>
            <a:srgbClr val="B07AA1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5226893" y="1808155"/>
            <a:ext cx="299557" cy="14746"/>
          </a:xfrm>
          <a:prstGeom prst="rect">
            <a:avLst/>
          </a:prstGeom>
          <a:solidFill>
            <a:srgbClr val="FF9DA7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5226893" y="1203466"/>
            <a:ext cx="299557" cy="604689"/>
          </a:xfrm>
          <a:prstGeom prst="rect">
            <a:avLst/>
          </a:prstGeom>
          <a:solidFill>
            <a:srgbClr val="9C755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5226893" y="1188720"/>
            <a:ext cx="299557" cy="14746"/>
          </a:xfrm>
          <a:prstGeom prst="rect">
            <a:avLst/>
          </a:prstGeom>
          <a:solidFill>
            <a:srgbClr val="BAB0AC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5162702" y="5797296"/>
            <a:ext cx="427939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post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863145" y="5961888"/>
            <a:ext cx="599115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 i="0">
                <a:solidFill>
                  <a:srgbClr val="0A7D6E"/>
                </a:solidFill>
                <a:latin typeface="Arial"/>
              </a:rPr>
              <a:t>s14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5654832" y="2060368"/>
            <a:ext cx="299557" cy="3700352"/>
          </a:xfrm>
          <a:prstGeom prst="rect">
            <a:avLst/>
          </a:prstGeom>
          <a:solidFill>
            <a:srgbClr val="4E79A7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5654832" y="2045952"/>
            <a:ext cx="299557" cy="14415"/>
          </a:xfrm>
          <a:prstGeom prst="rect">
            <a:avLst/>
          </a:prstGeom>
          <a:solidFill>
            <a:srgbClr val="F28E2B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5654832" y="2031552"/>
            <a:ext cx="299557" cy="14400"/>
          </a:xfrm>
          <a:prstGeom prst="rect">
            <a:avLst/>
          </a:prstGeom>
          <a:solidFill>
            <a:srgbClr val="E15759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5654832" y="1275121"/>
            <a:ext cx="299557" cy="756431"/>
          </a:xfrm>
          <a:prstGeom prst="rect">
            <a:avLst/>
          </a:prstGeom>
          <a:solidFill>
            <a:srgbClr val="76B7B2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5654832" y="1260721"/>
            <a:ext cx="299557" cy="14400"/>
          </a:xfrm>
          <a:prstGeom prst="rect">
            <a:avLst/>
          </a:prstGeom>
          <a:solidFill>
            <a:srgbClr val="59A14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5654832" y="1246321"/>
            <a:ext cx="299557" cy="14400"/>
          </a:xfrm>
          <a:prstGeom prst="rect">
            <a:avLst/>
          </a:prstGeom>
          <a:solidFill>
            <a:srgbClr val="EDC948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5654832" y="1231920"/>
            <a:ext cx="299557" cy="14400"/>
          </a:xfrm>
          <a:prstGeom prst="rect">
            <a:avLst/>
          </a:prstGeom>
          <a:solidFill>
            <a:srgbClr val="B07AA1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5654832" y="1217520"/>
            <a:ext cx="299557" cy="14400"/>
          </a:xfrm>
          <a:prstGeom prst="rect">
            <a:avLst/>
          </a:prstGeom>
          <a:solidFill>
            <a:srgbClr val="FF9DA7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5654832" y="1203120"/>
            <a:ext cx="299557" cy="14400"/>
          </a:xfrm>
          <a:prstGeom prst="rect">
            <a:avLst/>
          </a:prstGeom>
          <a:solidFill>
            <a:srgbClr val="9C755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5654832" y="1188720"/>
            <a:ext cx="299557" cy="14400"/>
          </a:xfrm>
          <a:prstGeom prst="rect">
            <a:avLst/>
          </a:prstGeom>
          <a:solidFill>
            <a:srgbClr val="BAB0AC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5590642" y="5797296"/>
            <a:ext cx="427939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pre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6082772" y="2347496"/>
            <a:ext cx="299557" cy="3413224"/>
          </a:xfrm>
          <a:prstGeom prst="rect">
            <a:avLst/>
          </a:prstGeom>
          <a:solidFill>
            <a:srgbClr val="4E79A7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6082772" y="2322106"/>
            <a:ext cx="299557" cy="25390"/>
          </a:xfrm>
          <a:prstGeom prst="rect">
            <a:avLst/>
          </a:prstGeom>
          <a:solidFill>
            <a:srgbClr val="F28E2B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6082772" y="2296736"/>
            <a:ext cx="299557" cy="25369"/>
          </a:xfrm>
          <a:prstGeom prst="rect">
            <a:avLst/>
          </a:prstGeom>
          <a:solidFill>
            <a:srgbClr val="E15759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6082772" y="1340936"/>
            <a:ext cx="299557" cy="955800"/>
          </a:xfrm>
          <a:prstGeom prst="rect">
            <a:avLst/>
          </a:prstGeom>
          <a:solidFill>
            <a:srgbClr val="76B7B2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082772" y="1315567"/>
            <a:ext cx="299557" cy="25369"/>
          </a:xfrm>
          <a:prstGeom prst="rect">
            <a:avLst/>
          </a:prstGeom>
          <a:solidFill>
            <a:srgbClr val="59A14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6082772" y="1290198"/>
            <a:ext cx="299557" cy="25369"/>
          </a:xfrm>
          <a:prstGeom prst="rect">
            <a:avLst/>
          </a:prstGeom>
          <a:solidFill>
            <a:srgbClr val="EDC948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6082772" y="1264828"/>
            <a:ext cx="299557" cy="25369"/>
          </a:xfrm>
          <a:prstGeom prst="rect">
            <a:avLst/>
          </a:prstGeom>
          <a:solidFill>
            <a:srgbClr val="B07AA1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6082772" y="1239459"/>
            <a:ext cx="299557" cy="25369"/>
          </a:xfrm>
          <a:prstGeom prst="rect">
            <a:avLst/>
          </a:prstGeom>
          <a:solidFill>
            <a:srgbClr val="FF9DA7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6082772" y="1214089"/>
            <a:ext cx="299557" cy="25369"/>
          </a:xfrm>
          <a:prstGeom prst="rect">
            <a:avLst/>
          </a:prstGeom>
          <a:solidFill>
            <a:srgbClr val="9C755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6082772" y="1188720"/>
            <a:ext cx="299557" cy="25369"/>
          </a:xfrm>
          <a:prstGeom prst="rect">
            <a:avLst/>
          </a:prstGeom>
          <a:solidFill>
            <a:srgbClr val="BAB0AC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6018581" y="5797296"/>
            <a:ext cx="427939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post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719023" y="5961888"/>
            <a:ext cx="599115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 i="0">
                <a:solidFill>
                  <a:srgbClr val="C53E1F"/>
                </a:solidFill>
                <a:latin typeface="Arial"/>
              </a:rPr>
              <a:t>s1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6510711" y="5676986"/>
            <a:ext cx="299557" cy="83734"/>
          </a:xfrm>
          <a:prstGeom prst="rect">
            <a:avLst/>
          </a:prstGeom>
          <a:solidFill>
            <a:srgbClr val="4E79A7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6510711" y="5593251"/>
            <a:ext cx="299557" cy="83734"/>
          </a:xfrm>
          <a:prstGeom prst="rect">
            <a:avLst/>
          </a:prstGeom>
          <a:solidFill>
            <a:srgbClr val="F28E2B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6510711" y="5509517"/>
            <a:ext cx="299557" cy="83734"/>
          </a:xfrm>
          <a:prstGeom prst="rect">
            <a:avLst/>
          </a:prstGeom>
          <a:solidFill>
            <a:srgbClr val="E15759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6510711" y="4495514"/>
            <a:ext cx="299557" cy="1014003"/>
          </a:xfrm>
          <a:prstGeom prst="rect">
            <a:avLst/>
          </a:prstGeom>
          <a:solidFill>
            <a:srgbClr val="76B7B2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6510711" y="4411779"/>
            <a:ext cx="299557" cy="83734"/>
          </a:xfrm>
          <a:prstGeom prst="rect">
            <a:avLst/>
          </a:prstGeom>
          <a:solidFill>
            <a:srgbClr val="59A14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6510711" y="4328045"/>
            <a:ext cx="299557" cy="83734"/>
          </a:xfrm>
          <a:prstGeom prst="rect">
            <a:avLst/>
          </a:prstGeom>
          <a:solidFill>
            <a:srgbClr val="EDC948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6510711" y="4244297"/>
            <a:ext cx="299557" cy="83748"/>
          </a:xfrm>
          <a:prstGeom prst="rect">
            <a:avLst/>
          </a:prstGeom>
          <a:solidFill>
            <a:srgbClr val="B07AA1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6510711" y="4160562"/>
            <a:ext cx="299557" cy="83734"/>
          </a:xfrm>
          <a:prstGeom prst="rect">
            <a:avLst/>
          </a:prstGeom>
          <a:solidFill>
            <a:srgbClr val="FF9DA7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510711" y="1272454"/>
            <a:ext cx="299557" cy="2888108"/>
          </a:xfrm>
          <a:prstGeom prst="rect">
            <a:avLst/>
          </a:prstGeom>
          <a:solidFill>
            <a:srgbClr val="9C755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6510711" y="1188720"/>
            <a:ext cx="299557" cy="83734"/>
          </a:xfrm>
          <a:prstGeom prst="rect">
            <a:avLst/>
          </a:prstGeom>
          <a:solidFill>
            <a:srgbClr val="BAB0AC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6446520" y="5797296"/>
            <a:ext cx="427939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pre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6938650" y="5528128"/>
            <a:ext cx="299557" cy="232592"/>
          </a:xfrm>
          <a:prstGeom prst="rect">
            <a:avLst/>
          </a:prstGeom>
          <a:solidFill>
            <a:srgbClr val="4E79A7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6938650" y="5295537"/>
            <a:ext cx="299557" cy="232592"/>
          </a:xfrm>
          <a:prstGeom prst="rect">
            <a:avLst/>
          </a:prstGeom>
          <a:solidFill>
            <a:srgbClr val="F28E2B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6938650" y="5062945"/>
            <a:ext cx="299557" cy="232592"/>
          </a:xfrm>
          <a:prstGeom prst="rect">
            <a:avLst/>
          </a:prstGeom>
          <a:solidFill>
            <a:srgbClr val="E15759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6938650" y="4250447"/>
            <a:ext cx="299557" cy="812499"/>
          </a:xfrm>
          <a:prstGeom prst="rect">
            <a:avLst/>
          </a:prstGeom>
          <a:solidFill>
            <a:srgbClr val="76B7B2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6938650" y="4017855"/>
            <a:ext cx="299557" cy="232592"/>
          </a:xfrm>
          <a:prstGeom prst="rect">
            <a:avLst/>
          </a:prstGeom>
          <a:solidFill>
            <a:srgbClr val="59A14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938650" y="3785264"/>
            <a:ext cx="299557" cy="232592"/>
          </a:xfrm>
          <a:prstGeom prst="rect">
            <a:avLst/>
          </a:prstGeom>
          <a:solidFill>
            <a:srgbClr val="EDC948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6938650" y="3552562"/>
            <a:ext cx="299557" cy="232702"/>
          </a:xfrm>
          <a:prstGeom prst="rect">
            <a:avLst/>
          </a:prstGeom>
          <a:solidFill>
            <a:srgbClr val="B07AA1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6938650" y="3319970"/>
            <a:ext cx="299557" cy="232592"/>
          </a:xfrm>
          <a:prstGeom prst="rect">
            <a:avLst/>
          </a:prstGeom>
          <a:solidFill>
            <a:srgbClr val="FF9DA7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6938650" y="1421312"/>
            <a:ext cx="299557" cy="1898659"/>
          </a:xfrm>
          <a:prstGeom prst="rect">
            <a:avLst/>
          </a:prstGeom>
          <a:solidFill>
            <a:srgbClr val="9C755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6938650" y="1188720"/>
            <a:ext cx="299557" cy="232592"/>
          </a:xfrm>
          <a:prstGeom prst="rect">
            <a:avLst/>
          </a:prstGeom>
          <a:solidFill>
            <a:srgbClr val="BAB0AC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6874459" y="5797296"/>
            <a:ext cx="427939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post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6574902" y="5961888"/>
            <a:ext cx="599115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 i="0">
                <a:solidFill>
                  <a:srgbClr val="C53E1F"/>
                </a:solidFill>
                <a:latin typeface="Arial"/>
              </a:rPr>
              <a:t>s5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7366589" y="5303568"/>
            <a:ext cx="299557" cy="457152"/>
          </a:xfrm>
          <a:prstGeom prst="rect">
            <a:avLst/>
          </a:prstGeom>
          <a:solidFill>
            <a:srgbClr val="4E79A7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7366589" y="4846416"/>
            <a:ext cx="299557" cy="457152"/>
          </a:xfrm>
          <a:prstGeom prst="rect">
            <a:avLst/>
          </a:prstGeom>
          <a:solidFill>
            <a:srgbClr val="F28E2B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7366589" y="4389265"/>
            <a:ext cx="299557" cy="457152"/>
          </a:xfrm>
          <a:prstGeom prst="rect">
            <a:avLst/>
          </a:prstGeom>
          <a:solidFill>
            <a:srgbClr val="E15759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7366589" y="3932113"/>
            <a:ext cx="299557" cy="457152"/>
          </a:xfrm>
          <a:prstGeom prst="rect">
            <a:avLst/>
          </a:prstGeom>
          <a:solidFill>
            <a:srgbClr val="76B7B2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7366589" y="3474961"/>
            <a:ext cx="299557" cy="457152"/>
          </a:xfrm>
          <a:prstGeom prst="rect">
            <a:avLst/>
          </a:prstGeom>
          <a:solidFill>
            <a:srgbClr val="59A14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7366589" y="3017809"/>
            <a:ext cx="299557" cy="457152"/>
          </a:xfrm>
          <a:prstGeom prst="rect">
            <a:avLst/>
          </a:prstGeom>
          <a:solidFill>
            <a:srgbClr val="EDC948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7366589" y="2560657"/>
            <a:ext cx="299557" cy="457152"/>
          </a:xfrm>
          <a:prstGeom prst="rect">
            <a:avLst/>
          </a:prstGeom>
          <a:solidFill>
            <a:srgbClr val="B07AA1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7366589" y="2103024"/>
            <a:ext cx="299557" cy="457633"/>
          </a:xfrm>
          <a:prstGeom prst="rect">
            <a:avLst/>
          </a:prstGeom>
          <a:solidFill>
            <a:srgbClr val="FF9DA7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7366589" y="1645873"/>
            <a:ext cx="299557" cy="457152"/>
          </a:xfrm>
          <a:prstGeom prst="rect">
            <a:avLst/>
          </a:prstGeom>
          <a:solidFill>
            <a:srgbClr val="9C755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7366589" y="1188720"/>
            <a:ext cx="299557" cy="457153"/>
          </a:xfrm>
          <a:prstGeom prst="rect">
            <a:avLst/>
          </a:prstGeom>
          <a:solidFill>
            <a:srgbClr val="BAB0AC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7302398" y="5797296"/>
            <a:ext cx="427939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pre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7794528" y="5303534"/>
            <a:ext cx="299557" cy="457186"/>
          </a:xfrm>
          <a:prstGeom prst="rect">
            <a:avLst/>
          </a:prstGeom>
          <a:solidFill>
            <a:srgbClr val="4E79A7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7794528" y="4846347"/>
            <a:ext cx="299557" cy="457186"/>
          </a:xfrm>
          <a:prstGeom prst="rect">
            <a:avLst/>
          </a:prstGeom>
          <a:solidFill>
            <a:srgbClr val="F28E2B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7794528" y="4389161"/>
            <a:ext cx="299557" cy="457186"/>
          </a:xfrm>
          <a:prstGeom prst="rect">
            <a:avLst/>
          </a:prstGeom>
          <a:solidFill>
            <a:srgbClr val="E15759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7794528" y="3931975"/>
            <a:ext cx="299557" cy="457186"/>
          </a:xfrm>
          <a:prstGeom prst="rect">
            <a:avLst/>
          </a:prstGeom>
          <a:solidFill>
            <a:srgbClr val="76B7B2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7794528" y="3474788"/>
            <a:ext cx="299557" cy="457186"/>
          </a:xfrm>
          <a:prstGeom prst="rect">
            <a:avLst/>
          </a:prstGeom>
          <a:solidFill>
            <a:srgbClr val="59A14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7794528" y="3017602"/>
            <a:ext cx="299557" cy="457186"/>
          </a:xfrm>
          <a:prstGeom prst="rect">
            <a:avLst/>
          </a:prstGeom>
          <a:solidFill>
            <a:srgbClr val="EDC948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7794528" y="2560415"/>
            <a:ext cx="299557" cy="457186"/>
          </a:xfrm>
          <a:prstGeom prst="rect">
            <a:avLst/>
          </a:prstGeom>
          <a:solidFill>
            <a:srgbClr val="B07AA1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7794528" y="2103093"/>
            <a:ext cx="299557" cy="457322"/>
          </a:xfrm>
          <a:prstGeom prst="rect">
            <a:avLst/>
          </a:prstGeom>
          <a:solidFill>
            <a:srgbClr val="FF9DA7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7794528" y="1645907"/>
            <a:ext cx="299557" cy="457186"/>
          </a:xfrm>
          <a:prstGeom prst="rect">
            <a:avLst/>
          </a:prstGeom>
          <a:solidFill>
            <a:srgbClr val="9C755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7794528" y="1188720"/>
            <a:ext cx="299557" cy="457187"/>
          </a:xfrm>
          <a:prstGeom prst="rect">
            <a:avLst/>
          </a:prstGeom>
          <a:solidFill>
            <a:srgbClr val="BAB0AC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7730338" y="5797296"/>
            <a:ext cx="427939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post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7430780" y="5961888"/>
            <a:ext cx="599115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 i="0">
                <a:solidFill>
                  <a:srgbClr val="C53E1F"/>
                </a:solidFill>
                <a:latin typeface="Arial"/>
              </a:rPr>
              <a:t>s7</a:t>
            </a:r>
          </a:p>
        </p:txBody>
      </p:sp>
      <p:sp>
        <p:nvSpPr>
          <p:cNvPr id="203" name="Rectangle 202"/>
          <p:cNvSpPr/>
          <p:nvPr/>
        </p:nvSpPr>
        <p:spPr>
          <a:xfrm>
            <a:off x="8222468" y="5740265"/>
            <a:ext cx="299557" cy="20455"/>
          </a:xfrm>
          <a:prstGeom prst="rect">
            <a:avLst/>
          </a:prstGeom>
          <a:solidFill>
            <a:srgbClr val="4E79A7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8222468" y="2300020"/>
            <a:ext cx="299557" cy="3440244"/>
          </a:xfrm>
          <a:prstGeom prst="rect">
            <a:avLst/>
          </a:prstGeom>
          <a:solidFill>
            <a:srgbClr val="F28E2B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8222468" y="2279565"/>
            <a:ext cx="299557" cy="20455"/>
          </a:xfrm>
          <a:prstGeom prst="rect">
            <a:avLst/>
          </a:prstGeom>
          <a:solidFill>
            <a:srgbClr val="E15759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8222468" y="2259110"/>
            <a:ext cx="299557" cy="20455"/>
          </a:xfrm>
          <a:prstGeom prst="rect">
            <a:avLst/>
          </a:prstGeom>
          <a:solidFill>
            <a:srgbClr val="76B7B2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8222468" y="2238655"/>
            <a:ext cx="299557" cy="20455"/>
          </a:xfrm>
          <a:prstGeom prst="rect">
            <a:avLst/>
          </a:prstGeom>
          <a:solidFill>
            <a:srgbClr val="59A14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8222468" y="1270542"/>
            <a:ext cx="299557" cy="968113"/>
          </a:xfrm>
          <a:prstGeom prst="rect">
            <a:avLst/>
          </a:prstGeom>
          <a:solidFill>
            <a:srgbClr val="EDC948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8222468" y="1250087"/>
            <a:ext cx="299557" cy="20455"/>
          </a:xfrm>
          <a:prstGeom prst="rect">
            <a:avLst/>
          </a:prstGeom>
          <a:solidFill>
            <a:srgbClr val="B07AA1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8222468" y="1229630"/>
            <a:ext cx="299557" cy="20457"/>
          </a:xfrm>
          <a:prstGeom prst="rect">
            <a:avLst/>
          </a:prstGeom>
          <a:solidFill>
            <a:srgbClr val="FF9DA7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8222468" y="1209175"/>
            <a:ext cx="299557" cy="20455"/>
          </a:xfrm>
          <a:prstGeom prst="rect">
            <a:avLst/>
          </a:prstGeom>
          <a:solidFill>
            <a:srgbClr val="9C755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8222468" y="1188720"/>
            <a:ext cx="299557" cy="20455"/>
          </a:xfrm>
          <a:prstGeom prst="rect">
            <a:avLst/>
          </a:prstGeom>
          <a:solidFill>
            <a:srgbClr val="BAB0AC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TextBox 212"/>
          <p:cNvSpPr txBox="1"/>
          <p:nvPr/>
        </p:nvSpPr>
        <p:spPr>
          <a:xfrm>
            <a:off x="8158277" y="5797296"/>
            <a:ext cx="427939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pre</a:t>
            </a:r>
          </a:p>
        </p:txBody>
      </p:sp>
      <p:sp>
        <p:nvSpPr>
          <p:cNvPr id="214" name="Rectangle 213"/>
          <p:cNvSpPr/>
          <p:nvPr/>
        </p:nvSpPr>
        <p:spPr>
          <a:xfrm>
            <a:off x="8650407" y="5739516"/>
            <a:ext cx="299557" cy="21204"/>
          </a:xfrm>
          <a:prstGeom prst="rect">
            <a:avLst/>
          </a:prstGeom>
          <a:solidFill>
            <a:srgbClr val="4E79A7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8650407" y="2188834"/>
            <a:ext cx="299557" cy="3550682"/>
          </a:xfrm>
          <a:prstGeom prst="rect">
            <a:avLst/>
          </a:prstGeom>
          <a:solidFill>
            <a:srgbClr val="F28E2B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8650407" y="2167630"/>
            <a:ext cx="299557" cy="21204"/>
          </a:xfrm>
          <a:prstGeom prst="rect">
            <a:avLst/>
          </a:prstGeom>
          <a:solidFill>
            <a:srgbClr val="E15759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8650407" y="2146426"/>
            <a:ext cx="299557" cy="21204"/>
          </a:xfrm>
          <a:prstGeom prst="rect">
            <a:avLst/>
          </a:prstGeom>
          <a:solidFill>
            <a:srgbClr val="76B7B2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8650407" y="2125222"/>
            <a:ext cx="299557" cy="21204"/>
          </a:xfrm>
          <a:prstGeom prst="rect">
            <a:avLst/>
          </a:prstGeom>
          <a:solidFill>
            <a:srgbClr val="59A14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Rectangle 218"/>
          <p:cNvSpPr/>
          <p:nvPr/>
        </p:nvSpPr>
        <p:spPr>
          <a:xfrm>
            <a:off x="8650407" y="1273538"/>
            <a:ext cx="299557" cy="851684"/>
          </a:xfrm>
          <a:prstGeom prst="rect">
            <a:avLst/>
          </a:prstGeom>
          <a:solidFill>
            <a:srgbClr val="EDC948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Rectangle 219"/>
          <p:cNvSpPr/>
          <p:nvPr/>
        </p:nvSpPr>
        <p:spPr>
          <a:xfrm>
            <a:off x="8650407" y="1252334"/>
            <a:ext cx="299557" cy="21204"/>
          </a:xfrm>
          <a:prstGeom prst="rect">
            <a:avLst/>
          </a:prstGeom>
          <a:solidFill>
            <a:srgbClr val="B07AA1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Rectangle 220"/>
          <p:cNvSpPr/>
          <p:nvPr/>
        </p:nvSpPr>
        <p:spPr>
          <a:xfrm>
            <a:off x="8650407" y="1231128"/>
            <a:ext cx="299557" cy="21206"/>
          </a:xfrm>
          <a:prstGeom prst="rect">
            <a:avLst/>
          </a:prstGeom>
          <a:solidFill>
            <a:srgbClr val="FF9DA7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Rectangle 221"/>
          <p:cNvSpPr/>
          <p:nvPr/>
        </p:nvSpPr>
        <p:spPr>
          <a:xfrm>
            <a:off x="8650407" y="1209924"/>
            <a:ext cx="299557" cy="21204"/>
          </a:xfrm>
          <a:prstGeom prst="rect">
            <a:avLst/>
          </a:prstGeom>
          <a:solidFill>
            <a:srgbClr val="9C755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Rectangle 222"/>
          <p:cNvSpPr/>
          <p:nvPr/>
        </p:nvSpPr>
        <p:spPr>
          <a:xfrm>
            <a:off x="8650407" y="1188720"/>
            <a:ext cx="299557" cy="21204"/>
          </a:xfrm>
          <a:prstGeom prst="rect">
            <a:avLst/>
          </a:prstGeom>
          <a:solidFill>
            <a:srgbClr val="BAB0AC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8586216" y="5797296"/>
            <a:ext cx="427939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post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8286659" y="5961888"/>
            <a:ext cx="599115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 i="0">
                <a:solidFill>
                  <a:srgbClr val="C53E1F"/>
                </a:solidFill>
                <a:latin typeface="Arial"/>
              </a:rPr>
              <a:t>s10</a:t>
            </a:r>
          </a:p>
        </p:txBody>
      </p:sp>
      <p:sp>
        <p:nvSpPr>
          <p:cNvPr id="226" name="Rectangle 225"/>
          <p:cNvSpPr/>
          <p:nvPr/>
        </p:nvSpPr>
        <p:spPr>
          <a:xfrm>
            <a:off x="9078346" y="2660829"/>
            <a:ext cx="299557" cy="3099891"/>
          </a:xfrm>
          <a:prstGeom prst="rect">
            <a:avLst/>
          </a:prstGeom>
          <a:solidFill>
            <a:srgbClr val="4E79A7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Rectangle 226"/>
          <p:cNvSpPr/>
          <p:nvPr/>
        </p:nvSpPr>
        <p:spPr>
          <a:xfrm>
            <a:off x="9078346" y="2645752"/>
            <a:ext cx="299557" cy="15077"/>
          </a:xfrm>
          <a:prstGeom prst="rect">
            <a:avLst/>
          </a:prstGeom>
          <a:solidFill>
            <a:srgbClr val="F28E2B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Rectangle 227"/>
          <p:cNvSpPr/>
          <p:nvPr/>
        </p:nvSpPr>
        <p:spPr>
          <a:xfrm>
            <a:off x="9078346" y="2630675"/>
            <a:ext cx="299557" cy="15077"/>
          </a:xfrm>
          <a:prstGeom prst="rect">
            <a:avLst/>
          </a:prstGeom>
          <a:solidFill>
            <a:srgbClr val="E15759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Rectangle 228"/>
          <p:cNvSpPr/>
          <p:nvPr/>
        </p:nvSpPr>
        <p:spPr>
          <a:xfrm>
            <a:off x="9078346" y="2615598"/>
            <a:ext cx="299557" cy="15077"/>
          </a:xfrm>
          <a:prstGeom prst="rect">
            <a:avLst/>
          </a:prstGeom>
          <a:solidFill>
            <a:srgbClr val="76B7B2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Rectangle 229"/>
          <p:cNvSpPr/>
          <p:nvPr/>
        </p:nvSpPr>
        <p:spPr>
          <a:xfrm>
            <a:off x="9078346" y="2600076"/>
            <a:ext cx="299557" cy="15522"/>
          </a:xfrm>
          <a:prstGeom prst="rect">
            <a:avLst/>
          </a:prstGeom>
          <a:solidFill>
            <a:srgbClr val="59A14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Rectangle 230"/>
          <p:cNvSpPr/>
          <p:nvPr/>
        </p:nvSpPr>
        <p:spPr>
          <a:xfrm>
            <a:off x="9078346" y="2584980"/>
            <a:ext cx="299557" cy="15096"/>
          </a:xfrm>
          <a:prstGeom prst="rect">
            <a:avLst/>
          </a:prstGeom>
          <a:solidFill>
            <a:srgbClr val="EDC948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Rectangle 231"/>
          <p:cNvSpPr/>
          <p:nvPr/>
        </p:nvSpPr>
        <p:spPr>
          <a:xfrm>
            <a:off x="9078346" y="2569903"/>
            <a:ext cx="299557" cy="15077"/>
          </a:xfrm>
          <a:prstGeom prst="rect">
            <a:avLst/>
          </a:prstGeom>
          <a:solidFill>
            <a:srgbClr val="B07AA1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Rectangle 232"/>
          <p:cNvSpPr/>
          <p:nvPr/>
        </p:nvSpPr>
        <p:spPr>
          <a:xfrm>
            <a:off x="9078346" y="1218874"/>
            <a:ext cx="299557" cy="1351028"/>
          </a:xfrm>
          <a:prstGeom prst="rect">
            <a:avLst/>
          </a:prstGeom>
          <a:solidFill>
            <a:srgbClr val="FF9DA7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Rectangle 233"/>
          <p:cNvSpPr/>
          <p:nvPr/>
        </p:nvSpPr>
        <p:spPr>
          <a:xfrm>
            <a:off x="9078346" y="1203797"/>
            <a:ext cx="299557" cy="15077"/>
          </a:xfrm>
          <a:prstGeom prst="rect">
            <a:avLst/>
          </a:prstGeom>
          <a:solidFill>
            <a:srgbClr val="9C755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Rectangle 234"/>
          <p:cNvSpPr/>
          <p:nvPr/>
        </p:nvSpPr>
        <p:spPr>
          <a:xfrm>
            <a:off x="9078346" y="1188720"/>
            <a:ext cx="299557" cy="15077"/>
          </a:xfrm>
          <a:prstGeom prst="rect">
            <a:avLst/>
          </a:prstGeom>
          <a:solidFill>
            <a:srgbClr val="BAB0AC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TextBox 235"/>
          <p:cNvSpPr txBox="1"/>
          <p:nvPr/>
        </p:nvSpPr>
        <p:spPr>
          <a:xfrm>
            <a:off x="9014155" y="5797296"/>
            <a:ext cx="427939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pre</a:t>
            </a:r>
          </a:p>
        </p:txBody>
      </p:sp>
      <p:sp>
        <p:nvSpPr>
          <p:cNvPr id="237" name="Rectangle 236"/>
          <p:cNvSpPr/>
          <p:nvPr/>
        </p:nvSpPr>
        <p:spPr>
          <a:xfrm>
            <a:off x="9506285" y="2428648"/>
            <a:ext cx="299557" cy="3332072"/>
          </a:xfrm>
          <a:prstGeom prst="rect">
            <a:avLst/>
          </a:prstGeom>
          <a:solidFill>
            <a:srgbClr val="4E79A7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Rectangle 237"/>
          <p:cNvSpPr/>
          <p:nvPr/>
        </p:nvSpPr>
        <p:spPr>
          <a:xfrm>
            <a:off x="9506285" y="2412461"/>
            <a:ext cx="299557" cy="16187"/>
          </a:xfrm>
          <a:prstGeom prst="rect">
            <a:avLst/>
          </a:prstGeom>
          <a:solidFill>
            <a:srgbClr val="F28E2B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Rectangle 238"/>
          <p:cNvSpPr/>
          <p:nvPr/>
        </p:nvSpPr>
        <p:spPr>
          <a:xfrm>
            <a:off x="9506285" y="2396274"/>
            <a:ext cx="299557" cy="16187"/>
          </a:xfrm>
          <a:prstGeom prst="rect">
            <a:avLst/>
          </a:prstGeom>
          <a:solidFill>
            <a:srgbClr val="E15759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Rectangle 239"/>
          <p:cNvSpPr/>
          <p:nvPr/>
        </p:nvSpPr>
        <p:spPr>
          <a:xfrm>
            <a:off x="9506285" y="2380087"/>
            <a:ext cx="299557" cy="16187"/>
          </a:xfrm>
          <a:prstGeom prst="rect">
            <a:avLst/>
          </a:prstGeom>
          <a:solidFill>
            <a:srgbClr val="76B7B2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Rectangle 240"/>
          <p:cNvSpPr/>
          <p:nvPr/>
        </p:nvSpPr>
        <p:spPr>
          <a:xfrm>
            <a:off x="9506285" y="2361282"/>
            <a:ext cx="299557" cy="18806"/>
          </a:xfrm>
          <a:prstGeom prst="rect">
            <a:avLst/>
          </a:prstGeom>
          <a:solidFill>
            <a:srgbClr val="59A14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Rectangle 241"/>
          <p:cNvSpPr/>
          <p:nvPr/>
        </p:nvSpPr>
        <p:spPr>
          <a:xfrm>
            <a:off x="9506285" y="2345077"/>
            <a:ext cx="299557" cy="16205"/>
          </a:xfrm>
          <a:prstGeom prst="rect">
            <a:avLst/>
          </a:prstGeom>
          <a:solidFill>
            <a:srgbClr val="EDC948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Rectangle 242"/>
          <p:cNvSpPr/>
          <p:nvPr/>
        </p:nvSpPr>
        <p:spPr>
          <a:xfrm>
            <a:off x="9506285" y="2328890"/>
            <a:ext cx="299557" cy="16187"/>
          </a:xfrm>
          <a:prstGeom prst="rect">
            <a:avLst/>
          </a:prstGeom>
          <a:solidFill>
            <a:srgbClr val="B07AA1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Rectangle 243"/>
          <p:cNvSpPr/>
          <p:nvPr/>
        </p:nvSpPr>
        <p:spPr>
          <a:xfrm>
            <a:off x="9506285" y="1221094"/>
            <a:ext cx="299557" cy="1107796"/>
          </a:xfrm>
          <a:prstGeom prst="rect">
            <a:avLst/>
          </a:prstGeom>
          <a:solidFill>
            <a:srgbClr val="FF9DA7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Rectangle 244"/>
          <p:cNvSpPr/>
          <p:nvPr/>
        </p:nvSpPr>
        <p:spPr>
          <a:xfrm>
            <a:off x="9506285" y="1204907"/>
            <a:ext cx="299557" cy="16187"/>
          </a:xfrm>
          <a:prstGeom prst="rect">
            <a:avLst/>
          </a:prstGeom>
          <a:solidFill>
            <a:srgbClr val="9C755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Rectangle 245"/>
          <p:cNvSpPr/>
          <p:nvPr/>
        </p:nvSpPr>
        <p:spPr>
          <a:xfrm>
            <a:off x="9506285" y="1188720"/>
            <a:ext cx="299557" cy="16187"/>
          </a:xfrm>
          <a:prstGeom prst="rect">
            <a:avLst/>
          </a:prstGeom>
          <a:solidFill>
            <a:srgbClr val="BAB0AC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TextBox 246"/>
          <p:cNvSpPr txBox="1"/>
          <p:nvPr/>
        </p:nvSpPr>
        <p:spPr>
          <a:xfrm>
            <a:off x="9442094" y="5797296"/>
            <a:ext cx="427939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post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9142537" y="5961888"/>
            <a:ext cx="599115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 i="0">
                <a:solidFill>
                  <a:srgbClr val="C53E1F"/>
                </a:solidFill>
                <a:latin typeface="Arial"/>
              </a:rPr>
              <a:t>s11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9934224" y="5704165"/>
            <a:ext cx="299557" cy="56555"/>
          </a:xfrm>
          <a:prstGeom prst="rect">
            <a:avLst/>
          </a:prstGeom>
          <a:solidFill>
            <a:srgbClr val="4E79A7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Rectangle 249"/>
          <p:cNvSpPr/>
          <p:nvPr/>
        </p:nvSpPr>
        <p:spPr>
          <a:xfrm>
            <a:off x="9934224" y="5683205"/>
            <a:ext cx="299557" cy="20960"/>
          </a:xfrm>
          <a:prstGeom prst="rect">
            <a:avLst/>
          </a:prstGeom>
          <a:solidFill>
            <a:srgbClr val="F28E2B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Rectangle 250"/>
          <p:cNvSpPr/>
          <p:nvPr/>
        </p:nvSpPr>
        <p:spPr>
          <a:xfrm>
            <a:off x="9934224" y="5662244"/>
            <a:ext cx="299557" cy="20960"/>
          </a:xfrm>
          <a:prstGeom prst="rect">
            <a:avLst/>
          </a:prstGeom>
          <a:solidFill>
            <a:srgbClr val="E15759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Rectangle 251"/>
          <p:cNvSpPr/>
          <p:nvPr/>
        </p:nvSpPr>
        <p:spPr>
          <a:xfrm>
            <a:off x="9934224" y="1628251"/>
            <a:ext cx="299557" cy="4033993"/>
          </a:xfrm>
          <a:prstGeom prst="rect">
            <a:avLst/>
          </a:prstGeom>
          <a:solidFill>
            <a:srgbClr val="76B7B2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Rectangle 252"/>
          <p:cNvSpPr/>
          <p:nvPr/>
        </p:nvSpPr>
        <p:spPr>
          <a:xfrm>
            <a:off x="9934224" y="1607291"/>
            <a:ext cx="299557" cy="20960"/>
          </a:xfrm>
          <a:prstGeom prst="rect">
            <a:avLst/>
          </a:prstGeom>
          <a:solidFill>
            <a:srgbClr val="59A14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Rectangle 253"/>
          <p:cNvSpPr/>
          <p:nvPr/>
        </p:nvSpPr>
        <p:spPr>
          <a:xfrm>
            <a:off x="9934224" y="1586330"/>
            <a:ext cx="299557" cy="20960"/>
          </a:xfrm>
          <a:prstGeom prst="rect">
            <a:avLst/>
          </a:prstGeom>
          <a:solidFill>
            <a:srgbClr val="EDC948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Rectangle 254"/>
          <p:cNvSpPr/>
          <p:nvPr/>
        </p:nvSpPr>
        <p:spPr>
          <a:xfrm>
            <a:off x="9934224" y="1565370"/>
            <a:ext cx="299557" cy="20960"/>
          </a:xfrm>
          <a:prstGeom prst="rect">
            <a:avLst/>
          </a:prstGeom>
          <a:solidFill>
            <a:srgbClr val="B07AA1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Rectangle 255"/>
          <p:cNvSpPr/>
          <p:nvPr/>
        </p:nvSpPr>
        <p:spPr>
          <a:xfrm>
            <a:off x="9934224" y="1230641"/>
            <a:ext cx="299557" cy="334729"/>
          </a:xfrm>
          <a:prstGeom prst="rect">
            <a:avLst/>
          </a:prstGeom>
          <a:solidFill>
            <a:srgbClr val="FF9DA7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Rectangle 256"/>
          <p:cNvSpPr/>
          <p:nvPr/>
        </p:nvSpPr>
        <p:spPr>
          <a:xfrm>
            <a:off x="9934224" y="1209680"/>
            <a:ext cx="299557" cy="20960"/>
          </a:xfrm>
          <a:prstGeom prst="rect">
            <a:avLst/>
          </a:prstGeom>
          <a:solidFill>
            <a:srgbClr val="9C755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Rectangle 257"/>
          <p:cNvSpPr/>
          <p:nvPr/>
        </p:nvSpPr>
        <p:spPr>
          <a:xfrm>
            <a:off x="9934224" y="1188720"/>
            <a:ext cx="299557" cy="20960"/>
          </a:xfrm>
          <a:prstGeom prst="rect">
            <a:avLst/>
          </a:prstGeom>
          <a:solidFill>
            <a:srgbClr val="BAB0AC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TextBox 258"/>
          <p:cNvSpPr txBox="1"/>
          <p:nvPr/>
        </p:nvSpPr>
        <p:spPr>
          <a:xfrm>
            <a:off x="9870034" y="5797296"/>
            <a:ext cx="427939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pre</a:t>
            </a:r>
          </a:p>
        </p:txBody>
      </p:sp>
      <p:sp>
        <p:nvSpPr>
          <p:cNvPr id="260" name="Rectangle 259"/>
          <p:cNvSpPr/>
          <p:nvPr/>
        </p:nvSpPr>
        <p:spPr>
          <a:xfrm>
            <a:off x="10362164" y="5684048"/>
            <a:ext cx="299557" cy="76672"/>
          </a:xfrm>
          <a:prstGeom prst="rect">
            <a:avLst/>
          </a:prstGeom>
          <a:solidFill>
            <a:srgbClr val="4E79A7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Rectangle 260"/>
          <p:cNvSpPr/>
          <p:nvPr/>
        </p:nvSpPr>
        <p:spPr>
          <a:xfrm>
            <a:off x="10362164" y="5628703"/>
            <a:ext cx="299557" cy="55345"/>
          </a:xfrm>
          <a:prstGeom prst="rect">
            <a:avLst/>
          </a:prstGeom>
          <a:solidFill>
            <a:srgbClr val="F28E2B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Rectangle 261"/>
          <p:cNvSpPr/>
          <p:nvPr/>
        </p:nvSpPr>
        <p:spPr>
          <a:xfrm>
            <a:off x="10362164" y="5573358"/>
            <a:ext cx="299557" cy="55345"/>
          </a:xfrm>
          <a:prstGeom prst="rect">
            <a:avLst/>
          </a:prstGeom>
          <a:solidFill>
            <a:srgbClr val="E15759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Rectangle 262"/>
          <p:cNvSpPr/>
          <p:nvPr/>
        </p:nvSpPr>
        <p:spPr>
          <a:xfrm>
            <a:off x="10362164" y="2131550"/>
            <a:ext cx="299557" cy="3441808"/>
          </a:xfrm>
          <a:prstGeom prst="rect">
            <a:avLst/>
          </a:prstGeom>
          <a:solidFill>
            <a:srgbClr val="76B7B2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Rectangle 263"/>
          <p:cNvSpPr/>
          <p:nvPr/>
        </p:nvSpPr>
        <p:spPr>
          <a:xfrm>
            <a:off x="10362164" y="2076205"/>
            <a:ext cx="299557" cy="55345"/>
          </a:xfrm>
          <a:prstGeom prst="rect">
            <a:avLst/>
          </a:prstGeom>
          <a:solidFill>
            <a:srgbClr val="59A14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Rectangle 264"/>
          <p:cNvSpPr/>
          <p:nvPr/>
        </p:nvSpPr>
        <p:spPr>
          <a:xfrm>
            <a:off x="10362164" y="2020860"/>
            <a:ext cx="299557" cy="55345"/>
          </a:xfrm>
          <a:prstGeom prst="rect">
            <a:avLst/>
          </a:prstGeom>
          <a:solidFill>
            <a:srgbClr val="EDC948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Rectangle 265"/>
          <p:cNvSpPr/>
          <p:nvPr/>
        </p:nvSpPr>
        <p:spPr>
          <a:xfrm>
            <a:off x="10362164" y="1965514"/>
            <a:ext cx="299557" cy="55345"/>
          </a:xfrm>
          <a:prstGeom prst="rect">
            <a:avLst/>
          </a:prstGeom>
          <a:solidFill>
            <a:srgbClr val="B07AA1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Rectangle 266"/>
          <p:cNvSpPr/>
          <p:nvPr/>
        </p:nvSpPr>
        <p:spPr>
          <a:xfrm>
            <a:off x="10362164" y="1299410"/>
            <a:ext cx="299557" cy="666104"/>
          </a:xfrm>
          <a:prstGeom prst="rect">
            <a:avLst/>
          </a:prstGeom>
          <a:solidFill>
            <a:srgbClr val="FF9DA7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Rectangle 267"/>
          <p:cNvSpPr/>
          <p:nvPr/>
        </p:nvSpPr>
        <p:spPr>
          <a:xfrm>
            <a:off x="10362164" y="1244065"/>
            <a:ext cx="299557" cy="55345"/>
          </a:xfrm>
          <a:prstGeom prst="rect">
            <a:avLst/>
          </a:prstGeom>
          <a:solidFill>
            <a:srgbClr val="9C755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Rectangle 268"/>
          <p:cNvSpPr/>
          <p:nvPr/>
        </p:nvSpPr>
        <p:spPr>
          <a:xfrm>
            <a:off x="10362164" y="1188720"/>
            <a:ext cx="299557" cy="55345"/>
          </a:xfrm>
          <a:prstGeom prst="rect">
            <a:avLst/>
          </a:prstGeom>
          <a:solidFill>
            <a:srgbClr val="BAB0AC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TextBox 269"/>
          <p:cNvSpPr txBox="1"/>
          <p:nvPr/>
        </p:nvSpPr>
        <p:spPr>
          <a:xfrm>
            <a:off x="10297973" y="5797296"/>
            <a:ext cx="427939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post</a:t>
            </a:r>
          </a:p>
        </p:txBody>
      </p:sp>
      <p:sp>
        <p:nvSpPr>
          <p:cNvPr id="271" name="TextBox 270"/>
          <p:cNvSpPr txBox="1"/>
          <p:nvPr/>
        </p:nvSpPr>
        <p:spPr>
          <a:xfrm>
            <a:off x="9998415" y="5961888"/>
            <a:ext cx="599115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 i="0">
                <a:solidFill>
                  <a:srgbClr val="C53E1F"/>
                </a:solidFill>
                <a:latin typeface="Arial"/>
              </a:rPr>
              <a:t>s12</a:t>
            </a:r>
          </a:p>
        </p:txBody>
      </p:sp>
      <p:sp>
        <p:nvSpPr>
          <p:cNvPr id="272" name="Rectangle 271"/>
          <p:cNvSpPr/>
          <p:nvPr/>
        </p:nvSpPr>
        <p:spPr>
          <a:xfrm>
            <a:off x="10790103" y="5757391"/>
            <a:ext cx="299557" cy="3329"/>
          </a:xfrm>
          <a:prstGeom prst="rect">
            <a:avLst/>
          </a:prstGeom>
          <a:solidFill>
            <a:srgbClr val="4E79A7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Rectangle 272"/>
          <p:cNvSpPr/>
          <p:nvPr/>
        </p:nvSpPr>
        <p:spPr>
          <a:xfrm>
            <a:off x="10790103" y="5742396"/>
            <a:ext cx="299557" cy="14995"/>
          </a:xfrm>
          <a:prstGeom prst="rect">
            <a:avLst/>
          </a:prstGeom>
          <a:solidFill>
            <a:srgbClr val="F28E2B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Rectangle 273"/>
          <p:cNvSpPr/>
          <p:nvPr/>
        </p:nvSpPr>
        <p:spPr>
          <a:xfrm>
            <a:off x="10790103" y="5739067"/>
            <a:ext cx="299557" cy="3329"/>
          </a:xfrm>
          <a:prstGeom prst="rect">
            <a:avLst/>
          </a:prstGeom>
          <a:solidFill>
            <a:srgbClr val="E15759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Rectangle 274"/>
          <p:cNvSpPr/>
          <p:nvPr/>
        </p:nvSpPr>
        <p:spPr>
          <a:xfrm>
            <a:off x="10790103" y="2259552"/>
            <a:ext cx="299557" cy="3479515"/>
          </a:xfrm>
          <a:prstGeom prst="rect">
            <a:avLst/>
          </a:prstGeom>
          <a:solidFill>
            <a:srgbClr val="76B7B2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Rectangle 275"/>
          <p:cNvSpPr/>
          <p:nvPr/>
        </p:nvSpPr>
        <p:spPr>
          <a:xfrm>
            <a:off x="10790103" y="2256223"/>
            <a:ext cx="299557" cy="3329"/>
          </a:xfrm>
          <a:prstGeom prst="rect">
            <a:avLst/>
          </a:prstGeom>
          <a:solidFill>
            <a:srgbClr val="59A14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Rectangle 276"/>
          <p:cNvSpPr/>
          <p:nvPr/>
        </p:nvSpPr>
        <p:spPr>
          <a:xfrm>
            <a:off x="10790103" y="2252894"/>
            <a:ext cx="299557" cy="3329"/>
          </a:xfrm>
          <a:prstGeom prst="rect">
            <a:avLst/>
          </a:prstGeom>
          <a:solidFill>
            <a:srgbClr val="EDC948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Rectangle 277"/>
          <p:cNvSpPr/>
          <p:nvPr/>
        </p:nvSpPr>
        <p:spPr>
          <a:xfrm>
            <a:off x="10790103" y="2249565"/>
            <a:ext cx="299557" cy="3329"/>
          </a:xfrm>
          <a:prstGeom prst="rect">
            <a:avLst/>
          </a:prstGeom>
          <a:solidFill>
            <a:srgbClr val="B07AA1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Rectangle 278"/>
          <p:cNvSpPr/>
          <p:nvPr/>
        </p:nvSpPr>
        <p:spPr>
          <a:xfrm>
            <a:off x="10790103" y="2246235"/>
            <a:ext cx="299557" cy="3330"/>
          </a:xfrm>
          <a:prstGeom prst="rect">
            <a:avLst/>
          </a:prstGeom>
          <a:solidFill>
            <a:srgbClr val="FF9DA7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Rectangle 279"/>
          <p:cNvSpPr/>
          <p:nvPr/>
        </p:nvSpPr>
        <p:spPr>
          <a:xfrm>
            <a:off x="10790103" y="2242906"/>
            <a:ext cx="299557" cy="3329"/>
          </a:xfrm>
          <a:prstGeom prst="rect">
            <a:avLst/>
          </a:prstGeom>
          <a:solidFill>
            <a:srgbClr val="9C755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Rectangle 280"/>
          <p:cNvSpPr/>
          <p:nvPr/>
        </p:nvSpPr>
        <p:spPr>
          <a:xfrm>
            <a:off x="10790103" y="1188720"/>
            <a:ext cx="299557" cy="1054186"/>
          </a:xfrm>
          <a:prstGeom prst="rect">
            <a:avLst/>
          </a:prstGeom>
          <a:solidFill>
            <a:srgbClr val="BAB0AC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TextBox 281"/>
          <p:cNvSpPr txBox="1"/>
          <p:nvPr/>
        </p:nvSpPr>
        <p:spPr>
          <a:xfrm>
            <a:off x="10725912" y="5797296"/>
            <a:ext cx="427939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pre</a:t>
            </a:r>
          </a:p>
        </p:txBody>
      </p:sp>
      <p:sp>
        <p:nvSpPr>
          <p:cNvPr id="283" name="Rectangle 282"/>
          <p:cNvSpPr/>
          <p:nvPr/>
        </p:nvSpPr>
        <p:spPr>
          <a:xfrm>
            <a:off x="11218042" y="5757397"/>
            <a:ext cx="299557" cy="3323"/>
          </a:xfrm>
          <a:prstGeom prst="rect">
            <a:avLst/>
          </a:prstGeom>
          <a:solidFill>
            <a:srgbClr val="4E79A7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ectangle 283"/>
          <p:cNvSpPr/>
          <p:nvPr/>
        </p:nvSpPr>
        <p:spPr>
          <a:xfrm>
            <a:off x="11218042" y="5744654"/>
            <a:ext cx="299557" cy="12743"/>
          </a:xfrm>
          <a:prstGeom prst="rect">
            <a:avLst/>
          </a:prstGeom>
          <a:solidFill>
            <a:srgbClr val="F28E2B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Rectangle 284"/>
          <p:cNvSpPr/>
          <p:nvPr/>
        </p:nvSpPr>
        <p:spPr>
          <a:xfrm>
            <a:off x="11218042" y="5741331"/>
            <a:ext cx="299557" cy="3323"/>
          </a:xfrm>
          <a:prstGeom prst="rect">
            <a:avLst/>
          </a:prstGeom>
          <a:solidFill>
            <a:srgbClr val="E15759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Rectangle 285"/>
          <p:cNvSpPr/>
          <p:nvPr/>
        </p:nvSpPr>
        <p:spPr>
          <a:xfrm>
            <a:off x="11218042" y="2260055"/>
            <a:ext cx="299557" cy="3481277"/>
          </a:xfrm>
          <a:prstGeom prst="rect">
            <a:avLst/>
          </a:prstGeom>
          <a:solidFill>
            <a:srgbClr val="76B7B2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Rectangle 286"/>
          <p:cNvSpPr/>
          <p:nvPr/>
        </p:nvSpPr>
        <p:spPr>
          <a:xfrm>
            <a:off x="11218042" y="2256732"/>
            <a:ext cx="299557" cy="3323"/>
          </a:xfrm>
          <a:prstGeom prst="rect">
            <a:avLst/>
          </a:prstGeom>
          <a:solidFill>
            <a:srgbClr val="59A14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Rectangle 287"/>
          <p:cNvSpPr/>
          <p:nvPr/>
        </p:nvSpPr>
        <p:spPr>
          <a:xfrm>
            <a:off x="11218042" y="2253409"/>
            <a:ext cx="299557" cy="3323"/>
          </a:xfrm>
          <a:prstGeom prst="rect">
            <a:avLst/>
          </a:prstGeom>
          <a:solidFill>
            <a:srgbClr val="EDC948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Rectangle 288"/>
          <p:cNvSpPr/>
          <p:nvPr/>
        </p:nvSpPr>
        <p:spPr>
          <a:xfrm>
            <a:off x="11218042" y="2250086"/>
            <a:ext cx="299557" cy="3323"/>
          </a:xfrm>
          <a:prstGeom prst="rect">
            <a:avLst/>
          </a:prstGeom>
          <a:solidFill>
            <a:srgbClr val="B07AA1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Rectangle 289"/>
          <p:cNvSpPr/>
          <p:nvPr/>
        </p:nvSpPr>
        <p:spPr>
          <a:xfrm>
            <a:off x="11218042" y="2246762"/>
            <a:ext cx="299557" cy="3324"/>
          </a:xfrm>
          <a:prstGeom prst="rect">
            <a:avLst/>
          </a:prstGeom>
          <a:solidFill>
            <a:srgbClr val="FF9DA7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Rectangle 290"/>
          <p:cNvSpPr/>
          <p:nvPr/>
        </p:nvSpPr>
        <p:spPr>
          <a:xfrm>
            <a:off x="11218042" y="2243439"/>
            <a:ext cx="299557" cy="3323"/>
          </a:xfrm>
          <a:prstGeom prst="rect">
            <a:avLst/>
          </a:prstGeom>
          <a:solidFill>
            <a:srgbClr val="9C755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Rectangle 291"/>
          <p:cNvSpPr/>
          <p:nvPr/>
        </p:nvSpPr>
        <p:spPr>
          <a:xfrm>
            <a:off x="11218042" y="1188720"/>
            <a:ext cx="299557" cy="1054719"/>
          </a:xfrm>
          <a:prstGeom prst="rect">
            <a:avLst/>
          </a:prstGeom>
          <a:solidFill>
            <a:srgbClr val="BAB0AC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TextBox 292"/>
          <p:cNvSpPr txBox="1"/>
          <p:nvPr/>
        </p:nvSpPr>
        <p:spPr>
          <a:xfrm>
            <a:off x="11153851" y="5797296"/>
            <a:ext cx="427939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post</a:t>
            </a:r>
          </a:p>
        </p:txBody>
      </p:sp>
      <p:sp>
        <p:nvSpPr>
          <p:cNvPr id="294" name="TextBox 293"/>
          <p:cNvSpPr txBox="1"/>
          <p:nvPr/>
        </p:nvSpPr>
        <p:spPr>
          <a:xfrm>
            <a:off x="10854294" y="5961888"/>
            <a:ext cx="599115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 i="0">
                <a:solidFill>
                  <a:srgbClr val="C53E1F"/>
                </a:solidFill>
                <a:latin typeface="Arial"/>
              </a:rPr>
              <a:t>s13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28600"/>
            <a:ext cx="411480" cy="4114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222222"/>
                </a:solidFill>
                <a:latin typeface="Arial"/>
              </a:rPr>
              <a:t>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20040"/>
            <a:ext cx="1051560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222222"/>
                </a:solidFill>
                <a:latin typeface="Arial"/>
              </a:rPr>
              <a:t>Dominant-clone shrinkage Δ by response (n = 12 paired; clonal_summary.tsv)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657600" y="5943600"/>
            <a:ext cx="4572000" cy="0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657600" y="1371600"/>
            <a:ext cx="0" cy="4572000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8229600" y="1371600"/>
            <a:ext cx="0" cy="4572000"/>
          </a:xfrm>
          <a:prstGeom prst="line">
            <a:avLst/>
          </a:prstGeom>
          <a:ln w="635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657600" y="1371600"/>
            <a:ext cx="4572000" cy="0"/>
          </a:xfrm>
          <a:prstGeom prst="line">
            <a:avLst/>
          </a:prstGeom>
          <a:ln w="635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593592" y="594360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154680" y="586130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-0.87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593592" y="502920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154680" y="494690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-0.68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593592" y="411480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154680" y="403250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-0.48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593592" y="320040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154680" y="311810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-0.29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93592" y="228600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154680" y="220370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-0.09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593592" y="137160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3154680" y="128930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0.10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88920" y="2651760"/>
            <a:ext cx="365760" cy="20116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222222"/>
                </a:solidFill>
                <a:latin typeface="Arial"/>
              </a:rPr>
              <a:t>Δ dominant-clone CCF (post − pre)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657600" y="1862276"/>
            <a:ext cx="4572000" cy="0"/>
          </a:xfrm>
          <a:prstGeom prst="line">
            <a:avLst/>
          </a:prstGeom>
          <a:ln w="8890">
            <a:solidFill>
              <a:srgbClr val="BBBBB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4800600" y="1839803"/>
            <a:ext cx="0" cy="3635594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594860" y="5475397"/>
            <a:ext cx="411480" cy="0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594860" y="1839803"/>
            <a:ext cx="411480" cy="0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4389120" y="5445432"/>
            <a:ext cx="822960" cy="1"/>
          </a:xfrm>
          <a:prstGeom prst="rect">
            <a:avLst/>
          </a:prstGeom>
          <a:noFill/>
          <a:ln w="1016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4389120" y="5016559"/>
            <a:ext cx="822960" cy="0"/>
          </a:xfrm>
          <a:prstGeom prst="line">
            <a:avLst/>
          </a:prstGeom>
          <a:ln w="3175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4936010" y="1807799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914733" y="2713303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792663" y="4984555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758072" y="5413428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973530" y="5443393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86200" y="6035040"/>
            <a:ext cx="182880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A7D6E"/>
                </a:solidFill>
                <a:latin typeface="Arial"/>
              </a:rPr>
              <a:t>good (n=5)</a:t>
            </a:r>
          </a:p>
        </p:txBody>
      </p:sp>
      <p:cxnSp>
        <p:nvCxnSpPr>
          <p:cNvPr id="33" name="Connector 32"/>
          <p:cNvCxnSpPr/>
          <p:nvPr/>
        </p:nvCxnSpPr>
        <p:spPr>
          <a:xfrm flipV="1">
            <a:off x="7086600" y="2082800"/>
            <a:ext cx="0" cy="3324240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6880860" y="5407040"/>
            <a:ext cx="411480" cy="0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6880860" y="2082800"/>
            <a:ext cx="411480" cy="0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6675120" y="4513006"/>
            <a:ext cx="822960" cy="1"/>
          </a:xfrm>
          <a:prstGeom prst="rect">
            <a:avLst/>
          </a:prstGeom>
          <a:noFill/>
          <a:ln w="1016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6675120" y="2584713"/>
            <a:ext cx="822960" cy="0"/>
          </a:xfrm>
          <a:prstGeom prst="line">
            <a:avLst/>
          </a:prstGeom>
          <a:ln w="3175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Oval 37"/>
          <p:cNvSpPr/>
          <p:nvPr/>
        </p:nvSpPr>
        <p:spPr>
          <a:xfrm>
            <a:off x="7030191" y="2050796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115722" y="2207176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987300" y="2295666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979099" y="2552709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995306" y="4077178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7015703" y="4884827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978222" y="5375036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72200" y="6035040"/>
            <a:ext cx="182880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C53E1F"/>
                </a:solidFill>
                <a:latin typeface="Arial"/>
              </a:rPr>
              <a:t>bad (n=7)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0" y="822960"/>
            <a:ext cx="45720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1">
                <a:solidFill>
                  <a:srgbClr val="222222"/>
                </a:solidFill>
                <a:latin typeface="Arial"/>
              </a:rPr>
              <a:t>Mann–Whitney P = 0.34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28600"/>
            <a:ext cx="411480" cy="4114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222222"/>
                </a:solidFill>
                <a:latin typeface="Arial"/>
              </a:rPr>
              <a:t>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20040"/>
            <a:ext cx="1051560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222222"/>
                </a:solidFill>
                <a:latin typeface="Arial"/>
              </a:rPr>
              <a:t>Shrink vs expand scatter per subject (dominant_shrink vs dominant_expand Δ)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00400" y="6035040"/>
            <a:ext cx="5943600" cy="0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00400" y="1188720"/>
            <a:ext cx="0" cy="4846320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144000" y="1188720"/>
            <a:ext cx="0" cy="4846320"/>
          </a:xfrm>
          <a:prstGeom prst="line">
            <a:avLst/>
          </a:prstGeom>
          <a:ln w="635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200400" y="1188720"/>
            <a:ext cx="5943600" cy="0"/>
          </a:xfrm>
          <a:prstGeom prst="line">
            <a:avLst/>
          </a:prstGeom>
          <a:ln w="635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136392" y="603504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697480" y="595274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-0.53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136392" y="482346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697480" y="474116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-0.32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136392" y="361188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697480" y="352958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-0.10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136392" y="240030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2697480" y="231800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0.11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136392" y="118872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2697480" y="110642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0.32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200400" y="6035040"/>
            <a:ext cx="0" cy="64008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2834640" y="6089904"/>
            <a:ext cx="7315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>
                <a:solidFill>
                  <a:srgbClr val="222222"/>
                </a:solidFill>
                <a:latin typeface="Arial"/>
              </a:rPr>
              <a:t>-0.87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686300" y="6035040"/>
            <a:ext cx="0" cy="64008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320540" y="6089904"/>
            <a:ext cx="7315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>
                <a:solidFill>
                  <a:srgbClr val="222222"/>
                </a:solidFill>
                <a:latin typeface="Arial"/>
              </a:rPr>
              <a:t>-0.63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172200" y="6035040"/>
            <a:ext cx="0" cy="64008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806440" y="6089904"/>
            <a:ext cx="7315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>
                <a:solidFill>
                  <a:srgbClr val="222222"/>
                </a:solidFill>
                <a:latin typeface="Arial"/>
              </a:rPr>
              <a:t>-0.38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658100" y="6035040"/>
            <a:ext cx="0" cy="64008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292340" y="6089904"/>
            <a:ext cx="7315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>
                <a:solidFill>
                  <a:srgbClr val="222222"/>
                </a:solidFill>
                <a:latin typeface="Arial"/>
              </a:rPr>
              <a:t>-0.14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144000" y="6035040"/>
            <a:ext cx="0" cy="64008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778240" y="6089904"/>
            <a:ext cx="7315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>
                <a:solidFill>
                  <a:srgbClr val="222222"/>
                </a:solidFill>
                <a:latin typeface="Arial"/>
              </a:rPr>
              <a:t>0.10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6382512"/>
            <a:ext cx="594360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222222"/>
                </a:solidFill>
                <a:latin typeface="Arial"/>
              </a:rPr>
              <a:t>dominant_shrink 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31720" y="2606040"/>
            <a:ext cx="365760" cy="20116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222222"/>
                </a:solidFill>
                <a:latin typeface="Arial"/>
              </a:rPr>
              <a:t>dominant_expand Δ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506121" y="1188720"/>
            <a:ext cx="0" cy="4846320"/>
          </a:xfrm>
          <a:prstGeom prst="line">
            <a:avLst/>
          </a:prstGeom>
          <a:ln w="6350">
            <a:solidFill>
              <a:srgbClr val="BBBBB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3200400" y="3007098"/>
            <a:ext cx="5943600" cy="0"/>
          </a:xfrm>
          <a:prstGeom prst="line">
            <a:avLst/>
          </a:prstGeom>
          <a:ln w="6350">
            <a:solidFill>
              <a:srgbClr val="BBBBB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Oval 31"/>
          <p:cNvSpPr/>
          <p:nvPr/>
        </p:nvSpPr>
        <p:spPr>
          <a:xfrm>
            <a:off x="5511992" y="4014490"/>
            <a:ext cx="146304" cy="146304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58296" y="4005346"/>
            <a:ext cx="457200" cy="1371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C53E1F"/>
                </a:solidFill>
                <a:latin typeface="Arial"/>
              </a:rPr>
              <a:t>s1</a:t>
            </a:r>
          </a:p>
        </p:txBody>
      </p:sp>
      <p:sp>
        <p:nvSpPr>
          <p:cNvPr id="34" name="Oval 33"/>
          <p:cNvSpPr/>
          <p:nvPr/>
        </p:nvSpPr>
        <p:spPr>
          <a:xfrm>
            <a:off x="7827957" y="2947194"/>
            <a:ext cx="146304" cy="146304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974261" y="2938050"/>
            <a:ext cx="457200" cy="1371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C53E1F"/>
                </a:solidFill>
                <a:latin typeface="Arial"/>
              </a:rPr>
              <a:t>s10</a:t>
            </a:r>
          </a:p>
        </p:txBody>
      </p:sp>
      <p:sp>
        <p:nvSpPr>
          <p:cNvPr id="36" name="Oval 35"/>
          <p:cNvSpPr/>
          <p:nvPr/>
        </p:nvSpPr>
        <p:spPr>
          <a:xfrm>
            <a:off x="7493801" y="2774399"/>
            <a:ext cx="146304" cy="146304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40105" y="2765255"/>
            <a:ext cx="457200" cy="1371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C53E1F"/>
                </a:solidFill>
                <a:latin typeface="Arial"/>
              </a:rPr>
              <a:t>s11</a:t>
            </a:r>
          </a:p>
        </p:txBody>
      </p:sp>
      <p:sp>
        <p:nvSpPr>
          <p:cNvPr id="38" name="Oval 37"/>
          <p:cNvSpPr/>
          <p:nvPr/>
        </p:nvSpPr>
        <p:spPr>
          <a:xfrm>
            <a:off x="4462047" y="3994906"/>
            <a:ext cx="146304" cy="146304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08351" y="3985762"/>
            <a:ext cx="457200" cy="1371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C53E1F"/>
                </a:solidFill>
                <a:latin typeface="Arial"/>
              </a:rPr>
              <a:t>s12</a:t>
            </a:r>
          </a:p>
        </p:txBody>
      </p:sp>
      <p:sp>
        <p:nvSpPr>
          <p:cNvPr id="40" name="Oval 39"/>
          <p:cNvSpPr/>
          <p:nvPr/>
        </p:nvSpPr>
        <p:spPr>
          <a:xfrm>
            <a:off x="7942994" y="2933946"/>
            <a:ext cx="146304" cy="146304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089298" y="2924802"/>
            <a:ext cx="457200" cy="1371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C53E1F"/>
                </a:solidFill>
                <a:latin typeface="Arial"/>
              </a:rPr>
              <a:t>s13</a:t>
            </a:r>
          </a:p>
        </p:txBody>
      </p:sp>
      <p:sp>
        <p:nvSpPr>
          <p:cNvPr id="42" name="Oval 41"/>
          <p:cNvSpPr/>
          <p:nvPr/>
        </p:nvSpPr>
        <p:spPr>
          <a:xfrm>
            <a:off x="8462184" y="1691551"/>
            <a:ext cx="146304" cy="146304"/>
          </a:xfrm>
          <a:prstGeom prst="ellipse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08488" y="1682407"/>
            <a:ext cx="457200" cy="1371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0A7D6E"/>
                </a:solidFill>
                <a:latin typeface="Arial"/>
              </a:rPr>
              <a:t>s14</a:t>
            </a:r>
          </a:p>
        </p:txBody>
      </p:sp>
      <p:sp>
        <p:nvSpPr>
          <p:cNvPr id="44" name="Oval 43"/>
          <p:cNvSpPr/>
          <p:nvPr/>
        </p:nvSpPr>
        <p:spPr>
          <a:xfrm>
            <a:off x="7285029" y="4020250"/>
            <a:ext cx="146304" cy="146304"/>
          </a:xfrm>
          <a:prstGeom prst="ellipse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31333" y="4011106"/>
            <a:ext cx="457200" cy="1371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0A7D6E"/>
                </a:solidFill>
                <a:latin typeface="Arial"/>
              </a:rPr>
              <a:t>s2</a:t>
            </a:r>
          </a:p>
        </p:txBody>
      </p:sp>
      <p:sp>
        <p:nvSpPr>
          <p:cNvPr id="46" name="Oval 45"/>
          <p:cNvSpPr/>
          <p:nvPr/>
        </p:nvSpPr>
        <p:spPr>
          <a:xfrm>
            <a:off x="4332402" y="5135353"/>
            <a:ext cx="146304" cy="146304"/>
          </a:xfrm>
          <a:prstGeom prst="ellipse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478706" y="5126209"/>
            <a:ext cx="457200" cy="1371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0A7D6E"/>
                </a:solidFill>
                <a:latin typeface="Arial"/>
              </a:rPr>
              <a:t>s3</a:t>
            </a:r>
          </a:p>
        </p:txBody>
      </p:sp>
      <p:sp>
        <p:nvSpPr>
          <p:cNvPr id="48" name="Oval 47"/>
          <p:cNvSpPr/>
          <p:nvPr/>
        </p:nvSpPr>
        <p:spPr>
          <a:xfrm>
            <a:off x="3824776" y="5385905"/>
            <a:ext cx="146304" cy="146304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971080" y="5376761"/>
            <a:ext cx="457200" cy="1371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C53E1F"/>
                </a:solidFill>
                <a:latin typeface="Arial"/>
              </a:rPr>
              <a:t>s5</a:t>
            </a:r>
          </a:p>
        </p:txBody>
      </p:sp>
      <p:sp>
        <p:nvSpPr>
          <p:cNvPr id="50" name="Oval 49"/>
          <p:cNvSpPr/>
          <p:nvPr/>
        </p:nvSpPr>
        <p:spPr>
          <a:xfrm>
            <a:off x="3735912" y="3019767"/>
            <a:ext cx="146304" cy="146304"/>
          </a:xfrm>
          <a:prstGeom prst="ellipse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882216" y="3010623"/>
            <a:ext cx="457200" cy="1371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0A7D6E"/>
                </a:solidFill>
                <a:latin typeface="Arial"/>
              </a:rPr>
              <a:t>s6</a:t>
            </a:r>
          </a:p>
        </p:txBody>
      </p:sp>
      <p:sp>
        <p:nvSpPr>
          <p:cNvPr id="52" name="Oval 51"/>
          <p:cNvSpPr/>
          <p:nvPr/>
        </p:nvSpPr>
        <p:spPr>
          <a:xfrm>
            <a:off x="8146288" y="3205234"/>
            <a:ext cx="146304" cy="146304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292592" y="3196090"/>
            <a:ext cx="457200" cy="1371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C53E1F"/>
                </a:solidFill>
                <a:latin typeface="Arial"/>
              </a:rPr>
              <a:t>s7</a:t>
            </a:r>
          </a:p>
        </p:txBody>
      </p:sp>
      <p:sp>
        <p:nvSpPr>
          <p:cNvPr id="54" name="Oval 53"/>
          <p:cNvSpPr/>
          <p:nvPr/>
        </p:nvSpPr>
        <p:spPr>
          <a:xfrm>
            <a:off x="3774866" y="2993272"/>
            <a:ext cx="146304" cy="146304"/>
          </a:xfrm>
          <a:prstGeom prst="ellipse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921170" y="2984128"/>
            <a:ext cx="457200" cy="1371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0A7D6E"/>
                </a:solidFill>
                <a:latin typeface="Arial"/>
              </a:rPr>
              <a:t>s9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28600"/>
            <a:ext cx="411480" cy="4114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222222"/>
                </a:solidFill>
                <a:latin typeface="Arial"/>
              </a:rPr>
              <a:t>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20040"/>
            <a:ext cx="1051560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222222"/>
                </a:solidFill>
                <a:latin typeface="Arial"/>
              </a:rPr>
              <a:t>Clone-fate composition per response group (n_shrinking / n_expanding / stable clusters)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00400" y="5760720"/>
            <a:ext cx="5943600" cy="0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00400" y="1188720"/>
            <a:ext cx="0" cy="4572000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144000" y="1188720"/>
            <a:ext cx="0" cy="4572000"/>
          </a:xfrm>
          <a:prstGeom prst="line">
            <a:avLst/>
          </a:prstGeom>
          <a:ln w="635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200400" y="1188720"/>
            <a:ext cx="5943600" cy="0"/>
          </a:xfrm>
          <a:prstGeom prst="line">
            <a:avLst/>
          </a:prstGeom>
          <a:ln w="635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136392" y="576072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697480" y="567842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0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136392" y="484632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697480" y="476402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3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136392" y="393192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697480" y="384962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7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136392" y="301752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2697480" y="293522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10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136392" y="210312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2697480" y="202082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13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136392" y="118872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2697480" y="110642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16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31720" y="2468880"/>
            <a:ext cx="365760" cy="20116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222222"/>
                </a:solidFill>
                <a:latin typeface="Arial"/>
              </a:rPr>
              <a:t>n clusters (summed across subjects)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37660" y="4375265"/>
            <a:ext cx="1097280" cy="1385455"/>
          </a:xfrm>
          <a:prstGeom prst="rect">
            <a:avLst/>
          </a:prstGeom>
          <a:solidFill>
            <a:srgbClr val="0A7D6E"/>
          </a:solidFill>
          <a:ln w="508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37660" y="4976553"/>
            <a:ext cx="10972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37660" y="2989811"/>
            <a:ext cx="1097280" cy="1385455"/>
          </a:xfrm>
          <a:prstGeom prst="rect">
            <a:avLst/>
          </a:prstGeom>
          <a:solidFill>
            <a:srgbClr val="BBBBBB"/>
          </a:solidFill>
          <a:ln w="508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37660" y="3591098"/>
            <a:ext cx="10972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37660" y="2712720"/>
            <a:ext cx="1097280" cy="277091"/>
          </a:xfrm>
          <a:prstGeom prst="rect">
            <a:avLst/>
          </a:prstGeom>
          <a:solidFill>
            <a:srgbClr val="C53E1F"/>
          </a:solidFill>
          <a:ln w="508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37660" y="2759825"/>
            <a:ext cx="10972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37660" y="5833872"/>
            <a:ext cx="109728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0A7D6E"/>
                </a:solidFill>
                <a:latin typeface="Arial"/>
              </a:rPr>
              <a:t>good (n=5)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109460" y="4375265"/>
            <a:ext cx="1097280" cy="1385455"/>
          </a:xfrm>
          <a:prstGeom prst="rect">
            <a:avLst/>
          </a:prstGeom>
          <a:solidFill>
            <a:srgbClr val="0A7D6E"/>
          </a:solidFill>
          <a:ln w="508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09460" y="4976553"/>
            <a:ext cx="10972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09460" y="1604356"/>
            <a:ext cx="1097280" cy="2770909"/>
          </a:xfrm>
          <a:prstGeom prst="rect">
            <a:avLst/>
          </a:prstGeom>
          <a:solidFill>
            <a:srgbClr val="BBBBBB"/>
          </a:solidFill>
          <a:ln w="508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09460" y="2898371"/>
            <a:ext cx="10972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09460" y="5833872"/>
            <a:ext cx="109728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C53E1F"/>
                </a:solidFill>
                <a:latin typeface="Arial"/>
              </a:rPr>
              <a:t>bad (n=7)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0" y="1371600"/>
            <a:ext cx="146304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222222"/>
                </a:solidFill>
                <a:latin typeface="Arial"/>
              </a:rPr>
              <a:t>Fate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058400" y="1645920"/>
            <a:ext cx="164592" cy="128016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259568" y="1627632"/>
            <a:ext cx="13716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222222"/>
                </a:solidFill>
                <a:latin typeface="Arial"/>
              </a:rPr>
              <a:t>shrinking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058400" y="1901952"/>
            <a:ext cx="164592" cy="128016"/>
          </a:xfrm>
          <a:prstGeom prst="rect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259568" y="1883664"/>
            <a:ext cx="13716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222222"/>
                </a:solidFill>
                <a:latin typeface="Arial"/>
              </a:rPr>
              <a:t>stable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058400" y="2157984"/>
            <a:ext cx="164592" cy="128016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59568" y="2139696"/>
            <a:ext cx="13716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222222"/>
                </a:solidFill>
                <a:latin typeface="Arial"/>
              </a:rPr>
              <a:t>expanding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