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IGH V-gene directional-coherence forest (Bashford-Rogers 2019 style gray zero-band + focus gold)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35090" y="1097280"/>
            <a:ext cx="388620" cy="53035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629400" y="1097280"/>
            <a:ext cx="0" cy="530352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0" y="868680"/>
            <a:ext cx="3886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C53E1F"/>
                </a:solidFill>
                <a:latin typeface="Arial"/>
              </a:rPr>
              <a:t>bad (n up / 6)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868680"/>
            <a:ext cx="3886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7D6E"/>
                </a:solidFill>
                <a:latin typeface="Arial"/>
              </a:rPr>
              <a:t>→ good (n down / 6)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117293"/>
            <a:ext cx="32385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6300" y="1117293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107287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IGHV3-38-3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1107287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217360"/>
            <a:ext cx="1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4000" y="1217360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207353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1207353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1317426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86300" y="1317426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1307419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IGHV2-26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1307419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417493"/>
            <a:ext cx="32385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6300" y="1417493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1407486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IGHV4-30-4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1407486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1517559"/>
            <a:ext cx="3886200" cy="60040"/>
          </a:xfrm>
          <a:prstGeom prst="rect">
            <a:avLst/>
          </a:prstGeom>
          <a:solidFill>
            <a:srgbClr val="D4A300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38600" y="1517559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1507552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★ IGHV6-1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1507552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P=0.06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1617625"/>
            <a:ext cx="32385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34000" y="1617625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1607619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1607619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1717692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38600" y="1717692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1707685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1707685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1817758"/>
            <a:ext cx="32385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34000" y="1817758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1807752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1807752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1917825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1917825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1907818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IGHV3-69-1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1907818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2017891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34000" y="2017891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54480" y="2007884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2007884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9400" y="2117957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34000" y="2117957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4480" y="2107951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IGHV5-51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2107951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218024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38600" y="2218024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54480" y="2208017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IGHV4-59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208017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2318090"/>
            <a:ext cx="3238500" cy="60040"/>
          </a:xfrm>
          <a:prstGeom prst="rect">
            <a:avLst/>
          </a:prstGeom>
          <a:solidFill>
            <a:srgbClr val="D4A300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34000" y="2318090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4480" y="2308084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★ IGHV3-74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2308084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29400" y="2418157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38600" y="2418157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54480" y="2408150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2408150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9400" y="2518223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86300" y="2518223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4480" y="2508216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61320" y="2508216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29400" y="2618290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86300" y="2618290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54480" y="2608283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1320" y="2608283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400" y="2718356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686300" y="2718356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4480" y="2708349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2708349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2818422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86300" y="2818422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54480" y="2808416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61320" y="2808416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2918489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86300" y="2918489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4480" y="2908482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1320" y="2908482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29400" y="3018555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686300" y="3018555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54480" y="3008549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3008549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3118622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334000" y="3118622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4480" y="3108615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IGHV1-46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61320" y="3108615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9400" y="3218688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334000" y="3218688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554480" y="3208681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61320" y="3208681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29400" y="3318754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686300" y="3318754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554480" y="3308748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IGHV4-30-2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61320" y="3308748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29400" y="3418821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686300" y="3418821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54480" y="3408814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61320" y="3408814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29400" y="3518887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334000" y="3518887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54480" y="3508881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IGHV3-73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61320" y="3508881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29400" y="3618954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334000" y="3618954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554480" y="3608947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61320" y="3608947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29400" y="3719020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038600" y="3719020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554480" y="3709013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61320" y="3709013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629400" y="3819086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334000" y="3819086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54480" y="3809080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IGHV4-28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561320" y="3809080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29400" y="3919153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334000" y="3919153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554480" y="3909146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IGHV3-72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61320" y="3909146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629400" y="4019219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981700" y="4019219"/>
            <a:ext cx="6477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554480" y="4009213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IGHV1-58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61320" y="4009213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29400" y="4119286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38600" y="4119286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54480" y="4109279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IGHV1-69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61320" y="4109279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629400" y="4219352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334000" y="4219352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554480" y="4209346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61320" y="4209346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629400" y="4319419"/>
            <a:ext cx="6477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390900" y="4319419"/>
            <a:ext cx="32385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554480" y="4309412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61320" y="4309412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629400" y="4419485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34000" y="4419485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554480" y="4409478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561320" y="4409478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629400" y="4519551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34000" y="4519551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554480" y="4509545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IGHV3-64D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61320" y="4509545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629400" y="4619618"/>
            <a:ext cx="1295400" cy="60040"/>
          </a:xfrm>
          <a:prstGeom prst="rect">
            <a:avLst/>
          </a:prstGeom>
          <a:solidFill>
            <a:srgbClr val="D4A300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038600" y="4619618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554480" y="4609611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★ IGHV3-7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561320" y="4609611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629400" y="4719684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686300" y="4719684"/>
            <a:ext cx="19431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554480" y="4709678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61320" y="4709678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629400" y="4819751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038600" y="4819751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54480" y="4809744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IGHV5-10-1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61320" y="4809744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629400" y="4919817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038600" y="4919817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554480" y="4909810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61320" y="4909810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629400" y="5019883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334000" y="5019883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554480" y="5009877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561320" y="5009877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629400" y="5119950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334000" y="5119950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554480" y="5109943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IGHV4-38-2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561320" y="5109943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629400" y="5220016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5981700" y="5220016"/>
            <a:ext cx="6477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554480" y="5210010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IGHV5-78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561320" y="5210010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629400" y="5320083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334000" y="5320083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554480" y="5310076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IGHV2-70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561320" y="5310076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629400" y="5420149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334000" y="5420149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554480" y="5410142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561320" y="5410142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629400" y="5520216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34000" y="5520216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54480" y="5510209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561320" y="5510209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629400" y="5620282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334000" y="5620282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554480" y="5610275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IGHV3-47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561320" y="5610275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629400" y="5720348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334000" y="5720348"/>
            <a:ext cx="12954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554480" y="5710342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561320" y="5710342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629400" y="5820415"/>
            <a:ext cx="12954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981700" y="5820415"/>
            <a:ext cx="6477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554480" y="5810408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IGHV1-8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561320" y="5810408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629400" y="5920481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981700" y="5920481"/>
            <a:ext cx="6477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554480" y="5910475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IGHV3-11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5910475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629400" y="6020548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390900" y="6020548"/>
            <a:ext cx="32385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554480" y="6010541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IGHV2-5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561320" y="6010541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629400" y="6120614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038600" y="6120614"/>
            <a:ext cx="25908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554480" y="6110607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IGHV3-25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561320" y="6110607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P=0.52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629400" y="6220680"/>
            <a:ext cx="19431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390900" y="6220680"/>
            <a:ext cx="3238500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54480" y="6210674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IGHV3-30-3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561320" y="6210674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629400" y="6320747"/>
            <a:ext cx="2590800" cy="60040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29400" y="6320747"/>
            <a:ext cx="1" cy="60040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554480" y="6310740"/>
            <a:ext cx="114300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IGHV3-66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561320" y="6310740"/>
            <a:ext cx="822960" cy="800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P=0.45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881360" y="1364699"/>
            <a:ext cx="1188720" cy="365760"/>
          </a:xfrm>
          <a:prstGeom prst="rect">
            <a:avLst/>
          </a:prstGeom>
          <a:solidFill>
            <a:srgbClr val="D4A30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881360" y="1364699"/>
            <a:ext cx="11887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22222"/>
                </a:solidFill>
                <a:latin typeface="Arial"/>
              </a:rPr>
              <a:t>polar-opposite
bad 4/6 up ↔
good 6/6 down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743200" y="6446520"/>
            <a:ext cx="77724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Sorted by coherence_gap descending. Gray band = |majority − 0.5| &lt; 3.3/6 (indistinguishable from chance). Aggregate Wilcoxon P = 0.035.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Pattern-class scatter (good vs bad majority fraction) — 4 quadrant background shading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097280"/>
            <a:ext cx="2514600" cy="2514600"/>
          </a:xfrm>
          <a:prstGeom prst="rect">
            <a:avLst/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00600" y="3611880"/>
            <a:ext cx="2514600" cy="2514600"/>
          </a:xfrm>
          <a:prstGeom prst="rect">
            <a:avLst/>
          </a:prstGeom>
          <a:solidFill>
            <a:srgbClr val="E5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097280"/>
            <a:ext cx="2514600" cy="2514600"/>
          </a:xfrm>
          <a:prstGeom prst="rect">
            <a:avLst/>
          </a:prstGeom>
          <a:solidFill>
            <a:srgbClr val="F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3611880"/>
            <a:ext cx="2514600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286000" y="6126480"/>
            <a:ext cx="5029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1097280"/>
            <a:ext cx="0" cy="5029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1097280"/>
            <a:ext cx="0" cy="50292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1097280"/>
            <a:ext cx="5029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21992" y="61264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83080" y="60441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1992" y="48691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47868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0.625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3611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83080" y="3529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21992" y="23545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83080" y="22722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0.875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21992" y="10972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83080" y="10149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202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433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775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0.625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006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348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579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921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0.875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94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473952"/>
            <a:ext cx="5029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bad majority fraction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good majority fraction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00600" y="1097280"/>
            <a:ext cx="0" cy="5029200"/>
          </a:xfrm>
          <a:prstGeom prst="line">
            <a:avLst/>
          </a:prstGeom>
          <a:ln w="762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86000" y="3611880"/>
            <a:ext cx="5029200" cy="0"/>
          </a:xfrm>
          <a:prstGeom prst="line">
            <a:avLst/>
          </a:prstGeom>
          <a:ln w="762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2786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7862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022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022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5-Point Star 39"/>
          <p:cNvSpPr/>
          <p:nvPr/>
        </p:nvSpPr>
        <p:spPr>
          <a:xfrm>
            <a:off x="7232904" y="4367784"/>
            <a:ext cx="164592" cy="164592"/>
          </a:xfrm>
          <a:prstGeom prst="star5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8352" y="438607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IGHV6-1</a:t>
            </a:r>
          </a:p>
        </p:txBody>
      </p:sp>
      <p:sp>
        <p:nvSpPr>
          <p:cNvPr id="42" name="Oval 41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5-Point Star 48"/>
          <p:cNvSpPr/>
          <p:nvPr/>
        </p:nvSpPr>
        <p:spPr>
          <a:xfrm>
            <a:off x="5556504" y="4367784"/>
            <a:ext cx="164592" cy="164592"/>
          </a:xfrm>
          <a:prstGeom prst="star5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1952" y="438607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IGHV3-74</a:t>
            </a:r>
          </a:p>
        </p:txBody>
      </p:sp>
      <p:sp>
        <p:nvSpPr>
          <p:cNvPr id="51" name="Oval 50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6694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26694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25526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92582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266944" y="307238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022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5526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5-Point Star 72"/>
          <p:cNvSpPr/>
          <p:nvPr/>
        </p:nvSpPr>
        <p:spPr>
          <a:xfrm>
            <a:off x="3880104" y="4367784"/>
            <a:ext cx="164592" cy="164592"/>
          </a:xfrm>
          <a:prstGeom prst="star5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35552" y="438607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IGHV3-7</a:t>
            </a:r>
          </a:p>
        </p:txBody>
      </p:sp>
      <p:sp>
        <p:nvSpPr>
          <p:cNvPr id="75" name="Oval 74"/>
          <p:cNvSpPr/>
          <p:nvPr/>
        </p:nvSpPr>
        <p:spPr>
          <a:xfrm>
            <a:off x="22494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24942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925824" y="307238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9258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9258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9258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55264" y="307238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5526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25824" y="10607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92040" y="11887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↗ both-coherent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92040" y="37033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A7D6E"/>
                </a:solidFill>
                <a:latin typeface="Arial"/>
              </a:rPr>
              <a:t>→ good-coherent only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77440" y="11887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53E1F"/>
                </a:solidFill>
                <a:latin typeface="Arial"/>
              </a:rPr>
              <a:t>↑ bad-coherent only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77440" y="37033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↙ stochastic</a:t>
            </a:r>
          </a:p>
        </p:txBody>
      </p:sp>
      <p:sp>
        <p:nvSpPr>
          <p:cNvPr id="96" name="5-Point Star 95"/>
          <p:cNvSpPr/>
          <p:nvPr/>
        </p:nvSpPr>
        <p:spPr>
          <a:xfrm>
            <a:off x="7790688" y="1207008"/>
            <a:ext cx="146304" cy="146304"/>
          </a:xfrm>
          <a:prstGeom prst="star5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01000" y="1188720"/>
            <a:ext cx="4114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4A300"/>
                </a:solidFill>
                <a:latin typeface="Arial"/>
              </a:rPr>
              <a:t>Focus V-genes: IGHV6-1, IGHV3-7, IGHV3-74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