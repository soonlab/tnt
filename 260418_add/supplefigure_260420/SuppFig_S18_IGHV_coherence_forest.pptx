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28600"/>
            <a:ext cx="411480" cy="4114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222222"/>
                </a:solidFill>
                <a:latin typeface="Arial"/>
              </a:rPr>
              <a:t>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20040"/>
            <a:ext cx="1051560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222222"/>
                </a:solidFill>
                <a:latin typeface="Arial"/>
              </a:rPr>
              <a:t>IGH V-gene directional-coherence forest (53 V-genes, 12 paired subjects)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629400" y="1097280"/>
            <a:ext cx="0" cy="5303520"/>
          </a:xfrm>
          <a:prstGeom prst="line">
            <a:avLst/>
          </a:prstGeom>
          <a:ln w="1524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2743200" y="914400"/>
            <a:ext cx="3886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C53E1F"/>
                </a:solidFill>
                <a:latin typeface="Arial"/>
              </a:rPr>
              <a:t>bad (n up / total) 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29400" y="914400"/>
            <a:ext cx="3886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0A7D6E"/>
                </a:solidFill>
                <a:latin typeface="Arial"/>
              </a:rPr>
              <a:t>→ good (n down / total)</a:t>
            </a:r>
          </a:p>
        </p:txBody>
      </p:sp>
      <p:sp>
        <p:nvSpPr>
          <p:cNvPr id="7" name="Rectangle 6"/>
          <p:cNvSpPr/>
          <p:nvPr/>
        </p:nvSpPr>
        <p:spPr>
          <a:xfrm>
            <a:off x="6629400" y="1117293"/>
            <a:ext cx="3238500" cy="60040"/>
          </a:xfrm>
          <a:prstGeom prst="rect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686300" y="1117293"/>
            <a:ext cx="1943100" cy="60040"/>
          </a:xfrm>
          <a:prstGeom prst="rect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554480" y="1107287"/>
            <a:ext cx="1143000" cy="80053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  IGHV3-38-3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61320" y="1107287"/>
            <a:ext cx="822960" cy="80053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BBBBBB"/>
                </a:solidFill>
                <a:latin typeface="Arial"/>
              </a:rPr>
              <a:t>P=0.18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29400" y="1217360"/>
            <a:ext cx="1" cy="60040"/>
          </a:xfrm>
          <a:prstGeom prst="rect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34000" y="1217360"/>
            <a:ext cx="1295400" cy="60040"/>
          </a:xfrm>
          <a:prstGeom prst="rect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54480" y="1207353"/>
            <a:ext cx="1143000" cy="80053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  IGHV1-45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1207353"/>
            <a:ext cx="822960" cy="80053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BBBBBB"/>
                </a:solidFill>
                <a:latin typeface="Arial"/>
              </a:rPr>
              <a:t>P=0.17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29400" y="1317426"/>
            <a:ext cx="647700" cy="60040"/>
          </a:xfrm>
          <a:prstGeom prst="rect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686300" y="1317426"/>
            <a:ext cx="1943100" cy="60040"/>
          </a:xfrm>
          <a:prstGeom prst="rect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554480" y="1307419"/>
            <a:ext cx="1143000" cy="80053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  IGHV2-26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61320" y="1307419"/>
            <a:ext cx="822960" cy="80053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BBBBBB"/>
                </a:solidFill>
                <a:latin typeface="Arial"/>
              </a:rPr>
              <a:t>P=0.55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29400" y="1417493"/>
            <a:ext cx="3238500" cy="60040"/>
          </a:xfrm>
          <a:prstGeom prst="rect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686300" y="1417493"/>
            <a:ext cx="1943100" cy="60040"/>
          </a:xfrm>
          <a:prstGeom prst="rect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554480" y="1407486"/>
            <a:ext cx="1143000" cy="80053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  IGHV4-30-4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61320" y="1407486"/>
            <a:ext cx="822960" cy="80053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BBBBBB"/>
                </a:solidFill>
                <a:latin typeface="Arial"/>
              </a:rPr>
              <a:t>P=0.55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29400" y="1517559"/>
            <a:ext cx="3886200" cy="60040"/>
          </a:xfrm>
          <a:prstGeom prst="rect">
            <a:avLst/>
          </a:prstGeom>
          <a:solidFill>
            <a:srgbClr val="D4A300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038600" y="1517559"/>
            <a:ext cx="2590800" cy="60040"/>
          </a:xfrm>
          <a:prstGeom prst="rect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554480" y="1507552"/>
            <a:ext cx="1143000" cy="80053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1" i="0">
                <a:solidFill>
                  <a:srgbClr val="D4A300"/>
                </a:solidFill>
                <a:latin typeface="Arial"/>
              </a:rPr>
              <a:t>★ IGHV6-1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61320" y="1507552"/>
            <a:ext cx="822960" cy="80053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D4A300"/>
                </a:solidFill>
                <a:latin typeface="Arial"/>
              </a:rPr>
              <a:t>P=0.06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29400" y="1617625"/>
            <a:ext cx="3238500" cy="60040"/>
          </a:xfrm>
          <a:prstGeom prst="rect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334000" y="1617625"/>
            <a:ext cx="1295400" cy="60040"/>
          </a:xfrm>
          <a:prstGeom prst="rect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554480" y="1607619"/>
            <a:ext cx="1143000" cy="80053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  IGHV3-48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61320" y="1607619"/>
            <a:ext cx="822960" cy="80053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BBBBBB"/>
                </a:solidFill>
                <a:latin typeface="Arial"/>
              </a:rPr>
              <a:t>P=1.00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629400" y="1717692"/>
            <a:ext cx="647700" cy="60040"/>
          </a:xfrm>
          <a:prstGeom prst="rect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038600" y="1717692"/>
            <a:ext cx="2590800" cy="60040"/>
          </a:xfrm>
          <a:prstGeom prst="rect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554480" y="1707685"/>
            <a:ext cx="1143000" cy="80053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  IGHV3-49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61320" y="1707685"/>
            <a:ext cx="822960" cy="80053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BBBBBB"/>
                </a:solidFill>
                <a:latin typeface="Arial"/>
              </a:rPr>
              <a:t>P=1.00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29400" y="1817758"/>
            <a:ext cx="3238500" cy="60040"/>
          </a:xfrm>
          <a:prstGeom prst="rect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334000" y="1817758"/>
            <a:ext cx="1295400" cy="60040"/>
          </a:xfrm>
          <a:prstGeom prst="rect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554480" y="1807752"/>
            <a:ext cx="1143000" cy="80053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  IGHV3-9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61320" y="1807752"/>
            <a:ext cx="822960" cy="80053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BBBBBB"/>
                </a:solidFill>
                <a:latin typeface="Arial"/>
              </a:rPr>
              <a:t>P=1.00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629400" y="1917825"/>
            <a:ext cx="647700" cy="60040"/>
          </a:xfrm>
          <a:prstGeom prst="rect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038600" y="1917825"/>
            <a:ext cx="2590800" cy="60040"/>
          </a:xfrm>
          <a:prstGeom prst="rect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554480" y="1907818"/>
            <a:ext cx="1143000" cy="80053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  IGHV3-69-1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561320" y="1907818"/>
            <a:ext cx="822960" cy="80053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BBBBBB"/>
                </a:solidFill>
                <a:latin typeface="Arial"/>
              </a:rPr>
              <a:t>P=1.00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629400" y="2017891"/>
            <a:ext cx="647700" cy="60040"/>
          </a:xfrm>
          <a:prstGeom prst="rect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334000" y="2017891"/>
            <a:ext cx="1295400" cy="60040"/>
          </a:xfrm>
          <a:prstGeom prst="rect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554480" y="2007884"/>
            <a:ext cx="1143000" cy="80053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  IGHV3-53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561320" y="2007884"/>
            <a:ext cx="822960" cy="80053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BBBBBB"/>
                </a:solidFill>
                <a:latin typeface="Arial"/>
              </a:rPr>
              <a:t>P=0.24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629400" y="2117957"/>
            <a:ext cx="647700" cy="60040"/>
          </a:xfrm>
          <a:prstGeom prst="rect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334000" y="2117957"/>
            <a:ext cx="1295400" cy="60040"/>
          </a:xfrm>
          <a:prstGeom prst="rect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554480" y="2107951"/>
            <a:ext cx="1143000" cy="80053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  IGHV5-51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561320" y="2107951"/>
            <a:ext cx="822960" cy="80053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BBBBBB"/>
                </a:solidFill>
                <a:latin typeface="Arial"/>
              </a:rPr>
              <a:t>P=0.24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629400" y="2218024"/>
            <a:ext cx="647700" cy="60040"/>
          </a:xfrm>
          <a:prstGeom prst="rect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038600" y="2218024"/>
            <a:ext cx="2590800" cy="60040"/>
          </a:xfrm>
          <a:prstGeom prst="rect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554480" y="2208017"/>
            <a:ext cx="1143000" cy="80053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  IGHV4-59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561320" y="2208017"/>
            <a:ext cx="822960" cy="80053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BBBBBB"/>
                </a:solidFill>
                <a:latin typeface="Arial"/>
              </a:rPr>
              <a:t>P=1.00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629400" y="2318090"/>
            <a:ext cx="3238500" cy="60040"/>
          </a:xfrm>
          <a:prstGeom prst="rect">
            <a:avLst/>
          </a:prstGeom>
          <a:solidFill>
            <a:srgbClr val="D4A300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334000" y="2318090"/>
            <a:ext cx="1295400" cy="60040"/>
          </a:xfrm>
          <a:prstGeom prst="rect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554480" y="2308084"/>
            <a:ext cx="1143000" cy="80053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1" i="0">
                <a:solidFill>
                  <a:srgbClr val="D4A300"/>
                </a:solidFill>
                <a:latin typeface="Arial"/>
              </a:rPr>
              <a:t>★ IGHV3-74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561320" y="2308084"/>
            <a:ext cx="822960" cy="80053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BBBBBB"/>
                </a:solidFill>
                <a:latin typeface="Arial"/>
              </a:rPr>
              <a:t>P=1.00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629400" y="2418157"/>
            <a:ext cx="647700" cy="60040"/>
          </a:xfrm>
          <a:prstGeom prst="rect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038600" y="2418157"/>
            <a:ext cx="2590800" cy="60040"/>
          </a:xfrm>
          <a:prstGeom prst="rect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554480" y="2408150"/>
            <a:ext cx="1143000" cy="80053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  IGHV3-13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561320" y="2408150"/>
            <a:ext cx="822960" cy="80053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BBBBBB"/>
                </a:solidFill>
                <a:latin typeface="Arial"/>
              </a:rPr>
              <a:t>P=1.00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629400" y="2518223"/>
            <a:ext cx="2590800" cy="60040"/>
          </a:xfrm>
          <a:prstGeom prst="rect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686300" y="2518223"/>
            <a:ext cx="1943100" cy="60040"/>
          </a:xfrm>
          <a:prstGeom prst="rect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554480" y="2508216"/>
            <a:ext cx="1143000" cy="80053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  IGHV3-15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561320" y="2508216"/>
            <a:ext cx="822960" cy="80053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BBBBBB"/>
                </a:solidFill>
                <a:latin typeface="Arial"/>
              </a:rPr>
              <a:t>P=1.00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629400" y="2618290"/>
            <a:ext cx="1295400" cy="60040"/>
          </a:xfrm>
          <a:prstGeom prst="rect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686300" y="2618290"/>
            <a:ext cx="1943100" cy="60040"/>
          </a:xfrm>
          <a:prstGeom prst="rect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554480" y="2608283"/>
            <a:ext cx="1143000" cy="80053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  IGHV1-3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561320" y="2608283"/>
            <a:ext cx="822960" cy="80053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BBBBBB"/>
                </a:solidFill>
                <a:latin typeface="Arial"/>
              </a:rPr>
              <a:t>P=1.00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629400" y="2718356"/>
            <a:ext cx="2590800" cy="60040"/>
          </a:xfrm>
          <a:prstGeom prst="rect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4686300" y="2718356"/>
            <a:ext cx="1943100" cy="60040"/>
          </a:xfrm>
          <a:prstGeom prst="rect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554480" y="2708349"/>
            <a:ext cx="1143000" cy="80053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  IGHV3-62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561320" y="2708349"/>
            <a:ext cx="822960" cy="80053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BBBBBB"/>
                </a:solidFill>
                <a:latin typeface="Arial"/>
              </a:rPr>
              <a:t>P=1.00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629400" y="2818422"/>
            <a:ext cx="1295400" cy="60040"/>
          </a:xfrm>
          <a:prstGeom prst="rect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4686300" y="2818422"/>
            <a:ext cx="1943100" cy="60040"/>
          </a:xfrm>
          <a:prstGeom prst="rect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554480" y="2808416"/>
            <a:ext cx="1143000" cy="80053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  IGHV4-61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561320" y="2808416"/>
            <a:ext cx="822960" cy="80053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BBBBBB"/>
                </a:solidFill>
                <a:latin typeface="Arial"/>
              </a:rPr>
              <a:t>P=1.00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629400" y="2918489"/>
            <a:ext cx="1295400" cy="60040"/>
          </a:xfrm>
          <a:prstGeom prst="rect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4686300" y="2918489"/>
            <a:ext cx="1943100" cy="60040"/>
          </a:xfrm>
          <a:prstGeom prst="rect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554480" y="2908482"/>
            <a:ext cx="1143000" cy="80053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  IGHV3-20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561320" y="2908482"/>
            <a:ext cx="822960" cy="80053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BBBBBB"/>
                </a:solidFill>
                <a:latin typeface="Arial"/>
              </a:rPr>
              <a:t>P=1.00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629400" y="3018555"/>
            <a:ext cx="1295400" cy="60040"/>
          </a:xfrm>
          <a:prstGeom prst="rect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4686300" y="3018555"/>
            <a:ext cx="1943100" cy="60040"/>
          </a:xfrm>
          <a:prstGeom prst="rect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554480" y="3008549"/>
            <a:ext cx="1143000" cy="80053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  IGHV1-24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561320" y="3008549"/>
            <a:ext cx="822960" cy="80053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BBBBBB"/>
                </a:solidFill>
                <a:latin typeface="Arial"/>
              </a:rPr>
              <a:t>P=1.00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629400" y="3118622"/>
            <a:ext cx="647700" cy="60040"/>
          </a:xfrm>
          <a:prstGeom prst="rect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5334000" y="3118622"/>
            <a:ext cx="1295400" cy="60040"/>
          </a:xfrm>
          <a:prstGeom prst="rect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554480" y="3108615"/>
            <a:ext cx="1143000" cy="80053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  IGHV1-46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561320" y="3108615"/>
            <a:ext cx="822960" cy="80053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BBBBBB"/>
                </a:solidFill>
                <a:latin typeface="Arial"/>
              </a:rPr>
              <a:t>P=0.24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629400" y="3218688"/>
            <a:ext cx="2590800" cy="60040"/>
          </a:xfrm>
          <a:prstGeom prst="rect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5334000" y="3218688"/>
            <a:ext cx="1295400" cy="60040"/>
          </a:xfrm>
          <a:prstGeom prst="rect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554480" y="3208681"/>
            <a:ext cx="1143000" cy="80053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  IGHV1-18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561320" y="3208681"/>
            <a:ext cx="822960" cy="80053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BBBBBB"/>
                </a:solidFill>
                <a:latin typeface="Arial"/>
              </a:rPr>
              <a:t>P=1.00</a:t>
            </a:r>
          </a:p>
        </p:txBody>
      </p:sp>
      <p:sp>
        <p:nvSpPr>
          <p:cNvPr id="95" name="Rectangle 94"/>
          <p:cNvSpPr/>
          <p:nvPr/>
        </p:nvSpPr>
        <p:spPr>
          <a:xfrm>
            <a:off x="6629400" y="3318754"/>
            <a:ext cx="1943100" cy="60040"/>
          </a:xfrm>
          <a:prstGeom prst="rect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4686300" y="3318754"/>
            <a:ext cx="1943100" cy="60040"/>
          </a:xfrm>
          <a:prstGeom prst="rect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554480" y="3308748"/>
            <a:ext cx="1143000" cy="80053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  IGHV4-30-2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561320" y="3308748"/>
            <a:ext cx="822960" cy="80053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BBBBBB"/>
                </a:solidFill>
                <a:latin typeface="Arial"/>
              </a:rPr>
              <a:t>P=1.00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629400" y="3418821"/>
            <a:ext cx="2590800" cy="60040"/>
          </a:xfrm>
          <a:prstGeom prst="rect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4686300" y="3418821"/>
            <a:ext cx="1943100" cy="60040"/>
          </a:xfrm>
          <a:prstGeom prst="rect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554480" y="3408814"/>
            <a:ext cx="1143000" cy="80053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  IGHV4-31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561320" y="3408814"/>
            <a:ext cx="822960" cy="80053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BBBBBB"/>
                </a:solidFill>
                <a:latin typeface="Arial"/>
              </a:rPr>
              <a:t>P=0.57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629400" y="3518887"/>
            <a:ext cx="2590800" cy="60040"/>
          </a:xfrm>
          <a:prstGeom prst="rect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5334000" y="3518887"/>
            <a:ext cx="1295400" cy="60040"/>
          </a:xfrm>
          <a:prstGeom prst="rect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554480" y="3508881"/>
            <a:ext cx="1143000" cy="80053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  IGHV3-73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561320" y="3508881"/>
            <a:ext cx="822960" cy="80053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BBBBBB"/>
                </a:solidFill>
                <a:latin typeface="Arial"/>
              </a:rPr>
              <a:t>P=1.00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629400" y="3618954"/>
            <a:ext cx="2590800" cy="60040"/>
          </a:xfrm>
          <a:prstGeom prst="rect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5334000" y="3618954"/>
            <a:ext cx="1295400" cy="60040"/>
          </a:xfrm>
          <a:prstGeom prst="rect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1554480" y="3608947"/>
            <a:ext cx="1143000" cy="80053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  IGHV3-35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561320" y="3608947"/>
            <a:ext cx="822960" cy="80053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BBBBBB"/>
                </a:solidFill>
                <a:latin typeface="Arial"/>
              </a:rPr>
              <a:t>P=1.00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629400" y="3719020"/>
            <a:ext cx="2590800" cy="60040"/>
          </a:xfrm>
          <a:prstGeom prst="rect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4038600" y="3719020"/>
            <a:ext cx="2590800" cy="60040"/>
          </a:xfrm>
          <a:prstGeom prst="rect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1554480" y="3709013"/>
            <a:ext cx="1143000" cy="80053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  IGHV4-39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561320" y="3709013"/>
            <a:ext cx="822960" cy="80053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BBBBBB"/>
                </a:solidFill>
                <a:latin typeface="Arial"/>
              </a:rPr>
              <a:t>P=0.57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629400" y="3819086"/>
            <a:ext cx="2590800" cy="60040"/>
          </a:xfrm>
          <a:prstGeom prst="rect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5334000" y="3819086"/>
            <a:ext cx="1295400" cy="60040"/>
          </a:xfrm>
          <a:prstGeom prst="rect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1554480" y="3809080"/>
            <a:ext cx="1143000" cy="80053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  IGHV4-28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0561320" y="3809080"/>
            <a:ext cx="822960" cy="80053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BBBBBB"/>
                </a:solidFill>
                <a:latin typeface="Arial"/>
              </a:rPr>
              <a:t>P=1.00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6629400" y="3919153"/>
            <a:ext cx="2590800" cy="60040"/>
          </a:xfrm>
          <a:prstGeom prst="rect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5334000" y="3919153"/>
            <a:ext cx="1295400" cy="60040"/>
          </a:xfrm>
          <a:prstGeom prst="rect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1554480" y="3909146"/>
            <a:ext cx="1143000" cy="80053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  IGHV3-72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561320" y="3909146"/>
            <a:ext cx="822960" cy="80053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BBBBBB"/>
                </a:solidFill>
                <a:latin typeface="Arial"/>
              </a:rPr>
              <a:t>P=1.00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6629400" y="4019219"/>
            <a:ext cx="647700" cy="60040"/>
          </a:xfrm>
          <a:prstGeom prst="rect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5981700" y="4019219"/>
            <a:ext cx="647700" cy="60040"/>
          </a:xfrm>
          <a:prstGeom prst="rect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1554480" y="4009213"/>
            <a:ext cx="1143000" cy="80053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  IGHV1-58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561320" y="4009213"/>
            <a:ext cx="822960" cy="80053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BBBBBB"/>
                </a:solidFill>
                <a:latin typeface="Arial"/>
              </a:rPr>
              <a:t>P=0.21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6629400" y="4119286"/>
            <a:ext cx="2590800" cy="60040"/>
          </a:xfrm>
          <a:prstGeom prst="rect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4038600" y="4119286"/>
            <a:ext cx="2590800" cy="60040"/>
          </a:xfrm>
          <a:prstGeom prst="rect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1554480" y="4109279"/>
            <a:ext cx="1143000" cy="80053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  IGHV1-69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561320" y="4109279"/>
            <a:ext cx="822960" cy="80053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BBBBBB"/>
                </a:solidFill>
                <a:latin typeface="Arial"/>
              </a:rPr>
              <a:t>P=0.57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6629400" y="4219352"/>
            <a:ext cx="2590800" cy="60040"/>
          </a:xfrm>
          <a:prstGeom prst="rect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5334000" y="4219352"/>
            <a:ext cx="1295400" cy="60040"/>
          </a:xfrm>
          <a:prstGeom prst="rect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1554480" y="4209346"/>
            <a:ext cx="1143000" cy="80053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  IGHV3-23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0561320" y="4209346"/>
            <a:ext cx="822960" cy="80053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BBBBBB"/>
                </a:solidFill>
                <a:latin typeface="Arial"/>
              </a:rPr>
              <a:t>P=1.00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6629400" y="4319419"/>
            <a:ext cx="647700" cy="60040"/>
          </a:xfrm>
          <a:prstGeom prst="rect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3390900" y="4319419"/>
            <a:ext cx="3238500" cy="60040"/>
          </a:xfrm>
          <a:prstGeom prst="rect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1554480" y="4309412"/>
            <a:ext cx="1143000" cy="80053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  IGHV1-2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561320" y="4309412"/>
            <a:ext cx="822960" cy="80053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BBBBBB"/>
                </a:solidFill>
                <a:latin typeface="Arial"/>
              </a:rPr>
              <a:t>P=1.00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6629400" y="4419485"/>
            <a:ext cx="1295400" cy="60040"/>
          </a:xfrm>
          <a:prstGeom prst="rect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5334000" y="4419485"/>
            <a:ext cx="1295400" cy="60040"/>
          </a:xfrm>
          <a:prstGeom prst="rect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1554480" y="4409478"/>
            <a:ext cx="1143000" cy="80053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  IGHV3-64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561320" y="4409478"/>
            <a:ext cx="822960" cy="80053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BBBBBB"/>
                </a:solidFill>
                <a:latin typeface="Arial"/>
              </a:rPr>
              <a:t>P=0.57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6629400" y="4519551"/>
            <a:ext cx="1943100" cy="60040"/>
          </a:xfrm>
          <a:prstGeom prst="rect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5334000" y="4519551"/>
            <a:ext cx="1295400" cy="60040"/>
          </a:xfrm>
          <a:prstGeom prst="rect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1554480" y="4509545"/>
            <a:ext cx="1143000" cy="80053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  IGHV3-64D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561320" y="4509545"/>
            <a:ext cx="822960" cy="80053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BBBBBB"/>
                </a:solidFill>
                <a:latin typeface="Arial"/>
              </a:rPr>
              <a:t>P=1.00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6629400" y="4619618"/>
            <a:ext cx="1295400" cy="60040"/>
          </a:xfrm>
          <a:prstGeom prst="rect">
            <a:avLst/>
          </a:prstGeom>
          <a:solidFill>
            <a:srgbClr val="D4A300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4038600" y="4619618"/>
            <a:ext cx="2590800" cy="60040"/>
          </a:xfrm>
          <a:prstGeom prst="rect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1554480" y="4609611"/>
            <a:ext cx="1143000" cy="80053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1" i="0">
                <a:solidFill>
                  <a:srgbClr val="D4A300"/>
                </a:solidFill>
                <a:latin typeface="Arial"/>
              </a:rPr>
              <a:t>★ IGHV3-7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561320" y="4609611"/>
            <a:ext cx="822960" cy="80053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BBBBBB"/>
                </a:solidFill>
                <a:latin typeface="Arial"/>
              </a:rPr>
              <a:t>P=1.00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6629400" y="4719684"/>
            <a:ext cx="1943100" cy="60040"/>
          </a:xfrm>
          <a:prstGeom prst="rect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4686300" y="4719684"/>
            <a:ext cx="1943100" cy="60040"/>
          </a:xfrm>
          <a:prstGeom prst="rect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1554480" y="4709678"/>
            <a:ext cx="1143000" cy="80053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  IGHV3-33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561320" y="4709678"/>
            <a:ext cx="822960" cy="80053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BBBBBB"/>
                </a:solidFill>
                <a:latin typeface="Arial"/>
              </a:rPr>
              <a:t>P=1.00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6629400" y="4819751"/>
            <a:ext cx="2590800" cy="60040"/>
          </a:xfrm>
          <a:prstGeom prst="rect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4038600" y="4819751"/>
            <a:ext cx="2590800" cy="60040"/>
          </a:xfrm>
          <a:prstGeom prst="rect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1554480" y="4809744"/>
            <a:ext cx="1143000" cy="80053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  IGHV5-10-1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561320" y="4809744"/>
            <a:ext cx="822960" cy="80053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BBBBBB"/>
                </a:solidFill>
                <a:latin typeface="Arial"/>
              </a:rPr>
              <a:t>P=0.57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6629400" y="4919817"/>
            <a:ext cx="2590800" cy="60040"/>
          </a:xfrm>
          <a:prstGeom prst="rect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4038600" y="4919817"/>
            <a:ext cx="2590800" cy="60040"/>
          </a:xfrm>
          <a:prstGeom prst="rect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1554480" y="4909810"/>
            <a:ext cx="1143000" cy="80053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  IGHV4-4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561320" y="4909810"/>
            <a:ext cx="822960" cy="80053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BBBBBB"/>
                </a:solidFill>
                <a:latin typeface="Arial"/>
              </a:rPr>
              <a:t>P=0.57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629400" y="5019883"/>
            <a:ext cx="1295400" cy="60040"/>
          </a:xfrm>
          <a:prstGeom prst="rect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5334000" y="5019883"/>
            <a:ext cx="1295400" cy="60040"/>
          </a:xfrm>
          <a:prstGeom prst="rect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1554480" y="5009877"/>
            <a:ext cx="1143000" cy="80053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  IGHV4-34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0561320" y="5009877"/>
            <a:ext cx="822960" cy="80053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BBBBBB"/>
                </a:solidFill>
                <a:latin typeface="Arial"/>
              </a:rPr>
              <a:t>P=0.57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6629400" y="5119950"/>
            <a:ext cx="1943100" cy="60040"/>
          </a:xfrm>
          <a:prstGeom prst="rect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5334000" y="5119950"/>
            <a:ext cx="1295400" cy="60040"/>
          </a:xfrm>
          <a:prstGeom prst="rect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1554480" y="5109943"/>
            <a:ext cx="1143000" cy="80053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  IGHV4-38-2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561320" y="5109943"/>
            <a:ext cx="822960" cy="80053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BBBBBB"/>
                </a:solidFill>
                <a:latin typeface="Arial"/>
              </a:rPr>
              <a:t>P=1.00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629400" y="5220016"/>
            <a:ext cx="1295400" cy="60040"/>
          </a:xfrm>
          <a:prstGeom prst="rect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5981700" y="5220016"/>
            <a:ext cx="647700" cy="60040"/>
          </a:xfrm>
          <a:prstGeom prst="rect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1554480" y="5210010"/>
            <a:ext cx="1143000" cy="80053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  IGHV5-78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0561320" y="5210010"/>
            <a:ext cx="822960" cy="80053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BBBBBB"/>
                </a:solidFill>
                <a:latin typeface="Arial"/>
              </a:rPr>
              <a:t>P=0.24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6629400" y="5320083"/>
            <a:ext cx="1943100" cy="60040"/>
          </a:xfrm>
          <a:prstGeom prst="rect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5334000" y="5320083"/>
            <a:ext cx="1295400" cy="60040"/>
          </a:xfrm>
          <a:prstGeom prst="rect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1554480" y="5310076"/>
            <a:ext cx="1143000" cy="80053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  IGHV2-70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561320" y="5310076"/>
            <a:ext cx="822960" cy="80053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BBBBBB"/>
                </a:solidFill>
                <a:latin typeface="Arial"/>
              </a:rPr>
              <a:t>P=1.00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6629400" y="5420149"/>
            <a:ext cx="1943100" cy="60040"/>
          </a:xfrm>
          <a:prstGeom prst="rect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5334000" y="5420149"/>
            <a:ext cx="1295400" cy="60040"/>
          </a:xfrm>
          <a:prstGeom prst="rect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1554480" y="5410142"/>
            <a:ext cx="1143000" cy="80053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  IGHV3-30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561320" y="5410142"/>
            <a:ext cx="822960" cy="80053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BBBBBB"/>
                </a:solidFill>
                <a:latin typeface="Arial"/>
              </a:rPr>
              <a:t>P=1.00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6629400" y="5520216"/>
            <a:ext cx="1943100" cy="60040"/>
          </a:xfrm>
          <a:prstGeom prst="rect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5334000" y="5520216"/>
            <a:ext cx="1295400" cy="60040"/>
          </a:xfrm>
          <a:prstGeom prst="rect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1554480" y="5510209"/>
            <a:ext cx="1143000" cy="80053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  IGHV3-21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561320" y="5510209"/>
            <a:ext cx="822960" cy="80053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BBBBBB"/>
                </a:solidFill>
                <a:latin typeface="Arial"/>
              </a:rPr>
              <a:t>P=1.00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6629400" y="5620282"/>
            <a:ext cx="1943100" cy="60040"/>
          </a:xfrm>
          <a:prstGeom prst="rect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5334000" y="5620282"/>
            <a:ext cx="1295400" cy="60040"/>
          </a:xfrm>
          <a:prstGeom prst="rect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1554480" y="5610275"/>
            <a:ext cx="1143000" cy="80053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  IGHV3-47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0561320" y="5610275"/>
            <a:ext cx="822960" cy="80053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BBBBBB"/>
                </a:solidFill>
                <a:latin typeface="Arial"/>
              </a:rPr>
              <a:t>P=1.00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6629400" y="5720348"/>
            <a:ext cx="1943100" cy="60040"/>
          </a:xfrm>
          <a:prstGeom prst="rect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5334000" y="5720348"/>
            <a:ext cx="1295400" cy="60040"/>
          </a:xfrm>
          <a:prstGeom prst="rect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TextBox 192"/>
          <p:cNvSpPr txBox="1"/>
          <p:nvPr/>
        </p:nvSpPr>
        <p:spPr>
          <a:xfrm>
            <a:off x="1554480" y="5710342"/>
            <a:ext cx="1143000" cy="80053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  IGHV3-43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561320" y="5710342"/>
            <a:ext cx="822960" cy="80053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BBBBBB"/>
                </a:solidFill>
                <a:latin typeface="Arial"/>
              </a:rPr>
              <a:t>P=1.00</a:t>
            </a:r>
          </a:p>
        </p:txBody>
      </p:sp>
      <p:sp>
        <p:nvSpPr>
          <p:cNvPr id="195" name="Rectangle 194"/>
          <p:cNvSpPr/>
          <p:nvPr/>
        </p:nvSpPr>
        <p:spPr>
          <a:xfrm>
            <a:off x="6629400" y="5820415"/>
            <a:ext cx="1295400" cy="60040"/>
          </a:xfrm>
          <a:prstGeom prst="rect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5981700" y="5820415"/>
            <a:ext cx="647700" cy="60040"/>
          </a:xfrm>
          <a:prstGeom prst="rect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TextBox 196"/>
          <p:cNvSpPr txBox="1"/>
          <p:nvPr/>
        </p:nvSpPr>
        <p:spPr>
          <a:xfrm>
            <a:off x="1554480" y="5810408"/>
            <a:ext cx="1143000" cy="80053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  IGHV1-8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561320" y="5810408"/>
            <a:ext cx="822960" cy="80053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BBBBBB"/>
                </a:solidFill>
                <a:latin typeface="Arial"/>
              </a:rPr>
              <a:t>P=0.24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6629400" y="5920481"/>
            <a:ext cx="2590800" cy="60040"/>
          </a:xfrm>
          <a:prstGeom prst="rect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5981700" y="5920481"/>
            <a:ext cx="647700" cy="60040"/>
          </a:xfrm>
          <a:prstGeom prst="rect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1554480" y="5910475"/>
            <a:ext cx="1143000" cy="80053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  IGHV3-11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561320" y="5910475"/>
            <a:ext cx="822960" cy="80053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BBBBBB"/>
                </a:solidFill>
                <a:latin typeface="Arial"/>
              </a:rPr>
              <a:t>P=1.00</a:t>
            </a:r>
          </a:p>
        </p:txBody>
      </p:sp>
      <p:sp>
        <p:nvSpPr>
          <p:cNvPr id="203" name="Rectangle 202"/>
          <p:cNvSpPr/>
          <p:nvPr/>
        </p:nvSpPr>
        <p:spPr>
          <a:xfrm>
            <a:off x="6629400" y="6020548"/>
            <a:ext cx="2590800" cy="60040"/>
          </a:xfrm>
          <a:prstGeom prst="rect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3390900" y="6020548"/>
            <a:ext cx="3238500" cy="60040"/>
          </a:xfrm>
          <a:prstGeom prst="rect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TextBox 204"/>
          <p:cNvSpPr txBox="1"/>
          <p:nvPr/>
        </p:nvSpPr>
        <p:spPr>
          <a:xfrm>
            <a:off x="1554480" y="6010541"/>
            <a:ext cx="1143000" cy="80053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  IGHV2-5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10561320" y="6010541"/>
            <a:ext cx="822960" cy="80053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BBBBBB"/>
                </a:solidFill>
                <a:latin typeface="Arial"/>
              </a:rPr>
              <a:t>P=0.24</a:t>
            </a:r>
          </a:p>
        </p:txBody>
      </p:sp>
      <p:sp>
        <p:nvSpPr>
          <p:cNvPr id="207" name="Rectangle 206"/>
          <p:cNvSpPr/>
          <p:nvPr/>
        </p:nvSpPr>
        <p:spPr>
          <a:xfrm>
            <a:off x="6629400" y="6120614"/>
            <a:ext cx="1943100" cy="60040"/>
          </a:xfrm>
          <a:prstGeom prst="rect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4038600" y="6120614"/>
            <a:ext cx="2590800" cy="60040"/>
          </a:xfrm>
          <a:prstGeom prst="rect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TextBox 208"/>
          <p:cNvSpPr txBox="1"/>
          <p:nvPr/>
        </p:nvSpPr>
        <p:spPr>
          <a:xfrm>
            <a:off x="1554480" y="6110607"/>
            <a:ext cx="1143000" cy="80053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  IGHV3-25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10561320" y="6110607"/>
            <a:ext cx="822960" cy="80053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BBBBBB"/>
                </a:solidFill>
                <a:latin typeface="Arial"/>
              </a:rPr>
              <a:t>P=0.52</a:t>
            </a:r>
          </a:p>
        </p:txBody>
      </p:sp>
      <p:sp>
        <p:nvSpPr>
          <p:cNvPr id="211" name="Rectangle 210"/>
          <p:cNvSpPr/>
          <p:nvPr/>
        </p:nvSpPr>
        <p:spPr>
          <a:xfrm>
            <a:off x="6629400" y="6220680"/>
            <a:ext cx="1943100" cy="60040"/>
          </a:xfrm>
          <a:prstGeom prst="rect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3390900" y="6220680"/>
            <a:ext cx="3238500" cy="60040"/>
          </a:xfrm>
          <a:prstGeom prst="rect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TextBox 212"/>
          <p:cNvSpPr txBox="1"/>
          <p:nvPr/>
        </p:nvSpPr>
        <p:spPr>
          <a:xfrm>
            <a:off x="1554480" y="6210674"/>
            <a:ext cx="1143000" cy="80053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  IGHV3-30-3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561320" y="6210674"/>
            <a:ext cx="822960" cy="80053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BBBBBB"/>
                </a:solidFill>
                <a:latin typeface="Arial"/>
              </a:rPr>
              <a:t>P=0.24</a:t>
            </a:r>
          </a:p>
        </p:txBody>
      </p:sp>
      <p:sp>
        <p:nvSpPr>
          <p:cNvPr id="215" name="Rectangle 214"/>
          <p:cNvSpPr/>
          <p:nvPr/>
        </p:nvSpPr>
        <p:spPr>
          <a:xfrm>
            <a:off x="6629400" y="6320747"/>
            <a:ext cx="2590800" cy="60040"/>
          </a:xfrm>
          <a:prstGeom prst="rect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Rectangle 215"/>
          <p:cNvSpPr/>
          <p:nvPr/>
        </p:nvSpPr>
        <p:spPr>
          <a:xfrm>
            <a:off x="6629400" y="6320747"/>
            <a:ext cx="1" cy="60040"/>
          </a:xfrm>
          <a:prstGeom prst="rect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TextBox 216"/>
          <p:cNvSpPr txBox="1"/>
          <p:nvPr/>
        </p:nvSpPr>
        <p:spPr>
          <a:xfrm>
            <a:off x="1554480" y="6310740"/>
            <a:ext cx="1143000" cy="80053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  IGHV3-66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10561320" y="6310740"/>
            <a:ext cx="822960" cy="80053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BBBBBB"/>
                </a:solidFill>
                <a:latin typeface="Arial"/>
              </a:rPr>
              <a:t>P=0.45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2743200" y="6446520"/>
            <a:ext cx="7772400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1">
                <a:solidFill>
                  <a:srgbClr val="222222"/>
                </a:solidFill>
                <a:latin typeface="Arial"/>
              </a:rPr>
              <a:t>Focus V-genes (gold ★): IGHV6-1 (6/6 down good vs 4/2 up bad, Fisher P=0.061), IGHV3-7, IGHV3-74. Repertoire-level aggregate Wilcoxon P=0.035.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28600"/>
            <a:ext cx="411480" cy="4114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222222"/>
                </a:solidFill>
                <a:latin typeface="Arial"/>
              </a:rPr>
              <a:t>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20040"/>
            <a:ext cx="1051560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222222"/>
                </a:solidFill>
                <a:latin typeface="Arial"/>
              </a:rPr>
              <a:t>Pattern-class scatter — good vs bad majority direction fraction (lookup for Panel A)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1828800" y="6126480"/>
            <a:ext cx="5486400" cy="0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828800" y="1097280"/>
            <a:ext cx="0" cy="5029200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7315200" y="1097280"/>
            <a:ext cx="0" cy="5029200"/>
          </a:xfrm>
          <a:prstGeom prst="line">
            <a:avLst/>
          </a:prstGeom>
          <a:ln w="635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828800" y="1097280"/>
            <a:ext cx="5486400" cy="0"/>
          </a:xfrm>
          <a:prstGeom prst="line">
            <a:avLst/>
          </a:prstGeom>
          <a:ln w="635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764792" y="612648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325880" y="604418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0.5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764792" y="486918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325880" y="478688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0.625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764792" y="361188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325880" y="352958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0.75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64792" y="235458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325880" y="227228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0.875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764792" y="109728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325880" y="101498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1.0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828800" y="6126480"/>
            <a:ext cx="0" cy="64008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463040" y="6181344"/>
            <a:ext cx="7315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>
                <a:solidFill>
                  <a:srgbClr val="222222"/>
                </a:solidFill>
                <a:latin typeface="Arial"/>
              </a:rPr>
              <a:t>0.5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200400" y="6126480"/>
            <a:ext cx="0" cy="64008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2834640" y="6181344"/>
            <a:ext cx="7315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>
                <a:solidFill>
                  <a:srgbClr val="222222"/>
                </a:solidFill>
                <a:latin typeface="Arial"/>
              </a:rPr>
              <a:t>0.625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572000" y="6126480"/>
            <a:ext cx="0" cy="64008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206240" y="6181344"/>
            <a:ext cx="7315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>
                <a:solidFill>
                  <a:srgbClr val="222222"/>
                </a:solidFill>
                <a:latin typeface="Arial"/>
              </a:rPr>
              <a:t>0.75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943600" y="6126480"/>
            <a:ext cx="0" cy="64008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577840" y="6181344"/>
            <a:ext cx="7315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>
                <a:solidFill>
                  <a:srgbClr val="222222"/>
                </a:solidFill>
                <a:latin typeface="Arial"/>
              </a:rPr>
              <a:t>0.875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315200" y="6126480"/>
            <a:ext cx="0" cy="64008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949440" y="6181344"/>
            <a:ext cx="7315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>
                <a:solidFill>
                  <a:srgbClr val="222222"/>
                </a:solidFill>
                <a:latin typeface="Arial"/>
              </a:rPr>
              <a:t>1.0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28800" y="6473952"/>
            <a:ext cx="548640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222222"/>
                </a:solidFill>
                <a:latin typeface="Arial"/>
              </a:rPr>
              <a:t>bad majority fraction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" y="2606040"/>
            <a:ext cx="365760" cy="20116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222222"/>
                </a:solidFill>
                <a:latin typeface="Arial"/>
              </a:rPr>
              <a:t>good majority fraction</a:t>
            </a:r>
          </a:p>
        </p:txBody>
      </p:sp>
      <p:cxnSp>
        <p:nvCxnSpPr>
          <p:cNvPr id="30" name="Connector 29"/>
          <p:cNvCxnSpPr/>
          <p:nvPr/>
        </p:nvCxnSpPr>
        <p:spPr>
          <a:xfrm flipV="1">
            <a:off x="1828800" y="1097280"/>
            <a:ext cx="5486400" cy="5029200"/>
          </a:xfrm>
          <a:prstGeom prst="line">
            <a:avLst/>
          </a:prstGeom>
          <a:ln w="6350">
            <a:solidFill>
              <a:srgbClr val="BBBBB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7278624" y="6089904"/>
            <a:ext cx="73152" cy="73152"/>
          </a:xfrm>
          <a:prstGeom prst="ellipse">
            <a:avLst/>
          </a:prstGeom>
          <a:solidFill>
            <a:srgbClr val="222222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79208" y="6062472"/>
            <a:ext cx="73152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BBBBBB"/>
                </a:solidFill>
                <a:latin typeface="Arial"/>
              </a:rPr>
              <a:t>IGHV3-38-3</a:t>
            </a:r>
          </a:p>
        </p:txBody>
      </p:sp>
      <p:sp>
        <p:nvSpPr>
          <p:cNvPr id="33" name="Oval 32"/>
          <p:cNvSpPr/>
          <p:nvPr/>
        </p:nvSpPr>
        <p:spPr>
          <a:xfrm>
            <a:off x="7278624" y="5084064"/>
            <a:ext cx="73152" cy="73152"/>
          </a:xfrm>
          <a:prstGeom prst="ellipse">
            <a:avLst/>
          </a:prstGeom>
          <a:solidFill>
            <a:srgbClr val="222222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79208" y="5056632"/>
            <a:ext cx="73152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BBBBBB"/>
                </a:solidFill>
                <a:latin typeface="Arial"/>
              </a:rPr>
              <a:t>IGHV1-45</a:t>
            </a:r>
          </a:p>
        </p:txBody>
      </p:sp>
      <p:sp>
        <p:nvSpPr>
          <p:cNvPr id="35" name="Oval 34"/>
          <p:cNvSpPr/>
          <p:nvPr/>
        </p:nvSpPr>
        <p:spPr>
          <a:xfrm>
            <a:off x="5449824" y="6089904"/>
            <a:ext cx="73152" cy="73152"/>
          </a:xfrm>
          <a:prstGeom prst="ellipse">
            <a:avLst/>
          </a:prstGeom>
          <a:solidFill>
            <a:srgbClr val="222222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550408" y="6062472"/>
            <a:ext cx="73152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BBBBBB"/>
                </a:solidFill>
                <a:latin typeface="Arial"/>
              </a:rPr>
              <a:t>IGHV2-26</a:t>
            </a:r>
          </a:p>
        </p:txBody>
      </p:sp>
      <p:sp>
        <p:nvSpPr>
          <p:cNvPr id="37" name="Oval 36"/>
          <p:cNvSpPr/>
          <p:nvPr/>
        </p:nvSpPr>
        <p:spPr>
          <a:xfrm>
            <a:off x="5449824" y="6089904"/>
            <a:ext cx="73152" cy="73152"/>
          </a:xfrm>
          <a:prstGeom prst="ellipse">
            <a:avLst/>
          </a:prstGeom>
          <a:solidFill>
            <a:srgbClr val="222222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550408" y="6062472"/>
            <a:ext cx="73152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BBBBBB"/>
                </a:solidFill>
                <a:latin typeface="Arial"/>
              </a:rPr>
              <a:t>IGHV4-30-4</a:t>
            </a:r>
          </a:p>
        </p:txBody>
      </p:sp>
      <p:sp>
        <p:nvSpPr>
          <p:cNvPr id="39" name="Oval 38"/>
          <p:cNvSpPr/>
          <p:nvPr/>
        </p:nvSpPr>
        <p:spPr>
          <a:xfrm>
            <a:off x="7260336" y="4395216"/>
            <a:ext cx="109728" cy="109728"/>
          </a:xfrm>
          <a:prstGeom prst="ellipse">
            <a:avLst/>
          </a:prstGeom>
          <a:solidFill>
            <a:srgbClr val="D4A300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79208" y="4386072"/>
            <a:ext cx="73152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D4A300"/>
                </a:solidFill>
                <a:latin typeface="Arial"/>
              </a:rPr>
              <a:t>IGHV6-1</a:t>
            </a:r>
          </a:p>
        </p:txBody>
      </p:sp>
      <p:sp>
        <p:nvSpPr>
          <p:cNvPr id="41" name="Oval 40"/>
          <p:cNvSpPr/>
          <p:nvPr/>
        </p:nvSpPr>
        <p:spPr>
          <a:xfrm>
            <a:off x="5449824" y="4413504"/>
            <a:ext cx="73152" cy="73152"/>
          </a:xfrm>
          <a:prstGeom prst="ellipse">
            <a:avLst/>
          </a:prstGeom>
          <a:solidFill>
            <a:srgbClr val="222222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550408" y="4386072"/>
            <a:ext cx="73152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BBBBBB"/>
                </a:solidFill>
                <a:latin typeface="Arial"/>
              </a:rPr>
              <a:t>IGHV3-48</a:t>
            </a:r>
          </a:p>
        </p:txBody>
      </p:sp>
      <p:sp>
        <p:nvSpPr>
          <p:cNvPr id="43" name="Oval 42"/>
          <p:cNvSpPr/>
          <p:nvPr/>
        </p:nvSpPr>
        <p:spPr>
          <a:xfrm>
            <a:off x="5449824" y="4413504"/>
            <a:ext cx="73152" cy="73152"/>
          </a:xfrm>
          <a:prstGeom prst="ellipse">
            <a:avLst/>
          </a:prstGeom>
          <a:solidFill>
            <a:srgbClr val="222222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550408" y="4386072"/>
            <a:ext cx="73152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BBBBBB"/>
                </a:solidFill>
                <a:latin typeface="Arial"/>
              </a:rPr>
              <a:t>IGHV3-49</a:t>
            </a:r>
          </a:p>
        </p:txBody>
      </p:sp>
      <p:sp>
        <p:nvSpPr>
          <p:cNvPr id="45" name="Oval 44"/>
          <p:cNvSpPr/>
          <p:nvPr/>
        </p:nvSpPr>
        <p:spPr>
          <a:xfrm>
            <a:off x="5449824" y="4413504"/>
            <a:ext cx="73152" cy="73152"/>
          </a:xfrm>
          <a:prstGeom prst="ellipse">
            <a:avLst/>
          </a:prstGeom>
          <a:solidFill>
            <a:srgbClr val="222222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550408" y="4386072"/>
            <a:ext cx="73152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BBBBBB"/>
                </a:solidFill>
                <a:latin typeface="Arial"/>
              </a:rPr>
              <a:t>IGHV3-9</a:t>
            </a:r>
          </a:p>
        </p:txBody>
      </p:sp>
      <p:sp>
        <p:nvSpPr>
          <p:cNvPr id="47" name="Oval 46"/>
          <p:cNvSpPr/>
          <p:nvPr/>
        </p:nvSpPr>
        <p:spPr>
          <a:xfrm>
            <a:off x="5449824" y="4413504"/>
            <a:ext cx="73152" cy="73152"/>
          </a:xfrm>
          <a:prstGeom prst="ellipse">
            <a:avLst/>
          </a:prstGeom>
          <a:solidFill>
            <a:srgbClr val="222222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550408" y="4386072"/>
            <a:ext cx="73152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BBBBBB"/>
                </a:solidFill>
                <a:latin typeface="Arial"/>
              </a:rPr>
              <a:t>IGHV3-69-1</a:t>
            </a:r>
          </a:p>
        </p:txBody>
      </p:sp>
      <p:sp>
        <p:nvSpPr>
          <p:cNvPr id="49" name="Oval 48"/>
          <p:cNvSpPr/>
          <p:nvPr/>
        </p:nvSpPr>
        <p:spPr>
          <a:xfrm>
            <a:off x="5449824" y="4413504"/>
            <a:ext cx="73152" cy="73152"/>
          </a:xfrm>
          <a:prstGeom prst="ellipse">
            <a:avLst/>
          </a:prstGeom>
          <a:solidFill>
            <a:srgbClr val="222222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550408" y="4386072"/>
            <a:ext cx="73152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BBBBBB"/>
                </a:solidFill>
                <a:latin typeface="Arial"/>
              </a:rPr>
              <a:t>IGHV3-53</a:t>
            </a:r>
          </a:p>
        </p:txBody>
      </p:sp>
      <p:sp>
        <p:nvSpPr>
          <p:cNvPr id="51" name="Oval 50"/>
          <p:cNvSpPr/>
          <p:nvPr/>
        </p:nvSpPr>
        <p:spPr>
          <a:xfrm>
            <a:off x="5449824" y="4413504"/>
            <a:ext cx="73152" cy="73152"/>
          </a:xfrm>
          <a:prstGeom prst="ellipse">
            <a:avLst/>
          </a:prstGeom>
          <a:solidFill>
            <a:srgbClr val="222222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550408" y="4386072"/>
            <a:ext cx="73152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BBBBBB"/>
                </a:solidFill>
                <a:latin typeface="Arial"/>
              </a:rPr>
              <a:t>IGHV5-51</a:t>
            </a:r>
          </a:p>
        </p:txBody>
      </p:sp>
      <p:sp>
        <p:nvSpPr>
          <p:cNvPr id="53" name="Oval 52"/>
          <p:cNvSpPr/>
          <p:nvPr/>
        </p:nvSpPr>
        <p:spPr>
          <a:xfrm>
            <a:off x="5449824" y="4413504"/>
            <a:ext cx="73152" cy="73152"/>
          </a:xfrm>
          <a:prstGeom prst="ellipse">
            <a:avLst/>
          </a:prstGeom>
          <a:solidFill>
            <a:srgbClr val="222222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550408" y="4386072"/>
            <a:ext cx="73152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BBBBBB"/>
                </a:solidFill>
                <a:latin typeface="Arial"/>
              </a:rPr>
              <a:t>IGHV4-59</a:t>
            </a:r>
          </a:p>
        </p:txBody>
      </p:sp>
      <p:sp>
        <p:nvSpPr>
          <p:cNvPr id="55" name="Oval 54"/>
          <p:cNvSpPr/>
          <p:nvPr/>
        </p:nvSpPr>
        <p:spPr>
          <a:xfrm>
            <a:off x="5431536" y="4395216"/>
            <a:ext cx="109728" cy="109728"/>
          </a:xfrm>
          <a:prstGeom prst="ellipse">
            <a:avLst/>
          </a:prstGeom>
          <a:solidFill>
            <a:srgbClr val="D4A300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550408" y="4386072"/>
            <a:ext cx="73152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D4A300"/>
                </a:solidFill>
                <a:latin typeface="Arial"/>
              </a:rPr>
              <a:t>IGHV3-74</a:t>
            </a:r>
          </a:p>
        </p:txBody>
      </p:sp>
      <p:sp>
        <p:nvSpPr>
          <p:cNvPr id="57" name="Oval 56"/>
          <p:cNvSpPr/>
          <p:nvPr/>
        </p:nvSpPr>
        <p:spPr>
          <a:xfrm>
            <a:off x="5449824" y="4413504"/>
            <a:ext cx="73152" cy="73152"/>
          </a:xfrm>
          <a:prstGeom prst="ellipse">
            <a:avLst/>
          </a:prstGeom>
          <a:solidFill>
            <a:srgbClr val="222222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550408" y="4386072"/>
            <a:ext cx="73152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BBBBBB"/>
                </a:solidFill>
                <a:latin typeface="Arial"/>
              </a:rPr>
              <a:t>IGHV3-13</a:t>
            </a:r>
          </a:p>
        </p:txBody>
      </p:sp>
      <p:sp>
        <p:nvSpPr>
          <p:cNvPr id="59" name="Oval 58"/>
          <p:cNvSpPr/>
          <p:nvPr/>
        </p:nvSpPr>
        <p:spPr>
          <a:xfrm>
            <a:off x="3621024" y="6089904"/>
            <a:ext cx="73152" cy="73152"/>
          </a:xfrm>
          <a:prstGeom prst="ellipse">
            <a:avLst/>
          </a:prstGeom>
          <a:solidFill>
            <a:srgbClr val="222222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721608" y="6062472"/>
            <a:ext cx="73152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BBBBBB"/>
                </a:solidFill>
                <a:latin typeface="Arial"/>
              </a:rPr>
              <a:t>IGHV3-15</a:t>
            </a:r>
          </a:p>
        </p:txBody>
      </p:sp>
      <p:sp>
        <p:nvSpPr>
          <p:cNvPr id="61" name="Oval 60"/>
          <p:cNvSpPr/>
          <p:nvPr/>
        </p:nvSpPr>
        <p:spPr>
          <a:xfrm>
            <a:off x="3621024" y="6089904"/>
            <a:ext cx="73152" cy="73152"/>
          </a:xfrm>
          <a:prstGeom prst="ellipse">
            <a:avLst/>
          </a:prstGeom>
          <a:solidFill>
            <a:srgbClr val="222222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721608" y="6062472"/>
            <a:ext cx="73152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BBBBBB"/>
                </a:solidFill>
                <a:latin typeface="Arial"/>
              </a:rPr>
              <a:t>IGHV1-3</a:t>
            </a:r>
          </a:p>
        </p:txBody>
      </p:sp>
      <p:sp>
        <p:nvSpPr>
          <p:cNvPr id="63" name="Oval 62"/>
          <p:cNvSpPr/>
          <p:nvPr/>
        </p:nvSpPr>
        <p:spPr>
          <a:xfrm>
            <a:off x="3621024" y="6089904"/>
            <a:ext cx="73152" cy="73152"/>
          </a:xfrm>
          <a:prstGeom prst="ellipse">
            <a:avLst/>
          </a:prstGeom>
          <a:solidFill>
            <a:srgbClr val="222222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721608" y="6062472"/>
            <a:ext cx="73152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BBBBBB"/>
                </a:solidFill>
                <a:latin typeface="Arial"/>
              </a:rPr>
              <a:t>IGHV3-62</a:t>
            </a:r>
          </a:p>
        </p:txBody>
      </p:sp>
      <p:sp>
        <p:nvSpPr>
          <p:cNvPr id="65" name="Oval 64"/>
          <p:cNvSpPr/>
          <p:nvPr/>
        </p:nvSpPr>
        <p:spPr>
          <a:xfrm>
            <a:off x="3621024" y="6089904"/>
            <a:ext cx="73152" cy="73152"/>
          </a:xfrm>
          <a:prstGeom prst="ellipse">
            <a:avLst/>
          </a:prstGeom>
          <a:solidFill>
            <a:srgbClr val="222222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721608" y="6062472"/>
            <a:ext cx="73152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BBBBBB"/>
                </a:solidFill>
                <a:latin typeface="Arial"/>
              </a:rPr>
              <a:t>IGHV4-61</a:t>
            </a:r>
          </a:p>
        </p:txBody>
      </p:sp>
      <p:sp>
        <p:nvSpPr>
          <p:cNvPr id="67" name="Oval 66"/>
          <p:cNvSpPr/>
          <p:nvPr/>
        </p:nvSpPr>
        <p:spPr>
          <a:xfrm>
            <a:off x="3621024" y="6089904"/>
            <a:ext cx="73152" cy="73152"/>
          </a:xfrm>
          <a:prstGeom prst="ellipse">
            <a:avLst/>
          </a:prstGeom>
          <a:solidFill>
            <a:srgbClr val="222222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721608" y="6062472"/>
            <a:ext cx="73152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BBBBBB"/>
                </a:solidFill>
                <a:latin typeface="Arial"/>
              </a:rPr>
              <a:t>IGHV3-20</a:t>
            </a:r>
          </a:p>
        </p:txBody>
      </p:sp>
      <p:sp>
        <p:nvSpPr>
          <p:cNvPr id="69" name="Oval 68"/>
          <p:cNvSpPr/>
          <p:nvPr/>
        </p:nvSpPr>
        <p:spPr>
          <a:xfrm>
            <a:off x="3621024" y="6089904"/>
            <a:ext cx="73152" cy="73152"/>
          </a:xfrm>
          <a:prstGeom prst="ellipse">
            <a:avLst/>
          </a:prstGeom>
          <a:solidFill>
            <a:srgbClr val="222222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721608" y="6062472"/>
            <a:ext cx="73152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BBBBBB"/>
                </a:solidFill>
                <a:latin typeface="Arial"/>
              </a:rPr>
              <a:t>IGHV1-24</a:t>
            </a:r>
          </a:p>
        </p:txBody>
      </p:sp>
      <p:sp>
        <p:nvSpPr>
          <p:cNvPr id="71" name="Oval 70"/>
          <p:cNvSpPr/>
          <p:nvPr/>
        </p:nvSpPr>
        <p:spPr>
          <a:xfrm>
            <a:off x="5084064" y="4413504"/>
            <a:ext cx="73152" cy="73152"/>
          </a:xfrm>
          <a:prstGeom prst="ellipse">
            <a:avLst/>
          </a:prstGeom>
          <a:solidFill>
            <a:srgbClr val="222222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184648" y="4386072"/>
            <a:ext cx="73152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BBBBBB"/>
                </a:solidFill>
                <a:latin typeface="Arial"/>
              </a:rPr>
              <a:t>IGHV1-46</a:t>
            </a:r>
          </a:p>
        </p:txBody>
      </p:sp>
      <p:sp>
        <p:nvSpPr>
          <p:cNvPr id="73" name="Oval 72"/>
          <p:cNvSpPr/>
          <p:nvPr/>
        </p:nvSpPr>
        <p:spPr>
          <a:xfrm>
            <a:off x="5084064" y="4413504"/>
            <a:ext cx="73152" cy="73152"/>
          </a:xfrm>
          <a:prstGeom prst="ellipse">
            <a:avLst/>
          </a:prstGeom>
          <a:solidFill>
            <a:srgbClr val="222222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184648" y="4386072"/>
            <a:ext cx="73152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BBBBBB"/>
                </a:solidFill>
                <a:latin typeface="Arial"/>
              </a:rPr>
              <a:t>IGHV1-18</a:t>
            </a:r>
          </a:p>
        </p:txBody>
      </p:sp>
      <p:sp>
        <p:nvSpPr>
          <p:cNvPr id="75" name="Oval 74"/>
          <p:cNvSpPr/>
          <p:nvPr/>
        </p:nvSpPr>
        <p:spPr>
          <a:xfrm>
            <a:off x="2889504" y="6089904"/>
            <a:ext cx="73152" cy="73152"/>
          </a:xfrm>
          <a:prstGeom prst="ellipse">
            <a:avLst/>
          </a:prstGeom>
          <a:solidFill>
            <a:srgbClr val="222222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990088" y="6062472"/>
            <a:ext cx="73152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BBBBBB"/>
                </a:solidFill>
                <a:latin typeface="Arial"/>
              </a:rPr>
              <a:t>IGHV4-30-2</a:t>
            </a:r>
          </a:p>
        </p:txBody>
      </p:sp>
      <p:sp>
        <p:nvSpPr>
          <p:cNvPr id="77" name="Oval 76"/>
          <p:cNvSpPr/>
          <p:nvPr/>
        </p:nvSpPr>
        <p:spPr>
          <a:xfrm>
            <a:off x="3621024" y="5084064"/>
            <a:ext cx="73152" cy="73152"/>
          </a:xfrm>
          <a:prstGeom prst="ellipse">
            <a:avLst/>
          </a:prstGeom>
          <a:solidFill>
            <a:srgbClr val="222222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721608" y="5056632"/>
            <a:ext cx="73152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BBBBBB"/>
                </a:solidFill>
                <a:latin typeface="Arial"/>
              </a:rPr>
              <a:t>IGHV4-31</a:t>
            </a:r>
          </a:p>
        </p:txBody>
      </p:sp>
      <p:sp>
        <p:nvSpPr>
          <p:cNvPr id="79" name="Oval 78"/>
          <p:cNvSpPr/>
          <p:nvPr/>
        </p:nvSpPr>
        <p:spPr>
          <a:xfrm>
            <a:off x="3621024" y="4413504"/>
            <a:ext cx="73152" cy="73152"/>
          </a:xfrm>
          <a:prstGeom prst="ellipse">
            <a:avLst/>
          </a:prstGeom>
          <a:solidFill>
            <a:srgbClr val="222222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721608" y="4386072"/>
            <a:ext cx="73152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BBBBBB"/>
                </a:solidFill>
                <a:latin typeface="Arial"/>
              </a:rPr>
              <a:t>IGHV3-73</a:t>
            </a:r>
          </a:p>
        </p:txBody>
      </p:sp>
      <p:sp>
        <p:nvSpPr>
          <p:cNvPr id="81" name="Oval 80"/>
          <p:cNvSpPr/>
          <p:nvPr/>
        </p:nvSpPr>
        <p:spPr>
          <a:xfrm>
            <a:off x="3621024" y="4413504"/>
            <a:ext cx="73152" cy="73152"/>
          </a:xfrm>
          <a:prstGeom prst="ellipse">
            <a:avLst/>
          </a:prstGeom>
          <a:solidFill>
            <a:srgbClr val="222222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721608" y="4386072"/>
            <a:ext cx="73152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BBBBBB"/>
                </a:solidFill>
                <a:latin typeface="Arial"/>
              </a:rPr>
              <a:t>IGHV3-35</a:t>
            </a:r>
          </a:p>
        </p:txBody>
      </p:sp>
      <p:sp>
        <p:nvSpPr>
          <p:cNvPr id="83" name="Oval 82"/>
          <p:cNvSpPr/>
          <p:nvPr/>
        </p:nvSpPr>
        <p:spPr>
          <a:xfrm>
            <a:off x="3621024" y="4413504"/>
            <a:ext cx="73152" cy="73152"/>
          </a:xfrm>
          <a:prstGeom prst="ellipse">
            <a:avLst/>
          </a:prstGeom>
          <a:solidFill>
            <a:srgbClr val="222222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721608" y="4386072"/>
            <a:ext cx="73152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BBBBBB"/>
                </a:solidFill>
                <a:latin typeface="Arial"/>
              </a:rPr>
              <a:t>IGHV4-39</a:t>
            </a:r>
          </a:p>
        </p:txBody>
      </p:sp>
      <p:sp>
        <p:nvSpPr>
          <p:cNvPr id="85" name="Oval 84"/>
          <p:cNvSpPr/>
          <p:nvPr/>
        </p:nvSpPr>
        <p:spPr>
          <a:xfrm>
            <a:off x="3621024" y="4413504"/>
            <a:ext cx="73152" cy="73152"/>
          </a:xfrm>
          <a:prstGeom prst="ellipse">
            <a:avLst/>
          </a:prstGeom>
          <a:solidFill>
            <a:srgbClr val="222222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721608" y="4386072"/>
            <a:ext cx="73152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BBBBBB"/>
                </a:solidFill>
                <a:latin typeface="Arial"/>
              </a:rPr>
              <a:t>IGHV4-28</a:t>
            </a:r>
          </a:p>
        </p:txBody>
      </p:sp>
      <p:sp>
        <p:nvSpPr>
          <p:cNvPr id="87" name="Oval 86"/>
          <p:cNvSpPr/>
          <p:nvPr/>
        </p:nvSpPr>
        <p:spPr>
          <a:xfrm>
            <a:off x="3621024" y="4413504"/>
            <a:ext cx="73152" cy="73152"/>
          </a:xfrm>
          <a:prstGeom prst="ellipse">
            <a:avLst/>
          </a:prstGeom>
          <a:solidFill>
            <a:srgbClr val="222222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3721608" y="4386072"/>
            <a:ext cx="73152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BBBBBB"/>
                </a:solidFill>
                <a:latin typeface="Arial"/>
              </a:rPr>
              <a:t>IGHV3-72</a:t>
            </a:r>
          </a:p>
        </p:txBody>
      </p:sp>
      <p:sp>
        <p:nvSpPr>
          <p:cNvPr id="89" name="Oval 88"/>
          <p:cNvSpPr/>
          <p:nvPr/>
        </p:nvSpPr>
        <p:spPr>
          <a:xfrm>
            <a:off x="5084064" y="3072384"/>
            <a:ext cx="73152" cy="73152"/>
          </a:xfrm>
          <a:prstGeom prst="ellipse">
            <a:avLst/>
          </a:prstGeom>
          <a:solidFill>
            <a:srgbClr val="222222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184648" y="3044952"/>
            <a:ext cx="73152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BBBBBB"/>
                </a:solidFill>
                <a:latin typeface="Arial"/>
              </a:rPr>
              <a:t>IGHV1-58</a:t>
            </a:r>
          </a:p>
        </p:txBody>
      </p:sp>
      <p:sp>
        <p:nvSpPr>
          <p:cNvPr id="91" name="Oval 90"/>
          <p:cNvSpPr/>
          <p:nvPr/>
        </p:nvSpPr>
        <p:spPr>
          <a:xfrm>
            <a:off x="3621024" y="4413504"/>
            <a:ext cx="73152" cy="73152"/>
          </a:xfrm>
          <a:prstGeom prst="ellipse">
            <a:avLst/>
          </a:prstGeom>
          <a:solidFill>
            <a:srgbClr val="222222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3721608" y="4386072"/>
            <a:ext cx="73152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BBBBBB"/>
                </a:solidFill>
                <a:latin typeface="Arial"/>
              </a:rPr>
              <a:t>IGHV1-69</a:t>
            </a:r>
          </a:p>
        </p:txBody>
      </p:sp>
      <p:sp>
        <p:nvSpPr>
          <p:cNvPr id="93" name="Oval 92"/>
          <p:cNvSpPr/>
          <p:nvPr/>
        </p:nvSpPr>
        <p:spPr>
          <a:xfrm>
            <a:off x="3621024" y="4413504"/>
            <a:ext cx="73152" cy="73152"/>
          </a:xfrm>
          <a:prstGeom prst="ellipse">
            <a:avLst/>
          </a:prstGeom>
          <a:solidFill>
            <a:srgbClr val="222222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721608" y="4386072"/>
            <a:ext cx="73152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BBBBBB"/>
                </a:solidFill>
                <a:latin typeface="Arial"/>
              </a:rPr>
              <a:t>IGHV3-23</a:t>
            </a:r>
          </a:p>
        </p:txBody>
      </p:sp>
      <p:sp>
        <p:nvSpPr>
          <p:cNvPr id="95" name="Oval 94"/>
          <p:cNvSpPr/>
          <p:nvPr/>
        </p:nvSpPr>
        <p:spPr>
          <a:xfrm>
            <a:off x="5449824" y="2737104"/>
            <a:ext cx="73152" cy="73152"/>
          </a:xfrm>
          <a:prstGeom prst="ellipse">
            <a:avLst/>
          </a:prstGeom>
          <a:solidFill>
            <a:srgbClr val="222222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550408" y="2709672"/>
            <a:ext cx="73152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BBBBBB"/>
                </a:solidFill>
                <a:latin typeface="Arial"/>
              </a:rPr>
              <a:t>IGHV1-2</a:t>
            </a:r>
          </a:p>
        </p:txBody>
      </p:sp>
      <p:sp>
        <p:nvSpPr>
          <p:cNvPr id="97" name="Oval 96"/>
          <p:cNvSpPr/>
          <p:nvPr/>
        </p:nvSpPr>
        <p:spPr>
          <a:xfrm>
            <a:off x="3621024" y="4413504"/>
            <a:ext cx="73152" cy="73152"/>
          </a:xfrm>
          <a:prstGeom prst="ellipse">
            <a:avLst/>
          </a:prstGeom>
          <a:solidFill>
            <a:srgbClr val="222222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3721608" y="4386072"/>
            <a:ext cx="73152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BBBBBB"/>
                </a:solidFill>
                <a:latin typeface="Arial"/>
              </a:rPr>
              <a:t>IGHV3-64</a:t>
            </a:r>
          </a:p>
        </p:txBody>
      </p:sp>
      <p:sp>
        <p:nvSpPr>
          <p:cNvPr id="99" name="Oval 98"/>
          <p:cNvSpPr/>
          <p:nvPr/>
        </p:nvSpPr>
        <p:spPr>
          <a:xfrm>
            <a:off x="2889504" y="5084064"/>
            <a:ext cx="73152" cy="73152"/>
          </a:xfrm>
          <a:prstGeom prst="ellipse">
            <a:avLst/>
          </a:prstGeom>
          <a:solidFill>
            <a:srgbClr val="222222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2990088" y="5056632"/>
            <a:ext cx="73152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BBBBBB"/>
                </a:solidFill>
                <a:latin typeface="Arial"/>
              </a:rPr>
              <a:t>IGHV3-64D</a:t>
            </a:r>
          </a:p>
        </p:txBody>
      </p:sp>
      <p:sp>
        <p:nvSpPr>
          <p:cNvPr id="101" name="Oval 100"/>
          <p:cNvSpPr/>
          <p:nvPr/>
        </p:nvSpPr>
        <p:spPr>
          <a:xfrm>
            <a:off x="3602736" y="4395216"/>
            <a:ext cx="109728" cy="109728"/>
          </a:xfrm>
          <a:prstGeom prst="ellipse">
            <a:avLst/>
          </a:prstGeom>
          <a:solidFill>
            <a:srgbClr val="D4A300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3721608" y="4386072"/>
            <a:ext cx="73152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D4A300"/>
                </a:solidFill>
                <a:latin typeface="Arial"/>
              </a:rPr>
              <a:t>IGHV3-7</a:t>
            </a:r>
          </a:p>
        </p:txBody>
      </p:sp>
      <p:sp>
        <p:nvSpPr>
          <p:cNvPr id="103" name="Oval 102"/>
          <p:cNvSpPr/>
          <p:nvPr/>
        </p:nvSpPr>
        <p:spPr>
          <a:xfrm>
            <a:off x="1792224" y="6089904"/>
            <a:ext cx="73152" cy="73152"/>
          </a:xfrm>
          <a:prstGeom prst="ellipse">
            <a:avLst/>
          </a:prstGeom>
          <a:solidFill>
            <a:srgbClr val="222222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1892808" y="6062472"/>
            <a:ext cx="73152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BBBBBB"/>
                </a:solidFill>
                <a:latin typeface="Arial"/>
              </a:rPr>
              <a:t>IGHV3-33</a:t>
            </a:r>
          </a:p>
        </p:txBody>
      </p:sp>
      <p:sp>
        <p:nvSpPr>
          <p:cNvPr id="105" name="Oval 104"/>
          <p:cNvSpPr/>
          <p:nvPr/>
        </p:nvSpPr>
        <p:spPr>
          <a:xfrm>
            <a:off x="3621024" y="4413504"/>
            <a:ext cx="73152" cy="73152"/>
          </a:xfrm>
          <a:prstGeom prst="ellipse">
            <a:avLst/>
          </a:prstGeom>
          <a:solidFill>
            <a:srgbClr val="222222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721608" y="4386072"/>
            <a:ext cx="73152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BBBBBB"/>
                </a:solidFill>
                <a:latin typeface="Arial"/>
              </a:rPr>
              <a:t>IGHV5-10-1</a:t>
            </a:r>
          </a:p>
        </p:txBody>
      </p:sp>
      <p:sp>
        <p:nvSpPr>
          <p:cNvPr id="107" name="Oval 106"/>
          <p:cNvSpPr/>
          <p:nvPr/>
        </p:nvSpPr>
        <p:spPr>
          <a:xfrm>
            <a:off x="3621024" y="4413504"/>
            <a:ext cx="73152" cy="73152"/>
          </a:xfrm>
          <a:prstGeom prst="ellipse">
            <a:avLst/>
          </a:prstGeom>
          <a:solidFill>
            <a:srgbClr val="222222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3721608" y="4386072"/>
            <a:ext cx="73152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BBBBBB"/>
                </a:solidFill>
                <a:latin typeface="Arial"/>
              </a:rPr>
              <a:t>IGHV4-4</a:t>
            </a:r>
          </a:p>
        </p:txBody>
      </p:sp>
      <p:sp>
        <p:nvSpPr>
          <p:cNvPr id="109" name="Oval 108"/>
          <p:cNvSpPr/>
          <p:nvPr/>
        </p:nvSpPr>
        <p:spPr>
          <a:xfrm>
            <a:off x="3621024" y="4413504"/>
            <a:ext cx="73152" cy="73152"/>
          </a:xfrm>
          <a:prstGeom prst="ellipse">
            <a:avLst/>
          </a:prstGeom>
          <a:solidFill>
            <a:srgbClr val="222222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3721608" y="4386072"/>
            <a:ext cx="73152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BBBBBB"/>
                </a:solidFill>
                <a:latin typeface="Arial"/>
              </a:rPr>
              <a:t>IGHV4-34</a:t>
            </a:r>
          </a:p>
        </p:txBody>
      </p:sp>
      <p:sp>
        <p:nvSpPr>
          <p:cNvPr id="111" name="Oval 110"/>
          <p:cNvSpPr/>
          <p:nvPr/>
        </p:nvSpPr>
        <p:spPr>
          <a:xfrm>
            <a:off x="1792224" y="5084064"/>
            <a:ext cx="73152" cy="73152"/>
          </a:xfrm>
          <a:prstGeom prst="ellipse">
            <a:avLst/>
          </a:prstGeom>
          <a:solidFill>
            <a:srgbClr val="222222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1892808" y="5056632"/>
            <a:ext cx="73152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BBBBBB"/>
                </a:solidFill>
                <a:latin typeface="Arial"/>
              </a:rPr>
              <a:t>IGHV4-38-2</a:t>
            </a:r>
          </a:p>
        </p:txBody>
      </p:sp>
      <p:sp>
        <p:nvSpPr>
          <p:cNvPr id="113" name="Oval 112"/>
          <p:cNvSpPr/>
          <p:nvPr/>
        </p:nvSpPr>
        <p:spPr>
          <a:xfrm>
            <a:off x="3621024" y="3072384"/>
            <a:ext cx="73152" cy="73152"/>
          </a:xfrm>
          <a:prstGeom prst="ellipse">
            <a:avLst/>
          </a:prstGeom>
          <a:solidFill>
            <a:srgbClr val="222222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721608" y="3044952"/>
            <a:ext cx="73152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BBBBBB"/>
                </a:solidFill>
                <a:latin typeface="Arial"/>
              </a:rPr>
              <a:t>IGHV5-78</a:t>
            </a:r>
          </a:p>
        </p:txBody>
      </p:sp>
      <p:sp>
        <p:nvSpPr>
          <p:cNvPr id="115" name="Oval 114"/>
          <p:cNvSpPr/>
          <p:nvPr/>
        </p:nvSpPr>
        <p:spPr>
          <a:xfrm>
            <a:off x="1792224" y="4413504"/>
            <a:ext cx="73152" cy="73152"/>
          </a:xfrm>
          <a:prstGeom prst="ellipse">
            <a:avLst/>
          </a:prstGeom>
          <a:solidFill>
            <a:srgbClr val="222222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1892808" y="4386072"/>
            <a:ext cx="73152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BBBBBB"/>
                </a:solidFill>
                <a:latin typeface="Arial"/>
              </a:rPr>
              <a:t>IGHV2-70</a:t>
            </a:r>
          </a:p>
        </p:txBody>
      </p:sp>
      <p:sp>
        <p:nvSpPr>
          <p:cNvPr id="117" name="Oval 116"/>
          <p:cNvSpPr/>
          <p:nvPr/>
        </p:nvSpPr>
        <p:spPr>
          <a:xfrm>
            <a:off x="1792224" y="4413504"/>
            <a:ext cx="73152" cy="73152"/>
          </a:xfrm>
          <a:prstGeom prst="ellipse">
            <a:avLst/>
          </a:prstGeom>
          <a:solidFill>
            <a:srgbClr val="222222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1892808" y="4386072"/>
            <a:ext cx="73152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BBBBBB"/>
                </a:solidFill>
                <a:latin typeface="Arial"/>
              </a:rPr>
              <a:t>IGHV3-30</a:t>
            </a:r>
          </a:p>
        </p:txBody>
      </p:sp>
      <p:sp>
        <p:nvSpPr>
          <p:cNvPr id="119" name="Oval 118"/>
          <p:cNvSpPr/>
          <p:nvPr/>
        </p:nvSpPr>
        <p:spPr>
          <a:xfrm>
            <a:off x="1792224" y="4413504"/>
            <a:ext cx="73152" cy="73152"/>
          </a:xfrm>
          <a:prstGeom prst="ellipse">
            <a:avLst/>
          </a:prstGeom>
          <a:solidFill>
            <a:srgbClr val="222222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1892808" y="4386072"/>
            <a:ext cx="73152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BBBBBB"/>
                </a:solidFill>
                <a:latin typeface="Arial"/>
              </a:rPr>
              <a:t>IGHV3-21</a:t>
            </a:r>
          </a:p>
        </p:txBody>
      </p:sp>
      <p:sp>
        <p:nvSpPr>
          <p:cNvPr id="121" name="Oval 120"/>
          <p:cNvSpPr/>
          <p:nvPr/>
        </p:nvSpPr>
        <p:spPr>
          <a:xfrm>
            <a:off x="1792224" y="4413504"/>
            <a:ext cx="73152" cy="73152"/>
          </a:xfrm>
          <a:prstGeom prst="ellipse">
            <a:avLst/>
          </a:prstGeom>
          <a:solidFill>
            <a:srgbClr val="222222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1892808" y="4386072"/>
            <a:ext cx="73152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BBBBBB"/>
                </a:solidFill>
                <a:latin typeface="Arial"/>
              </a:rPr>
              <a:t>IGHV3-47</a:t>
            </a:r>
          </a:p>
        </p:txBody>
      </p:sp>
      <p:sp>
        <p:nvSpPr>
          <p:cNvPr id="123" name="Oval 122"/>
          <p:cNvSpPr/>
          <p:nvPr/>
        </p:nvSpPr>
        <p:spPr>
          <a:xfrm>
            <a:off x="1792224" y="4413504"/>
            <a:ext cx="73152" cy="73152"/>
          </a:xfrm>
          <a:prstGeom prst="ellipse">
            <a:avLst/>
          </a:prstGeom>
          <a:solidFill>
            <a:srgbClr val="222222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892808" y="4386072"/>
            <a:ext cx="73152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BBBBBB"/>
                </a:solidFill>
                <a:latin typeface="Arial"/>
              </a:rPr>
              <a:t>IGHV3-43</a:t>
            </a:r>
          </a:p>
        </p:txBody>
      </p:sp>
      <p:sp>
        <p:nvSpPr>
          <p:cNvPr id="125" name="Oval 124"/>
          <p:cNvSpPr/>
          <p:nvPr/>
        </p:nvSpPr>
        <p:spPr>
          <a:xfrm>
            <a:off x="3621024" y="2737104"/>
            <a:ext cx="73152" cy="73152"/>
          </a:xfrm>
          <a:prstGeom prst="ellipse">
            <a:avLst/>
          </a:prstGeom>
          <a:solidFill>
            <a:srgbClr val="222222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3721608" y="2709672"/>
            <a:ext cx="73152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BBBBBB"/>
                </a:solidFill>
                <a:latin typeface="Arial"/>
              </a:rPr>
              <a:t>IGHV1-8</a:t>
            </a:r>
          </a:p>
        </p:txBody>
      </p:sp>
      <p:sp>
        <p:nvSpPr>
          <p:cNvPr id="127" name="Oval 126"/>
          <p:cNvSpPr/>
          <p:nvPr/>
        </p:nvSpPr>
        <p:spPr>
          <a:xfrm>
            <a:off x="3621024" y="2737104"/>
            <a:ext cx="73152" cy="73152"/>
          </a:xfrm>
          <a:prstGeom prst="ellipse">
            <a:avLst/>
          </a:prstGeom>
          <a:solidFill>
            <a:srgbClr val="222222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3721608" y="2709672"/>
            <a:ext cx="73152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BBBBBB"/>
                </a:solidFill>
                <a:latin typeface="Arial"/>
              </a:rPr>
              <a:t>IGHV3-11</a:t>
            </a:r>
          </a:p>
        </p:txBody>
      </p:sp>
      <p:sp>
        <p:nvSpPr>
          <p:cNvPr id="129" name="Oval 128"/>
          <p:cNvSpPr/>
          <p:nvPr/>
        </p:nvSpPr>
        <p:spPr>
          <a:xfrm>
            <a:off x="3621024" y="2737104"/>
            <a:ext cx="73152" cy="73152"/>
          </a:xfrm>
          <a:prstGeom prst="ellipse">
            <a:avLst/>
          </a:prstGeom>
          <a:solidFill>
            <a:srgbClr val="222222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3721608" y="2709672"/>
            <a:ext cx="73152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BBBBBB"/>
                </a:solidFill>
                <a:latin typeface="Arial"/>
              </a:rPr>
              <a:t>IGHV2-5</a:t>
            </a:r>
          </a:p>
        </p:txBody>
      </p:sp>
      <p:sp>
        <p:nvSpPr>
          <p:cNvPr id="131" name="Oval 130"/>
          <p:cNvSpPr/>
          <p:nvPr/>
        </p:nvSpPr>
        <p:spPr>
          <a:xfrm>
            <a:off x="2889504" y="3072384"/>
            <a:ext cx="73152" cy="73152"/>
          </a:xfrm>
          <a:prstGeom prst="ellipse">
            <a:avLst/>
          </a:prstGeom>
          <a:solidFill>
            <a:srgbClr val="222222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2990088" y="3044952"/>
            <a:ext cx="73152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BBBBBB"/>
                </a:solidFill>
                <a:latin typeface="Arial"/>
              </a:rPr>
              <a:t>IGHV3-25</a:t>
            </a:r>
          </a:p>
        </p:txBody>
      </p:sp>
      <p:sp>
        <p:nvSpPr>
          <p:cNvPr id="133" name="Oval 132"/>
          <p:cNvSpPr/>
          <p:nvPr/>
        </p:nvSpPr>
        <p:spPr>
          <a:xfrm>
            <a:off x="2889504" y="2737104"/>
            <a:ext cx="73152" cy="73152"/>
          </a:xfrm>
          <a:prstGeom prst="ellipse">
            <a:avLst/>
          </a:prstGeom>
          <a:solidFill>
            <a:srgbClr val="222222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2990088" y="2709672"/>
            <a:ext cx="73152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BBBBBB"/>
                </a:solidFill>
                <a:latin typeface="Arial"/>
              </a:rPr>
              <a:t>IGHV3-30-3</a:t>
            </a:r>
          </a:p>
        </p:txBody>
      </p:sp>
      <p:sp>
        <p:nvSpPr>
          <p:cNvPr id="135" name="Oval 134"/>
          <p:cNvSpPr/>
          <p:nvPr/>
        </p:nvSpPr>
        <p:spPr>
          <a:xfrm>
            <a:off x="3621024" y="1060704"/>
            <a:ext cx="73152" cy="73152"/>
          </a:xfrm>
          <a:prstGeom prst="ellipse">
            <a:avLst/>
          </a:prstGeom>
          <a:solidFill>
            <a:srgbClr val="222222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3721608" y="1033272"/>
            <a:ext cx="73152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BBBBBB"/>
                </a:solidFill>
                <a:latin typeface="Arial"/>
              </a:rPr>
              <a:t>IGHV3-66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772400" y="1280160"/>
            <a:ext cx="365760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222222"/>
                </a:solidFill>
                <a:latin typeface="Arial"/>
              </a:rPr>
              <a:t>Pattern-class quadrants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772400" y="1645920"/>
            <a:ext cx="4206240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222222"/>
                </a:solidFill>
                <a:latin typeface="Arial"/>
              </a:rPr>
              <a:t>↗ good-coherent (fraction ≥ 0.83): repertoire direction concentrated in good responders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772400" y="2011680"/>
            <a:ext cx="4206240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222222"/>
                </a:solidFill>
                <a:latin typeface="Arial"/>
              </a:rPr>
              <a:t>↙ stochastic: both groups hover at ~0.5 chance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7772400" y="2377440"/>
            <a:ext cx="4206240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222222"/>
                </a:solidFill>
                <a:latin typeface="Arial"/>
              </a:rPr>
              <a:t>→ good-down-bad-up: polar-opposite response pattern (IGHV6-1)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7772400" y="2743200"/>
            <a:ext cx="4206240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222222"/>
                </a:solidFill>
                <a:latin typeface="Arial"/>
              </a:rPr>
              <a:t>focus ★ = IGHV6-1 (6/6 down good vs 4/2 up bad) + IGHV3-74, IGHV3-7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