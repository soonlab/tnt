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Restricted 5-cohort vs full 9-cohort sensitivity meta (7 signatures × 2 Z values)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576072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18872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346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10743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44983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21086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55326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31429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65669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41771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76011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2114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86354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62457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96697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728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6070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6108192"/>
            <a:ext cx="7772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Stouffer Z (restricted 5-cohort = solid diamond; full 9-cohort approx = hollow)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21086" y="1188720"/>
            <a:ext cx="0" cy="457200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44814" y="1188720"/>
            <a:ext cx="0" cy="457200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97358" y="1188720"/>
            <a:ext cx="0" cy="457200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2880" y="1423851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E4A68"/>
                </a:solidFill>
                <a:latin typeface="Arial"/>
              </a:rPr>
              <a:t>DSB / HDR</a:t>
            </a:r>
          </a:p>
        </p:txBody>
      </p:sp>
      <p:sp>
        <p:nvSpPr>
          <p:cNvPr id="29" name="Diamond 28"/>
          <p:cNvSpPr/>
          <p:nvPr/>
        </p:nvSpPr>
        <p:spPr>
          <a:xfrm>
            <a:off x="8831145" y="1405563"/>
            <a:ext cx="219456" cy="219456"/>
          </a:xfrm>
          <a:prstGeom prst="diamond">
            <a:avLst/>
          </a:prstGeom>
          <a:solidFill>
            <a:srgbClr val="0E4A68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1423851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P = 0.002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98680" y="1423851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N=518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076994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E4A68"/>
                </a:solidFill>
                <a:latin typeface="Arial"/>
              </a:rPr>
              <a:t>E2F/MYC</a:t>
            </a:r>
          </a:p>
        </p:txBody>
      </p:sp>
      <p:sp>
        <p:nvSpPr>
          <p:cNvPr id="33" name="Diamond 32"/>
          <p:cNvSpPr/>
          <p:nvPr/>
        </p:nvSpPr>
        <p:spPr>
          <a:xfrm>
            <a:off x="8409214" y="2058706"/>
            <a:ext cx="219456" cy="219456"/>
          </a:xfrm>
          <a:prstGeom prst="diamond">
            <a:avLst/>
          </a:prstGeom>
          <a:solidFill>
            <a:srgbClr val="0E4A68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64240" y="2076994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P = 0.005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98680" y="2076994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N=518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2730137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37" name="Diamond 36"/>
          <p:cNvSpPr/>
          <p:nvPr/>
        </p:nvSpPr>
        <p:spPr>
          <a:xfrm>
            <a:off x="8875558" y="2711849"/>
            <a:ext cx="219456" cy="219456"/>
          </a:xfrm>
          <a:prstGeom prst="diamond">
            <a:avLst/>
          </a:prstGeom>
          <a:solidFill>
            <a:srgbClr val="0E4A68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0" y="2730137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98680" y="2730137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N=518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338328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41" name="Diamond 40"/>
          <p:cNvSpPr/>
          <p:nvPr/>
        </p:nvSpPr>
        <p:spPr>
          <a:xfrm>
            <a:off x="7099010" y="3364992"/>
            <a:ext cx="219456" cy="219456"/>
          </a:xfrm>
          <a:prstGeom prst="diamond">
            <a:avLst/>
          </a:prstGeom>
          <a:solidFill>
            <a:srgbClr val="0E4A68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64240" y="3383280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P = 0.106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98680" y="3383280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N=518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4036423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8A2B4C"/>
                </a:solidFill>
                <a:latin typeface="Arial"/>
              </a:rPr>
              <a:t>CD8 cytotoxic</a:t>
            </a:r>
          </a:p>
        </p:txBody>
      </p:sp>
      <p:sp>
        <p:nvSpPr>
          <p:cNvPr id="45" name="Diamond 44"/>
          <p:cNvSpPr/>
          <p:nvPr/>
        </p:nvSpPr>
        <p:spPr>
          <a:xfrm>
            <a:off x="8964386" y="4018135"/>
            <a:ext cx="219456" cy="219456"/>
          </a:xfrm>
          <a:prstGeom prst="diamond">
            <a:avLst/>
          </a:prstGeom>
          <a:solidFill>
            <a:srgbClr val="8A2B4C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iamond 45"/>
          <p:cNvSpPr/>
          <p:nvPr/>
        </p:nvSpPr>
        <p:spPr>
          <a:xfrm>
            <a:off x="7550331" y="4036423"/>
            <a:ext cx="182880" cy="182880"/>
          </a:xfrm>
          <a:prstGeom prst="diamond">
            <a:avLst/>
          </a:prstGeom>
          <a:noFill/>
          <a:ln w="1524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7641771" y="4127863"/>
            <a:ext cx="1432343" cy="0"/>
          </a:xfrm>
          <a:prstGeom prst="line">
            <a:avLst/>
          </a:prstGeom>
          <a:ln w="6350">
            <a:solidFill>
              <a:srgbClr val="8A2B4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064240" y="4036423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98680" y="4036423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N=816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4689566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51" name="Diamond 50"/>
          <p:cNvSpPr/>
          <p:nvPr/>
        </p:nvSpPr>
        <p:spPr>
          <a:xfrm>
            <a:off x="6244046" y="4671278"/>
            <a:ext cx="219456" cy="219456"/>
          </a:xfrm>
          <a:prstGeom prst="diamond">
            <a:avLst/>
          </a:prstGeom>
          <a:solidFill>
            <a:srgbClr val="8A2B4C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4689566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P = 0.399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98680" y="4689566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N=518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5342709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55" name="Diamond 54"/>
          <p:cNvSpPr/>
          <p:nvPr/>
        </p:nvSpPr>
        <p:spPr>
          <a:xfrm>
            <a:off x="5622254" y="5324421"/>
            <a:ext cx="219456" cy="219456"/>
          </a:xfrm>
          <a:prstGeom prst="diamond">
            <a:avLst/>
          </a:prstGeom>
          <a:solidFill>
            <a:srgbClr val="8A2B4C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64240" y="5342709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P = 0.781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98680" y="5342709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N=518</a:t>
            </a:r>
          </a:p>
        </p:txBody>
      </p:sp>
      <p:sp>
        <p:nvSpPr>
          <p:cNvPr id="58" name="Diamond 57"/>
          <p:cNvSpPr/>
          <p:nvPr/>
        </p:nvSpPr>
        <p:spPr>
          <a:xfrm>
            <a:off x="9601200" y="822960"/>
            <a:ext cx="182880" cy="182880"/>
          </a:xfrm>
          <a:prstGeom prst="diamond">
            <a:avLst/>
          </a:prstGeom>
          <a:solidFill>
            <a:srgbClr val="0E4A68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29800" y="822960"/>
            <a:ext cx="2286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restricted meta (primary)</a:t>
            </a:r>
          </a:p>
        </p:txBody>
      </p:sp>
      <p:sp>
        <p:nvSpPr>
          <p:cNvPr id="60" name="Diamond 59"/>
          <p:cNvSpPr/>
          <p:nvPr/>
        </p:nvSpPr>
        <p:spPr>
          <a:xfrm>
            <a:off x="9610344" y="1014984"/>
            <a:ext cx="164592" cy="164592"/>
          </a:xfrm>
          <a:prstGeom prst="diamond">
            <a:avLst/>
          </a:prstGeom>
          <a:noFill/>
          <a:ln w="1524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29800" y="1005840"/>
            <a:ext cx="2286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5-cohort only (CD8 cyto)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Akiyoshi 2023 alternative-statistic sensitivity — 4 choices × 6-source CD8 pool (5 GEO + Akiyoshi)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576072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18872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346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435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777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2.5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208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297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639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3.5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070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108192"/>
            <a:ext cx="7772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6-source CD8-cytotoxic Stouffer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166878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Cytolytic activity (GZMA×PRF1) ★</a:t>
            </a:r>
          </a:p>
        </p:txBody>
      </p:sp>
      <p:sp>
        <p:nvSpPr>
          <p:cNvPr id="20" name="Diamond 19"/>
          <p:cNvSpPr/>
          <p:nvPr/>
        </p:nvSpPr>
        <p:spPr>
          <a:xfrm>
            <a:off x="8085582" y="1632204"/>
            <a:ext cx="256032" cy="256032"/>
          </a:xfrm>
          <a:prstGeom prst="diamond">
            <a:avLst/>
          </a:prstGeom>
          <a:solidFill>
            <a:srgbClr val="D4A300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0" y="1668780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Z=+3.29  P=0.001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281178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Effector-memory CD8 ssGSEA</a:t>
            </a:r>
          </a:p>
        </p:txBody>
      </p:sp>
      <p:sp>
        <p:nvSpPr>
          <p:cNvPr id="23" name="Diamond 22"/>
          <p:cNvSpPr/>
          <p:nvPr/>
        </p:nvSpPr>
        <p:spPr>
          <a:xfrm>
            <a:off x="6569964" y="2775204"/>
            <a:ext cx="256032" cy="256032"/>
          </a:xfrm>
          <a:prstGeom prst="diamond">
            <a:avLst/>
          </a:prstGeom>
          <a:solidFill>
            <a:srgbClr val="8A2B4C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2811780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Z=+2.90  P=0.004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395478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MCP-counter cytotoxic-lymphocyte</a:t>
            </a:r>
          </a:p>
        </p:txBody>
      </p:sp>
      <p:sp>
        <p:nvSpPr>
          <p:cNvPr id="26" name="Diamond 25"/>
          <p:cNvSpPr/>
          <p:nvPr/>
        </p:nvSpPr>
        <p:spPr>
          <a:xfrm>
            <a:off x="7735824" y="3918204"/>
            <a:ext cx="256032" cy="256032"/>
          </a:xfrm>
          <a:prstGeom prst="diamond">
            <a:avLst/>
          </a:prstGeom>
          <a:solidFill>
            <a:srgbClr val="8A2B4C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0" y="3954780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Z=+3.20  P=0.001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09778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Activated CD8 ssGSEA</a:t>
            </a:r>
          </a:p>
        </p:txBody>
      </p:sp>
      <p:sp>
        <p:nvSpPr>
          <p:cNvPr id="29" name="Diamond 28"/>
          <p:cNvSpPr/>
          <p:nvPr/>
        </p:nvSpPr>
        <p:spPr>
          <a:xfrm>
            <a:off x="9290304" y="5061204"/>
            <a:ext cx="256032" cy="256032"/>
          </a:xfrm>
          <a:prstGeom prst="diamond">
            <a:avLst/>
          </a:prstGeom>
          <a:solidFill>
            <a:srgbClr val="8A2B4C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5097780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Z=+3.60  P=0.000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263640"/>
            <a:ext cx="82296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222222"/>
                </a:solidFill>
                <a:latin typeface="Arial"/>
              </a:rPr>
              <a:t>All 4 alternatives yield 6-source Z &gt; 2.90 and P &lt; 0.005 — the CD8-cytotoxic meta result is robust to Akiyoshi statistic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