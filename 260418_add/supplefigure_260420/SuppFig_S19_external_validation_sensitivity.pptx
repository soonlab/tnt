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Restricted 5-cohort vs full 9-cohort sensitivity forest (Litchfield 2021 paired-diamond motif)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23038" y="1188720"/>
            <a:ext cx="3375442" cy="4572000"/>
          </a:xfrm>
          <a:prstGeom prst="rect">
            <a:avLst/>
          </a:prstGeom>
          <a:solidFill>
            <a:srgbClr val="EE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2926080" y="5760720"/>
            <a:ext cx="77724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926080" y="1188720"/>
            <a:ext cx="0" cy="457200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1188720"/>
            <a:ext cx="0" cy="457200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926080" y="1188720"/>
            <a:ext cx="77724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926080" y="576072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560320" y="581558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-2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36423" y="576072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670663" y="581558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-1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46766" y="576072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781006" y="581558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257109" y="576072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891349" y="581558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67451" y="576072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001691" y="581558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77794" y="576072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112034" y="581558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88137" y="576072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222377" y="581558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698480" y="576072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332720" y="581558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108192"/>
            <a:ext cx="77724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Stouffer Z (primary = solid diamond; 5-cohort-only comparison = hollow)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146766" y="1188720"/>
            <a:ext cx="0" cy="4572000"/>
          </a:xfrm>
          <a:prstGeom prst="line">
            <a:avLst/>
          </a:prstGeom>
          <a:ln w="1524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970494" y="1188720"/>
            <a:ext cx="0" cy="4572000"/>
          </a:xfrm>
          <a:prstGeom prst="line">
            <a:avLst/>
          </a:prstGeom>
          <a:ln w="635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323038" y="1188720"/>
            <a:ext cx="0" cy="4572000"/>
          </a:xfrm>
          <a:prstGeom prst="line">
            <a:avLst/>
          </a:prstGeom>
          <a:ln w="6350">
            <a:solidFill>
              <a:srgbClr val="BBBBB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82880" y="1423851"/>
            <a:ext cx="2651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0E4A68"/>
                </a:solidFill>
                <a:latin typeface="Arial"/>
              </a:rPr>
              <a:t>DSB / HDR</a:t>
            </a:r>
          </a:p>
        </p:txBody>
      </p:sp>
      <p:sp>
        <p:nvSpPr>
          <p:cNvPr id="30" name="Diamond 29"/>
          <p:cNvSpPr/>
          <p:nvPr/>
        </p:nvSpPr>
        <p:spPr>
          <a:xfrm>
            <a:off x="8547681" y="1396419"/>
            <a:ext cx="237744" cy="237744"/>
          </a:xfrm>
          <a:prstGeom prst="diamond">
            <a:avLst/>
          </a:prstGeom>
          <a:solidFill>
            <a:srgbClr val="0E4A68"/>
          </a:solidFill>
          <a:ln w="889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89920" y="1423851"/>
            <a:ext cx="1188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D4A300"/>
                </a:solidFill>
                <a:latin typeface="Arial"/>
              </a:rPr>
              <a:t>P = 0.002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24360" y="1423851"/>
            <a:ext cx="8229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BBBBBB"/>
                </a:solidFill>
                <a:latin typeface="Arial"/>
              </a:rPr>
              <a:t>N=518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" y="2076994"/>
            <a:ext cx="2651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0E4A68"/>
                </a:solidFill>
                <a:latin typeface="Arial"/>
              </a:rPr>
              <a:t>E2F/MYC</a:t>
            </a:r>
          </a:p>
        </p:txBody>
      </p:sp>
      <p:sp>
        <p:nvSpPr>
          <p:cNvPr id="34" name="Diamond 33"/>
          <p:cNvSpPr/>
          <p:nvPr/>
        </p:nvSpPr>
        <p:spPr>
          <a:xfrm>
            <a:off x="8125750" y="2049562"/>
            <a:ext cx="237744" cy="237744"/>
          </a:xfrm>
          <a:prstGeom prst="diamond">
            <a:avLst/>
          </a:prstGeom>
          <a:solidFill>
            <a:srgbClr val="0E4A68"/>
          </a:solidFill>
          <a:ln w="889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89920" y="2076994"/>
            <a:ext cx="1188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D4A300"/>
                </a:solidFill>
                <a:latin typeface="Arial"/>
              </a:rPr>
              <a:t>P = 0.005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024360" y="2076994"/>
            <a:ext cx="8229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BBBBBB"/>
                </a:solidFill>
                <a:latin typeface="Arial"/>
              </a:rPr>
              <a:t>N=518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" y="2730137"/>
            <a:ext cx="2651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0E4A68"/>
                </a:solidFill>
                <a:latin typeface="Arial"/>
              </a:rPr>
              <a:t>Tumor cell-cycle</a:t>
            </a:r>
          </a:p>
        </p:txBody>
      </p:sp>
      <p:sp>
        <p:nvSpPr>
          <p:cNvPr id="38" name="Diamond 37"/>
          <p:cNvSpPr/>
          <p:nvPr/>
        </p:nvSpPr>
        <p:spPr>
          <a:xfrm>
            <a:off x="8592094" y="2702705"/>
            <a:ext cx="237744" cy="237744"/>
          </a:xfrm>
          <a:prstGeom prst="diamond">
            <a:avLst/>
          </a:prstGeom>
          <a:solidFill>
            <a:srgbClr val="0E4A68"/>
          </a:solidFill>
          <a:ln w="889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789920" y="2730137"/>
            <a:ext cx="1188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D4A300"/>
                </a:solidFill>
                <a:latin typeface="Arial"/>
              </a:rPr>
              <a:t>P = 0.001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024360" y="2730137"/>
            <a:ext cx="8229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BBBBBB"/>
                </a:solidFill>
                <a:latin typeface="Arial"/>
              </a:rPr>
              <a:t>N=518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" y="3383280"/>
            <a:ext cx="2651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0E4A68"/>
                </a:solidFill>
                <a:latin typeface="Arial"/>
              </a:rPr>
              <a:t>EMT</a:t>
            </a:r>
          </a:p>
        </p:txBody>
      </p:sp>
      <p:sp>
        <p:nvSpPr>
          <p:cNvPr id="42" name="Diamond 41"/>
          <p:cNvSpPr/>
          <p:nvPr/>
        </p:nvSpPr>
        <p:spPr>
          <a:xfrm>
            <a:off x="6815546" y="3355848"/>
            <a:ext cx="237744" cy="237744"/>
          </a:xfrm>
          <a:prstGeom prst="diamond">
            <a:avLst/>
          </a:prstGeom>
          <a:solidFill>
            <a:srgbClr val="0E4A68"/>
          </a:solidFill>
          <a:ln w="889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789920" y="3383280"/>
            <a:ext cx="1188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P = 0.106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024360" y="3383280"/>
            <a:ext cx="8229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BBBBBB"/>
                </a:solidFill>
                <a:latin typeface="Arial"/>
              </a:rPr>
              <a:t>N=518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" y="4036423"/>
            <a:ext cx="2651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8A2B4C"/>
                </a:solidFill>
                <a:latin typeface="Arial"/>
              </a:rPr>
              <a:t>CD8 cytotoxic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7367451" y="4127863"/>
            <a:ext cx="1432343" cy="0"/>
          </a:xfrm>
          <a:prstGeom prst="line">
            <a:avLst/>
          </a:prstGeom>
          <a:ln w="15240">
            <a:solidFill>
              <a:srgbClr val="8A2B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Diamond 46"/>
          <p:cNvSpPr/>
          <p:nvPr/>
        </p:nvSpPr>
        <p:spPr>
          <a:xfrm>
            <a:off x="7276011" y="4036423"/>
            <a:ext cx="182880" cy="182880"/>
          </a:xfrm>
          <a:prstGeom prst="diamond">
            <a:avLst/>
          </a:prstGeom>
          <a:noFill/>
          <a:ln w="19050">
            <a:solidFill>
              <a:srgbClr val="8A2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iamond 47"/>
          <p:cNvSpPr/>
          <p:nvPr/>
        </p:nvSpPr>
        <p:spPr>
          <a:xfrm>
            <a:off x="8680922" y="4008991"/>
            <a:ext cx="237744" cy="237744"/>
          </a:xfrm>
          <a:prstGeom prst="diamond">
            <a:avLst/>
          </a:prstGeom>
          <a:solidFill>
            <a:srgbClr val="8A2B4C"/>
          </a:solidFill>
          <a:ln w="889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89920" y="4036423"/>
            <a:ext cx="1188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D4A300"/>
                </a:solidFill>
                <a:latin typeface="Arial"/>
              </a:rPr>
              <a:t>P = 0.001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024360" y="4036423"/>
            <a:ext cx="8229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BBBBBB"/>
                </a:solidFill>
                <a:latin typeface="Arial"/>
              </a:rPr>
              <a:t>N=816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" y="4689566"/>
            <a:ext cx="2651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8A2B4C"/>
                </a:solidFill>
                <a:latin typeface="Arial"/>
              </a:rPr>
              <a:t>T-cell infiltration</a:t>
            </a:r>
          </a:p>
        </p:txBody>
      </p:sp>
      <p:sp>
        <p:nvSpPr>
          <p:cNvPr id="52" name="Diamond 51"/>
          <p:cNvSpPr/>
          <p:nvPr/>
        </p:nvSpPr>
        <p:spPr>
          <a:xfrm>
            <a:off x="5960582" y="4662134"/>
            <a:ext cx="237744" cy="237744"/>
          </a:xfrm>
          <a:prstGeom prst="diamond">
            <a:avLst/>
          </a:prstGeom>
          <a:solidFill>
            <a:srgbClr val="8A2B4C"/>
          </a:solidFill>
          <a:ln w="889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789920" y="4689566"/>
            <a:ext cx="1188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P = 0.399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024360" y="4689566"/>
            <a:ext cx="8229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BBBBBB"/>
                </a:solidFill>
                <a:latin typeface="Arial"/>
              </a:rPr>
              <a:t>N=518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2880" y="5342709"/>
            <a:ext cx="26517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8A2B4C"/>
                </a:solidFill>
                <a:latin typeface="Arial"/>
              </a:rPr>
              <a:t>B-cell infiltration</a:t>
            </a:r>
          </a:p>
        </p:txBody>
      </p:sp>
      <p:sp>
        <p:nvSpPr>
          <p:cNvPr id="56" name="Diamond 55"/>
          <p:cNvSpPr/>
          <p:nvPr/>
        </p:nvSpPr>
        <p:spPr>
          <a:xfrm>
            <a:off x="5338790" y="5315277"/>
            <a:ext cx="237744" cy="237744"/>
          </a:xfrm>
          <a:prstGeom prst="diamond">
            <a:avLst/>
          </a:prstGeom>
          <a:solidFill>
            <a:srgbClr val="8A2B4C"/>
          </a:solidFill>
          <a:ln w="889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789920" y="5342709"/>
            <a:ext cx="1188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P = 0.781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024360" y="5342709"/>
            <a:ext cx="8229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BBBBBB"/>
                </a:solidFill>
                <a:latin typeface="Arial"/>
              </a:rPr>
              <a:t>N=518</a:t>
            </a:r>
          </a:p>
        </p:txBody>
      </p:sp>
      <p:sp>
        <p:nvSpPr>
          <p:cNvPr id="59" name="Diamond 58"/>
          <p:cNvSpPr/>
          <p:nvPr/>
        </p:nvSpPr>
        <p:spPr>
          <a:xfrm>
            <a:off x="8686800" y="777240"/>
            <a:ext cx="182880" cy="182880"/>
          </a:xfrm>
          <a:prstGeom prst="diamond">
            <a:avLst/>
          </a:prstGeom>
          <a:solidFill>
            <a:srgbClr val="0E4A68"/>
          </a:solidFill>
          <a:ln w="63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777240"/>
            <a:ext cx="32004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222222"/>
                </a:solidFill>
                <a:latin typeface="Arial"/>
              </a:rPr>
              <a:t>primary meta (restricted 5-cohort)</a:t>
            </a:r>
          </a:p>
        </p:txBody>
      </p:sp>
      <p:sp>
        <p:nvSpPr>
          <p:cNvPr id="61" name="Diamond 60"/>
          <p:cNvSpPr/>
          <p:nvPr/>
        </p:nvSpPr>
        <p:spPr>
          <a:xfrm>
            <a:off x="8695944" y="969264"/>
            <a:ext cx="164592" cy="164592"/>
          </a:xfrm>
          <a:prstGeom prst="diamond">
            <a:avLst/>
          </a:prstGeom>
          <a:noFill/>
          <a:ln w="19050">
            <a:solidFill>
              <a:srgbClr val="0E4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15400" y="960120"/>
            <a:ext cx="32004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hollow = 5-cohort-only comparison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86800" y="1280160"/>
            <a:ext cx="164592" cy="109728"/>
          </a:xfrm>
          <a:prstGeom prst="rect">
            <a:avLst/>
          </a:prstGeom>
          <a:solidFill>
            <a:srgbClr val="EE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87968" y="1261872"/>
            <a:ext cx="32004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222222"/>
                </a:solidFill>
                <a:latin typeface="Arial"/>
              </a:rPr>
              <a:t>favorable zone (Z &gt; 1.96)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Akiyoshi 2023 alternative-statistic sensitivity — 4 variants × 6-source meta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00400" y="5760720"/>
            <a:ext cx="777240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00400" y="1188720"/>
            <a:ext cx="0" cy="457200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972800" y="1188720"/>
            <a:ext cx="0" cy="457200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00400" y="1188720"/>
            <a:ext cx="777240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00400" y="576072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834640" y="581558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2.0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143500" y="576072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777740" y="581558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2.5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576072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720840" y="581558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3.0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029700" y="576072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63940" y="581558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3.5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72800" y="5760720"/>
            <a:ext cx="0" cy="64008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607040" y="5815584"/>
            <a:ext cx="7315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4.0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6108192"/>
            <a:ext cx="777240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6-source CD8-cytotoxic Stouffer Z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54396" y="1188720"/>
            <a:ext cx="5518404" cy="4572000"/>
          </a:xfrm>
          <a:prstGeom prst="rect">
            <a:avLst/>
          </a:prstGeom>
          <a:solidFill>
            <a:srgbClr val="EE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" y="1668780"/>
            <a:ext cx="2926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222222"/>
                </a:solidFill>
                <a:latin typeface="Arial"/>
              </a:rPr>
              <a:t>Cytolytic activity (GZMA×PRF1) ★</a:t>
            </a:r>
          </a:p>
        </p:txBody>
      </p:sp>
      <p:sp>
        <p:nvSpPr>
          <p:cNvPr id="21" name="Diamond 20"/>
          <p:cNvSpPr/>
          <p:nvPr/>
        </p:nvSpPr>
        <p:spPr>
          <a:xfrm>
            <a:off x="8085582" y="1632204"/>
            <a:ext cx="256032" cy="256032"/>
          </a:xfrm>
          <a:prstGeom prst="diamond">
            <a:avLst/>
          </a:prstGeom>
          <a:solidFill>
            <a:srgbClr val="D4A300"/>
          </a:solidFill>
          <a:ln w="762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5-Point Star 21"/>
          <p:cNvSpPr/>
          <p:nvPr/>
        </p:nvSpPr>
        <p:spPr>
          <a:xfrm>
            <a:off x="8359902" y="1540764"/>
            <a:ext cx="164592" cy="164592"/>
          </a:xfrm>
          <a:prstGeom prst="star5">
            <a:avLst/>
          </a:prstGeom>
          <a:solidFill>
            <a:srgbClr val="D4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64240" y="1668780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222222"/>
                </a:solidFill>
                <a:latin typeface="Arial"/>
              </a:rPr>
              <a:t>Z=+3.29  P=0.001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" y="2811780"/>
            <a:ext cx="2926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222222"/>
                </a:solidFill>
                <a:latin typeface="Arial"/>
              </a:rPr>
              <a:t>Effector-memory CD8 ssGSEA</a:t>
            </a:r>
          </a:p>
        </p:txBody>
      </p:sp>
      <p:sp>
        <p:nvSpPr>
          <p:cNvPr id="25" name="Diamond 24"/>
          <p:cNvSpPr/>
          <p:nvPr/>
        </p:nvSpPr>
        <p:spPr>
          <a:xfrm>
            <a:off x="6569964" y="2775204"/>
            <a:ext cx="256032" cy="256032"/>
          </a:xfrm>
          <a:prstGeom prst="diamond">
            <a:avLst/>
          </a:prstGeom>
          <a:solidFill>
            <a:srgbClr val="8A2B4C"/>
          </a:solidFill>
          <a:ln w="762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64240" y="2811780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222222"/>
                </a:solidFill>
                <a:latin typeface="Arial"/>
              </a:rPr>
              <a:t>Z=+2.90  P=0.004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" y="3954780"/>
            <a:ext cx="2926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222222"/>
                </a:solidFill>
                <a:latin typeface="Arial"/>
              </a:rPr>
              <a:t>MCP-counter cytotoxic-lymphocyte</a:t>
            </a:r>
          </a:p>
        </p:txBody>
      </p:sp>
      <p:sp>
        <p:nvSpPr>
          <p:cNvPr id="28" name="Diamond 27"/>
          <p:cNvSpPr/>
          <p:nvPr/>
        </p:nvSpPr>
        <p:spPr>
          <a:xfrm>
            <a:off x="7735824" y="3918204"/>
            <a:ext cx="256032" cy="256032"/>
          </a:xfrm>
          <a:prstGeom prst="diamond">
            <a:avLst/>
          </a:prstGeom>
          <a:solidFill>
            <a:srgbClr val="8A2B4C"/>
          </a:solidFill>
          <a:ln w="762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64240" y="3954780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222222"/>
                </a:solidFill>
                <a:latin typeface="Arial"/>
              </a:rPr>
              <a:t>Z=+3.20  P=0.001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5097780"/>
            <a:ext cx="29260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222222"/>
                </a:solidFill>
                <a:latin typeface="Arial"/>
              </a:rPr>
              <a:t>Activated CD8 ssGSEA</a:t>
            </a:r>
          </a:p>
        </p:txBody>
      </p:sp>
      <p:sp>
        <p:nvSpPr>
          <p:cNvPr id="31" name="Diamond 30"/>
          <p:cNvSpPr/>
          <p:nvPr/>
        </p:nvSpPr>
        <p:spPr>
          <a:xfrm>
            <a:off x="9290304" y="5061204"/>
            <a:ext cx="256032" cy="256032"/>
          </a:xfrm>
          <a:prstGeom prst="diamond">
            <a:avLst/>
          </a:prstGeom>
          <a:solidFill>
            <a:srgbClr val="8A2B4C"/>
          </a:solidFill>
          <a:ln w="762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64240" y="5097780"/>
            <a:ext cx="10972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222222"/>
                </a:solidFill>
                <a:latin typeface="Arial"/>
              </a:rPr>
              <a:t>Z=+3.60  P=0.000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6263640"/>
            <a:ext cx="77724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1">
                <a:solidFill>
                  <a:srgbClr val="222222"/>
                </a:solidFill>
                <a:latin typeface="Arial"/>
              </a:rPr>
              <a:t>All 4 alternatives yield 6-source Z &gt; 2.90 and P &lt; 0.005 — the CD8-cytotoxic meta result is robust to Akiyoshi statistic choice.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