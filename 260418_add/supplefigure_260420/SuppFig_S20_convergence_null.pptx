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Pre-specified 36-pair baseline × cascade-Δ convergence test — null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0" y="6400800"/>
            <a:ext cx="77724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00400" y="1097280"/>
            <a:ext cx="0" cy="530352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0" y="1097280"/>
            <a:ext cx="0" cy="530352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0" y="1097280"/>
            <a:ext cx="77724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640080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34640" y="645566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-1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43500" y="640080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77740" y="645566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-0.5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86600" y="640080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720840" y="645566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+0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29700" y="640080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63940" y="645566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+0.5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00" y="640080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607040" y="645566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+1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6748272"/>
            <a:ext cx="77724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Spearman r  (baseline × cascade-Δ, n = 12)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86600" y="1097280"/>
            <a:ext cx="0" cy="5303520"/>
          </a:xfrm>
          <a:prstGeom prst="line">
            <a:avLst/>
          </a:prstGeom>
          <a:ln w="1524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832604" y="1097280"/>
            <a:ext cx="0" cy="5303520"/>
          </a:xfrm>
          <a:prstGeom prst="line">
            <a:avLst/>
          </a:prstGeom>
          <a:ln w="635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340596" y="1097280"/>
            <a:ext cx="0" cy="5303520"/>
          </a:xfrm>
          <a:prstGeom prst="line">
            <a:avLst/>
          </a:prstGeom>
          <a:ln w="635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2880" y="110464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Myc Targets V × IGH_n_delta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86600" y="1170940"/>
            <a:ext cx="2172386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9213266" y="112522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45952" y="110464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" y="125196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DNA Double-St × IGH_n_delta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86600" y="1318260"/>
            <a:ext cx="2117979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158859" y="127254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45952" y="125196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139928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DNA Repair R- × IGH_n_delta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86600" y="1465580"/>
            <a:ext cx="2090776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131656" y="141986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45952" y="139928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" y="154660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frac_amp × Treg_delta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5162931" y="1612900"/>
            <a:ext cx="1923669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5117211" y="1567180"/>
            <a:ext cx="91440" cy="91440"/>
          </a:xfrm>
          <a:prstGeom prst="ellipse">
            <a:avLst/>
          </a:prstGeom>
          <a:solidFill>
            <a:srgbClr val="8A2B4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45952" y="154660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8A2B4C"/>
                </a:solidFill>
                <a:latin typeface="Arial"/>
              </a:rPr>
              <a:t>P=0.10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" y="169392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MHC_II × CD8_cytotoxic_delta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5209565" y="1760220"/>
            <a:ext cx="1877035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5163845" y="1714500"/>
            <a:ext cx="91440" cy="91440"/>
          </a:xfrm>
          <a:prstGeom prst="ellipse">
            <a:avLst/>
          </a:prstGeom>
          <a:solidFill>
            <a:srgbClr val="8A2B4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45952" y="169392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8A2B4C"/>
                </a:solidFill>
                <a:latin typeface="Arial"/>
              </a:rPr>
              <a:t>P=0.11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" y="184124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MSI_pct × Treg_delta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086600" y="1907540"/>
            <a:ext cx="1737131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8778011" y="186182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45952" y="184124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" y="198856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DNA Double-St × Treg_delta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086600" y="2054860"/>
            <a:ext cx="1523390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8564270" y="200914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045952" y="198856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2880" y="213588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MSI_pct × CD8_cytotoxic_delta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5637047" y="2202180"/>
            <a:ext cx="1449553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5591327" y="2156460"/>
            <a:ext cx="91440" cy="91440"/>
          </a:xfrm>
          <a:prstGeom prst="ellipse">
            <a:avLst/>
          </a:prstGeom>
          <a:solidFill>
            <a:srgbClr val="8A2B4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045952" y="213588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8A2B4C"/>
                </a:solidFill>
                <a:latin typeface="Arial"/>
              </a:rPr>
              <a:t>P=0.26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" y="228320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MHC_II × MHC_II_delta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5672023" y="2349500"/>
            <a:ext cx="1414577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5626303" y="2303780"/>
            <a:ext cx="91440" cy="91440"/>
          </a:xfrm>
          <a:prstGeom prst="ellipse">
            <a:avLst/>
          </a:prstGeom>
          <a:solidFill>
            <a:srgbClr val="8A2B4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045952" y="228320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8A2B4C"/>
                </a:solidFill>
                <a:latin typeface="Arial"/>
              </a:rPr>
              <a:t>P=0.25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2880" y="243052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DNA Repair R- × Treg_delta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086600" y="2496820"/>
            <a:ext cx="1360170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8401050" y="245110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045952" y="243052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P=0.27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2880" y="257784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Myc Targets V × Treg_delta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086600" y="2644140"/>
            <a:ext cx="1251356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8292236" y="259842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045952" y="257784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P=0.31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" y="272516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HDR Thru Homo × IGH_n_delta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086600" y="2791460"/>
            <a:ext cx="1224153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8265033" y="274574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045952" y="272516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P=0.32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2880" y="287248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E2F Targets × IGH_n_delta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086600" y="2938780"/>
            <a:ext cx="1196950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8237830" y="289306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045952" y="287248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P=0.33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2880" y="301980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G2-M Checkpoi × IGH_n_delta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086600" y="3086100"/>
            <a:ext cx="1196950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8237830" y="304038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045952" y="301980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P=0.33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2880" y="316712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DNA Double-St × MHC_II_delta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086600" y="3233420"/>
            <a:ext cx="1142543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8183423" y="318770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045952" y="316712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P=0.35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331444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DNA Repair R- × MHC_II_delta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086600" y="3380740"/>
            <a:ext cx="1115339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8156219" y="333502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045952" y="331444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P=0.37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2880" y="346176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Myc Targets V × MHC_II_delta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7086600" y="3528060"/>
            <a:ext cx="952119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92999" y="348234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045952" y="346176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P=0.44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2880" y="360908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MSI_pct × IGH_n_delta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086600" y="3675380"/>
            <a:ext cx="870509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7911389" y="362966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045952" y="360908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P=0.51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2880" y="375640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HDR Thru Homo × Treg_delta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7086600" y="3822700"/>
            <a:ext cx="734492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7775372" y="377698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045952" y="375640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P=0.56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2880" y="390372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frac_amp × MHC_II_delta</a:t>
            </a:r>
          </a:p>
        </p:txBody>
      </p:sp>
      <p:cxnSp>
        <p:nvCxnSpPr>
          <p:cNvPr id="99" name="Connector 98"/>
          <p:cNvCxnSpPr/>
          <p:nvPr/>
        </p:nvCxnSpPr>
        <p:spPr>
          <a:xfrm flipH="1">
            <a:off x="6375425" y="3970020"/>
            <a:ext cx="711175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6329705" y="3924300"/>
            <a:ext cx="91440" cy="91440"/>
          </a:xfrm>
          <a:prstGeom prst="ellipse">
            <a:avLst/>
          </a:prstGeom>
          <a:solidFill>
            <a:srgbClr val="8A2B4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045952" y="390372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8A2B4C"/>
                </a:solidFill>
                <a:latin typeface="Arial"/>
              </a:rPr>
              <a:t>P=0.57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82880" y="405104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MHC_II × IGH_n_delta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7086600" y="4117340"/>
            <a:ext cx="680085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7720965" y="407162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045952" y="405104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P=0.59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2880" y="419836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frac_amp × CD8_cytotoxic_delta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7086600" y="4264660"/>
            <a:ext cx="680085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Oval 107"/>
          <p:cNvSpPr/>
          <p:nvPr/>
        </p:nvSpPr>
        <p:spPr>
          <a:xfrm>
            <a:off x="7720965" y="421894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045952" y="419836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P=0.59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82880" y="434568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E2F Targets × Treg_delta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7086600" y="4411980"/>
            <a:ext cx="598475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7639355" y="436626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045952" y="434568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P=0.63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82880" y="449300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G2-M Checkpoi × Treg_delta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7086600" y="4559300"/>
            <a:ext cx="598475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7639355" y="451358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1045952" y="449300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P=0.63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82880" y="464032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MSI_pct × MHC_II_delta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7086600" y="4706620"/>
            <a:ext cx="579044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7619924" y="466090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045952" y="464032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P=0.66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82880" y="478764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E2F Targets × CD8_cytotoxic_delta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7086600" y="4853940"/>
            <a:ext cx="489661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7530541" y="480822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1045952" y="478764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P=0.70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82880" y="493496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HDR Thru Homo × CD8_cytotoxic_delta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7086600" y="5001260"/>
            <a:ext cx="489661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7530541" y="495554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1045952" y="493496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P=0.70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82880" y="508228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G2-M Checkpoi × CD8_cytotoxic_delta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7086600" y="5148580"/>
            <a:ext cx="489661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7530541" y="510286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1045952" y="508228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P=0.70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82880" y="522960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MHC_II × Treg_delta</a:t>
            </a:r>
          </a:p>
        </p:txBody>
      </p:sp>
      <p:cxnSp>
        <p:nvCxnSpPr>
          <p:cNvPr id="135" name="Connector 134"/>
          <p:cNvCxnSpPr/>
          <p:nvPr/>
        </p:nvCxnSpPr>
        <p:spPr>
          <a:xfrm flipH="1">
            <a:off x="6732956" y="5295900"/>
            <a:ext cx="353644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Oval 135"/>
          <p:cNvSpPr/>
          <p:nvPr/>
        </p:nvSpPr>
        <p:spPr>
          <a:xfrm>
            <a:off x="6687236" y="5250180"/>
            <a:ext cx="91440" cy="91440"/>
          </a:xfrm>
          <a:prstGeom prst="ellipse">
            <a:avLst/>
          </a:prstGeom>
          <a:solidFill>
            <a:srgbClr val="8A2B4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1045952" y="522960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8A2B4C"/>
                </a:solidFill>
                <a:latin typeface="Arial"/>
              </a:rPr>
              <a:t>P=0.78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82880" y="537692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HDR Thru Homo × MHC_II_delta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7086600" y="5443220"/>
            <a:ext cx="353644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Oval 139"/>
          <p:cNvSpPr/>
          <p:nvPr/>
        </p:nvSpPr>
        <p:spPr>
          <a:xfrm>
            <a:off x="7394524" y="539750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1045952" y="537692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P=0.78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82880" y="552424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frac_amp × IGH_n_delta</a:t>
            </a:r>
          </a:p>
        </p:txBody>
      </p:sp>
      <p:cxnSp>
        <p:nvCxnSpPr>
          <p:cNvPr id="143" name="Connector 142"/>
          <p:cNvCxnSpPr/>
          <p:nvPr/>
        </p:nvCxnSpPr>
        <p:spPr>
          <a:xfrm flipH="1">
            <a:off x="6779590" y="5590540"/>
            <a:ext cx="307010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Oval 143"/>
          <p:cNvSpPr/>
          <p:nvPr/>
        </p:nvSpPr>
        <p:spPr>
          <a:xfrm>
            <a:off x="6733870" y="5544820"/>
            <a:ext cx="91440" cy="91440"/>
          </a:xfrm>
          <a:prstGeom prst="ellipse">
            <a:avLst/>
          </a:prstGeom>
          <a:solidFill>
            <a:srgbClr val="8A2B4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1045952" y="552424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8A2B4C"/>
                </a:solidFill>
                <a:latin typeface="Arial"/>
              </a:rPr>
              <a:t>P=0.81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82880" y="567156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DNA Double-St × CD8_cytotoxic_delta</a:t>
            </a:r>
          </a:p>
        </p:txBody>
      </p:sp>
      <p:cxnSp>
        <p:nvCxnSpPr>
          <p:cNvPr id="147" name="Connector 146"/>
          <p:cNvCxnSpPr/>
          <p:nvPr/>
        </p:nvCxnSpPr>
        <p:spPr>
          <a:xfrm flipH="1">
            <a:off x="6814566" y="5737860"/>
            <a:ext cx="272034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Oval 147"/>
          <p:cNvSpPr/>
          <p:nvPr/>
        </p:nvSpPr>
        <p:spPr>
          <a:xfrm>
            <a:off x="6768846" y="5692140"/>
            <a:ext cx="91440" cy="91440"/>
          </a:xfrm>
          <a:prstGeom prst="ellipse">
            <a:avLst/>
          </a:prstGeom>
          <a:solidFill>
            <a:srgbClr val="8A2B4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045952" y="567156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8A2B4C"/>
                </a:solidFill>
                <a:latin typeface="Arial"/>
              </a:rPr>
              <a:t>P=0.83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82880" y="581888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Myc Targets V × CD8_cytotoxic_delta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7086600" y="5885180"/>
            <a:ext cx="108814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Oval 151"/>
          <p:cNvSpPr/>
          <p:nvPr/>
        </p:nvSpPr>
        <p:spPr>
          <a:xfrm>
            <a:off x="7149694" y="583946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1045952" y="581888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P=0.93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82880" y="596620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G2-M Checkpoi × MHC_II_delta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7086600" y="6032500"/>
            <a:ext cx="81610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Oval 155"/>
          <p:cNvSpPr/>
          <p:nvPr/>
        </p:nvSpPr>
        <p:spPr>
          <a:xfrm>
            <a:off x="7122490" y="598678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1045952" y="596620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P=0.95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82880" y="611352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E2F Targets × MHC_II_delta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7086600" y="6179820"/>
            <a:ext cx="81610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Oval 159"/>
          <p:cNvSpPr/>
          <p:nvPr/>
        </p:nvSpPr>
        <p:spPr>
          <a:xfrm>
            <a:off x="7122490" y="613410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1045952" y="611352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P=0.95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82880" y="6260846"/>
            <a:ext cx="292608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DNA Repair R- × CD8_cytotoxic_delta</a:t>
            </a:r>
          </a:p>
        </p:txBody>
      </p:sp>
      <p:cxnSp>
        <p:nvCxnSpPr>
          <p:cNvPr id="163" name="Connector 162"/>
          <p:cNvCxnSpPr/>
          <p:nvPr/>
        </p:nvCxnSpPr>
        <p:spPr>
          <a:xfrm flipH="1">
            <a:off x="7059397" y="6327140"/>
            <a:ext cx="27203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Oval 163"/>
          <p:cNvSpPr/>
          <p:nvPr/>
        </p:nvSpPr>
        <p:spPr>
          <a:xfrm>
            <a:off x="7013677" y="6281420"/>
            <a:ext cx="91440" cy="91440"/>
          </a:xfrm>
          <a:prstGeom prst="ellipse">
            <a:avLst/>
          </a:prstGeom>
          <a:solidFill>
            <a:srgbClr val="8A2B4C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1045952" y="6260846"/>
            <a:ext cx="914400" cy="1325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8A2B4C"/>
                </a:solidFill>
                <a:latin typeface="Arial"/>
              </a:rPr>
              <a:t>P=0.98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9601200" y="1280160"/>
            <a:ext cx="2286000" cy="914400"/>
          </a:xfrm>
          <a:prstGeom prst="rect">
            <a:avLst/>
          </a:prstGeom>
          <a:solidFill>
            <a:srgbClr val="D4A300"/>
          </a:solidFill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601200" y="1417320"/>
            <a:ext cx="22860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22222"/>
                </a:solidFill>
                <a:latin typeface="Arial"/>
              </a:rPr>
              <a:t>0 / 36 pairs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601200" y="1691640"/>
            <a:ext cx="22860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P &lt; 0.05 (BH q ≥ 0.98)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601200" y="1965960"/>
            <a:ext cx="2286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1">
                <a:solidFill>
                  <a:srgbClr val="222222"/>
                </a:solidFill>
                <a:latin typeface="Arial"/>
              </a:rPr>
              <a:t>1.8 expected by chance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Purity-adjusted paired Δ sensitivity — 4 cascade features × response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0" y="6217920"/>
            <a:ext cx="77724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00400" y="1188720"/>
            <a:ext cx="0" cy="50292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0" y="1188720"/>
            <a:ext cx="0" cy="502920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0" y="1188720"/>
            <a:ext cx="77724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36392" y="62179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97480" y="61356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392" y="49606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97480" y="48783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36392" y="37033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97480" y="36210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2.0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36392" y="24460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97480" y="23637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3.0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36392" y="1188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97480" y="1106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4.0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00400" y="62179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834640" y="62727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0.0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43500" y="62179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777740" y="62727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86600" y="62179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20840" y="62727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2.0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29700" y="62179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63940" y="62727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3.0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972800" y="62179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607040" y="62727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4.0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6565392"/>
            <a:ext cx="77724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raw 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269748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purity-adjusted Δ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3200400" y="1188720"/>
            <a:ext cx="7772400" cy="5029200"/>
          </a:xfrm>
          <a:prstGeom prst="line">
            <a:avLst/>
          </a:prstGeom>
          <a:ln w="635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0927080" y="5491078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27080" y="6002732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27080" y="5390324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27080" y="5390324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27080" y="6172200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27080" y="6142205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27080" y="6162202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927080" y="5902243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927080" y="5992229"/>
            <a:ext cx="91440" cy="91440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0" y="6263640"/>
            <a:ext cx="822960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222222"/>
                </a:solidFill>
                <a:latin typeface="Arial"/>
              </a:rPr>
              <a:t>Points scatter on the y = x diagonal — purity correction does not flip Δ sign or rank for any cascade feature. Cascade observations are not purity artefacts.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