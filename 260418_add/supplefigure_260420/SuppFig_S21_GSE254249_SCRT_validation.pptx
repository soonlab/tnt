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96012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GSE254249 pre-treatment × propagated response (n = 3; 1 good CR + 2 non-CR) — directional only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0" y="6035040"/>
            <a:ext cx="9692640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463040" y="1188720"/>
            <a:ext cx="0" cy="484632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88720"/>
            <a:ext cx="0" cy="484632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63040" y="1188720"/>
            <a:ext cx="9692640" cy="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99032" y="603504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60120" y="595274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-0.9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99032" y="482346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60120" y="474116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-0.3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99032" y="361188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60120" y="352958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0.4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99032" y="240030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60120" y="231800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1.1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99032" y="1188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60120" y="1106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1.8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606040"/>
            <a:ext cx="365760" cy="20116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ssGSEA score (z)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52451" y="6126480"/>
            <a:ext cx="100584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DSB / HDR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868680"/>
            <a:ext cx="5538651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4A68"/>
                </a:solidFill>
                <a:latin typeface="Arial"/>
              </a:rPr>
              <a:t>Thread 1 (tumor-intrinsic)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05548" y="3570603"/>
            <a:ext cx="201168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1860412" y="3524883"/>
            <a:ext cx="91440" cy="91440"/>
          </a:xfrm>
          <a:prstGeom prst="ellipse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2304027" y="3572148"/>
            <a:ext cx="201168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2358891" y="2642396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358891" y="4410459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37114" y="6126480"/>
            <a:ext cx="100584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E2F/MYC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190211" y="3656428"/>
            <a:ext cx="201168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3245075" y="3610708"/>
            <a:ext cx="91440" cy="91440"/>
          </a:xfrm>
          <a:prstGeom prst="ellipse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688690" y="4136089"/>
            <a:ext cx="201168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3743554" y="3557560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743554" y="4623178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21777" y="6126480"/>
            <a:ext cx="100584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Tumor
cell-cycle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574874" y="4164745"/>
            <a:ext cx="201168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4629738" y="4119025"/>
            <a:ext cx="91440" cy="91440"/>
          </a:xfrm>
          <a:prstGeom prst="ellipse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5073352" y="3952253"/>
            <a:ext cx="201168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5128216" y="3299002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128216" y="4514063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06440" y="6126480"/>
            <a:ext cx="100584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EMT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959537" y="5114467"/>
            <a:ext cx="201168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6014401" y="5068747"/>
            <a:ext cx="91440" cy="91440"/>
          </a:xfrm>
          <a:prstGeom prst="ellipse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6458015" y="4108675"/>
            <a:ext cx="201168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6512879" y="3376414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512879" y="4749496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91103" y="6126480"/>
            <a:ext cx="100584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CD8
cytotoxic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01691" y="868680"/>
            <a:ext cx="4153989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8A2B4C"/>
                </a:solidFill>
                <a:latin typeface="Arial"/>
              </a:rPr>
              <a:t>Thread 2 (immune)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344200" y="3823751"/>
            <a:ext cx="201168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7399064" y="3778031"/>
            <a:ext cx="91440" cy="91440"/>
          </a:xfrm>
          <a:prstGeom prst="ellipse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7842678" y="2971518"/>
            <a:ext cx="201168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7897542" y="1702191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897542" y="4149406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75766" y="6126480"/>
            <a:ext cx="100584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T-cell
infiltration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728862" y="2289100"/>
            <a:ext cx="201168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8783726" y="2243380"/>
            <a:ext cx="91440" cy="91440"/>
          </a:xfrm>
          <a:prstGeom prst="ellipse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9227341" y="3473325"/>
            <a:ext cx="201168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9282205" y="3127971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282205" y="3727238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960429" y="6126480"/>
            <a:ext cx="100584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B-cell
infiltration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0113525" y="2012604"/>
            <a:ext cx="201168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10168389" y="1966884"/>
            <a:ext cx="91440" cy="91440"/>
          </a:xfrm>
          <a:prstGeom prst="ellipse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>
            <a:off x="10612004" y="4534088"/>
            <a:ext cx="201168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10666868" y="5430129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666868" y="3546607"/>
            <a:ext cx="91440" cy="91440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1463040" y="4348486"/>
            <a:ext cx="9692640" cy="0"/>
          </a:xfrm>
          <a:prstGeom prst="line">
            <a:avLst/>
          </a:prstGeom>
          <a:ln w="6350">
            <a:solidFill>
              <a:srgbClr val="BBBBB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10177272" y="621792"/>
            <a:ext cx="128016" cy="12801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332720" y="594360"/>
            <a:ext cx="10972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Arial"/>
              </a:rPr>
              <a:t>good (n=1)</a:t>
            </a:r>
          </a:p>
        </p:txBody>
      </p:sp>
      <p:sp>
        <p:nvSpPr>
          <p:cNvPr id="66" name="Oval 65"/>
          <p:cNvSpPr/>
          <p:nvPr/>
        </p:nvSpPr>
        <p:spPr>
          <a:xfrm>
            <a:off x="10177272" y="804672"/>
            <a:ext cx="128016" cy="12801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332720" y="777240"/>
            <a:ext cx="10972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Arial"/>
              </a:rPr>
              <a:t>non-CR (n=2)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463040" y="6263640"/>
            <a:ext cx="960120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BBBBBB"/>
                </a:solidFill>
                <a:latin typeface="Arial"/>
              </a:rPr>
              <a:t>Sample size (n = 3; 1 good + 2 bad) prohibits formal testing; directional 4/7 concordance is uninformative given the imbalance.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GSE254249 post-TNT × response (n = 8; 5 CR + 3 non-CR) — primary SC-RT validation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0" y="6035040"/>
            <a:ext cx="9692640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463040" y="1188720"/>
            <a:ext cx="0" cy="484632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88720"/>
            <a:ext cx="0" cy="484632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63040" y="1188720"/>
            <a:ext cx="9692640" cy="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99032" y="603504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60120" y="595274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-2.3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99032" y="482346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60120" y="474116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-1.2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99032" y="361188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60120" y="352958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-0.2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99032" y="240030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60120" y="231800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0.9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99032" y="1188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60120" y="1106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2.0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606040"/>
            <a:ext cx="365760" cy="20116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ssGSEA score (z)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463040" y="3410162"/>
            <a:ext cx="9692640" cy="0"/>
          </a:xfrm>
          <a:prstGeom prst="line">
            <a:avLst/>
          </a:prstGeom>
          <a:ln w="6350">
            <a:solidFill>
              <a:srgbClr val="BBBBB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652451" y="6126480"/>
            <a:ext cx="100584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DSB / HDR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868680"/>
            <a:ext cx="5538651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4A68"/>
                </a:solidFill>
                <a:latin typeface="Arial"/>
              </a:rPr>
              <a:t>Thread 1 (tumor-intrinsic)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1906132" y="2561309"/>
            <a:ext cx="0" cy="1189525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32980" y="3750834"/>
            <a:ext cx="14630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32980" y="2561309"/>
            <a:ext cx="14630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759828" y="3369361"/>
            <a:ext cx="292608" cy="1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1759828" y="3152059"/>
            <a:ext cx="292608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904312" y="2529305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807742" y="3099828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75869" y="3120055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937321" y="3337357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915929" y="3718830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 flipV="1">
            <a:off x="2404611" y="3476491"/>
            <a:ext cx="0" cy="1220008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331459" y="4696499"/>
            <a:ext cx="146304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331459" y="3476491"/>
            <a:ext cx="146304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2258307" y="4650988"/>
            <a:ext cx="292608" cy="1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2258307" y="4605477"/>
            <a:ext cx="292608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2346039" y="3444487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378669" y="4573473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356570" y="4664495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515291" y="1078992"/>
            <a:ext cx="12801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Δ=+0.94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15291" y="896112"/>
            <a:ext cx="12801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P=0.071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37114" y="6126480"/>
            <a:ext cx="100584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E2F/MYC</a:t>
            </a:r>
          </a:p>
        </p:txBody>
      </p:sp>
      <p:cxnSp>
        <p:nvCxnSpPr>
          <p:cNvPr id="43" name="Connector 42"/>
          <p:cNvCxnSpPr/>
          <p:nvPr/>
        </p:nvCxnSpPr>
        <p:spPr>
          <a:xfrm flipV="1">
            <a:off x="3290795" y="2851588"/>
            <a:ext cx="0" cy="677616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217643" y="3529204"/>
            <a:ext cx="14630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217643" y="2851588"/>
            <a:ext cx="14630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3144491" y="3350029"/>
            <a:ext cx="292608" cy="1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3144491" y="3005843"/>
            <a:ext cx="292608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3241329" y="2819584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229799" y="2822124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207103" y="2973839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253498" y="3318025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215051" y="3497200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 flipV="1">
            <a:off x="3789274" y="3175994"/>
            <a:ext cx="0" cy="1666464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716122" y="4842458"/>
            <a:ext cx="146304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716122" y="3175994"/>
            <a:ext cx="146304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3642970" y="4607700"/>
            <a:ext cx="292608" cy="1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3642970" y="4372941"/>
            <a:ext cx="292608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3738531" y="3143990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758424" y="4340937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816486" y="4810454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899954" y="1078992"/>
            <a:ext cx="12801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Δ=+0.89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99954" y="896112"/>
            <a:ext cx="12801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P=0.143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21777" y="6126480"/>
            <a:ext cx="100584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Tumor
cell-cycle</a:t>
            </a:r>
          </a:p>
        </p:txBody>
      </p:sp>
      <p:cxnSp>
        <p:nvCxnSpPr>
          <p:cNvPr id="64" name="Connector 63"/>
          <p:cNvCxnSpPr/>
          <p:nvPr/>
        </p:nvCxnSpPr>
        <p:spPr>
          <a:xfrm flipV="1">
            <a:off x="4675458" y="2773238"/>
            <a:ext cx="0" cy="621225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602306" y="3394463"/>
            <a:ext cx="14630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602306" y="2773238"/>
            <a:ext cx="14630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4529154" y="3294538"/>
            <a:ext cx="292608" cy="1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" name="Connector 67"/>
          <p:cNvCxnSpPr/>
          <p:nvPr/>
        </p:nvCxnSpPr>
        <p:spPr>
          <a:xfrm>
            <a:off x="4529154" y="3097850"/>
            <a:ext cx="292608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4589710" y="2741234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682922" y="2919501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658131" y="3065846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627190" y="3262534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655943" y="3362459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 flipV="1">
            <a:off x="5173936" y="2873154"/>
            <a:ext cx="0" cy="232695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5100784" y="5200104"/>
            <a:ext cx="146304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5100784" y="2873154"/>
            <a:ext cx="146304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/>
          <p:cNvSpPr/>
          <p:nvPr/>
        </p:nvSpPr>
        <p:spPr>
          <a:xfrm>
            <a:off x="5027632" y="4754588"/>
            <a:ext cx="292608" cy="1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5027632" y="4309071"/>
            <a:ext cx="292608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5145500" y="2841150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154589" y="4277067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107943" y="5168100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84617" y="1078992"/>
            <a:ext cx="12801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Δ=+0.91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284617" y="896112"/>
            <a:ext cx="12801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P=0.393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806440" y="6126480"/>
            <a:ext cx="100584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EMT</a:t>
            </a:r>
          </a:p>
        </p:txBody>
      </p:sp>
      <p:cxnSp>
        <p:nvCxnSpPr>
          <p:cNvPr id="85" name="Connector 84"/>
          <p:cNvCxnSpPr/>
          <p:nvPr/>
        </p:nvCxnSpPr>
        <p:spPr>
          <a:xfrm flipV="1">
            <a:off x="6060121" y="3161371"/>
            <a:ext cx="0" cy="410985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986969" y="3572356"/>
            <a:ext cx="14630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5986969" y="3161371"/>
            <a:ext cx="14630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ectangle 87"/>
          <p:cNvSpPr/>
          <p:nvPr/>
        </p:nvSpPr>
        <p:spPr>
          <a:xfrm>
            <a:off x="5913817" y="3549304"/>
            <a:ext cx="292608" cy="1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5913817" y="3409019"/>
            <a:ext cx="292608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Oval 89"/>
          <p:cNvSpPr/>
          <p:nvPr/>
        </p:nvSpPr>
        <p:spPr>
          <a:xfrm>
            <a:off x="6003761" y="3129367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024608" y="3251271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5972261" y="3377015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065458" y="3517300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071652" y="3540352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" name="Connector 94"/>
          <p:cNvCxnSpPr/>
          <p:nvPr/>
        </p:nvCxnSpPr>
        <p:spPr>
          <a:xfrm flipV="1">
            <a:off x="6558599" y="3299857"/>
            <a:ext cx="0" cy="151289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6485447" y="3451146"/>
            <a:ext cx="146304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6485447" y="3299857"/>
            <a:ext cx="146304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ectangle 97"/>
          <p:cNvSpPr/>
          <p:nvPr/>
        </p:nvSpPr>
        <p:spPr>
          <a:xfrm>
            <a:off x="6412295" y="3413201"/>
            <a:ext cx="292608" cy="1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9" name="Connector 98"/>
          <p:cNvCxnSpPr/>
          <p:nvPr/>
        </p:nvCxnSpPr>
        <p:spPr>
          <a:xfrm>
            <a:off x="6412295" y="3375256"/>
            <a:ext cx="292608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6465384" y="3267853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583956" y="3343252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539458" y="3419142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669280" y="1078992"/>
            <a:ext cx="12801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Δ=-0.02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669280" y="896112"/>
            <a:ext cx="12801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P=1.000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191103" y="6126480"/>
            <a:ext cx="100584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CD8
cytotoxic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001691" y="868680"/>
            <a:ext cx="4153989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8A2B4C"/>
                </a:solidFill>
                <a:latin typeface="Arial"/>
              </a:rPr>
              <a:t>Thread 2 (immune)</a:t>
            </a:r>
          </a:p>
        </p:txBody>
      </p:sp>
      <p:cxnSp>
        <p:nvCxnSpPr>
          <p:cNvPr id="107" name="Connector 106"/>
          <p:cNvCxnSpPr/>
          <p:nvPr/>
        </p:nvCxnSpPr>
        <p:spPr>
          <a:xfrm flipV="1">
            <a:off x="7444784" y="3069005"/>
            <a:ext cx="0" cy="568496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7371632" y="3637501"/>
            <a:ext cx="14630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7371632" y="3069005"/>
            <a:ext cx="14630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Rectangle 109"/>
          <p:cNvSpPr/>
          <p:nvPr/>
        </p:nvSpPr>
        <p:spPr>
          <a:xfrm>
            <a:off x="7298480" y="3508592"/>
            <a:ext cx="292608" cy="1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7298480" y="3433731"/>
            <a:ext cx="292608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7482532" y="3037001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7422539" y="3214105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7467330" y="3401727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7358473" y="3476588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441548" y="3605497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 flipV="1">
            <a:off x="7943262" y="2895347"/>
            <a:ext cx="0" cy="2123023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870110" y="5018370"/>
            <a:ext cx="146304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870110" y="2895347"/>
            <a:ext cx="146304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ectangle 119"/>
          <p:cNvSpPr/>
          <p:nvPr/>
        </p:nvSpPr>
        <p:spPr>
          <a:xfrm>
            <a:off x="7796958" y="4774287"/>
            <a:ext cx="292608" cy="1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7796958" y="4530203"/>
            <a:ext cx="292608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7842905" y="2863343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7895445" y="4498199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7860380" y="4986366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053943" y="1078992"/>
            <a:ext cx="12801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Δ=+0.68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053943" y="896112"/>
            <a:ext cx="12801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P=0.571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575766" y="6126480"/>
            <a:ext cx="100584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T-cell
infiltration</a:t>
            </a:r>
          </a:p>
        </p:txBody>
      </p:sp>
      <p:cxnSp>
        <p:nvCxnSpPr>
          <p:cNvPr id="128" name="Connector 127"/>
          <p:cNvCxnSpPr/>
          <p:nvPr/>
        </p:nvCxnSpPr>
        <p:spPr>
          <a:xfrm flipV="1">
            <a:off x="8829446" y="2824257"/>
            <a:ext cx="0" cy="681044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756294" y="3505301"/>
            <a:ext cx="14630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756294" y="2824257"/>
            <a:ext cx="14630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ctangle 130"/>
          <p:cNvSpPr/>
          <p:nvPr/>
        </p:nvSpPr>
        <p:spPr>
          <a:xfrm>
            <a:off x="8683142" y="3478575"/>
            <a:ext cx="292608" cy="1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2" name="Connector 131"/>
          <p:cNvCxnSpPr/>
          <p:nvPr/>
        </p:nvCxnSpPr>
        <p:spPr>
          <a:xfrm>
            <a:off x="8683142" y="3090463"/>
            <a:ext cx="292608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Oval 132"/>
          <p:cNvSpPr/>
          <p:nvPr/>
        </p:nvSpPr>
        <p:spPr>
          <a:xfrm>
            <a:off x="8759150" y="2792253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8763419" y="2933845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8752147" y="3058459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8868847" y="3446571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8791834" y="3473297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8" name="Connector 137"/>
          <p:cNvCxnSpPr/>
          <p:nvPr/>
        </p:nvCxnSpPr>
        <p:spPr>
          <a:xfrm flipV="1">
            <a:off x="9327925" y="3644669"/>
            <a:ext cx="0" cy="1705806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9254773" y="5350475"/>
            <a:ext cx="146304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9254773" y="3644669"/>
            <a:ext cx="146304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Rectangle 140"/>
          <p:cNvSpPr/>
          <p:nvPr/>
        </p:nvSpPr>
        <p:spPr>
          <a:xfrm>
            <a:off x="9181621" y="5081501"/>
            <a:ext cx="292608" cy="1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2" name="Connector 141"/>
          <p:cNvCxnSpPr/>
          <p:nvPr/>
        </p:nvCxnSpPr>
        <p:spPr>
          <a:xfrm>
            <a:off x="9181621" y="4812528"/>
            <a:ext cx="292608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Oval 142"/>
          <p:cNvSpPr/>
          <p:nvPr/>
        </p:nvSpPr>
        <p:spPr>
          <a:xfrm>
            <a:off x="9270318" y="3612665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9295824" y="4780524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9261322" y="5318471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438606" y="1078992"/>
            <a:ext cx="12801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Δ=+1.26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438606" y="896112"/>
            <a:ext cx="12801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D4A300"/>
                </a:solidFill>
                <a:latin typeface="Arial"/>
              </a:rPr>
              <a:t>P=0.036 ★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960429" y="6126480"/>
            <a:ext cx="100584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B-cell
infiltration</a:t>
            </a:r>
          </a:p>
        </p:txBody>
      </p:sp>
      <p:cxnSp>
        <p:nvCxnSpPr>
          <p:cNvPr id="149" name="Connector 148"/>
          <p:cNvCxnSpPr/>
          <p:nvPr/>
        </p:nvCxnSpPr>
        <p:spPr>
          <a:xfrm flipV="1">
            <a:off x="10214109" y="1747911"/>
            <a:ext cx="0" cy="2541332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10140957" y="4289243"/>
            <a:ext cx="14630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10140957" y="1747911"/>
            <a:ext cx="146304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Rectangle 151"/>
          <p:cNvSpPr/>
          <p:nvPr/>
        </p:nvSpPr>
        <p:spPr>
          <a:xfrm>
            <a:off x="10067805" y="3642949"/>
            <a:ext cx="292608" cy="1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3" name="Connector 152"/>
          <p:cNvCxnSpPr/>
          <p:nvPr/>
        </p:nvCxnSpPr>
        <p:spPr>
          <a:xfrm>
            <a:off x="10067805" y="3538549"/>
            <a:ext cx="292608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Oval 153"/>
          <p:cNvSpPr/>
          <p:nvPr/>
        </p:nvSpPr>
        <p:spPr>
          <a:xfrm>
            <a:off x="10113484" y="1715907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0244579" y="2352933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0183418" y="3506545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0199800" y="3610945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10196954" y="4257239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9" name="Connector 158"/>
          <p:cNvCxnSpPr/>
          <p:nvPr/>
        </p:nvCxnSpPr>
        <p:spPr>
          <a:xfrm flipV="1">
            <a:off x="10712588" y="3510416"/>
            <a:ext cx="0" cy="1965433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10639436" y="5475849"/>
            <a:ext cx="146304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0639436" y="3510416"/>
            <a:ext cx="146304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Rectangle 161"/>
          <p:cNvSpPr/>
          <p:nvPr/>
        </p:nvSpPr>
        <p:spPr>
          <a:xfrm>
            <a:off x="10566284" y="4700121"/>
            <a:ext cx="292608" cy="1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3" name="Connector 162"/>
          <p:cNvCxnSpPr/>
          <p:nvPr/>
        </p:nvCxnSpPr>
        <p:spPr>
          <a:xfrm>
            <a:off x="10566284" y="3924394"/>
            <a:ext cx="292608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Oval 163"/>
          <p:cNvSpPr/>
          <p:nvPr/>
        </p:nvSpPr>
        <p:spPr>
          <a:xfrm>
            <a:off x="10613105" y="3478412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0752694" y="3892390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0658806" y="5443845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9823269" y="1078992"/>
            <a:ext cx="12801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Δ=+1.04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823269" y="896112"/>
            <a:ext cx="128016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P=0.393</a:t>
            </a:r>
          </a:p>
        </p:txBody>
      </p:sp>
      <p:sp>
        <p:nvSpPr>
          <p:cNvPr id="169" name="Oval 168"/>
          <p:cNvSpPr/>
          <p:nvPr/>
        </p:nvSpPr>
        <p:spPr>
          <a:xfrm>
            <a:off x="10177272" y="621792"/>
            <a:ext cx="128016" cy="128016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0332720" y="594360"/>
            <a:ext cx="14630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Arial"/>
              </a:rPr>
              <a:t>CR (n=5)</a:t>
            </a:r>
          </a:p>
        </p:txBody>
      </p:sp>
      <p:sp>
        <p:nvSpPr>
          <p:cNvPr id="171" name="Oval 170"/>
          <p:cNvSpPr/>
          <p:nvPr/>
        </p:nvSpPr>
        <p:spPr>
          <a:xfrm>
            <a:off x="10177272" y="804672"/>
            <a:ext cx="128016" cy="128016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0332720" y="777240"/>
            <a:ext cx="14630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Arial"/>
              </a:rPr>
              <a:t>non-CR (n=3)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463040" y="6263640"/>
            <a:ext cx="960120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222222"/>
                </a:solidFill>
                <a:latin typeface="Arial"/>
              </a:rPr>
              <a:t>7/7 signatures move in discovery-predicted direction; binomial sign test P = 0.016. Tcell_infiltration MW P = 0.036; DSB repair P = 0.071.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GSE254249 paired Δ(post − pre) slopegraph (n = 3 paired subjects) — target-engagement reference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0" y="6035040"/>
            <a:ext cx="9692640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463040" y="1188720"/>
            <a:ext cx="0" cy="484632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155680" y="1188720"/>
            <a:ext cx="0" cy="484632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63040" y="1188720"/>
            <a:ext cx="9692640" cy="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63040" y="603504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97280" y="608990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-2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86200" y="603504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520440" y="608990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-1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309360" y="603504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0" y="608990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+0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32520" y="603504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366760" y="608990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+1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155680" y="603504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789920" y="608990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+2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6382512"/>
            <a:ext cx="969264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Δ(post − pre) ssGSEA score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309360" y="1188720"/>
            <a:ext cx="0" cy="4846320"/>
          </a:xfrm>
          <a:prstGeom prst="line">
            <a:avLst/>
          </a:prstGeom>
          <a:ln w="8890">
            <a:solidFill>
              <a:srgbClr val="BBBBB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65760" y="1738666"/>
            <a:ext cx="1005840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  <a:latin typeface="Arial"/>
              </a:rPr>
              <a:t>DSB / HDR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63040" y="1581912"/>
            <a:ext cx="4846320" cy="532965"/>
          </a:xfrm>
          <a:prstGeom prst="rect">
            <a:avLst/>
          </a:prstGeom>
          <a:solidFill>
            <a:srgbClr val="E9A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20763" y="1848802"/>
            <a:ext cx="128016" cy="128016"/>
          </a:xfrm>
          <a:prstGeom prst="ellipse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4731" y="1620202"/>
            <a:ext cx="6400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BBBBB"/>
                </a:solidFill>
                <a:latin typeface="Arial"/>
              </a:rPr>
              <a:t>CRC15</a:t>
            </a:r>
          </a:p>
        </p:txBody>
      </p:sp>
      <p:sp>
        <p:nvSpPr>
          <p:cNvPr id="24" name="Oval 23"/>
          <p:cNvSpPr/>
          <p:nvPr/>
        </p:nvSpPr>
        <p:spPr>
          <a:xfrm>
            <a:off x="3870655" y="1770015"/>
            <a:ext cx="128016" cy="128016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14623" y="1541415"/>
            <a:ext cx="6400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BBBBB"/>
                </a:solidFill>
                <a:latin typeface="Arial"/>
              </a:rPr>
              <a:t>CRC24</a:t>
            </a:r>
          </a:p>
        </p:txBody>
      </p:sp>
      <p:sp>
        <p:nvSpPr>
          <p:cNvPr id="26" name="Oval 25"/>
          <p:cNvSpPr/>
          <p:nvPr/>
        </p:nvSpPr>
        <p:spPr>
          <a:xfrm>
            <a:off x="3822192" y="1868704"/>
            <a:ext cx="128016" cy="128016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1640104"/>
            <a:ext cx="6400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BBBBB"/>
                </a:solidFill>
                <a:latin typeface="Arial"/>
              </a:rPr>
              <a:t>CRC25</a:t>
            </a:r>
          </a:p>
        </p:txBody>
      </p:sp>
      <p:sp>
        <p:nvSpPr>
          <p:cNvPr id="28" name="Diamond 27"/>
          <p:cNvSpPr/>
          <p:nvPr/>
        </p:nvSpPr>
        <p:spPr>
          <a:xfrm>
            <a:off x="4880336" y="1756954"/>
            <a:ext cx="182880" cy="182880"/>
          </a:xfrm>
          <a:prstGeom prst="diamond">
            <a:avLst/>
          </a:prstGeom>
          <a:noFill/>
          <a:ln w="190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228832" y="1738666"/>
            <a:ext cx="1828800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mean Δ = -0.55  (n=3)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2326495"/>
            <a:ext cx="1005840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  <a:latin typeface="Arial"/>
              </a:rPr>
              <a:t>E2F/MYC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63040" y="2169741"/>
            <a:ext cx="4846320" cy="532965"/>
          </a:xfrm>
          <a:prstGeom prst="rect">
            <a:avLst/>
          </a:prstGeom>
          <a:solidFill>
            <a:srgbClr val="E9A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511900" y="2418622"/>
            <a:ext cx="128016" cy="128016"/>
          </a:xfrm>
          <a:prstGeom prst="ellipse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55868" y="2190022"/>
            <a:ext cx="6400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BBBBB"/>
                </a:solidFill>
                <a:latin typeface="Arial"/>
              </a:rPr>
              <a:t>CRC15</a:t>
            </a:r>
          </a:p>
        </p:txBody>
      </p:sp>
      <p:sp>
        <p:nvSpPr>
          <p:cNvPr id="34" name="Oval 33"/>
          <p:cNvSpPr/>
          <p:nvPr/>
        </p:nvSpPr>
        <p:spPr>
          <a:xfrm>
            <a:off x="5736488" y="2276793"/>
            <a:ext cx="128016" cy="128016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0456" y="2048193"/>
            <a:ext cx="6400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BBBBB"/>
                </a:solidFill>
                <a:latin typeface="Arial"/>
              </a:rPr>
              <a:t>CRC24</a:t>
            </a:r>
          </a:p>
        </p:txBody>
      </p:sp>
      <p:sp>
        <p:nvSpPr>
          <p:cNvPr id="36" name="Oval 35"/>
          <p:cNvSpPr/>
          <p:nvPr/>
        </p:nvSpPr>
        <p:spPr>
          <a:xfrm>
            <a:off x="3604108" y="2484049"/>
            <a:ext cx="128016" cy="128016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48076" y="2255449"/>
            <a:ext cx="6400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BBBBB"/>
                </a:solidFill>
                <a:latin typeface="Arial"/>
              </a:rPr>
              <a:t>CRC25</a:t>
            </a:r>
          </a:p>
        </p:txBody>
      </p:sp>
      <p:sp>
        <p:nvSpPr>
          <p:cNvPr id="38" name="Diamond 37"/>
          <p:cNvSpPr/>
          <p:nvPr/>
        </p:nvSpPr>
        <p:spPr>
          <a:xfrm>
            <a:off x="5260772" y="2344783"/>
            <a:ext cx="182880" cy="182880"/>
          </a:xfrm>
          <a:prstGeom prst="diamond">
            <a:avLst/>
          </a:prstGeom>
          <a:noFill/>
          <a:ln w="190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228832" y="2326495"/>
            <a:ext cx="1828800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mean Δ = -0.40  (n=3)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2914323"/>
            <a:ext cx="1005840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  <a:latin typeface="Arial"/>
              </a:rPr>
              <a:t>Tumor cell-cycle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63040" y="2757569"/>
            <a:ext cx="4846320" cy="532965"/>
          </a:xfrm>
          <a:prstGeom prst="rect">
            <a:avLst/>
          </a:prstGeom>
          <a:solidFill>
            <a:srgbClr val="E9A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360006" y="3021446"/>
            <a:ext cx="128016" cy="128016"/>
          </a:xfrm>
          <a:prstGeom prst="ellipse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03974" y="2792846"/>
            <a:ext cx="6400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BBBBB"/>
                </a:solidFill>
                <a:latin typeface="Arial"/>
              </a:rPr>
              <a:t>CRC15</a:t>
            </a:r>
          </a:p>
        </p:txBody>
      </p:sp>
      <p:sp>
        <p:nvSpPr>
          <p:cNvPr id="44" name="Oval 43"/>
          <p:cNvSpPr/>
          <p:nvPr/>
        </p:nvSpPr>
        <p:spPr>
          <a:xfrm>
            <a:off x="6051499" y="3027306"/>
            <a:ext cx="128016" cy="128016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95467" y="2798706"/>
            <a:ext cx="6400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BBBBB"/>
                </a:solidFill>
                <a:latin typeface="Arial"/>
              </a:rPr>
              <a:t>CRC24</a:t>
            </a:r>
          </a:p>
        </p:txBody>
      </p:sp>
      <p:sp>
        <p:nvSpPr>
          <p:cNvPr id="46" name="Oval 45"/>
          <p:cNvSpPr/>
          <p:nvPr/>
        </p:nvSpPr>
        <p:spPr>
          <a:xfrm>
            <a:off x="2707538" y="2872601"/>
            <a:ext cx="128016" cy="128016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51506" y="2644001"/>
            <a:ext cx="6400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BBBBB"/>
                </a:solidFill>
                <a:latin typeface="Arial"/>
              </a:rPr>
              <a:t>CRC25</a:t>
            </a:r>
          </a:p>
        </p:txBody>
      </p:sp>
      <p:sp>
        <p:nvSpPr>
          <p:cNvPr id="48" name="Diamond 47"/>
          <p:cNvSpPr/>
          <p:nvPr/>
        </p:nvSpPr>
        <p:spPr>
          <a:xfrm>
            <a:off x="5340736" y="2932611"/>
            <a:ext cx="182880" cy="182880"/>
          </a:xfrm>
          <a:prstGeom prst="diamond">
            <a:avLst/>
          </a:prstGeom>
          <a:noFill/>
          <a:ln w="190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228832" y="2914323"/>
            <a:ext cx="1828800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mean Δ = -0.36  (n=3)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3502152"/>
            <a:ext cx="1005840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  <a:latin typeface="Arial"/>
              </a:rPr>
              <a:t>EMT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9360" y="3345398"/>
            <a:ext cx="4846320" cy="532965"/>
          </a:xfrm>
          <a:prstGeom prst="rect">
            <a:avLst/>
          </a:prstGeom>
          <a:solidFill>
            <a:srgbClr val="9F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923837" y="3536206"/>
            <a:ext cx="128016" cy="128016"/>
          </a:xfrm>
          <a:prstGeom prst="ellipse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67805" y="3307606"/>
            <a:ext cx="6400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BBBBB"/>
                </a:solidFill>
                <a:latin typeface="Arial"/>
              </a:rPr>
              <a:t>CRC15</a:t>
            </a:r>
          </a:p>
        </p:txBody>
      </p:sp>
      <p:sp>
        <p:nvSpPr>
          <p:cNvPr id="54" name="Oval 53"/>
          <p:cNvSpPr/>
          <p:nvPr/>
        </p:nvSpPr>
        <p:spPr>
          <a:xfrm>
            <a:off x="5227625" y="3517493"/>
            <a:ext cx="128016" cy="128016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971593" y="3288893"/>
            <a:ext cx="6400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BBBBB"/>
                </a:solidFill>
                <a:latin typeface="Arial"/>
              </a:rPr>
              <a:t>CRC24</a:t>
            </a:r>
          </a:p>
        </p:txBody>
      </p:sp>
      <p:sp>
        <p:nvSpPr>
          <p:cNvPr id="56" name="Oval 55"/>
          <p:cNvSpPr/>
          <p:nvPr/>
        </p:nvSpPr>
        <p:spPr>
          <a:xfrm>
            <a:off x="6923837" y="3648218"/>
            <a:ext cx="128016" cy="128016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67805" y="3419618"/>
            <a:ext cx="6400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BBBBB"/>
                </a:solidFill>
                <a:latin typeface="Arial"/>
              </a:rPr>
              <a:t>CRC25</a:t>
            </a:r>
          </a:p>
        </p:txBody>
      </p:sp>
      <p:sp>
        <p:nvSpPr>
          <p:cNvPr id="58" name="Diamond 57"/>
          <p:cNvSpPr/>
          <p:nvPr/>
        </p:nvSpPr>
        <p:spPr>
          <a:xfrm>
            <a:off x="6334232" y="3520440"/>
            <a:ext cx="182880" cy="182880"/>
          </a:xfrm>
          <a:prstGeom prst="diamond">
            <a:avLst/>
          </a:prstGeom>
          <a:noFill/>
          <a:ln w="190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228832" y="3502152"/>
            <a:ext cx="1828800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mean Δ = +0.05  (n=3)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4089981"/>
            <a:ext cx="1005840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  <a:latin typeface="Arial"/>
              </a:rPr>
              <a:t>CD8 cytotoxic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09360" y="3933226"/>
            <a:ext cx="4846320" cy="532965"/>
          </a:xfrm>
          <a:prstGeom prst="rect">
            <a:avLst/>
          </a:prstGeom>
          <a:solidFill>
            <a:srgbClr val="9F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269584" y="4169528"/>
            <a:ext cx="128016" cy="128016"/>
          </a:xfrm>
          <a:prstGeom prst="ellipse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13552" y="3940928"/>
            <a:ext cx="6400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BBBBB"/>
                </a:solidFill>
                <a:latin typeface="Arial"/>
              </a:rPr>
              <a:t>CRC15</a:t>
            </a:r>
          </a:p>
        </p:txBody>
      </p:sp>
      <p:sp>
        <p:nvSpPr>
          <p:cNvPr id="64" name="Oval 63"/>
          <p:cNvSpPr/>
          <p:nvPr/>
        </p:nvSpPr>
        <p:spPr>
          <a:xfrm>
            <a:off x="3846424" y="4211592"/>
            <a:ext cx="128016" cy="128016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590392" y="3982992"/>
            <a:ext cx="6400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BBBBB"/>
                </a:solidFill>
                <a:latin typeface="Arial"/>
              </a:rPr>
              <a:t>CRC24</a:t>
            </a:r>
          </a:p>
        </p:txBody>
      </p:sp>
      <p:sp>
        <p:nvSpPr>
          <p:cNvPr id="66" name="Oval 65"/>
          <p:cNvSpPr/>
          <p:nvPr/>
        </p:nvSpPr>
        <p:spPr>
          <a:xfrm>
            <a:off x="2586380" y="4122395"/>
            <a:ext cx="128016" cy="128016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330348" y="3893795"/>
            <a:ext cx="6400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BBBBB"/>
                </a:solidFill>
                <a:latin typeface="Arial"/>
              </a:rPr>
              <a:t>CRC25</a:t>
            </a:r>
          </a:p>
        </p:txBody>
      </p:sp>
      <p:sp>
        <p:nvSpPr>
          <p:cNvPr id="68" name="Diamond 67"/>
          <p:cNvSpPr/>
          <p:nvPr/>
        </p:nvSpPr>
        <p:spPr>
          <a:xfrm>
            <a:off x="4211544" y="4108269"/>
            <a:ext cx="182880" cy="182880"/>
          </a:xfrm>
          <a:prstGeom prst="diamond">
            <a:avLst/>
          </a:prstGeom>
          <a:noFill/>
          <a:ln w="190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228832" y="4089981"/>
            <a:ext cx="1828800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mean Δ = -0.83  (n=3)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5760" y="4677809"/>
            <a:ext cx="1005840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  <a:latin typeface="Arial"/>
              </a:rPr>
              <a:t>T-cell infiltration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309360" y="4521055"/>
            <a:ext cx="4846320" cy="532965"/>
          </a:xfrm>
          <a:prstGeom prst="rect">
            <a:avLst/>
          </a:prstGeom>
          <a:solidFill>
            <a:srgbClr val="9F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161434" y="4659394"/>
            <a:ext cx="128016" cy="128016"/>
          </a:xfrm>
          <a:prstGeom prst="ellipse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905402" y="4430794"/>
            <a:ext cx="6400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BBBBB"/>
                </a:solidFill>
                <a:latin typeface="Arial"/>
              </a:rPr>
              <a:t>CRC15</a:t>
            </a:r>
          </a:p>
        </p:txBody>
      </p:sp>
      <p:sp>
        <p:nvSpPr>
          <p:cNvPr id="74" name="Oval 73"/>
          <p:cNvSpPr/>
          <p:nvPr/>
        </p:nvSpPr>
        <p:spPr>
          <a:xfrm>
            <a:off x="4161434" y="4736364"/>
            <a:ext cx="128016" cy="128016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905402" y="4507764"/>
            <a:ext cx="6400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BBBBB"/>
                </a:solidFill>
                <a:latin typeface="Arial"/>
              </a:rPr>
              <a:t>CRC24</a:t>
            </a:r>
          </a:p>
        </p:txBody>
      </p:sp>
      <p:sp>
        <p:nvSpPr>
          <p:cNvPr id="76" name="Oval 75"/>
          <p:cNvSpPr/>
          <p:nvPr/>
        </p:nvSpPr>
        <p:spPr>
          <a:xfrm>
            <a:off x="1326337" y="4620969"/>
            <a:ext cx="128016" cy="128016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70305" y="4392369"/>
            <a:ext cx="6400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BBBBB"/>
                </a:solidFill>
                <a:latin typeface="Arial"/>
              </a:rPr>
              <a:t>CRC25</a:t>
            </a:r>
          </a:p>
        </p:txBody>
      </p:sp>
      <p:sp>
        <p:nvSpPr>
          <p:cNvPr id="78" name="Diamond 77"/>
          <p:cNvSpPr/>
          <p:nvPr/>
        </p:nvSpPr>
        <p:spPr>
          <a:xfrm>
            <a:off x="3186547" y="4696097"/>
            <a:ext cx="182880" cy="182880"/>
          </a:xfrm>
          <a:prstGeom prst="diamond">
            <a:avLst/>
          </a:prstGeom>
          <a:noFill/>
          <a:ln w="190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1228832" y="4677809"/>
            <a:ext cx="1828800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mean Δ = -1.25  (n=3)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5760" y="5265638"/>
            <a:ext cx="1005840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222222"/>
                </a:solidFill>
                <a:latin typeface="Arial"/>
              </a:rPr>
              <a:t>B-cell infiltration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309360" y="5108883"/>
            <a:ext cx="4846320" cy="532965"/>
          </a:xfrm>
          <a:prstGeom prst="rect">
            <a:avLst/>
          </a:prstGeom>
          <a:solidFill>
            <a:srgbClr val="9F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657289" y="5388394"/>
            <a:ext cx="128016" cy="128016"/>
          </a:xfrm>
          <a:prstGeom prst="ellipse">
            <a:avLst/>
          </a:prstGeom>
          <a:solidFill>
            <a:srgbClr val="0A7D6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401257" y="5159794"/>
            <a:ext cx="6400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BBBBB"/>
                </a:solidFill>
                <a:latin typeface="Arial"/>
              </a:rPr>
              <a:t>CRC15</a:t>
            </a:r>
          </a:p>
        </p:txBody>
      </p:sp>
      <p:sp>
        <p:nvSpPr>
          <p:cNvPr id="84" name="Oval 83"/>
          <p:cNvSpPr/>
          <p:nvPr/>
        </p:nvSpPr>
        <p:spPr>
          <a:xfrm>
            <a:off x="6657289" y="5342316"/>
            <a:ext cx="128016" cy="128016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01257" y="5113716"/>
            <a:ext cx="6400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BBBBB"/>
                </a:solidFill>
                <a:latin typeface="Arial"/>
              </a:rPr>
              <a:t>CRC24</a:t>
            </a:r>
          </a:p>
        </p:txBody>
      </p:sp>
      <p:sp>
        <p:nvSpPr>
          <p:cNvPr id="86" name="Oval 85"/>
          <p:cNvSpPr/>
          <p:nvPr/>
        </p:nvSpPr>
        <p:spPr>
          <a:xfrm>
            <a:off x="817474" y="5372042"/>
            <a:ext cx="128016" cy="128016"/>
          </a:xfrm>
          <a:prstGeom prst="ellipse">
            <a:avLst/>
          </a:prstGeom>
          <a:solidFill>
            <a:srgbClr val="C53E1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61442" y="5143442"/>
            <a:ext cx="64008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BBBBBB"/>
                </a:solidFill>
                <a:latin typeface="Arial"/>
              </a:rPr>
              <a:t>CRC25</a:t>
            </a:r>
          </a:p>
        </p:txBody>
      </p:sp>
      <p:sp>
        <p:nvSpPr>
          <p:cNvPr id="88" name="Diamond 87"/>
          <p:cNvSpPr/>
          <p:nvPr/>
        </p:nvSpPr>
        <p:spPr>
          <a:xfrm>
            <a:off x="4684060" y="5283926"/>
            <a:ext cx="182880" cy="182880"/>
          </a:xfrm>
          <a:prstGeom prst="diamond">
            <a:avLst/>
          </a:prstGeom>
          <a:noFill/>
          <a:ln w="190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1228832" y="5265638"/>
            <a:ext cx="1828800" cy="21945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  <a:latin typeface="Arial"/>
              </a:rPr>
              <a:t>mean Δ = -0.63  (n=3)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365760" y="3905794"/>
            <a:ext cx="12710160" cy="0"/>
          </a:xfrm>
          <a:prstGeom prst="line">
            <a:avLst/>
          </a:prstGeom>
          <a:ln w="1016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365760" y="1261872"/>
            <a:ext cx="10058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0E4A68"/>
                </a:solidFill>
                <a:latin typeface="Arial"/>
              </a:rPr>
              <a:t>Thread 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65760" y="3960658"/>
            <a:ext cx="100584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>
                <a:solidFill>
                  <a:srgbClr val="8A2B4C"/>
                </a:solidFill>
                <a:latin typeface="Arial"/>
              </a:rPr>
              <a:t>Thread 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463040" y="6263640"/>
            <a:ext cx="1051560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1">
                <a:solidFill>
                  <a:srgbClr val="222222"/>
                </a:solidFill>
                <a:latin typeface="Arial"/>
              </a:rPr>
              <a:t>Shaded band marks discovery-predicted direction (teal = up, coral = down). Diamond = mean Δ across 3 paired subjects. Thread-1 DSB/cellcycle/E2F move DOWN (target-engagement prediction met); Thread-2 DOWN (plausibly FOLFOXIRI-era triple-chemo immunosuppression).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