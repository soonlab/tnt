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GSE254249 pre-treatment × response (n = 3; directional only; Gao Cancer Cell 2025 cohort)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463040" y="6035040"/>
            <a:ext cx="969264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63040" y="1188720"/>
            <a:ext cx="0" cy="48463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88720"/>
            <a:ext cx="0" cy="48463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63040" y="1188720"/>
            <a:ext cx="969264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99032" y="60350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0120" y="59527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-0.9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99032" y="48234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47411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99032" y="36118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60120" y="35295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99032" y="24003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0120" y="23180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1.1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9903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012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60604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ssGSEA score (z)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1197864"/>
            <a:ext cx="5538651" cy="4828032"/>
          </a:xfrm>
          <a:prstGeom prst="rect">
            <a:avLst/>
          </a:prstGeom>
          <a:solidFill>
            <a:srgbClr val="F0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01691" y="1197864"/>
            <a:ext cx="4153989" cy="4828032"/>
          </a:xfrm>
          <a:prstGeom prst="rect">
            <a:avLst/>
          </a:prstGeom>
          <a:solidFill>
            <a:srgbClr val="FA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463040" y="6035040"/>
            <a:ext cx="969264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63040" y="1188720"/>
            <a:ext cx="0" cy="48463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652451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DSB / HDR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868680"/>
            <a:ext cx="5538651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E4A68"/>
                </a:solidFill>
                <a:latin typeface="Arial"/>
              </a:rPr>
              <a:t>Thread 1 (tumor-intrinsic)</a:t>
            </a:r>
          </a:p>
        </p:txBody>
      </p:sp>
      <p:sp>
        <p:nvSpPr>
          <p:cNvPr id="25" name="Oval 24"/>
          <p:cNvSpPr/>
          <p:nvPr/>
        </p:nvSpPr>
        <p:spPr>
          <a:xfrm>
            <a:off x="1851268" y="3515739"/>
            <a:ext cx="109728" cy="1097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349747" y="2633252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49747" y="4401315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37114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E2F/MYC</a:t>
            </a:r>
          </a:p>
        </p:txBody>
      </p:sp>
      <p:sp>
        <p:nvSpPr>
          <p:cNvPr id="29" name="Oval 28"/>
          <p:cNvSpPr/>
          <p:nvPr/>
        </p:nvSpPr>
        <p:spPr>
          <a:xfrm>
            <a:off x="3235931" y="3601564"/>
            <a:ext cx="109728" cy="1097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34410" y="3548416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34410" y="4614034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21777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Tumor
cell-cycle</a:t>
            </a:r>
          </a:p>
        </p:txBody>
      </p:sp>
      <p:sp>
        <p:nvSpPr>
          <p:cNvPr id="33" name="Oval 32"/>
          <p:cNvSpPr/>
          <p:nvPr/>
        </p:nvSpPr>
        <p:spPr>
          <a:xfrm>
            <a:off x="4620594" y="4109881"/>
            <a:ext cx="109728" cy="1097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119072" y="3289858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119072" y="4504919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06440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EMT</a:t>
            </a:r>
          </a:p>
        </p:txBody>
      </p:sp>
      <p:sp>
        <p:nvSpPr>
          <p:cNvPr id="37" name="Oval 36"/>
          <p:cNvSpPr/>
          <p:nvPr/>
        </p:nvSpPr>
        <p:spPr>
          <a:xfrm>
            <a:off x="6005257" y="5059603"/>
            <a:ext cx="109728" cy="1097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503735" y="3367270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03735" y="4740352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91103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CD8
cytotoxic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01691" y="868680"/>
            <a:ext cx="4153989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8A2B4C"/>
                </a:solidFill>
                <a:latin typeface="Arial"/>
              </a:rPr>
              <a:t>Thread 2 (immune)</a:t>
            </a:r>
          </a:p>
        </p:txBody>
      </p:sp>
      <p:sp>
        <p:nvSpPr>
          <p:cNvPr id="42" name="Oval 41"/>
          <p:cNvSpPr/>
          <p:nvPr/>
        </p:nvSpPr>
        <p:spPr>
          <a:xfrm>
            <a:off x="7389920" y="3768887"/>
            <a:ext cx="109728" cy="1097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888398" y="1693047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888398" y="4140262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75766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T-cell
infiltration</a:t>
            </a:r>
          </a:p>
        </p:txBody>
      </p:sp>
      <p:sp>
        <p:nvSpPr>
          <p:cNvPr id="46" name="Oval 45"/>
          <p:cNvSpPr/>
          <p:nvPr/>
        </p:nvSpPr>
        <p:spPr>
          <a:xfrm>
            <a:off x="8774582" y="2234236"/>
            <a:ext cx="109728" cy="1097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273061" y="3118827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73061" y="3718094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0429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B-cell
infiltration</a:t>
            </a:r>
          </a:p>
        </p:txBody>
      </p:sp>
      <p:sp>
        <p:nvSpPr>
          <p:cNvPr id="50" name="Oval 49"/>
          <p:cNvSpPr/>
          <p:nvPr/>
        </p:nvSpPr>
        <p:spPr>
          <a:xfrm>
            <a:off x="10159245" y="1957740"/>
            <a:ext cx="109728" cy="1097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657724" y="5420985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657724" y="3537463"/>
            <a:ext cx="109728" cy="10972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463040" y="4348486"/>
            <a:ext cx="9692640" cy="0"/>
          </a:xfrm>
          <a:prstGeom prst="line">
            <a:avLst/>
          </a:prstGeom>
          <a:ln w="762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463040" y="6263640"/>
            <a:ext cx="9692640" cy="320040"/>
          </a:xfrm>
          <a:prstGeom prst="rect">
            <a:avLst/>
          </a:prstGeom>
          <a:solidFill>
            <a:srgbClr val="F0F0F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63040" y="6263640"/>
            <a:ext cx="969264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Sample size n = 3 (1 good + 2 bad) prohibits formal testing; directional concordance uninformative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GSE254249 post-TNT × response (n = 8, 5 CR + 3 non-CR) — PRIMARY SC-RT validation test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463040" y="6035040"/>
            <a:ext cx="969264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63040" y="1188720"/>
            <a:ext cx="0" cy="48463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88720"/>
            <a:ext cx="0" cy="48463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63040" y="1188720"/>
            <a:ext cx="969264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99032" y="60350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0120" y="59527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-2.3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99032" y="48234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47411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-1.2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99032" y="36118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60120" y="35295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-0.2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99032" y="24003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0120" y="23180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0.9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9903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012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60604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ssGSEA score (z)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63040" y="3410162"/>
            <a:ext cx="9692640" cy="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532273" y="1188720"/>
            <a:ext cx="1246197" cy="2221442"/>
          </a:xfrm>
          <a:prstGeom prst="rect">
            <a:avLst/>
          </a:prstGeom>
          <a:solidFill>
            <a:srgbClr val="EC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52451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DSB / HDR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1906132" y="2561309"/>
            <a:ext cx="0" cy="1189525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32980" y="3750834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32980" y="2561309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759828" y="3369361"/>
            <a:ext cx="2926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759828" y="3152059"/>
            <a:ext cx="2926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890596" y="2515589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794026" y="3086112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62153" y="3106339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23605" y="3323641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02213" y="3705114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2404611" y="3476491"/>
            <a:ext cx="0" cy="1220008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331459" y="4696499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331459" y="3476491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258307" y="4650988"/>
            <a:ext cx="2926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258307" y="4605477"/>
            <a:ext cx="2926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332323" y="3430771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364953" y="4559757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342854" y="4650779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15291" y="107899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Δ=+0.94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15291" y="89611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P=0.071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16936" y="1188720"/>
            <a:ext cx="1246197" cy="2221442"/>
          </a:xfrm>
          <a:prstGeom prst="rect">
            <a:avLst/>
          </a:prstGeom>
          <a:solidFill>
            <a:srgbClr val="EC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37114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E2F/MYC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3290795" y="2851588"/>
            <a:ext cx="0" cy="677616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217643" y="3529204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217643" y="2851588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44491" y="3350029"/>
            <a:ext cx="2926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144491" y="3005843"/>
            <a:ext cx="2926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3227613" y="2805868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216083" y="2808408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193387" y="2960123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39782" y="3304309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201335" y="3483484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789274" y="3175994"/>
            <a:ext cx="0" cy="1666464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16122" y="4842458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16122" y="3175994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3642970" y="4607700"/>
            <a:ext cx="2926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3642970" y="4372941"/>
            <a:ext cx="2926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3724815" y="3130274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744708" y="4327221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802770" y="4796738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899954" y="107899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Δ=+0.89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99954" y="89611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P=0.143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01599" y="1188720"/>
            <a:ext cx="1246197" cy="2221442"/>
          </a:xfrm>
          <a:prstGeom prst="rect">
            <a:avLst/>
          </a:prstGeom>
          <a:solidFill>
            <a:srgbClr val="EC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21777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Tumor
cell-cycle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4675458" y="2773238"/>
            <a:ext cx="0" cy="621225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602306" y="3394463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602306" y="2773238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4529154" y="3294538"/>
            <a:ext cx="2926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4529154" y="3097850"/>
            <a:ext cx="2926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4575994" y="2727518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669206" y="2905785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644415" y="3052130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613474" y="3248818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642227" y="3348743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5173936" y="2873154"/>
            <a:ext cx="0" cy="232695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100784" y="5200104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5100784" y="2873154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5027632" y="4754588"/>
            <a:ext cx="2926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5027632" y="4309071"/>
            <a:ext cx="2926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131784" y="2827434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140873" y="4263351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094227" y="5154384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84617" y="107899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Δ=+0.91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84617" y="89611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P=0.393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86262" y="3410162"/>
            <a:ext cx="1246197" cy="2624878"/>
          </a:xfrm>
          <a:prstGeom prst="rect">
            <a:avLst/>
          </a:prstGeom>
          <a:solidFill>
            <a:srgbClr val="EC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806440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EMT</a:t>
            </a:r>
          </a:p>
        </p:txBody>
      </p:sp>
      <p:cxnSp>
        <p:nvCxnSpPr>
          <p:cNvPr id="88" name="Connector 87"/>
          <p:cNvCxnSpPr/>
          <p:nvPr/>
        </p:nvCxnSpPr>
        <p:spPr>
          <a:xfrm flipV="1">
            <a:off x="6060121" y="3161371"/>
            <a:ext cx="0" cy="410985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986969" y="3572356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986969" y="3161371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5913817" y="3549304"/>
            <a:ext cx="2926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5913817" y="3409019"/>
            <a:ext cx="2926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5990045" y="3115651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010892" y="3237555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958545" y="3363299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051742" y="3503584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057936" y="3526636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6558599" y="3299857"/>
            <a:ext cx="0" cy="151289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5447" y="3451146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485447" y="3299857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6412295" y="3413201"/>
            <a:ext cx="2926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6412295" y="3375256"/>
            <a:ext cx="2926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6451668" y="3254137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570240" y="3329536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525742" y="3405426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0" y="107899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Δ=-0.02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0" y="89611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P=1.000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70925" y="1188720"/>
            <a:ext cx="1246197" cy="2221442"/>
          </a:xfrm>
          <a:prstGeom prst="rect">
            <a:avLst/>
          </a:prstGeom>
          <a:solidFill>
            <a:srgbClr val="EC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91103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CD8
cytotoxic</a:t>
            </a:r>
          </a:p>
        </p:txBody>
      </p:sp>
      <p:cxnSp>
        <p:nvCxnSpPr>
          <p:cNvPr id="110" name="Connector 109"/>
          <p:cNvCxnSpPr/>
          <p:nvPr/>
        </p:nvCxnSpPr>
        <p:spPr>
          <a:xfrm flipV="1">
            <a:off x="7444784" y="3069005"/>
            <a:ext cx="0" cy="568496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371632" y="3637501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371632" y="3069005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/>
          <p:cNvSpPr/>
          <p:nvPr/>
        </p:nvSpPr>
        <p:spPr>
          <a:xfrm>
            <a:off x="7298480" y="3508592"/>
            <a:ext cx="2926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>
            <a:off x="7298480" y="3433731"/>
            <a:ext cx="2926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7468816" y="3023285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7408823" y="3200389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453614" y="3388011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344757" y="3462872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427832" y="3591781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7943262" y="2895347"/>
            <a:ext cx="0" cy="2123023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870110" y="5018370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870110" y="2895347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ctangle 122"/>
          <p:cNvSpPr/>
          <p:nvPr/>
        </p:nvSpPr>
        <p:spPr>
          <a:xfrm>
            <a:off x="7796958" y="4774287"/>
            <a:ext cx="2926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7796958" y="4530203"/>
            <a:ext cx="2926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7829189" y="2849627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881729" y="4484483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846664" y="4972650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053943" y="107899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Δ=+0.68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053943" y="89611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P=0.571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55587" y="1188720"/>
            <a:ext cx="1246197" cy="2221442"/>
          </a:xfrm>
          <a:prstGeom prst="rect">
            <a:avLst/>
          </a:prstGeom>
          <a:solidFill>
            <a:srgbClr val="EC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575766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T-cell
infiltration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8829446" y="2824257"/>
            <a:ext cx="0" cy="681044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8756294" y="3505301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8756294" y="2824257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angle 134"/>
          <p:cNvSpPr/>
          <p:nvPr/>
        </p:nvSpPr>
        <p:spPr>
          <a:xfrm>
            <a:off x="8683142" y="3478575"/>
            <a:ext cx="2926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8683142" y="3090463"/>
            <a:ext cx="2926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Oval 136"/>
          <p:cNvSpPr/>
          <p:nvPr/>
        </p:nvSpPr>
        <p:spPr>
          <a:xfrm>
            <a:off x="8745434" y="2778537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8749703" y="2920129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738431" y="3044743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855131" y="3432855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8778118" y="3459581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 flipV="1">
            <a:off x="9327925" y="3644669"/>
            <a:ext cx="0" cy="1705806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9254773" y="5350475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9254773" y="3644669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ectangle 144"/>
          <p:cNvSpPr/>
          <p:nvPr/>
        </p:nvSpPr>
        <p:spPr>
          <a:xfrm>
            <a:off x="9181621" y="5081501"/>
            <a:ext cx="2926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9181621" y="4812528"/>
            <a:ext cx="2926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9256602" y="3598949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9282108" y="4766808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247606" y="5304755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438606" y="107899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Δ=+1.26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38606" y="89611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D4A300"/>
                </a:solidFill>
                <a:latin typeface="Arial"/>
              </a:rPr>
              <a:t>P=0.036</a:t>
            </a:r>
          </a:p>
        </p:txBody>
      </p:sp>
      <p:sp>
        <p:nvSpPr>
          <p:cNvPr id="152" name="5-Point Star 151"/>
          <p:cNvSpPr/>
          <p:nvPr/>
        </p:nvSpPr>
        <p:spPr>
          <a:xfrm>
            <a:off x="9380438" y="941832"/>
            <a:ext cx="128016" cy="128016"/>
          </a:xfrm>
          <a:prstGeom prst="star5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840250" y="1188720"/>
            <a:ext cx="1246197" cy="2221442"/>
          </a:xfrm>
          <a:prstGeom prst="rect">
            <a:avLst/>
          </a:prstGeom>
          <a:solidFill>
            <a:srgbClr val="EC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960429" y="612648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B-cell
infiltration</a:t>
            </a:r>
          </a:p>
        </p:txBody>
      </p:sp>
      <p:cxnSp>
        <p:nvCxnSpPr>
          <p:cNvPr id="155" name="Connector 154"/>
          <p:cNvCxnSpPr/>
          <p:nvPr/>
        </p:nvCxnSpPr>
        <p:spPr>
          <a:xfrm flipV="1">
            <a:off x="10214109" y="1747911"/>
            <a:ext cx="0" cy="254133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10140957" y="4289243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0140957" y="1747911"/>
            <a:ext cx="14630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/>
          <p:cNvSpPr/>
          <p:nvPr/>
        </p:nvSpPr>
        <p:spPr>
          <a:xfrm>
            <a:off x="10067805" y="3642949"/>
            <a:ext cx="2926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9" name="Connector 158"/>
          <p:cNvCxnSpPr/>
          <p:nvPr/>
        </p:nvCxnSpPr>
        <p:spPr>
          <a:xfrm>
            <a:off x="10067805" y="3538549"/>
            <a:ext cx="2926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10099768" y="1702191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230863" y="2339217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169702" y="3492829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0186084" y="3597229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0183238" y="4243523"/>
            <a:ext cx="91440" cy="91440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5" name="Connector 164"/>
          <p:cNvCxnSpPr/>
          <p:nvPr/>
        </p:nvCxnSpPr>
        <p:spPr>
          <a:xfrm flipV="1">
            <a:off x="10712588" y="3510416"/>
            <a:ext cx="0" cy="1965433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10639436" y="5475849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0639436" y="3510416"/>
            <a:ext cx="14630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167"/>
          <p:cNvSpPr/>
          <p:nvPr/>
        </p:nvSpPr>
        <p:spPr>
          <a:xfrm>
            <a:off x="10566284" y="4700121"/>
            <a:ext cx="2926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9" name="Connector 168"/>
          <p:cNvCxnSpPr/>
          <p:nvPr/>
        </p:nvCxnSpPr>
        <p:spPr>
          <a:xfrm>
            <a:off x="10566284" y="3924394"/>
            <a:ext cx="2926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/>
          <p:cNvSpPr/>
          <p:nvPr/>
        </p:nvSpPr>
        <p:spPr>
          <a:xfrm>
            <a:off x="10599389" y="3464696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0738978" y="3878674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0645090" y="5430129"/>
            <a:ext cx="91440" cy="91440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9823269" y="107899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Δ=+1.04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823269" y="896112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P=0.393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463040" y="6263640"/>
            <a:ext cx="9692640" cy="365760"/>
          </a:xfrm>
          <a:prstGeom prst="rect">
            <a:avLst/>
          </a:prstGeom>
          <a:solidFill>
            <a:srgbClr val="D4A30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463040" y="6263640"/>
            <a:ext cx="96926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★ 7/7 signatures concordant with discovery direction (binomial sign P = 0.016). Tcell_infiltration MW P = 0.036. Teal shading = discovery-predicted direction.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GSE254249 paired Δ (n = 3) slopegraph — pre→post per subject (sign-colored) + mean Δ diamond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463040" y="6035040"/>
            <a:ext cx="969264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63040" y="1188720"/>
            <a:ext cx="0" cy="48463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55680" y="1188720"/>
            <a:ext cx="0" cy="48463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63040" y="1188720"/>
            <a:ext cx="969264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6304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9728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862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5204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0936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4360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+0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3252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6676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+1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15568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78992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+2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6382512"/>
            <a:ext cx="96926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Δ(post − pre) ssGSEA score — gold arrow = mean 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188720"/>
            <a:ext cx="0" cy="4846320"/>
          </a:xfrm>
          <a:prstGeom prst="line">
            <a:avLst/>
          </a:prstGeom>
          <a:ln w="889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1738666"/>
            <a:ext cx="100584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222222"/>
                </a:solidFill>
                <a:latin typeface="Arial"/>
              </a:rPr>
              <a:t>DSB / HDR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0" y="1581912"/>
            <a:ext cx="4846320" cy="532965"/>
          </a:xfrm>
          <a:prstGeom prst="rect">
            <a:avLst/>
          </a:prstGeom>
          <a:solidFill>
            <a:srgbClr val="F7D7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309360" y="1848394"/>
            <a:ext cx="775411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020763" y="1784386"/>
            <a:ext cx="128016" cy="12801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4731" y="1592362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CRC15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934663" y="1848394"/>
            <a:ext cx="2374697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3870655" y="1784386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4623" y="1592362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CRC24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886200" y="1848394"/>
            <a:ext cx="2423160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3822192" y="1784386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0" y="1592362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CRC25</a:t>
            </a:r>
          </a:p>
        </p:txBody>
      </p:sp>
      <p:sp>
        <p:nvSpPr>
          <p:cNvPr id="31" name="Diamond 30"/>
          <p:cNvSpPr/>
          <p:nvPr/>
        </p:nvSpPr>
        <p:spPr>
          <a:xfrm>
            <a:off x="4852904" y="1729522"/>
            <a:ext cx="237744" cy="237744"/>
          </a:xfrm>
          <a:prstGeom prst="diamond">
            <a:avLst/>
          </a:prstGeom>
          <a:solidFill>
            <a:srgbClr val="D4A30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228832" y="1738666"/>
            <a:ext cx="18288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mean Δ = -0.55  (n=3)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2326495"/>
            <a:ext cx="100584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222222"/>
                </a:solidFill>
                <a:latin typeface="Arial"/>
              </a:rPr>
              <a:t>E2F/MYC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63040" y="2169741"/>
            <a:ext cx="4846320" cy="532965"/>
          </a:xfrm>
          <a:prstGeom prst="rect">
            <a:avLst/>
          </a:prstGeom>
          <a:solidFill>
            <a:srgbClr val="F7D7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309360" y="2436223"/>
            <a:ext cx="266548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511900" y="2372215"/>
            <a:ext cx="128016" cy="12801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55868" y="2180191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CRC15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5800496" y="2436223"/>
            <a:ext cx="508864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736488" y="2372215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0456" y="2180191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CRC24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3668116" y="2436223"/>
            <a:ext cx="2641244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604108" y="2372215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76" y="2180191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CRC25</a:t>
            </a:r>
          </a:p>
        </p:txBody>
      </p:sp>
      <p:sp>
        <p:nvSpPr>
          <p:cNvPr id="44" name="Diamond 43"/>
          <p:cNvSpPr/>
          <p:nvPr/>
        </p:nvSpPr>
        <p:spPr>
          <a:xfrm>
            <a:off x="5233340" y="2317351"/>
            <a:ext cx="237744" cy="237744"/>
          </a:xfrm>
          <a:prstGeom prst="diamond">
            <a:avLst/>
          </a:prstGeom>
          <a:solidFill>
            <a:srgbClr val="D4A30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28832" y="2326495"/>
            <a:ext cx="18288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mean Δ = -0.40  (n=3)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914323"/>
            <a:ext cx="100584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222222"/>
                </a:solidFill>
                <a:latin typeface="Arial"/>
              </a:rPr>
              <a:t>Tumor cell-cycle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63040" y="2757569"/>
            <a:ext cx="4846320" cy="532965"/>
          </a:xfrm>
          <a:prstGeom prst="rect">
            <a:avLst/>
          </a:prstGeom>
          <a:solidFill>
            <a:srgbClr val="F7D7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309360" y="3024051"/>
            <a:ext cx="1114654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7360006" y="2960043"/>
            <a:ext cx="128016" cy="12801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03974" y="2768019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CRC15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6115507" y="3024051"/>
            <a:ext cx="193853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051499" y="2960043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95467" y="2768019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CRC24</a:t>
            </a:r>
          </a:p>
        </p:txBody>
      </p:sp>
      <p:cxnSp>
        <p:nvCxnSpPr>
          <p:cNvPr id="54" name="Connector 53"/>
          <p:cNvCxnSpPr/>
          <p:nvPr/>
        </p:nvCxnSpPr>
        <p:spPr>
          <a:xfrm flipH="1">
            <a:off x="2771546" y="3024051"/>
            <a:ext cx="3537814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2707538" y="2960043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51506" y="2768019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CRC25</a:t>
            </a:r>
          </a:p>
        </p:txBody>
      </p:sp>
      <p:sp>
        <p:nvSpPr>
          <p:cNvPr id="57" name="Diamond 56"/>
          <p:cNvSpPr/>
          <p:nvPr/>
        </p:nvSpPr>
        <p:spPr>
          <a:xfrm>
            <a:off x="5313304" y="2905179"/>
            <a:ext cx="237744" cy="237744"/>
          </a:xfrm>
          <a:prstGeom prst="diamond">
            <a:avLst/>
          </a:prstGeom>
          <a:solidFill>
            <a:srgbClr val="D4A30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228832" y="2914323"/>
            <a:ext cx="18288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mean Δ = -0.36  (n=3)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3502152"/>
            <a:ext cx="100584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222222"/>
                </a:solidFill>
                <a:latin typeface="Arial"/>
              </a:rPr>
              <a:t>EMT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3345398"/>
            <a:ext cx="4846320" cy="532965"/>
          </a:xfrm>
          <a:prstGeom prst="rect">
            <a:avLst/>
          </a:prstGeom>
          <a:solidFill>
            <a:srgbClr val="D6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6309360" y="3611880"/>
            <a:ext cx="678485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923837" y="3547872"/>
            <a:ext cx="128016" cy="12801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67805" y="3355848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CRC15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5291633" y="3611880"/>
            <a:ext cx="1017727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5227625" y="3547872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71593" y="3355848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CRC24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309360" y="3611880"/>
            <a:ext cx="678485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6923837" y="3547872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67805" y="3355848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CRC25</a:t>
            </a:r>
          </a:p>
        </p:txBody>
      </p:sp>
      <p:sp>
        <p:nvSpPr>
          <p:cNvPr id="70" name="Diamond 69"/>
          <p:cNvSpPr/>
          <p:nvPr/>
        </p:nvSpPr>
        <p:spPr>
          <a:xfrm>
            <a:off x="6306800" y="3493008"/>
            <a:ext cx="237744" cy="237744"/>
          </a:xfrm>
          <a:prstGeom prst="diamond">
            <a:avLst/>
          </a:prstGeom>
          <a:solidFill>
            <a:srgbClr val="D4A30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228832" y="3502152"/>
            <a:ext cx="18288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mean Δ = +0.05  (n=3)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4089981"/>
            <a:ext cx="100584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222222"/>
                </a:solidFill>
                <a:latin typeface="Arial"/>
              </a:rPr>
              <a:t>CD8 cytotoxic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309360" y="3933226"/>
            <a:ext cx="4846320" cy="532965"/>
          </a:xfrm>
          <a:prstGeom prst="rect">
            <a:avLst/>
          </a:prstGeom>
          <a:solidFill>
            <a:srgbClr val="D6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6309360" y="4199709"/>
            <a:ext cx="2423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6269584" y="4135701"/>
            <a:ext cx="128016" cy="12801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13552" y="3943677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CRC15</a:t>
            </a:r>
          </a:p>
        </p:txBody>
      </p:sp>
      <p:cxnSp>
        <p:nvCxnSpPr>
          <p:cNvPr id="77" name="Connector 76"/>
          <p:cNvCxnSpPr/>
          <p:nvPr/>
        </p:nvCxnSpPr>
        <p:spPr>
          <a:xfrm flipH="1">
            <a:off x="3910432" y="4199709"/>
            <a:ext cx="2398928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3846424" y="4135701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590392" y="3943677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CRC24</a:t>
            </a:r>
          </a:p>
        </p:txBody>
      </p:sp>
      <p:cxnSp>
        <p:nvCxnSpPr>
          <p:cNvPr id="80" name="Connector 79"/>
          <p:cNvCxnSpPr/>
          <p:nvPr/>
        </p:nvCxnSpPr>
        <p:spPr>
          <a:xfrm flipH="1">
            <a:off x="2650388" y="4199709"/>
            <a:ext cx="3658972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2586380" y="4135701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330348" y="3943677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CRC25</a:t>
            </a:r>
          </a:p>
        </p:txBody>
      </p:sp>
      <p:sp>
        <p:nvSpPr>
          <p:cNvPr id="83" name="Diamond 82"/>
          <p:cNvSpPr/>
          <p:nvPr/>
        </p:nvSpPr>
        <p:spPr>
          <a:xfrm>
            <a:off x="4184112" y="4080837"/>
            <a:ext cx="237744" cy="237744"/>
          </a:xfrm>
          <a:prstGeom prst="diamond">
            <a:avLst/>
          </a:prstGeom>
          <a:solidFill>
            <a:srgbClr val="D4A30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228832" y="4089981"/>
            <a:ext cx="18288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mean Δ = -0.83  (n=3)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" y="4677809"/>
            <a:ext cx="100584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222222"/>
                </a:solidFill>
                <a:latin typeface="Arial"/>
              </a:rPr>
              <a:t>T-cell infiltration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09360" y="4521055"/>
            <a:ext cx="4846320" cy="532965"/>
          </a:xfrm>
          <a:prstGeom prst="rect">
            <a:avLst/>
          </a:prstGeom>
          <a:solidFill>
            <a:srgbClr val="D6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 flipH="1">
            <a:off x="4225442" y="4787537"/>
            <a:ext cx="2083918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4161434" y="4723529"/>
            <a:ext cx="128016" cy="12801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905402" y="4531505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CRC15</a:t>
            </a:r>
          </a:p>
        </p:txBody>
      </p:sp>
      <p:cxnSp>
        <p:nvCxnSpPr>
          <p:cNvPr id="90" name="Connector 89"/>
          <p:cNvCxnSpPr/>
          <p:nvPr/>
        </p:nvCxnSpPr>
        <p:spPr>
          <a:xfrm flipH="1">
            <a:off x="4225442" y="4787537"/>
            <a:ext cx="2083918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4161434" y="4723529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905402" y="4531505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CRC24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1390345" y="4787537"/>
            <a:ext cx="4919015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1326337" y="4723529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70305" y="4531505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CRC25</a:t>
            </a:r>
          </a:p>
        </p:txBody>
      </p:sp>
      <p:sp>
        <p:nvSpPr>
          <p:cNvPr id="96" name="Diamond 95"/>
          <p:cNvSpPr/>
          <p:nvPr/>
        </p:nvSpPr>
        <p:spPr>
          <a:xfrm>
            <a:off x="3159115" y="4668665"/>
            <a:ext cx="237744" cy="237744"/>
          </a:xfrm>
          <a:prstGeom prst="diamond">
            <a:avLst/>
          </a:prstGeom>
          <a:solidFill>
            <a:srgbClr val="D4A30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1228832" y="4677809"/>
            <a:ext cx="18288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mean Δ = -1.25  (n=3)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65760" y="5265638"/>
            <a:ext cx="100584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222222"/>
                </a:solidFill>
                <a:latin typeface="Arial"/>
              </a:rPr>
              <a:t>B-cell infiltration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09360" y="5108883"/>
            <a:ext cx="4846320" cy="532965"/>
          </a:xfrm>
          <a:prstGeom prst="rect">
            <a:avLst/>
          </a:prstGeom>
          <a:solidFill>
            <a:srgbClr val="D6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6309360" y="5375366"/>
            <a:ext cx="411937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6657289" y="5311358"/>
            <a:ext cx="128016" cy="12801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01257" y="5119334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CRC15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309360" y="5375366"/>
            <a:ext cx="411937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6657289" y="5311358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01257" y="5119334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CRC24</a:t>
            </a:r>
          </a:p>
        </p:txBody>
      </p:sp>
      <p:cxnSp>
        <p:nvCxnSpPr>
          <p:cNvPr id="106" name="Connector 105"/>
          <p:cNvCxnSpPr/>
          <p:nvPr/>
        </p:nvCxnSpPr>
        <p:spPr>
          <a:xfrm flipH="1">
            <a:off x="881482" y="5375366"/>
            <a:ext cx="5427878" cy="0"/>
          </a:xfrm>
          <a:prstGeom prst="line">
            <a:avLst/>
          </a:prstGeom>
          <a:ln w="152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817474" y="5311358"/>
            <a:ext cx="128016" cy="1280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1442" y="5119334"/>
            <a:ext cx="6400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BBBBBB"/>
                </a:solidFill>
                <a:latin typeface="Arial"/>
              </a:rPr>
              <a:t>CRC25</a:t>
            </a:r>
          </a:p>
        </p:txBody>
      </p:sp>
      <p:sp>
        <p:nvSpPr>
          <p:cNvPr id="109" name="Diamond 108"/>
          <p:cNvSpPr/>
          <p:nvPr/>
        </p:nvSpPr>
        <p:spPr>
          <a:xfrm>
            <a:off x="4656628" y="5256494"/>
            <a:ext cx="237744" cy="237744"/>
          </a:xfrm>
          <a:prstGeom prst="diamond">
            <a:avLst/>
          </a:prstGeom>
          <a:solidFill>
            <a:srgbClr val="D4A30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228832" y="5265638"/>
            <a:ext cx="18288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mean Δ = -0.63  (n=3)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365760" y="3905794"/>
            <a:ext cx="12710160" cy="0"/>
          </a:xfrm>
          <a:prstGeom prst="line">
            <a:avLst/>
          </a:prstGeom>
          <a:ln w="101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365760" y="1261872"/>
            <a:ext cx="10058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0E4A68"/>
                </a:solidFill>
                <a:latin typeface="Arial"/>
              </a:rPr>
              <a:t>Thread 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5760" y="3960658"/>
            <a:ext cx="10058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8A2B4C"/>
                </a:solidFill>
                <a:latin typeface="Arial"/>
              </a:rPr>
              <a:t>Thread 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63040" y="6263640"/>
            <a:ext cx="10515600" cy="320040"/>
          </a:xfrm>
          <a:prstGeom prst="rect">
            <a:avLst/>
          </a:prstGeom>
          <a:solidFill>
            <a:srgbClr val="F0F0F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63040" y="6263640"/>
            <a:ext cx="105156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Teal = discovery-predicted direction (tumor DOWN for Thread 1; immune UP for Thread 2). Gold diamond = mean Δ. Thread-1 DSB/cellcycle/E2F DOWN ✓; Thread-2 DOWN (FOLFOXIRI-era immunosuppression).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