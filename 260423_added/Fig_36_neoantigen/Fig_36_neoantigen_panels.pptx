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457200" cy="457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111111"/>
                </a:solidFill>
                <a:latin typeface="Arial"/>
              </a:rPr>
              <a:t>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5486400"/>
            <a:ext cx="5669279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1005840"/>
            <a:ext cx="0" cy="448056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5486400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28800" y="4370273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28800" y="3241605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2125478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1009351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46120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97479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good
(n=18)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72100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823460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bad
(n=17)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5486400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98448" y="540410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83080" y="4370273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98448" y="4287977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89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783080" y="3241605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298448" y="3159309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179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783080" y="2125478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298448" y="2043182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268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783080" y="1009351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98448" y="927055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357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943600"/>
            <a:ext cx="56692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Arial"/>
              </a:rPr>
              <a:t>TNT response</a:t>
            </a:r>
          </a:p>
        </p:txBody>
      </p:sp>
      <p:sp>
        <p:nvSpPr>
          <p:cNvPr id="25" name="TextBox 24"/>
          <p:cNvSpPr txBox="1"/>
          <p:nvPr/>
        </p:nvSpPr>
        <p:spPr>
          <a:xfrm rot="16200000">
            <a:off x="411479" y="2423160"/>
            <a:ext cx="1645920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Pre-CRT MHC-I binder sites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14624" y="4301298"/>
            <a:ext cx="1062990" cy="363681"/>
          </a:xfrm>
          <a:prstGeom prst="rect">
            <a:avLst/>
          </a:prstGeom>
          <a:solidFill>
            <a:srgbClr val="CFE4E1"/>
          </a:solidFill>
          <a:ln w="1143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7" name="Connector 26"/>
          <p:cNvCxnSpPr/>
          <p:nvPr/>
        </p:nvCxnSpPr>
        <p:spPr>
          <a:xfrm>
            <a:off x="2714624" y="4533302"/>
            <a:ext cx="1062990" cy="0"/>
          </a:xfrm>
          <a:prstGeom prst="line">
            <a:avLst/>
          </a:prstGeom>
          <a:ln w="1651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246120" y="3755776"/>
            <a:ext cx="0" cy="545522"/>
          </a:xfrm>
          <a:prstGeom prst="line">
            <a:avLst/>
          </a:prstGeom>
          <a:ln w="1143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46120" y="4664980"/>
            <a:ext cx="0" cy="545523"/>
          </a:xfrm>
          <a:prstGeom prst="line">
            <a:avLst/>
          </a:prstGeom>
          <a:ln w="1143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80372" y="3755776"/>
            <a:ext cx="531495" cy="0"/>
          </a:xfrm>
          <a:prstGeom prst="line">
            <a:avLst/>
          </a:prstGeom>
          <a:ln w="1143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980372" y="5210503"/>
            <a:ext cx="531495" cy="0"/>
          </a:xfrm>
          <a:prstGeom prst="line">
            <a:avLst/>
          </a:prstGeom>
          <a:ln w="1143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840605" y="2915545"/>
            <a:ext cx="1062989" cy="1981438"/>
          </a:xfrm>
          <a:prstGeom prst="rect">
            <a:avLst/>
          </a:prstGeom>
          <a:solidFill>
            <a:srgbClr val="F4D8D2"/>
          </a:solidFill>
          <a:ln w="1143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3" name="Connector 32"/>
          <p:cNvCxnSpPr/>
          <p:nvPr/>
        </p:nvCxnSpPr>
        <p:spPr>
          <a:xfrm>
            <a:off x="4840605" y="4596006"/>
            <a:ext cx="1062990" cy="0"/>
          </a:xfrm>
          <a:prstGeom prst="line">
            <a:avLst/>
          </a:prstGeom>
          <a:ln w="1651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372100" y="1485900"/>
            <a:ext cx="0" cy="1429645"/>
          </a:xfrm>
          <a:prstGeom prst="line">
            <a:avLst/>
          </a:prstGeom>
          <a:ln w="1143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72100" y="4896984"/>
            <a:ext cx="0" cy="539252"/>
          </a:xfrm>
          <a:prstGeom prst="line">
            <a:avLst/>
          </a:prstGeom>
          <a:ln w="1143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106352" y="1485900"/>
            <a:ext cx="531495" cy="0"/>
          </a:xfrm>
          <a:prstGeom prst="line">
            <a:avLst/>
          </a:prstGeom>
          <a:ln w="1143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106352" y="5436236"/>
            <a:ext cx="531495" cy="0"/>
          </a:xfrm>
          <a:prstGeom prst="line">
            <a:avLst/>
          </a:prstGeom>
          <a:ln w="1143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2965492" y="4312012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3051190" y="2832203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3371200" y="2481062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3246979" y="4512664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2970300" y="5415598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3162487" y="4525205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3188523" y="3020314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3007496" y="4462501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3333388" y="5377976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2981379" y="4562827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3138734" y="4424879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3209890" y="4550286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3161071" y="4826183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3249608" y="5001753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3335236" y="3960871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3459070" y="4236767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3078057" y="4638071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3284615" y="4374716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5499294" y="4537745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5500960" y="4575368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5335068" y="4638071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5204944" y="4487582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5073490" y="2869825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5260258" y="2443440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5274490" y="2042136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5068583" y="2844744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5070558" y="4851264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Oval 64"/>
          <p:cNvSpPr/>
          <p:nvPr/>
        </p:nvSpPr>
        <p:spPr>
          <a:xfrm>
            <a:off x="5609376" y="4964131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5412762" y="4550286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5175866" y="4500123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Oval 67"/>
          <p:cNvSpPr/>
          <p:nvPr/>
        </p:nvSpPr>
        <p:spPr>
          <a:xfrm>
            <a:off x="5289499" y="1440180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5595209" y="5390516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Oval 69"/>
          <p:cNvSpPr/>
          <p:nvPr/>
        </p:nvSpPr>
        <p:spPr>
          <a:xfrm>
            <a:off x="5551834" y="5139701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5521534" y="4587908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5265381" y="4976672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Diamond 72"/>
          <p:cNvSpPr/>
          <p:nvPr/>
        </p:nvSpPr>
        <p:spPr>
          <a:xfrm>
            <a:off x="3182112" y="4469294"/>
            <a:ext cx="128016" cy="128016"/>
          </a:xfrm>
          <a:prstGeom prst="diamond">
            <a:avLst/>
          </a:prstGeom>
          <a:solidFill>
            <a:srgbClr val="111111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Diamond 73"/>
          <p:cNvSpPr/>
          <p:nvPr/>
        </p:nvSpPr>
        <p:spPr>
          <a:xfrm>
            <a:off x="5308092" y="4531998"/>
            <a:ext cx="128016" cy="128016"/>
          </a:xfrm>
          <a:prstGeom prst="diamond">
            <a:avLst/>
          </a:prstGeom>
          <a:solidFill>
            <a:srgbClr val="111111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5669280" y="365760"/>
            <a:ext cx="31089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Arial"/>
              </a:rPr>
              <a:t>P = 0.779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69280" y="603504"/>
            <a:ext cx="31089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6C757D"/>
                </a:solidFill>
                <a:latin typeface="Arial"/>
              </a:rPr>
              <a:t>Mann–Whitney U, two-sided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0" i="1">
                <a:solidFill>
                  <a:srgbClr val="6C757D"/>
                </a:solidFill>
                <a:latin typeface="Arial"/>
              </a:rPr>
              <a:t>Full v2 cohort (good n=18 vs bad n=17). Each dot = one pre-CRT tumor. Box = Q1/median/Q3, whiskers = 1.5×IQR. Black diamond = median.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457200" cy="457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111111"/>
                </a:solidFill>
                <a:latin typeface="Arial"/>
              </a:rPr>
              <a:t>B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5486400"/>
            <a:ext cx="5669279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1005840"/>
            <a:ext cx="0" cy="448056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5486400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28800" y="4366260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28800" y="3246120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2125980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1005840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46120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97479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good
(n=18)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72100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823460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bad
(n=17)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5486400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98448" y="540410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83080" y="4366260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98448" y="428396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483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783080" y="3246120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298448" y="316382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966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783080" y="2125980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298448" y="204368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1449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783080" y="1005840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98448" y="92354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1932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943600"/>
            <a:ext cx="56692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Arial"/>
              </a:rPr>
              <a:t>TNT response</a:t>
            </a:r>
          </a:p>
        </p:txBody>
      </p:sp>
      <p:sp>
        <p:nvSpPr>
          <p:cNvPr id="25" name="TextBox 24"/>
          <p:cNvSpPr txBox="1"/>
          <p:nvPr/>
        </p:nvSpPr>
        <p:spPr>
          <a:xfrm rot="16200000">
            <a:off x="411479" y="2423160"/>
            <a:ext cx="1645920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Pre-CRT total binder peptides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14624" y="4053177"/>
            <a:ext cx="1062990" cy="815754"/>
          </a:xfrm>
          <a:prstGeom prst="rect">
            <a:avLst/>
          </a:prstGeom>
          <a:solidFill>
            <a:srgbClr val="CFE4E1"/>
          </a:solidFill>
          <a:ln w="1143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7" name="Connector 26"/>
          <p:cNvCxnSpPr/>
          <p:nvPr/>
        </p:nvCxnSpPr>
        <p:spPr>
          <a:xfrm>
            <a:off x="2714624" y="4539035"/>
            <a:ext cx="1062990" cy="0"/>
          </a:xfrm>
          <a:prstGeom prst="line">
            <a:avLst/>
          </a:prstGeom>
          <a:ln w="1651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246120" y="2829546"/>
            <a:ext cx="0" cy="1223631"/>
          </a:xfrm>
          <a:prstGeom prst="line">
            <a:avLst/>
          </a:prstGeom>
          <a:ln w="1143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46120" y="4868931"/>
            <a:ext cx="0" cy="580362"/>
          </a:xfrm>
          <a:prstGeom prst="line">
            <a:avLst/>
          </a:prstGeom>
          <a:ln w="1143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80372" y="2829546"/>
            <a:ext cx="531495" cy="0"/>
          </a:xfrm>
          <a:prstGeom prst="line">
            <a:avLst/>
          </a:prstGeom>
          <a:ln w="1143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980372" y="5449293"/>
            <a:ext cx="531495" cy="0"/>
          </a:xfrm>
          <a:prstGeom prst="line">
            <a:avLst/>
          </a:prstGeom>
          <a:ln w="1143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840605" y="3846774"/>
            <a:ext cx="1062989" cy="932290"/>
          </a:xfrm>
          <a:prstGeom prst="rect">
            <a:avLst/>
          </a:prstGeom>
          <a:solidFill>
            <a:srgbClr val="F4D8D2"/>
          </a:solidFill>
          <a:ln w="1143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3" name="Connector 32"/>
          <p:cNvCxnSpPr/>
          <p:nvPr/>
        </p:nvCxnSpPr>
        <p:spPr>
          <a:xfrm>
            <a:off x="4840605" y="4665427"/>
            <a:ext cx="1062990" cy="0"/>
          </a:xfrm>
          <a:prstGeom prst="line">
            <a:avLst/>
          </a:prstGeom>
          <a:ln w="1651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372100" y="2448339"/>
            <a:ext cx="0" cy="1398435"/>
          </a:xfrm>
          <a:prstGeom prst="line">
            <a:avLst/>
          </a:prstGeom>
          <a:ln w="1143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72100" y="4779065"/>
            <a:ext cx="0" cy="642399"/>
          </a:xfrm>
          <a:prstGeom prst="line">
            <a:avLst/>
          </a:prstGeom>
          <a:ln w="1143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106352" y="2448339"/>
            <a:ext cx="531495" cy="0"/>
          </a:xfrm>
          <a:prstGeom prst="line">
            <a:avLst/>
          </a:prstGeom>
          <a:ln w="1143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106352" y="5421464"/>
            <a:ext cx="531495" cy="0"/>
          </a:xfrm>
          <a:prstGeom prst="line">
            <a:avLst/>
          </a:prstGeom>
          <a:ln w="1143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2965492" y="4457368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3051190" y="1899367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3371200" y="2272747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3246979" y="4529261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2970300" y="5403573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3162487" y="4601154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3188523" y="2829339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3007496" y="4253285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3333388" y="5371106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2981379" y="4758855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3138734" y="4452730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3209890" y="4663771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3161071" y="4844663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3249608" y="4988449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3335236" y="3826565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3459070" y="4195306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3078057" y="4879450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3284615" y="3944840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5499294" y="4784366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5500960" y="4680005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5335068" y="4596516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5204944" y="4306625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5073490" y="3801054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5260258" y="2351598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5274490" y="1880814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5068583" y="3024146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5070558" y="4733345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Oval 64"/>
          <p:cNvSpPr/>
          <p:nvPr/>
        </p:nvSpPr>
        <p:spPr>
          <a:xfrm>
            <a:off x="5609376" y="4974534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5412762" y="4619707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5175866" y="4199945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Oval 67"/>
          <p:cNvSpPr/>
          <p:nvPr/>
        </p:nvSpPr>
        <p:spPr>
          <a:xfrm>
            <a:off x="5289499" y="1440180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5595209" y="5375744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Oval 69"/>
          <p:cNvSpPr/>
          <p:nvPr/>
        </p:nvSpPr>
        <p:spPr>
          <a:xfrm>
            <a:off x="5551834" y="5146150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5521534" y="4726387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5265381" y="4666090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Diamond 72"/>
          <p:cNvSpPr/>
          <p:nvPr/>
        </p:nvSpPr>
        <p:spPr>
          <a:xfrm>
            <a:off x="3182112" y="4475027"/>
            <a:ext cx="128016" cy="128016"/>
          </a:xfrm>
          <a:prstGeom prst="diamond">
            <a:avLst/>
          </a:prstGeom>
          <a:solidFill>
            <a:srgbClr val="111111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Diamond 73"/>
          <p:cNvSpPr/>
          <p:nvPr/>
        </p:nvSpPr>
        <p:spPr>
          <a:xfrm>
            <a:off x="5308092" y="4601419"/>
            <a:ext cx="128016" cy="128016"/>
          </a:xfrm>
          <a:prstGeom prst="diamond">
            <a:avLst/>
          </a:prstGeom>
          <a:solidFill>
            <a:srgbClr val="111111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5669280" y="365760"/>
            <a:ext cx="31089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Arial"/>
              </a:rPr>
              <a:t>P = 0.961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69280" y="603504"/>
            <a:ext cx="31089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6C757D"/>
                </a:solidFill>
                <a:latin typeface="Arial"/>
              </a:rPr>
              <a:t>Mann–Whitney U, two-sided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0" i="1">
                <a:solidFill>
                  <a:srgbClr val="6C757D"/>
                </a:solidFill>
                <a:latin typeface="Arial"/>
              </a:rPr>
              <a:t>IC50 &lt; 500 nM across all HLA–peptide predictions (v2 pvacseq re-run, MHCflurry).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457200" cy="457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111111"/>
                </a:solidFill>
                <a:latin typeface="Arial"/>
              </a:rPr>
              <a:t>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5486400"/>
            <a:ext cx="5669279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1005840"/>
            <a:ext cx="0" cy="448056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5486400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28800" y="4365561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28800" y="3247058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2126220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1005382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46120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97479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good
(n=18)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72100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823460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bad
(n=17)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5486400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98448" y="540410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83080" y="4365561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98448" y="4283265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480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783080" y="3247058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298448" y="3164762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959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783080" y="2126220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298448" y="204392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1439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783080" y="1005382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98448" y="923086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1919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943600"/>
            <a:ext cx="56692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Arial"/>
              </a:rPr>
              <a:t>TNT response</a:t>
            </a:r>
          </a:p>
        </p:txBody>
      </p:sp>
      <p:sp>
        <p:nvSpPr>
          <p:cNvPr id="25" name="TextBox 24"/>
          <p:cNvSpPr txBox="1"/>
          <p:nvPr/>
        </p:nvSpPr>
        <p:spPr>
          <a:xfrm rot="16200000">
            <a:off x="411479" y="2423160"/>
            <a:ext cx="1645920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Pre-CRT peptide-copy number (PCN)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14624" y="4842673"/>
            <a:ext cx="1062990" cy="483695"/>
          </a:xfrm>
          <a:prstGeom prst="rect">
            <a:avLst/>
          </a:prstGeom>
          <a:solidFill>
            <a:srgbClr val="CFE4E1"/>
          </a:solidFill>
          <a:ln w="1143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7" name="Connector 26"/>
          <p:cNvCxnSpPr/>
          <p:nvPr/>
        </p:nvCxnSpPr>
        <p:spPr>
          <a:xfrm>
            <a:off x="2714624" y="5129452"/>
            <a:ext cx="1062990" cy="0"/>
          </a:xfrm>
          <a:prstGeom prst="line">
            <a:avLst/>
          </a:prstGeom>
          <a:ln w="1651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246120" y="4117130"/>
            <a:ext cx="0" cy="725543"/>
          </a:xfrm>
          <a:prstGeom prst="line">
            <a:avLst/>
          </a:prstGeom>
          <a:ln w="1143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46120" y="5326368"/>
            <a:ext cx="0" cy="148669"/>
          </a:xfrm>
          <a:prstGeom prst="line">
            <a:avLst/>
          </a:prstGeom>
          <a:ln w="1143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80372" y="4117130"/>
            <a:ext cx="531495" cy="0"/>
          </a:xfrm>
          <a:prstGeom prst="line">
            <a:avLst/>
          </a:prstGeom>
          <a:ln w="1143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980372" y="5475037"/>
            <a:ext cx="531495" cy="0"/>
          </a:xfrm>
          <a:prstGeom prst="line">
            <a:avLst/>
          </a:prstGeom>
          <a:ln w="1143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840605" y="3493675"/>
            <a:ext cx="1062989" cy="1701670"/>
          </a:xfrm>
          <a:prstGeom prst="rect">
            <a:avLst/>
          </a:prstGeom>
          <a:solidFill>
            <a:srgbClr val="F4D8D2"/>
          </a:solidFill>
          <a:ln w="1143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3" name="Connector 32"/>
          <p:cNvCxnSpPr/>
          <p:nvPr/>
        </p:nvCxnSpPr>
        <p:spPr>
          <a:xfrm>
            <a:off x="4840605" y="5120665"/>
            <a:ext cx="1062990" cy="0"/>
          </a:xfrm>
          <a:prstGeom prst="line">
            <a:avLst/>
          </a:prstGeom>
          <a:ln w="1651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372100" y="1983323"/>
            <a:ext cx="0" cy="1510352"/>
          </a:xfrm>
          <a:prstGeom prst="line">
            <a:avLst/>
          </a:prstGeom>
          <a:ln w="1143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72100" y="5195346"/>
            <a:ext cx="0" cy="284679"/>
          </a:xfrm>
          <a:prstGeom prst="line">
            <a:avLst/>
          </a:prstGeom>
          <a:ln w="1143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106352" y="1983323"/>
            <a:ext cx="531495" cy="0"/>
          </a:xfrm>
          <a:prstGeom prst="line">
            <a:avLst/>
          </a:prstGeom>
          <a:ln w="1143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106352" y="5480025"/>
            <a:ext cx="531495" cy="0"/>
          </a:xfrm>
          <a:prstGeom prst="line">
            <a:avLst/>
          </a:prstGeom>
          <a:ln w="1143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2965492" y="5075847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3051190" y="1440180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3371200" y="1954878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3246979" y="5294205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2970300" y="5429317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3162487" y="5091618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3188523" y="4724506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3007496" y="5111162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3333388" y="5425754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2981379" y="5171762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3138734" y="4843091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3209890" y="4828221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3161071" y="5253023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3249608" y="5366634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3335236" y="4687280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3459070" y="5017082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3078057" y="5289857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3284615" y="4786530"/>
            <a:ext cx="91440" cy="9144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5499294" y="5133084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5500960" y="5074945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5335068" y="5035623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5204944" y="4880713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5073490" y="3447955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5260258" y="2546059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5274490" y="1937603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5068583" y="2710682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5070558" y="5149626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Oval 64"/>
          <p:cNvSpPr/>
          <p:nvPr/>
        </p:nvSpPr>
        <p:spPr>
          <a:xfrm>
            <a:off x="5609376" y="5322847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5412762" y="5096181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5175866" y="4762647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Oval 67"/>
          <p:cNvSpPr/>
          <p:nvPr/>
        </p:nvSpPr>
        <p:spPr>
          <a:xfrm>
            <a:off x="5289499" y="2119309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5595209" y="5434305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Oval 69"/>
          <p:cNvSpPr/>
          <p:nvPr/>
        </p:nvSpPr>
        <p:spPr>
          <a:xfrm>
            <a:off x="5551834" y="5411141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5521534" y="5084599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5265381" y="5164430"/>
            <a:ext cx="91440" cy="9144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Diamond 72"/>
          <p:cNvSpPr/>
          <p:nvPr/>
        </p:nvSpPr>
        <p:spPr>
          <a:xfrm>
            <a:off x="3182112" y="5065444"/>
            <a:ext cx="128016" cy="128016"/>
          </a:xfrm>
          <a:prstGeom prst="diamond">
            <a:avLst/>
          </a:prstGeom>
          <a:solidFill>
            <a:srgbClr val="111111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Diamond 73"/>
          <p:cNvSpPr/>
          <p:nvPr/>
        </p:nvSpPr>
        <p:spPr>
          <a:xfrm>
            <a:off x="5308092" y="5056657"/>
            <a:ext cx="128016" cy="128016"/>
          </a:xfrm>
          <a:prstGeom prst="diamond">
            <a:avLst/>
          </a:prstGeom>
          <a:solidFill>
            <a:srgbClr val="111111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5669280" y="365760"/>
            <a:ext cx="31089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Arial"/>
              </a:rPr>
              <a:t>P = 0.609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69280" y="603504"/>
            <a:ext cx="31089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6C757D"/>
                </a:solidFill>
                <a:latin typeface="Arial"/>
              </a:rPr>
              <a:t>Mann–Whitney U, two-sided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0" i="1">
                <a:solidFill>
                  <a:srgbClr val="6C757D"/>
                </a:solidFill>
                <a:latin typeface="Arial"/>
              </a:rPr>
              <a:t>PCN = Σ (2·VAF × binder count) across mutation sites.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457200" cy="457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111111"/>
                </a:solidFill>
                <a:latin typeface="Arial"/>
              </a:rPr>
              <a:t>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5486400"/>
            <a:ext cx="5669279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1005840"/>
            <a:ext cx="0" cy="448056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5484594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28800" y="4592299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28800" y="3694846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2797393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1899940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0" y="1007645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46120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697479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good
(n=5)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72100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23460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bad
(n=6)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83080" y="5484594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98448" y="5402298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-726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83080" y="4592299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298448" y="4510003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-553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83080" y="3694846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98448" y="3612550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-379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783080" y="2797393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298448" y="2715097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-205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783080" y="1899940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298448" y="181764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-31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783080" y="1007645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298448" y="925349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142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943600"/>
            <a:ext cx="56692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Arial"/>
              </a:rPr>
              <a:t>TNT response</a:t>
            </a:r>
          </a:p>
        </p:txBody>
      </p:sp>
      <p:sp>
        <p:nvSpPr>
          <p:cNvPr id="28" name="TextBox 27"/>
          <p:cNvSpPr txBox="1"/>
          <p:nvPr/>
        </p:nvSpPr>
        <p:spPr>
          <a:xfrm rot="16200000">
            <a:off x="411479" y="2423160"/>
            <a:ext cx="1645920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Δ total binder peptides (post − pre)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828800" y="1740049"/>
            <a:ext cx="5669279" cy="0"/>
          </a:xfrm>
          <a:prstGeom prst="line">
            <a:avLst/>
          </a:prstGeom>
          <a:ln w="7620">
            <a:solidFill>
              <a:srgbClr val="6C757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891789" y="1740049"/>
            <a:ext cx="708661" cy="1609226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857499" y="1705759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3541014" y="3289839"/>
            <a:ext cx="118872" cy="118872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3" name="Connector 32"/>
          <p:cNvCxnSpPr/>
          <p:nvPr/>
        </p:nvCxnSpPr>
        <p:spPr>
          <a:xfrm>
            <a:off x="2891789" y="1740049"/>
            <a:ext cx="708661" cy="634406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2857499" y="1705759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3541014" y="2315019"/>
            <a:ext cx="118872" cy="118872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Connector 35"/>
          <p:cNvCxnSpPr/>
          <p:nvPr/>
        </p:nvCxnSpPr>
        <p:spPr>
          <a:xfrm>
            <a:off x="2891789" y="1740049"/>
            <a:ext cx="708661" cy="2522152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2857499" y="1705759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3541014" y="4202765"/>
            <a:ext cx="118872" cy="118872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Connector 38"/>
          <p:cNvCxnSpPr/>
          <p:nvPr/>
        </p:nvCxnSpPr>
        <p:spPr>
          <a:xfrm>
            <a:off x="2891789" y="1740049"/>
            <a:ext cx="708661" cy="3228768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2857499" y="1705759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3541014" y="4909381"/>
            <a:ext cx="118872" cy="118872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Connector 41"/>
          <p:cNvCxnSpPr/>
          <p:nvPr/>
        </p:nvCxnSpPr>
        <p:spPr>
          <a:xfrm flipV="1">
            <a:off x="2891789" y="1523422"/>
            <a:ext cx="708661" cy="216627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2857499" y="1705759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3541014" y="1463986"/>
            <a:ext cx="118872" cy="118872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Connector 44"/>
          <p:cNvCxnSpPr/>
          <p:nvPr/>
        </p:nvCxnSpPr>
        <p:spPr>
          <a:xfrm>
            <a:off x="5017770" y="1740049"/>
            <a:ext cx="708660" cy="330098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4983480" y="1705759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5666994" y="2010711"/>
            <a:ext cx="118872" cy="118872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Connector 47"/>
          <p:cNvCxnSpPr/>
          <p:nvPr/>
        </p:nvCxnSpPr>
        <p:spPr>
          <a:xfrm>
            <a:off x="5017770" y="1740049"/>
            <a:ext cx="708660" cy="1289444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4983480" y="1705759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5666994" y="2970057"/>
            <a:ext cx="118872" cy="118872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Connector 50"/>
          <p:cNvCxnSpPr/>
          <p:nvPr/>
        </p:nvCxnSpPr>
        <p:spPr>
          <a:xfrm>
            <a:off x="5017770" y="1740049"/>
            <a:ext cx="708660" cy="1655646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4983480" y="1705759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5666994" y="3336259"/>
            <a:ext cx="118872" cy="118872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4" name="Connector 53"/>
          <p:cNvCxnSpPr/>
          <p:nvPr/>
        </p:nvCxnSpPr>
        <p:spPr>
          <a:xfrm>
            <a:off x="5017770" y="1740049"/>
            <a:ext cx="708660" cy="263046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4983480" y="1705759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5666994" y="1943659"/>
            <a:ext cx="118872" cy="118872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7" name="Connector 56"/>
          <p:cNvCxnSpPr/>
          <p:nvPr/>
        </p:nvCxnSpPr>
        <p:spPr>
          <a:xfrm flipV="1">
            <a:off x="5017770" y="1647209"/>
            <a:ext cx="708660" cy="92840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4983480" y="1705759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5666994" y="1587773"/>
            <a:ext cx="118872" cy="118872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0" name="Connector 59"/>
          <p:cNvCxnSpPr/>
          <p:nvPr/>
        </p:nvCxnSpPr>
        <p:spPr>
          <a:xfrm>
            <a:off x="5017770" y="1740049"/>
            <a:ext cx="708660" cy="696300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983480" y="1705759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5666994" y="2376913"/>
            <a:ext cx="118872" cy="118872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Diamond 62"/>
          <p:cNvSpPr/>
          <p:nvPr/>
        </p:nvSpPr>
        <p:spPr>
          <a:xfrm>
            <a:off x="3168396" y="3271551"/>
            <a:ext cx="155448" cy="155448"/>
          </a:xfrm>
          <a:prstGeom prst="diamond">
            <a:avLst/>
          </a:prstGeom>
          <a:solidFill>
            <a:srgbClr val="111111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Diamond 63"/>
          <p:cNvSpPr/>
          <p:nvPr/>
        </p:nvSpPr>
        <p:spPr>
          <a:xfrm>
            <a:off x="5294376" y="2175524"/>
            <a:ext cx="155448" cy="155448"/>
          </a:xfrm>
          <a:prstGeom prst="diamond">
            <a:avLst/>
          </a:prstGeom>
          <a:solidFill>
            <a:srgbClr val="111111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669280" y="292608"/>
            <a:ext cx="31089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Arial"/>
              </a:rPr>
              <a:t>P = 0.429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0" y="530352"/>
            <a:ext cx="31089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1">
                <a:solidFill>
                  <a:srgbClr val="6C757D"/>
                </a:solidFill>
                <a:latin typeface="Arial"/>
              </a:rPr>
              <a:t>good vs bad (Mann–Whitney, two-sided)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0" y="731520"/>
            <a:ext cx="31089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0A7D6E"/>
                </a:solidFill>
                <a:latin typeface="Arial"/>
              </a:rPr>
              <a:t>within-good Wilcoxon: P = 0.125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0" y="914400"/>
            <a:ext cx="31089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C53E1F"/>
                </a:solidFill>
                <a:latin typeface="Arial"/>
              </a:rPr>
              <a:t>within-bad Wilcoxon: P = 0.062</a:t>
            </a:r>
          </a:p>
        </p:txBody>
      </p:sp>
      <p:sp>
        <p:nvSpPr>
          <p:cNvPr id="69" name="Oval 68"/>
          <p:cNvSpPr/>
          <p:nvPr/>
        </p:nvSpPr>
        <p:spPr>
          <a:xfrm>
            <a:off x="788670" y="496062"/>
            <a:ext cx="68580" cy="68580"/>
          </a:xfrm>
          <a:prstGeom prst="ellipse">
            <a:avLst/>
          </a:prstGeom>
          <a:solidFill>
            <a:srgbClr val="6C757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932688" y="466344"/>
            <a:ext cx="18288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1">
                <a:solidFill>
                  <a:srgbClr val="6C757D"/>
                </a:solidFill>
                <a:latin typeface="Arial"/>
              </a:rPr>
              <a:t>pre-CRT baseline (0)</a:t>
            </a:r>
          </a:p>
        </p:txBody>
      </p:sp>
      <p:sp>
        <p:nvSpPr>
          <p:cNvPr id="71" name="Oval 70"/>
          <p:cNvSpPr/>
          <p:nvPr/>
        </p:nvSpPr>
        <p:spPr>
          <a:xfrm>
            <a:off x="768096" y="694944"/>
            <a:ext cx="109728" cy="109728"/>
          </a:xfrm>
          <a:prstGeom prst="ellipse">
            <a:avLst/>
          </a:prstGeom>
          <a:solidFill>
            <a:srgbClr val="11111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932688" y="685800"/>
            <a:ext cx="18288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1">
                <a:solidFill>
                  <a:srgbClr val="111111"/>
                </a:solidFill>
                <a:latin typeface="Arial"/>
              </a:rPr>
              <a:t>post-CRT 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0" i="1">
                <a:solidFill>
                  <a:srgbClr val="6C757D"/>
                </a:solidFill>
                <a:latin typeface="Arial"/>
              </a:rPr>
              <a:t>N = 11 paired subjects. Lines go from pre-baseline (0) to post-Δ. Black diamond = group median.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457200" cy="457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111111"/>
                </a:solidFill>
                <a:latin typeface="Arial"/>
              </a:rPr>
              <a:t>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5486400"/>
            <a:ext cx="5669279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1005840"/>
            <a:ext cx="0" cy="448056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5481242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28800" y="4587193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28800" y="3693144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2799095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1905046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0" y="1010997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46120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697479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good
(n=5)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72100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23460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bad
(n=6)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83080" y="5481242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98448" y="5398946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-103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83080" y="4587193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298448" y="4504897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-77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83080" y="3693144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98448" y="3610848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-51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783080" y="2799095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298448" y="2716799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-25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783080" y="1905046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298448" y="1822750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783080" y="1010997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298448" y="928701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943600"/>
            <a:ext cx="56692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Arial"/>
              </a:rPr>
              <a:t>TNT response</a:t>
            </a:r>
          </a:p>
        </p:txBody>
      </p:sp>
      <p:sp>
        <p:nvSpPr>
          <p:cNvPr id="28" name="TextBox 27"/>
          <p:cNvSpPr txBox="1"/>
          <p:nvPr/>
        </p:nvSpPr>
        <p:spPr>
          <a:xfrm rot="16200000">
            <a:off x="411479" y="2423160"/>
            <a:ext cx="1645920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Δ MHC-I binder sites (post − pre)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828800" y="1939433"/>
            <a:ext cx="5669279" cy="0"/>
          </a:xfrm>
          <a:prstGeom prst="line">
            <a:avLst/>
          </a:prstGeom>
          <a:ln w="7620">
            <a:solidFill>
              <a:srgbClr val="6C757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891789" y="1939433"/>
            <a:ext cx="708661" cy="2028803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857499" y="1905143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3541014" y="3908800"/>
            <a:ext cx="118872" cy="118872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3" name="Connector 32"/>
          <p:cNvCxnSpPr/>
          <p:nvPr/>
        </p:nvCxnSpPr>
        <p:spPr>
          <a:xfrm>
            <a:off x="2891789" y="1939433"/>
            <a:ext cx="708661" cy="894049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2857499" y="1905143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3541014" y="2774046"/>
            <a:ext cx="118872" cy="118872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Connector 35"/>
          <p:cNvCxnSpPr/>
          <p:nvPr/>
        </p:nvCxnSpPr>
        <p:spPr>
          <a:xfrm>
            <a:off x="2891789" y="1939433"/>
            <a:ext cx="708661" cy="3026011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2857499" y="1905143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3541014" y="4906008"/>
            <a:ext cx="118872" cy="118872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Connector 38"/>
          <p:cNvCxnSpPr/>
          <p:nvPr/>
        </p:nvCxnSpPr>
        <p:spPr>
          <a:xfrm>
            <a:off x="2891789" y="1939433"/>
            <a:ext cx="708661" cy="2819692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2857499" y="1905143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3541014" y="4699689"/>
            <a:ext cx="118872" cy="118872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Connector 41"/>
          <p:cNvCxnSpPr/>
          <p:nvPr/>
        </p:nvCxnSpPr>
        <p:spPr>
          <a:xfrm flipV="1">
            <a:off x="2891789" y="1526795"/>
            <a:ext cx="708661" cy="412638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2857499" y="1905143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3541014" y="1467359"/>
            <a:ext cx="118872" cy="118872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Connector 44"/>
          <p:cNvCxnSpPr/>
          <p:nvPr/>
        </p:nvCxnSpPr>
        <p:spPr>
          <a:xfrm>
            <a:off x="5017770" y="1939433"/>
            <a:ext cx="708660" cy="481411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4983480" y="1905143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5666994" y="2361408"/>
            <a:ext cx="118872" cy="118872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Connector 47"/>
          <p:cNvCxnSpPr/>
          <p:nvPr/>
        </p:nvCxnSpPr>
        <p:spPr>
          <a:xfrm>
            <a:off x="5017770" y="1939433"/>
            <a:ext cx="708660" cy="1925643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4983480" y="1905143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5666994" y="3805640"/>
            <a:ext cx="118872" cy="118872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Connector 50"/>
          <p:cNvCxnSpPr/>
          <p:nvPr/>
        </p:nvCxnSpPr>
        <p:spPr>
          <a:xfrm>
            <a:off x="5017770" y="1939433"/>
            <a:ext cx="708660" cy="1169141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4983480" y="1905143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5666994" y="3049138"/>
            <a:ext cx="118872" cy="118872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4" name="Connector 53"/>
          <p:cNvCxnSpPr/>
          <p:nvPr/>
        </p:nvCxnSpPr>
        <p:spPr>
          <a:xfrm>
            <a:off x="5017770" y="1939433"/>
            <a:ext cx="708660" cy="206319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4983480" y="1905143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5666994" y="2086316"/>
            <a:ext cx="118872" cy="118872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7" name="Connector 56"/>
          <p:cNvCxnSpPr/>
          <p:nvPr/>
        </p:nvCxnSpPr>
        <p:spPr>
          <a:xfrm>
            <a:off x="5017770" y="1939433"/>
            <a:ext cx="708660" cy="34386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4983480" y="1905143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5666994" y="1914383"/>
            <a:ext cx="118872" cy="118872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0" name="Connector 59"/>
          <p:cNvCxnSpPr/>
          <p:nvPr/>
        </p:nvCxnSpPr>
        <p:spPr>
          <a:xfrm>
            <a:off x="5017770" y="1939433"/>
            <a:ext cx="708660" cy="653343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983480" y="1905143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5666994" y="2533340"/>
            <a:ext cx="118872" cy="118872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Diamond 62"/>
          <p:cNvSpPr/>
          <p:nvPr/>
        </p:nvSpPr>
        <p:spPr>
          <a:xfrm>
            <a:off x="3168396" y="3890512"/>
            <a:ext cx="155448" cy="155448"/>
          </a:xfrm>
          <a:prstGeom prst="diamond">
            <a:avLst/>
          </a:prstGeom>
          <a:solidFill>
            <a:srgbClr val="111111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Diamond 63"/>
          <p:cNvSpPr/>
          <p:nvPr/>
        </p:nvSpPr>
        <p:spPr>
          <a:xfrm>
            <a:off x="5294376" y="2429086"/>
            <a:ext cx="155448" cy="155448"/>
          </a:xfrm>
          <a:prstGeom prst="diamond">
            <a:avLst/>
          </a:prstGeom>
          <a:solidFill>
            <a:srgbClr val="111111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669280" y="292608"/>
            <a:ext cx="31089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Arial"/>
              </a:rPr>
              <a:t>P = 0.247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0" y="530352"/>
            <a:ext cx="31089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1">
                <a:solidFill>
                  <a:srgbClr val="6C757D"/>
                </a:solidFill>
                <a:latin typeface="Arial"/>
              </a:rPr>
              <a:t>good vs bad (Mann–Whitney, two-sided)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0" y="731520"/>
            <a:ext cx="31089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0A7D6E"/>
                </a:solidFill>
                <a:latin typeface="Arial"/>
              </a:rPr>
              <a:t>within-good Wilcoxon: P = 0.125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0" y="914400"/>
            <a:ext cx="31089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C53E1F"/>
                </a:solidFill>
                <a:latin typeface="Arial"/>
              </a:rPr>
              <a:t>within-bad Wilcoxon: P = 0.031</a:t>
            </a:r>
          </a:p>
        </p:txBody>
      </p:sp>
      <p:sp>
        <p:nvSpPr>
          <p:cNvPr id="69" name="Oval 68"/>
          <p:cNvSpPr/>
          <p:nvPr/>
        </p:nvSpPr>
        <p:spPr>
          <a:xfrm>
            <a:off x="788670" y="496062"/>
            <a:ext cx="68580" cy="68580"/>
          </a:xfrm>
          <a:prstGeom prst="ellipse">
            <a:avLst/>
          </a:prstGeom>
          <a:solidFill>
            <a:srgbClr val="6C757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932688" y="466344"/>
            <a:ext cx="18288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1">
                <a:solidFill>
                  <a:srgbClr val="6C757D"/>
                </a:solidFill>
                <a:latin typeface="Arial"/>
              </a:rPr>
              <a:t>pre-CRT baseline (0)</a:t>
            </a:r>
          </a:p>
        </p:txBody>
      </p:sp>
      <p:sp>
        <p:nvSpPr>
          <p:cNvPr id="71" name="Oval 70"/>
          <p:cNvSpPr/>
          <p:nvPr/>
        </p:nvSpPr>
        <p:spPr>
          <a:xfrm>
            <a:off x="768096" y="694944"/>
            <a:ext cx="109728" cy="109728"/>
          </a:xfrm>
          <a:prstGeom prst="ellipse">
            <a:avLst/>
          </a:prstGeom>
          <a:solidFill>
            <a:srgbClr val="11111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932688" y="685800"/>
            <a:ext cx="18288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1">
                <a:solidFill>
                  <a:srgbClr val="111111"/>
                </a:solidFill>
                <a:latin typeface="Arial"/>
              </a:rPr>
              <a:t>post-CRT 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0" i="1">
                <a:solidFill>
                  <a:srgbClr val="6C757D"/>
                </a:solidFill>
                <a:latin typeface="Arial"/>
              </a:rPr>
              <a:t>Mutation sites with ≥1 binder after CRT minus those before CRT.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457200" cy="457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111111"/>
                </a:solidFill>
                <a:latin typeface="Arial"/>
              </a:rPr>
              <a:t>F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5486400"/>
            <a:ext cx="5669279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1005840"/>
            <a:ext cx="0" cy="448056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5486113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28800" y="4584481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28800" y="3694558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2792927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1903004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0" y="1001372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46120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697479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good
(n=5)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72100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23460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bad
(n=6)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83080" y="5486113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98448" y="5403817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-323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83080" y="4584481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298448" y="4502185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-246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83080" y="3694558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98448" y="3612262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-170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783080" y="2792927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298448" y="2710631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-93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783080" y="1903004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298448" y="1820708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-17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783080" y="1001372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298448" y="919076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943600"/>
            <a:ext cx="56692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Arial"/>
              </a:rPr>
              <a:t>TNT response</a:t>
            </a:r>
          </a:p>
        </p:txBody>
      </p:sp>
      <p:sp>
        <p:nvSpPr>
          <p:cNvPr id="28" name="TextBox 27"/>
          <p:cNvSpPr txBox="1"/>
          <p:nvPr/>
        </p:nvSpPr>
        <p:spPr>
          <a:xfrm rot="16200000">
            <a:off x="411479" y="2423160"/>
            <a:ext cx="1645920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Δ PCN (post − pre)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828800" y="1703943"/>
            <a:ext cx="5669279" cy="0"/>
          </a:xfrm>
          <a:prstGeom prst="line">
            <a:avLst/>
          </a:prstGeom>
          <a:ln w="7620">
            <a:solidFill>
              <a:srgbClr val="6C757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891789" y="1703943"/>
            <a:ext cx="708661" cy="640837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857499" y="1669653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3541014" y="2285344"/>
            <a:ext cx="118872" cy="118872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3" name="Connector 32"/>
          <p:cNvCxnSpPr/>
          <p:nvPr/>
        </p:nvCxnSpPr>
        <p:spPr>
          <a:xfrm>
            <a:off x="2891789" y="1703943"/>
            <a:ext cx="708661" cy="2500916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2857499" y="1669653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3541014" y="4145423"/>
            <a:ext cx="118872" cy="118872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Connector 35"/>
          <p:cNvCxnSpPr/>
          <p:nvPr/>
        </p:nvCxnSpPr>
        <p:spPr>
          <a:xfrm>
            <a:off x="2891789" y="1703943"/>
            <a:ext cx="708661" cy="1882654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2857499" y="1669653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3541014" y="3527161"/>
            <a:ext cx="118872" cy="118872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Connector 38"/>
          <p:cNvCxnSpPr/>
          <p:nvPr/>
        </p:nvCxnSpPr>
        <p:spPr>
          <a:xfrm>
            <a:off x="2891789" y="1703943"/>
            <a:ext cx="708661" cy="3264118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2857499" y="1669653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3541014" y="4908625"/>
            <a:ext cx="118872" cy="118872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Connector 41"/>
          <p:cNvCxnSpPr/>
          <p:nvPr/>
        </p:nvCxnSpPr>
        <p:spPr>
          <a:xfrm flipV="1">
            <a:off x="2891789" y="1524178"/>
            <a:ext cx="708661" cy="179765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2857499" y="1669653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3541014" y="1464742"/>
            <a:ext cx="118872" cy="118872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Connector 44"/>
          <p:cNvCxnSpPr/>
          <p:nvPr/>
        </p:nvCxnSpPr>
        <p:spPr>
          <a:xfrm>
            <a:off x="5017770" y="1703943"/>
            <a:ext cx="708660" cy="791796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4983480" y="1669653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5666994" y="2436303"/>
            <a:ext cx="118872" cy="118872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Connector 47"/>
          <p:cNvCxnSpPr/>
          <p:nvPr/>
        </p:nvCxnSpPr>
        <p:spPr>
          <a:xfrm>
            <a:off x="5017770" y="1703943"/>
            <a:ext cx="708660" cy="1709517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4983480" y="1669653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5666994" y="3354024"/>
            <a:ext cx="118872" cy="118872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Connector 50"/>
          <p:cNvCxnSpPr/>
          <p:nvPr/>
        </p:nvCxnSpPr>
        <p:spPr>
          <a:xfrm>
            <a:off x="5017770" y="1703943"/>
            <a:ext cx="708660" cy="1373852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4983480" y="1669653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5666994" y="3018359"/>
            <a:ext cx="118872" cy="118872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4" name="Connector 53"/>
          <p:cNvCxnSpPr/>
          <p:nvPr/>
        </p:nvCxnSpPr>
        <p:spPr>
          <a:xfrm>
            <a:off x="5017770" y="1703943"/>
            <a:ext cx="708660" cy="300184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4983480" y="1669653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5666994" y="1944691"/>
            <a:ext cx="118872" cy="118872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7" name="Connector 56"/>
          <p:cNvCxnSpPr/>
          <p:nvPr/>
        </p:nvCxnSpPr>
        <p:spPr>
          <a:xfrm>
            <a:off x="5017770" y="1703943"/>
            <a:ext cx="708660" cy="153300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4983480" y="1669653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5666994" y="1797807"/>
            <a:ext cx="118872" cy="118872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0" name="Connector 59"/>
          <p:cNvCxnSpPr/>
          <p:nvPr/>
        </p:nvCxnSpPr>
        <p:spPr>
          <a:xfrm>
            <a:off x="5017770" y="1703943"/>
            <a:ext cx="708660" cy="2088413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983480" y="1669653"/>
            <a:ext cx="68580" cy="68580"/>
          </a:xfrm>
          <a:prstGeom prst="ellipse">
            <a:avLst/>
          </a:prstGeom>
          <a:solidFill>
            <a:srgbClr val="6C757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5666994" y="3732920"/>
            <a:ext cx="118872" cy="118872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Diamond 62"/>
          <p:cNvSpPr/>
          <p:nvPr/>
        </p:nvSpPr>
        <p:spPr>
          <a:xfrm>
            <a:off x="3168396" y="3508873"/>
            <a:ext cx="155448" cy="155448"/>
          </a:xfrm>
          <a:prstGeom prst="diamond">
            <a:avLst/>
          </a:prstGeom>
          <a:solidFill>
            <a:srgbClr val="111111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Diamond 63"/>
          <p:cNvSpPr/>
          <p:nvPr/>
        </p:nvSpPr>
        <p:spPr>
          <a:xfrm>
            <a:off x="5294376" y="2709043"/>
            <a:ext cx="155448" cy="155448"/>
          </a:xfrm>
          <a:prstGeom prst="diamond">
            <a:avLst/>
          </a:prstGeom>
          <a:solidFill>
            <a:srgbClr val="111111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669280" y="292608"/>
            <a:ext cx="31089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Arial"/>
              </a:rPr>
              <a:t>P = 0.537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0" y="530352"/>
            <a:ext cx="31089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1">
                <a:solidFill>
                  <a:srgbClr val="6C757D"/>
                </a:solidFill>
                <a:latin typeface="Arial"/>
              </a:rPr>
              <a:t>good vs bad (Mann–Whitney, two-sided)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0" y="731520"/>
            <a:ext cx="31089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0A7D6E"/>
                </a:solidFill>
                <a:latin typeface="Arial"/>
              </a:rPr>
              <a:t>within-good Wilcoxon: P = 0.125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0" y="914400"/>
            <a:ext cx="31089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C53E1F"/>
                </a:solidFill>
                <a:latin typeface="Arial"/>
              </a:rPr>
              <a:t>within-bad Wilcoxon: P = 0.031</a:t>
            </a:r>
          </a:p>
        </p:txBody>
      </p:sp>
      <p:sp>
        <p:nvSpPr>
          <p:cNvPr id="69" name="Oval 68"/>
          <p:cNvSpPr/>
          <p:nvPr/>
        </p:nvSpPr>
        <p:spPr>
          <a:xfrm>
            <a:off x="788670" y="496062"/>
            <a:ext cx="68580" cy="68580"/>
          </a:xfrm>
          <a:prstGeom prst="ellipse">
            <a:avLst/>
          </a:prstGeom>
          <a:solidFill>
            <a:srgbClr val="6C757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932688" y="466344"/>
            <a:ext cx="18288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1">
                <a:solidFill>
                  <a:srgbClr val="6C757D"/>
                </a:solidFill>
                <a:latin typeface="Arial"/>
              </a:rPr>
              <a:t>pre-CRT baseline (0)</a:t>
            </a:r>
          </a:p>
        </p:txBody>
      </p:sp>
      <p:sp>
        <p:nvSpPr>
          <p:cNvPr id="71" name="Oval 70"/>
          <p:cNvSpPr/>
          <p:nvPr/>
        </p:nvSpPr>
        <p:spPr>
          <a:xfrm>
            <a:off x="768096" y="694944"/>
            <a:ext cx="109728" cy="109728"/>
          </a:xfrm>
          <a:prstGeom prst="ellipse">
            <a:avLst/>
          </a:prstGeom>
          <a:solidFill>
            <a:srgbClr val="11111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932688" y="685800"/>
            <a:ext cx="18288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1">
                <a:solidFill>
                  <a:srgbClr val="111111"/>
                </a:solidFill>
                <a:latin typeface="Arial"/>
              </a:rPr>
              <a:t>post-CRT 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0" i="1">
                <a:solidFill>
                  <a:srgbClr val="6C757D"/>
                </a:solidFill>
                <a:latin typeface="Arial"/>
              </a:rPr>
              <a:t>PCN integrates allele-frequency-weighted binder count across sites.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457200" cy="457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111111"/>
                </a:solidFill>
                <a:latin typeface="Arial"/>
              </a:rPr>
              <a:t>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60320" y="5486400"/>
            <a:ext cx="402336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560320" y="1097280"/>
            <a:ext cx="0" cy="43891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60320" y="5486400"/>
            <a:ext cx="402336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43200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194560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−max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023360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0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852160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+max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5943600"/>
            <a:ext cx="40233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Arial"/>
              </a:rPr>
              <a:t>Δ normalized to per-metric |CI max|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0" y="1097280"/>
            <a:ext cx="0" cy="4389120"/>
          </a:xfrm>
          <a:prstGeom prst="line">
            <a:avLst/>
          </a:prstGeom>
          <a:ln w="7620">
            <a:solidFill>
              <a:srgbClr val="6C757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560320" y="4389120"/>
            <a:ext cx="402336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560320" y="3291840"/>
            <a:ext cx="402336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560320" y="2194560"/>
            <a:ext cx="402336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80160" y="1517903"/>
            <a:ext cx="12344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 i="0">
                <a:solidFill>
                  <a:srgbClr val="333333"/>
                </a:solidFill>
                <a:latin typeface="Arial"/>
              </a:rPr>
              <a:t>Δ total binders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43200" y="1399032"/>
            <a:ext cx="1951499" cy="0"/>
          </a:xfrm>
          <a:prstGeom prst="line">
            <a:avLst/>
          </a:prstGeom>
          <a:ln w="254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743200" y="1333195"/>
            <a:ext cx="0" cy="131673"/>
          </a:xfrm>
          <a:prstGeom prst="line">
            <a:avLst/>
          </a:prstGeom>
          <a:ln w="152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694699" y="1333195"/>
            <a:ext cx="0" cy="131673"/>
          </a:xfrm>
          <a:prstGeom prst="line">
            <a:avLst/>
          </a:prstGeom>
          <a:ln w="152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596513" y="1335024"/>
            <a:ext cx="128016" cy="12801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766560" y="1307592"/>
            <a:ext cx="22860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A7D6E"/>
                </a:solidFill>
                <a:latin typeface="Arial"/>
              </a:rPr>
              <a:t>good: -312  [-626, 42]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37938" y="1892808"/>
            <a:ext cx="785858" cy="0"/>
          </a:xfrm>
          <a:prstGeom prst="line">
            <a:avLst/>
          </a:prstGeom>
          <a:ln w="254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737938" y="1826971"/>
            <a:ext cx="0" cy="131673"/>
          </a:xfrm>
          <a:prstGeom prst="line">
            <a:avLst/>
          </a:prstGeom>
          <a:ln w="1524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523796" y="1826971"/>
            <a:ext cx="0" cy="131673"/>
          </a:xfrm>
          <a:prstGeom prst="line">
            <a:avLst/>
          </a:prstGeom>
          <a:ln w="1524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217312" y="1828800"/>
            <a:ext cx="128016" cy="12801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766560" y="1801368"/>
            <a:ext cx="22860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C53E1F"/>
                </a:solidFill>
                <a:latin typeface="Arial"/>
              </a:rPr>
              <a:t>bad: -100  [-286, -16]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615184"/>
            <a:ext cx="12344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 i="0">
                <a:solidFill>
                  <a:srgbClr val="333333"/>
                </a:solidFill>
                <a:latin typeface="Arial"/>
              </a:rPr>
              <a:t>Δ binder sites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743200" y="2496312"/>
            <a:ext cx="2078181" cy="0"/>
          </a:xfrm>
          <a:prstGeom prst="line">
            <a:avLst/>
          </a:prstGeom>
          <a:ln w="254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743200" y="2430475"/>
            <a:ext cx="0" cy="131673"/>
          </a:xfrm>
          <a:prstGeom prst="line">
            <a:avLst/>
          </a:prstGeom>
          <a:ln w="152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821381" y="2430475"/>
            <a:ext cx="0" cy="131673"/>
          </a:xfrm>
          <a:prstGeom prst="line">
            <a:avLst/>
          </a:prstGeom>
          <a:ln w="152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3281864" y="2432304"/>
            <a:ext cx="128016" cy="12801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766560" y="2404872"/>
            <a:ext cx="22860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A7D6E"/>
                </a:solidFill>
                <a:latin typeface="Arial"/>
              </a:rPr>
              <a:t>good: -59  [-88, 12]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636818" y="2990088"/>
            <a:ext cx="862445" cy="0"/>
          </a:xfrm>
          <a:prstGeom prst="line">
            <a:avLst/>
          </a:prstGeom>
          <a:ln w="254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636818" y="2924251"/>
            <a:ext cx="0" cy="131673"/>
          </a:xfrm>
          <a:prstGeom prst="line">
            <a:avLst/>
          </a:prstGeom>
          <a:ln w="1524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499263" y="2924251"/>
            <a:ext cx="0" cy="131673"/>
          </a:xfrm>
          <a:prstGeom prst="line">
            <a:avLst/>
          </a:prstGeom>
          <a:ln w="1524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4165091" y="2926080"/>
            <a:ext cx="128016" cy="12801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766560" y="2898648"/>
            <a:ext cx="22860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C53E1F"/>
                </a:solidFill>
                <a:latin typeface="Arial"/>
              </a:rPr>
              <a:t>bad: -16  [-45, -4]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3712464"/>
            <a:ext cx="12344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 i="0">
                <a:solidFill>
                  <a:srgbClr val="333333"/>
                </a:solidFill>
                <a:latin typeface="Arial"/>
              </a:rPr>
              <a:t>Δ strong binders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743200" y="3593592"/>
            <a:ext cx="1938528" cy="0"/>
          </a:xfrm>
          <a:prstGeom prst="line">
            <a:avLst/>
          </a:prstGeom>
          <a:ln w="254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743200" y="3527755"/>
            <a:ext cx="0" cy="131673"/>
          </a:xfrm>
          <a:prstGeom prst="line">
            <a:avLst/>
          </a:prstGeom>
          <a:ln w="152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681728" y="3527755"/>
            <a:ext cx="0" cy="131673"/>
          </a:xfrm>
          <a:prstGeom prst="line">
            <a:avLst/>
          </a:prstGeom>
          <a:ln w="152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3886199" y="3529584"/>
            <a:ext cx="128016" cy="12801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766560" y="3502152"/>
            <a:ext cx="22860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A7D6E"/>
                </a:solidFill>
                <a:latin typeface="Arial"/>
              </a:rPr>
              <a:t>good: -17  [-50, 3]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474720" y="4087368"/>
            <a:ext cx="1097280" cy="0"/>
          </a:xfrm>
          <a:prstGeom prst="line">
            <a:avLst/>
          </a:prstGeom>
          <a:ln w="254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474720" y="4021531"/>
            <a:ext cx="0" cy="131673"/>
          </a:xfrm>
          <a:prstGeom prst="line">
            <a:avLst/>
          </a:prstGeom>
          <a:ln w="1524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572000" y="4021531"/>
            <a:ext cx="0" cy="131673"/>
          </a:xfrm>
          <a:prstGeom prst="line">
            <a:avLst/>
          </a:prstGeom>
          <a:ln w="1524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4215383" y="4023360"/>
            <a:ext cx="128016" cy="12801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766560" y="3995928"/>
            <a:ext cx="22860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C53E1F"/>
                </a:solidFill>
                <a:latin typeface="Arial"/>
              </a:rPr>
              <a:t>bad: -8  [-30, 0]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0160" y="4809744"/>
            <a:ext cx="12344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 i="0">
                <a:solidFill>
                  <a:srgbClr val="333333"/>
                </a:solidFill>
                <a:latin typeface="Arial"/>
              </a:rPr>
              <a:t>Δ PCN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743200" y="4690872"/>
            <a:ext cx="1929517" cy="0"/>
          </a:xfrm>
          <a:prstGeom prst="line">
            <a:avLst/>
          </a:prstGeom>
          <a:ln w="254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743200" y="4625035"/>
            <a:ext cx="0" cy="131673"/>
          </a:xfrm>
          <a:prstGeom prst="line">
            <a:avLst/>
          </a:prstGeom>
          <a:ln w="152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672717" y="4625035"/>
            <a:ext cx="0" cy="131673"/>
          </a:xfrm>
          <a:prstGeom prst="line">
            <a:avLst/>
          </a:prstGeom>
          <a:ln w="152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3453190" y="4626864"/>
            <a:ext cx="128016" cy="12801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766560" y="4599432"/>
            <a:ext cx="22860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A7D6E"/>
                </a:solidFill>
                <a:latin typeface="Arial"/>
              </a:rPr>
              <a:t>good: -161  [-279, 15]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508059" y="5184648"/>
            <a:ext cx="936902" cy="0"/>
          </a:xfrm>
          <a:prstGeom prst="line">
            <a:avLst/>
          </a:prstGeom>
          <a:ln w="254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508059" y="5118811"/>
            <a:ext cx="0" cy="131673"/>
          </a:xfrm>
          <a:prstGeom prst="line">
            <a:avLst/>
          </a:prstGeom>
          <a:ln w="1524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444961" y="5118811"/>
            <a:ext cx="0" cy="131673"/>
          </a:xfrm>
          <a:prstGeom prst="line">
            <a:avLst/>
          </a:prstGeom>
          <a:ln w="1524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3901313" y="5120640"/>
            <a:ext cx="128016" cy="12801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766560" y="5093208"/>
            <a:ext cx="22860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C53E1F"/>
                </a:solidFill>
                <a:latin typeface="Arial"/>
              </a:rPr>
              <a:t>bad: -92  [-162, -19]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80160" y="384048"/>
            <a:ext cx="54864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  <a:latin typeface="Arial"/>
              </a:rPr>
              <a:t>●  median Δ with 95% BCa CI (bootstrap n=2000)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0" i="1">
                <a:solidFill>
                  <a:srgbClr val="6C757D"/>
                </a:solidFill>
                <a:latin typeface="Arial"/>
              </a:rPr>
              <a:t>Zero-crossing CI indicates non-significance. Normalization: each metric scaled to its own max |CI bound|; raw values shown on right.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457200" cy="457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111111"/>
                </a:solidFill>
                <a:latin typeface="Arial"/>
              </a:rPr>
              <a:t>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5486400"/>
            <a:ext cx="5669279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1005840"/>
            <a:ext cx="0" cy="448056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5488745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28800" y="4591695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28800" y="3694645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2797594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1900544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0" y="1003494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86494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537854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#9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01883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53243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#6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17272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68632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#7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32661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084021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#2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48050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599410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#5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63440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14800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#12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178829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630189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#3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94218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145578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#1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09607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60967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#10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24996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176356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#11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240385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691745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#14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783080" y="5488745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298448" y="5406449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-689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783080" y="4591695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298448" y="4509399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-536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783080" y="3694645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298448" y="3612349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-383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783080" y="2797594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298448" y="2715298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-230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783080" y="1900544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298448" y="1818248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-77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783080" y="1003494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298448" y="921198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76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5943600"/>
            <a:ext cx="56692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Arial"/>
              </a:rPr>
              <a:t>Subject (sorted by Δ binders)</a:t>
            </a:r>
          </a:p>
        </p:txBody>
      </p:sp>
      <p:sp>
        <p:nvSpPr>
          <p:cNvPr id="46" name="TextBox 45"/>
          <p:cNvSpPr txBox="1"/>
          <p:nvPr/>
        </p:nvSpPr>
        <p:spPr>
          <a:xfrm rot="16200000">
            <a:off x="411479" y="2423160"/>
            <a:ext cx="1645920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Δ total MHC-I binder peptides (post − pre)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828800" y="1449088"/>
            <a:ext cx="5669279" cy="0"/>
          </a:xfrm>
          <a:prstGeom prst="line">
            <a:avLst/>
          </a:prstGeom>
          <a:ln w="1016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1906108" y="1449088"/>
            <a:ext cx="360772" cy="3670283"/>
          </a:xfrm>
          <a:prstGeom prst="rect">
            <a:avLst/>
          </a:prstGeom>
          <a:solidFill>
            <a:srgbClr val="0A7D6E"/>
          </a:solidFill>
          <a:ln w="762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720734" y="5229556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0A7D6E"/>
                </a:solidFill>
                <a:latin typeface="Arial"/>
              </a:rPr>
              <a:t>-626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21497" y="1449088"/>
            <a:ext cx="360772" cy="2867042"/>
          </a:xfrm>
          <a:prstGeom prst="rect">
            <a:avLst/>
          </a:prstGeom>
          <a:solidFill>
            <a:srgbClr val="0A7D6E"/>
          </a:solidFill>
          <a:ln w="762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2236123" y="4426315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0A7D6E"/>
                </a:solidFill>
                <a:latin typeface="Arial"/>
              </a:rPr>
              <a:t>-489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36886" y="1449088"/>
            <a:ext cx="360772" cy="1882046"/>
          </a:xfrm>
          <a:prstGeom prst="rect">
            <a:avLst/>
          </a:prstGeom>
          <a:solidFill>
            <a:srgbClr val="C53E1F"/>
          </a:solidFill>
          <a:ln w="762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2751512" y="3441319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C53E1F"/>
                </a:solidFill>
                <a:latin typeface="Arial"/>
              </a:rPr>
              <a:t>-321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52275" y="1449088"/>
            <a:ext cx="360772" cy="1829278"/>
          </a:xfrm>
          <a:prstGeom prst="rect">
            <a:avLst/>
          </a:prstGeom>
          <a:solidFill>
            <a:srgbClr val="0A7D6E"/>
          </a:solidFill>
          <a:ln w="762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3266901" y="3388552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0A7D6E"/>
                </a:solidFill>
                <a:latin typeface="Arial"/>
              </a:rPr>
              <a:t>-312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967664" y="1449088"/>
            <a:ext cx="360772" cy="1465768"/>
          </a:xfrm>
          <a:prstGeom prst="rect">
            <a:avLst/>
          </a:prstGeom>
          <a:solidFill>
            <a:srgbClr val="C53E1F"/>
          </a:solidFill>
          <a:ln w="762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3782290" y="3025041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C53E1F"/>
                </a:solidFill>
                <a:latin typeface="Arial"/>
              </a:rPr>
              <a:t>-250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83053" y="1449088"/>
            <a:ext cx="360772" cy="791514"/>
          </a:xfrm>
          <a:prstGeom prst="rect">
            <a:avLst/>
          </a:prstGeom>
          <a:solidFill>
            <a:srgbClr val="C53E1F"/>
          </a:solidFill>
          <a:ln w="762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4297679" y="2350788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C53E1F"/>
                </a:solidFill>
                <a:latin typeface="Arial"/>
              </a:rPr>
              <a:t>-135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98442" y="1449088"/>
            <a:ext cx="360772" cy="721157"/>
          </a:xfrm>
          <a:prstGeom prst="rect">
            <a:avLst/>
          </a:prstGeom>
          <a:solidFill>
            <a:srgbClr val="0A7D6E"/>
          </a:solidFill>
          <a:ln w="762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4813069" y="2280431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0A7D6E"/>
                </a:solidFill>
                <a:latin typeface="Arial"/>
              </a:rPr>
              <a:t>-123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13832" y="1449088"/>
            <a:ext cx="360772" cy="375236"/>
          </a:xfrm>
          <a:prstGeom prst="rect">
            <a:avLst/>
          </a:prstGeom>
          <a:solidFill>
            <a:srgbClr val="C53E1F"/>
          </a:solidFill>
          <a:ln w="762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5328458" y="1934510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C53E1F"/>
                </a:solidFill>
                <a:latin typeface="Arial"/>
              </a:rPr>
              <a:t>-64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29221" y="1449088"/>
            <a:ext cx="360772" cy="299016"/>
          </a:xfrm>
          <a:prstGeom prst="rect">
            <a:avLst/>
          </a:prstGeom>
          <a:solidFill>
            <a:srgbClr val="C53E1F"/>
          </a:solidFill>
          <a:ln w="762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843847" y="1858290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C53E1F"/>
                </a:solidFill>
                <a:latin typeface="Arial"/>
              </a:rPr>
              <a:t>-51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44610" y="1343552"/>
            <a:ext cx="360772" cy="105535"/>
          </a:xfrm>
          <a:prstGeom prst="rect">
            <a:avLst/>
          </a:prstGeom>
          <a:solidFill>
            <a:srgbClr val="C53E1F"/>
          </a:solidFill>
          <a:ln w="762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6359236" y="1050487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C53E1F"/>
                </a:solidFill>
                <a:latin typeface="Arial"/>
              </a:rPr>
              <a:t>+18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59999" y="1202839"/>
            <a:ext cx="360772" cy="246249"/>
          </a:xfrm>
          <a:prstGeom prst="rect">
            <a:avLst/>
          </a:prstGeom>
          <a:solidFill>
            <a:srgbClr val="0A7D6E"/>
          </a:solidFill>
          <a:ln w="762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6874625" y="909774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0A7D6E"/>
                </a:solidFill>
                <a:latin typeface="Arial"/>
              </a:rPr>
              <a:t>+42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828800" y="411480"/>
            <a:ext cx="164592" cy="10972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2048256" y="384048"/>
            <a:ext cx="21945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A7D6E"/>
                </a:solidFill>
                <a:latin typeface="Arial"/>
              </a:rPr>
              <a:t>good (pCR / near-CR)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40480" y="411480"/>
            <a:ext cx="164592" cy="10972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4059936" y="384048"/>
            <a:ext cx="18288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53E1F"/>
                </a:solidFill>
                <a:latin typeface="Arial"/>
              </a:rPr>
              <a:t>bad (PR / poor)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0" i="1">
                <a:solidFill>
                  <a:srgbClr val="6C757D"/>
                </a:solidFill>
                <a:latin typeface="Arial"/>
              </a:rPr>
              <a:t>N = 11 paired subjects (subject 13 excluded per manuscript tumor-only rule). Negative bars = post-CRT neoantigen clearance.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