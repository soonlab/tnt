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74320"/>
            <a:ext cx="457200" cy="4572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111111"/>
                </a:solidFill>
                <a:latin typeface="Arial"/>
              </a:rPr>
              <a:t>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828800" y="5486400"/>
            <a:ext cx="5669279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28800" y="1005840"/>
            <a:ext cx="0" cy="448056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5486400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828800" y="4168588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828800" y="2850776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28800" y="1532964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537460" y="5486400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988819" y="555040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HLA-A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954780" y="5486400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06140" y="555040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HLA-B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372100" y="5486400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823460" y="555040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HLA-C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789420" y="5486400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240780" y="555040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Any locus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783080" y="5486400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298448" y="5404104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0%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783080" y="4168588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298448" y="4086292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10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783080" y="2850776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298448" y="2768480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20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783080" y="1532964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298448" y="1450668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943600"/>
            <a:ext cx="56692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11111"/>
                </a:solidFill>
                <a:latin typeface="Arial"/>
              </a:rPr>
              <a:t>HLA locus</a:t>
            </a:r>
          </a:p>
        </p:txBody>
      </p:sp>
      <p:sp>
        <p:nvSpPr>
          <p:cNvPr id="26" name="TextBox 25"/>
          <p:cNvSpPr txBox="1"/>
          <p:nvPr/>
        </p:nvSpPr>
        <p:spPr>
          <a:xfrm rot="16200000">
            <a:off x="411479" y="2423160"/>
            <a:ext cx="1645920" cy="27432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11111"/>
                </a:solidFill>
                <a:latin typeface="Arial"/>
              </a:rPr>
              <a:t>Homozygosity frequency (%)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83917" y="2557929"/>
            <a:ext cx="453542" cy="2928470"/>
          </a:xfrm>
          <a:prstGeom prst="rect">
            <a:avLst/>
          </a:prstGeom>
          <a:solidFill>
            <a:srgbClr val="0A7D6E"/>
          </a:solidFill>
          <a:ln w="508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853488" y="2320185"/>
            <a:ext cx="914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>
                <a:solidFill>
                  <a:srgbClr val="0A7D6E"/>
                </a:solidFill>
                <a:latin typeface="Arial"/>
              </a:rPr>
              <a:t>22.2%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37460" y="5486400"/>
            <a:ext cx="453542" cy="0"/>
          </a:xfrm>
          <a:prstGeom prst="rect">
            <a:avLst/>
          </a:prstGeom>
          <a:solidFill>
            <a:srgbClr val="C53E1F"/>
          </a:solidFill>
          <a:ln w="508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2307031" y="5248656"/>
            <a:ext cx="914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>
                <a:solidFill>
                  <a:srgbClr val="C53E1F"/>
                </a:solidFill>
                <a:latin typeface="Arial"/>
              </a:rPr>
              <a:t>0.0%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51660" y="2127892"/>
            <a:ext cx="13716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1">
                <a:solidFill>
                  <a:srgbClr val="333333"/>
                </a:solidFill>
                <a:latin typeface="Arial"/>
              </a:rPr>
              <a:t>P = 0.104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01237" y="4754282"/>
            <a:ext cx="453542" cy="732117"/>
          </a:xfrm>
          <a:prstGeom prst="rect">
            <a:avLst/>
          </a:prstGeom>
          <a:solidFill>
            <a:srgbClr val="0A7D6E"/>
          </a:solidFill>
          <a:ln w="508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3270808" y="4516538"/>
            <a:ext cx="914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>
                <a:solidFill>
                  <a:srgbClr val="0A7D6E"/>
                </a:solidFill>
                <a:latin typeface="Arial"/>
              </a:rPr>
              <a:t>5.6%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54780" y="4711216"/>
            <a:ext cx="453542" cy="775183"/>
          </a:xfrm>
          <a:prstGeom prst="rect">
            <a:avLst/>
          </a:prstGeom>
          <a:solidFill>
            <a:srgbClr val="C53E1F"/>
          </a:solidFill>
          <a:ln w="508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724351" y="4473472"/>
            <a:ext cx="914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>
                <a:solidFill>
                  <a:srgbClr val="C53E1F"/>
                </a:solidFill>
                <a:latin typeface="Arial"/>
              </a:rPr>
              <a:t>5.9%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68980" y="4281179"/>
            <a:ext cx="13716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1">
                <a:solidFill>
                  <a:srgbClr val="333333"/>
                </a:solidFill>
                <a:latin typeface="Arial"/>
              </a:rPr>
              <a:t>P = 1.000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18557" y="5486400"/>
            <a:ext cx="453542" cy="0"/>
          </a:xfrm>
          <a:prstGeom prst="rect">
            <a:avLst/>
          </a:prstGeom>
          <a:solidFill>
            <a:srgbClr val="0A7D6E"/>
          </a:solidFill>
          <a:ln w="508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688128" y="5248656"/>
            <a:ext cx="914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>
                <a:solidFill>
                  <a:srgbClr val="0A7D6E"/>
                </a:solidFill>
                <a:latin typeface="Arial"/>
              </a:rPr>
              <a:t>0.0%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72100" y="3936033"/>
            <a:ext cx="453542" cy="1550366"/>
          </a:xfrm>
          <a:prstGeom prst="rect">
            <a:avLst/>
          </a:prstGeom>
          <a:solidFill>
            <a:srgbClr val="C53E1F"/>
          </a:solidFill>
          <a:ln w="508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141671" y="3698289"/>
            <a:ext cx="914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>
                <a:solidFill>
                  <a:srgbClr val="C53E1F"/>
                </a:solidFill>
                <a:latin typeface="Arial"/>
              </a:rPr>
              <a:t>11.8%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86300" y="3505996"/>
            <a:ext cx="13716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1">
                <a:solidFill>
                  <a:srgbClr val="333333"/>
                </a:solidFill>
                <a:latin typeface="Arial"/>
              </a:rPr>
              <a:t>P = 0.229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35877" y="1825811"/>
            <a:ext cx="453542" cy="3660588"/>
          </a:xfrm>
          <a:prstGeom prst="rect">
            <a:avLst/>
          </a:prstGeom>
          <a:solidFill>
            <a:srgbClr val="0A7D6E"/>
          </a:solidFill>
          <a:ln w="508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105448" y="1588067"/>
            <a:ext cx="914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>
                <a:solidFill>
                  <a:srgbClr val="0A7D6E"/>
                </a:solidFill>
                <a:latin typeface="Arial"/>
              </a:rPr>
              <a:t>27.8%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89420" y="3936033"/>
            <a:ext cx="453542" cy="1550366"/>
          </a:xfrm>
          <a:prstGeom prst="rect">
            <a:avLst/>
          </a:prstGeom>
          <a:solidFill>
            <a:srgbClr val="C53E1F"/>
          </a:solidFill>
          <a:ln w="508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558991" y="3698289"/>
            <a:ext cx="914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>
                <a:solidFill>
                  <a:srgbClr val="C53E1F"/>
                </a:solidFill>
                <a:latin typeface="Arial"/>
              </a:rPr>
              <a:t>11.8%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03620" y="1395774"/>
            <a:ext cx="13716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1">
                <a:solidFill>
                  <a:srgbClr val="333333"/>
                </a:solidFill>
                <a:latin typeface="Arial"/>
              </a:rPr>
              <a:t>P = 0.402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0" y="384048"/>
            <a:ext cx="164592" cy="10972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3419856" y="365760"/>
            <a:ext cx="13716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A7D6E"/>
                </a:solidFill>
                <a:latin typeface="Arial"/>
              </a:rPr>
              <a:t>good (n=18)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46320" y="384048"/>
            <a:ext cx="164592" cy="10972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065776" y="365760"/>
            <a:ext cx="13716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53E1F"/>
                </a:solidFill>
                <a:latin typeface="Arial"/>
              </a:rPr>
              <a:t>bad (n=17)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750" i="1">
                <a:solidFill>
                  <a:srgbClr val="6C757D"/>
                </a:solidFill>
                <a:latin typeface="Arial"/>
              </a:rPr>
              <a:t>Homozygosity per-locus Fisher exact (two-sided). Homozygous HLA reduces neopeptide repertoire diversity.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74320"/>
            <a:ext cx="457200" cy="4572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111111"/>
                </a:solidFill>
                <a:latin typeface="Arial"/>
              </a:rPr>
              <a:t>B</a:t>
            </a:r>
          </a:p>
        </p:txBody>
      </p:sp>
      <p:sp>
        <p:nvSpPr>
          <p:cNvPr id="3" name="Rectangle 2"/>
          <p:cNvSpPr/>
          <p:nvPr/>
        </p:nvSpPr>
        <p:spPr>
          <a:xfrm>
            <a:off x="2194560" y="5394960"/>
            <a:ext cx="5120640" cy="2743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2194560" y="1097280"/>
            <a:ext cx="2926079" cy="537210"/>
          </a:xfrm>
          <a:prstGeom prst="rect">
            <a:avLst/>
          </a:prstGeom>
          <a:solidFill>
            <a:srgbClr val="0A7D6E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2194560" y="1634490"/>
            <a:ext cx="2926079" cy="3760470"/>
          </a:xfrm>
          <a:prstGeom prst="rect">
            <a:avLst/>
          </a:prstGeom>
          <a:solidFill>
            <a:srgbClr val="CFE4E1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120640" y="1097280"/>
            <a:ext cx="2194560" cy="0"/>
          </a:xfrm>
          <a:prstGeom prst="rect">
            <a:avLst/>
          </a:prstGeom>
          <a:solidFill>
            <a:srgbClr val="C53E1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120640" y="1097280"/>
            <a:ext cx="2194560" cy="4297680"/>
          </a:xfrm>
          <a:prstGeom prst="rect">
            <a:avLst/>
          </a:prstGeom>
          <a:solidFill>
            <a:srgbClr val="F4D8D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200400" y="1219581"/>
            <a:ext cx="9144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2
(12.5%)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368421"/>
            <a:ext cx="9144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11111"/>
                </a:solidFill>
                <a:latin typeface="Arial"/>
              </a:rPr>
              <a:t>14
(87.5%)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3099815"/>
            <a:ext cx="9144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11111"/>
                </a:solidFill>
                <a:latin typeface="Arial"/>
              </a:rPr>
              <a:t>12
(100.0%)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5486400"/>
            <a:ext cx="1828800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0A7D6E"/>
                </a:solidFill>
                <a:latin typeface="Arial"/>
              </a:rPr>
              <a:t>good (n=16)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5486400"/>
            <a:ext cx="1828800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C53E1F"/>
                </a:solidFill>
                <a:latin typeface="Arial"/>
              </a:rPr>
              <a:t>bad (n=12)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5779008"/>
            <a:ext cx="512064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1">
                <a:solidFill>
                  <a:srgbClr val="333333"/>
                </a:solidFill>
                <a:latin typeface="Arial"/>
              </a:rPr>
              <a:t>TNT response  (block width ∝ group size)</a:t>
            </a:r>
          </a:p>
        </p:txBody>
      </p:sp>
      <p:sp>
        <p:nvSpPr>
          <p:cNvPr id="14" name="TextBox 13"/>
          <p:cNvSpPr txBox="1"/>
          <p:nvPr/>
        </p:nvSpPr>
        <p:spPr>
          <a:xfrm rot="16200000">
            <a:off x="548639" y="2423160"/>
            <a:ext cx="1645920" cy="27432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11111"/>
                </a:solidFill>
                <a:latin typeface="Arial"/>
              </a:rPr>
              <a:t>HLA-LOH status   (top band = LOH+,  bottom = no LOH)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65760"/>
            <a:ext cx="24688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333333"/>
                </a:solidFill>
                <a:latin typeface="Arial"/>
              </a:rPr>
              <a:t>P = 0.492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621792"/>
            <a:ext cx="24688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1">
                <a:solidFill>
                  <a:srgbClr val="6C757D"/>
                </a:solidFill>
                <a:latin typeface="Arial"/>
              </a:rPr>
              <a:t>Fisher exact, two-sided  —  OR = 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750" i="1">
                <a:solidFill>
                  <a:srgbClr val="6C757D"/>
                </a:solidFill>
                <a:latin typeface="Arial"/>
              </a:rPr>
              <a:t>Per-subject strict HLA-LOH prevalence (pre-CRT). Good: 2/16, Bad: 0/12.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74320"/>
            <a:ext cx="457200" cy="4572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111111"/>
                </a:solidFill>
                <a:latin typeface="Arial"/>
              </a:rPr>
              <a:t>C</a:t>
            </a:r>
          </a:p>
        </p:txBody>
      </p:sp>
      <p:sp>
        <p:nvSpPr>
          <p:cNvPr id="3" name="Rectangle 2"/>
          <p:cNvSpPr/>
          <p:nvPr/>
        </p:nvSpPr>
        <p:spPr>
          <a:xfrm>
            <a:off x="2194560" y="5394960"/>
            <a:ext cx="5120640" cy="2743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2194560" y="1097280"/>
            <a:ext cx="2926079" cy="1074420"/>
          </a:xfrm>
          <a:prstGeom prst="rect">
            <a:avLst/>
          </a:prstGeom>
          <a:solidFill>
            <a:srgbClr val="0A7D6E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2194560" y="2171700"/>
            <a:ext cx="2926079" cy="3223260"/>
          </a:xfrm>
          <a:prstGeom prst="rect">
            <a:avLst/>
          </a:prstGeom>
          <a:solidFill>
            <a:srgbClr val="CFE4E1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120640" y="1097280"/>
            <a:ext cx="2194560" cy="716280"/>
          </a:xfrm>
          <a:prstGeom prst="rect">
            <a:avLst/>
          </a:prstGeom>
          <a:solidFill>
            <a:srgbClr val="C53E1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120640" y="1813560"/>
            <a:ext cx="2194560" cy="3581400"/>
          </a:xfrm>
          <a:prstGeom prst="rect">
            <a:avLst/>
          </a:prstGeom>
          <a:solidFill>
            <a:srgbClr val="F4D8D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200400" y="1488186"/>
            <a:ext cx="9144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4
(25.0%)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637026"/>
            <a:ext cx="9144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11111"/>
                </a:solidFill>
                <a:latin typeface="Arial"/>
              </a:rPr>
              <a:t>12
(75.0%)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309116"/>
            <a:ext cx="9144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2
(16.7%)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3457956"/>
            <a:ext cx="9144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11111"/>
                </a:solidFill>
                <a:latin typeface="Arial"/>
              </a:rPr>
              <a:t>10
(83.3%)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5486400"/>
            <a:ext cx="1828800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0A7D6E"/>
                </a:solidFill>
                <a:latin typeface="Arial"/>
              </a:rPr>
              <a:t>good (n=16)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5486400"/>
            <a:ext cx="1828800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C53E1F"/>
                </a:solidFill>
                <a:latin typeface="Arial"/>
              </a:rPr>
              <a:t>bad (n=12)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5779008"/>
            <a:ext cx="512064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1">
                <a:solidFill>
                  <a:srgbClr val="333333"/>
                </a:solidFill>
                <a:latin typeface="Arial"/>
              </a:rPr>
              <a:t>TNT response  (block width ∝ group size)</a:t>
            </a:r>
          </a:p>
        </p:txBody>
      </p:sp>
      <p:sp>
        <p:nvSpPr>
          <p:cNvPr id="15" name="TextBox 14"/>
          <p:cNvSpPr txBox="1"/>
          <p:nvPr/>
        </p:nvSpPr>
        <p:spPr>
          <a:xfrm rot="16200000">
            <a:off x="548639" y="2423160"/>
            <a:ext cx="1645920" cy="27432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11111"/>
                </a:solidFill>
                <a:latin typeface="Arial"/>
              </a:rPr>
              <a:t>HLA-LOH status   (top band = LOH+,  bottom = no LOH)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65760"/>
            <a:ext cx="24688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333333"/>
                </a:solidFill>
                <a:latin typeface="Arial"/>
              </a:rPr>
              <a:t>P = 0.673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621792"/>
            <a:ext cx="24688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1">
                <a:solidFill>
                  <a:srgbClr val="6C757D"/>
                </a:solidFill>
                <a:latin typeface="Arial"/>
              </a:rPr>
              <a:t>Fisher exact, two-sided  —  OR = 1.67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750" i="1">
                <a:solidFill>
                  <a:srgbClr val="6C757D"/>
                </a:solidFill>
                <a:latin typeface="Arial"/>
              </a:rPr>
              <a:t>Per-subject LOHHLA-lite HLA-LOH (|Δratio| ≥ 0.15 + raw Fisher &lt; 0.05). Good: 4/16, Bad: 2/12.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74320"/>
            <a:ext cx="457200" cy="4572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111111"/>
                </a:solidFill>
                <a:latin typeface="Arial"/>
              </a:rPr>
              <a:t>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828800" y="5486400"/>
            <a:ext cx="5669279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28800" y="1005840"/>
            <a:ext cx="0" cy="448056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5486400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828800" y="4552949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828800" y="3619499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28800" y="2686050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28800" y="1752599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773680" y="5486400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225040" y="555040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HLA-A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663440" y="5486400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14800" y="555040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HLA-B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53200" y="5486400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004560" y="555040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HLA-C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783080" y="5486400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298448" y="5404104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0%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783080" y="4552949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298448" y="4470654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783080" y="3619499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298448" y="3537204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10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783080" y="2686050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298448" y="2603754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15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80" y="1752599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298448" y="1670303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943600"/>
            <a:ext cx="56692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11111"/>
                </a:solidFill>
                <a:latin typeface="Arial"/>
              </a:rPr>
              <a:t>HLA locus</a:t>
            </a:r>
          </a:p>
        </p:txBody>
      </p:sp>
      <p:sp>
        <p:nvSpPr>
          <p:cNvPr id="27" name="TextBox 26"/>
          <p:cNvSpPr txBox="1"/>
          <p:nvPr/>
        </p:nvSpPr>
        <p:spPr>
          <a:xfrm rot="16200000">
            <a:off x="411479" y="2423160"/>
            <a:ext cx="1645920" cy="27432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11111"/>
                </a:solidFill>
                <a:latin typeface="Arial"/>
              </a:rPr>
              <a:t>HLA-LOH frequency (%) — strict criteria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50059" y="5486400"/>
            <a:ext cx="604723" cy="0"/>
          </a:xfrm>
          <a:prstGeom prst="rect">
            <a:avLst/>
          </a:prstGeom>
          <a:solidFill>
            <a:srgbClr val="0A7D6E"/>
          </a:solidFill>
          <a:ln w="508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949500" y="5248656"/>
            <a:ext cx="10058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>
                <a:solidFill>
                  <a:srgbClr val="0A7D6E"/>
                </a:solidFill>
                <a:latin typeface="Arial"/>
              </a:rPr>
              <a:t>0/12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50059" y="2374900"/>
            <a:ext cx="604723" cy="3111499"/>
          </a:xfrm>
          <a:prstGeom prst="rect">
            <a:avLst/>
          </a:prstGeom>
          <a:noFill/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2792577" y="5486400"/>
            <a:ext cx="604723" cy="0"/>
          </a:xfrm>
          <a:prstGeom prst="rect">
            <a:avLst/>
          </a:prstGeom>
          <a:solidFill>
            <a:srgbClr val="C53E1F"/>
          </a:solidFill>
          <a:ln w="508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592019" y="5248656"/>
            <a:ext cx="10058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>
                <a:solidFill>
                  <a:srgbClr val="C53E1F"/>
                </a:solidFill>
                <a:latin typeface="Arial"/>
              </a:rPr>
              <a:t>0/11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39819" y="2997200"/>
            <a:ext cx="604723" cy="2489199"/>
          </a:xfrm>
          <a:prstGeom prst="rect">
            <a:avLst/>
          </a:prstGeom>
          <a:solidFill>
            <a:srgbClr val="0A7D6E"/>
          </a:solidFill>
          <a:ln w="508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839260" y="2759456"/>
            <a:ext cx="10058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>
                <a:solidFill>
                  <a:srgbClr val="0A7D6E"/>
                </a:solidFill>
                <a:latin typeface="Arial"/>
              </a:rPr>
              <a:t>2/15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82337" y="5486400"/>
            <a:ext cx="604723" cy="0"/>
          </a:xfrm>
          <a:prstGeom prst="rect">
            <a:avLst/>
          </a:prstGeom>
          <a:solidFill>
            <a:srgbClr val="C53E1F"/>
          </a:solidFill>
          <a:ln w="508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481779" y="5248656"/>
            <a:ext cx="10058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>
                <a:solidFill>
                  <a:srgbClr val="C53E1F"/>
                </a:solidFill>
                <a:latin typeface="Arial"/>
              </a:rPr>
              <a:t>0/11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82337" y="3789218"/>
            <a:ext cx="604723" cy="1697181"/>
          </a:xfrm>
          <a:prstGeom prst="rect">
            <a:avLst/>
          </a:prstGeom>
          <a:noFill/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929579" y="4241800"/>
            <a:ext cx="604723" cy="1244599"/>
          </a:xfrm>
          <a:prstGeom prst="rect">
            <a:avLst/>
          </a:prstGeom>
          <a:solidFill>
            <a:srgbClr val="0A7D6E"/>
          </a:solidFill>
          <a:ln w="508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729020" y="4004056"/>
            <a:ext cx="10058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>
                <a:solidFill>
                  <a:srgbClr val="0A7D6E"/>
                </a:solidFill>
                <a:latin typeface="Arial"/>
              </a:rPr>
              <a:t>1/15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29579" y="1752599"/>
            <a:ext cx="604723" cy="2489200"/>
          </a:xfrm>
          <a:prstGeom prst="rect">
            <a:avLst/>
          </a:prstGeom>
          <a:noFill/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6572097" y="5486400"/>
            <a:ext cx="604723" cy="0"/>
          </a:xfrm>
          <a:prstGeom prst="rect">
            <a:avLst/>
          </a:prstGeom>
          <a:solidFill>
            <a:srgbClr val="C53E1F"/>
          </a:solidFill>
          <a:ln w="508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371539" y="5248656"/>
            <a:ext cx="10058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>
                <a:solidFill>
                  <a:srgbClr val="C53E1F"/>
                </a:solidFill>
                <a:latin typeface="Arial"/>
              </a:rPr>
              <a:t>0/12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72097" y="3930650"/>
            <a:ext cx="604723" cy="1555749"/>
          </a:xfrm>
          <a:prstGeom prst="rect">
            <a:avLst/>
          </a:prstGeom>
          <a:noFill/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5486400" y="384048"/>
            <a:ext cx="164592" cy="10972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705856" y="365760"/>
            <a:ext cx="12801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0A7D6E"/>
                </a:solidFill>
                <a:latin typeface="Arial"/>
              </a:rPr>
              <a:t>good — strict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49440" y="384048"/>
            <a:ext cx="164592" cy="10972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168896" y="365760"/>
            <a:ext cx="12801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C53E1F"/>
                </a:solidFill>
                <a:latin typeface="Arial"/>
              </a:rPr>
              <a:t>bad — strict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0" y="603504"/>
            <a:ext cx="16459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5705856" y="585216"/>
            <a:ext cx="18288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C757D"/>
                </a:solidFill>
                <a:latin typeface="Arial"/>
              </a:rPr>
              <a:t>outline = lite only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750" i="1">
                <a:solidFill>
                  <a:srgbClr val="6C757D"/>
                </a:solidFill>
                <a:latin typeface="Arial"/>
              </a:rPr>
              <a:t>Strict: |Δratio| ≥ 0.20, Bonferroni-corrected Fisher P &lt; 0.01, depth ≥ 30. Counts annotated as LOH+/het-in-normal.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74320"/>
            <a:ext cx="457200" cy="4572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111111"/>
                </a:solidFill>
                <a:latin typeface="Arial"/>
              </a:rPr>
              <a:t>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828800" y="5486400"/>
            <a:ext cx="5669279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28800" y="1005840"/>
            <a:ext cx="0" cy="448056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4590288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828800" y="3694176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828800" y="2798064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28800" y="1901951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28800" y="1005839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301240" y="5486400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752599" y="555040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S3 / C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46120" y="5486400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697479" y="555040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S3 / B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91000" y="5486400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642360" y="555040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S4 / 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135880" y="5486400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87240" y="555040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S3 / 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80760" y="5486400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532120" y="555040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S9 / 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25640" y="5486400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77000" y="555040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S4 / B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783080" y="5486400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298448" y="5404104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80" y="4590288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298448" y="4507992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0.1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783080" y="3694176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298448" y="3611880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0.2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783080" y="2798064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298448" y="2715768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0.3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783080" y="1901951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298448" y="1819655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0.4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783080" y="1005839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298448" y="923543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0.5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5943600"/>
            <a:ext cx="56692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11111"/>
                </a:solidFill>
                <a:latin typeface="Arial"/>
              </a:rPr>
              <a:t>Subject × HLA locus (sorted by pre-CRT allelic imbalance)</a:t>
            </a:r>
          </a:p>
        </p:txBody>
      </p:sp>
      <p:sp>
        <p:nvSpPr>
          <p:cNvPr id="35" name="TextBox 34"/>
          <p:cNvSpPr txBox="1"/>
          <p:nvPr/>
        </p:nvSpPr>
        <p:spPr>
          <a:xfrm rot="16200000">
            <a:off x="411479" y="2423160"/>
            <a:ext cx="1645920" cy="27432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11111"/>
                </a:solidFill>
                <a:latin typeface="Arial"/>
              </a:rPr>
              <a:t>Allelic imbalance  |tumor ratio − 0.5|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828800" y="3694176"/>
            <a:ext cx="5669279" cy="0"/>
          </a:xfrm>
          <a:prstGeom prst="line">
            <a:avLst/>
          </a:prstGeom>
          <a:ln w="7620">
            <a:solidFill>
              <a:srgbClr val="6C757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543800" y="3602736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1">
                <a:solidFill>
                  <a:srgbClr val="6C757D"/>
                </a:solidFill>
                <a:latin typeface="Arial"/>
              </a:rPr>
              <a:t>strict threshold  |Δ| ≥ 0.20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301240" y="2520007"/>
            <a:ext cx="0" cy="1529911"/>
          </a:xfrm>
          <a:prstGeom prst="line">
            <a:avLst/>
          </a:prstGeom>
          <a:ln w="228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2223516" y="2442283"/>
            <a:ext cx="155448" cy="155448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2232660" y="3981338"/>
            <a:ext cx="137160" cy="137160"/>
          </a:xfrm>
          <a:prstGeom prst="ellipse">
            <a:avLst/>
          </a:prstGeom>
          <a:solidFill>
            <a:srgbClr val="FFFFFF"/>
          </a:solidFill>
          <a:ln w="762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1" name="Connector 40"/>
          <p:cNvCxnSpPr/>
          <p:nvPr/>
        </p:nvCxnSpPr>
        <p:spPr>
          <a:xfrm>
            <a:off x="3246120" y="2614462"/>
            <a:ext cx="0" cy="2848479"/>
          </a:xfrm>
          <a:prstGeom prst="line">
            <a:avLst/>
          </a:prstGeom>
          <a:ln w="228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3168396" y="2536738"/>
            <a:ext cx="155448" cy="155448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3177539" y="5394361"/>
            <a:ext cx="137160" cy="137160"/>
          </a:xfrm>
          <a:prstGeom prst="ellipse">
            <a:avLst/>
          </a:prstGeom>
          <a:solidFill>
            <a:srgbClr val="FFFFFF"/>
          </a:solidFill>
          <a:ln w="762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4" name="Connector 43"/>
          <p:cNvCxnSpPr/>
          <p:nvPr/>
        </p:nvCxnSpPr>
        <p:spPr>
          <a:xfrm>
            <a:off x="4191000" y="3188503"/>
            <a:ext cx="0" cy="1621476"/>
          </a:xfrm>
          <a:prstGeom prst="line">
            <a:avLst/>
          </a:prstGeom>
          <a:ln w="228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4113276" y="3110779"/>
            <a:ext cx="155448" cy="155448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4122420" y="4741399"/>
            <a:ext cx="137160" cy="137160"/>
          </a:xfrm>
          <a:prstGeom prst="ellipse">
            <a:avLst/>
          </a:prstGeom>
          <a:solidFill>
            <a:srgbClr val="FFFFFF"/>
          </a:solidFill>
          <a:ln w="762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7" name="Connector 46"/>
          <p:cNvCxnSpPr/>
          <p:nvPr/>
        </p:nvCxnSpPr>
        <p:spPr>
          <a:xfrm>
            <a:off x="5135880" y="3313237"/>
            <a:ext cx="0" cy="1549654"/>
          </a:xfrm>
          <a:prstGeom prst="line">
            <a:avLst/>
          </a:prstGeom>
          <a:ln w="228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5058156" y="3235513"/>
            <a:ext cx="155448" cy="155448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5067300" y="4794311"/>
            <a:ext cx="137160" cy="137160"/>
          </a:xfrm>
          <a:prstGeom prst="ellipse">
            <a:avLst/>
          </a:prstGeom>
          <a:solidFill>
            <a:srgbClr val="FFFFFF"/>
          </a:solidFill>
          <a:ln w="762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0" name="Connector 49"/>
          <p:cNvCxnSpPr/>
          <p:nvPr/>
        </p:nvCxnSpPr>
        <p:spPr>
          <a:xfrm>
            <a:off x="6080760" y="3826933"/>
            <a:ext cx="0" cy="393965"/>
          </a:xfrm>
          <a:prstGeom prst="line">
            <a:avLst/>
          </a:prstGeom>
          <a:ln w="228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6003036" y="3749209"/>
            <a:ext cx="155448" cy="155448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Oval 51"/>
          <p:cNvSpPr/>
          <p:nvPr/>
        </p:nvSpPr>
        <p:spPr>
          <a:xfrm>
            <a:off x="6012180" y="4152318"/>
            <a:ext cx="137160" cy="137160"/>
          </a:xfrm>
          <a:prstGeom prst="ellipse">
            <a:avLst/>
          </a:prstGeom>
          <a:solidFill>
            <a:srgbClr val="FFFFFF"/>
          </a:solidFill>
          <a:ln w="762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3" name="Connector 52"/>
          <p:cNvCxnSpPr/>
          <p:nvPr/>
        </p:nvCxnSpPr>
        <p:spPr>
          <a:xfrm>
            <a:off x="7025640" y="4039139"/>
            <a:ext cx="0" cy="689012"/>
          </a:xfrm>
          <a:prstGeom prst="line">
            <a:avLst/>
          </a:prstGeom>
          <a:ln w="228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6947916" y="3961415"/>
            <a:ext cx="155448" cy="155448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6957060" y="4659571"/>
            <a:ext cx="137160" cy="137160"/>
          </a:xfrm>
          <a:prstGeom prst="ellipse">
            <a:avLst/>
          </a:prstGeom>
          <a:solidFill>
            <a:srgbClr val="FFFFFF"/>
          </a:solidFill>
          <a:ln w="762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Oval 55"/>
          <p:cNvSpPr/>
          <p:nvPr/>
        </p:nvSpPr>
        <p:spPr>
          <a:xfrm>
            <a:off x="5788152" y="411480"/>
            <a:ext cx="128016" cy="128016"/>
          </a:xfrm>
          <a:prstGeom prst="ellipse">
            <a:avLst/>
          </a:prstGeom>
          <a:solidFill>
            <a:srgbClr val="111111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5989320" y="411480"/>
            <a:ext cx="13716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pre-CRT (filled)</a:t>
            </a:r>
          </a:p>
        </p:txBody>
      </p:sp>
      <p:sp>
        <p:nvSpPr>
          <p:cNvPr id="58" name="Oval 57"/>
          <p:cNvSpPr/>
          <p:nvPr/>
        </p:nvSpPr>
        <p:spPr>
          <a:xfrm>
            <a:off x="7068312" y="411480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7269480" y="411480"/>
            <a:ext cx="13716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post-CRT (open)</a:t>
            </a:r>
          </a:p>
        </p:txBody>
      </p:sp>
      <p:cxnSp>
        <p:nvCxnSpPr>
          <p:cNvPr id="60" name="Connector 59"/>
          <p:cNvCxnSpPr/>
          <p:nvPr/>
        </p:nvCxnSpPr>
        <p:spPr>
          <a:xfrm flipV="1">
            <a:off x="1828800" y="1051560"/>
            <a:ext cx="0" cy="109728"/>
          </a:xfrm>
          <a:prstGeom prst="line">
            <a:avLst/>
          </a:prstGeom>
          <a:ln w="1143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7498079" y="1051560"/>
            <a:ext cx="0" cy="109728"/>
          </a:xfrm>
          <a:prstGeom prst="line">
            <a:avLst/>
          </a:prstGeom>
          <a:ln w="1143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828800" y="1051560"/>
            <a:ext cx="5669279" cy="0"/>
          </a:xfrm>
          <a:prstGeom prst="line">
            <a:avLst/>
          </a:prstGeom>
          <a:ln w="1143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3291839" y="795528"/>
            <a:ext cx="2743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333333"/>
                </a:solidFill>
                <a:latin typeface="Arial"/>
              </a:rPr>
              <a:t>S3 &amp; S4: 2-allele strict-LOH → full post-CRT clearance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750" i="1">
                <a:solidFill>
                  <a:srgbClr val="6C757D"/>
                </a:solidFill>
                <a:latin typeface="Arial"/>
              </a:rPr>
              <a:t>Imbalance = |tumor allele ratio − 0.5|. Filled = pre-CRT, open = post-CRT. N = 6 (subject × locus) pre-CRT LOH-positive events among 13 paired subjects.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74320"/>
            <a:ext cx="457200" cy="4572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111111"/>
                </a:solidFill>
                <a:latin typeface="Arial"/>
              </a:rPr>
              <a:t>F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828800" y="5486400"/>
            <a:ext cx="5669279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28800" y="1005840"/>
            <a:ext cx="0" cy="448056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5374386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828800" y="5262372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828800" y="4926330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28800" y="4366260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28800" y="3246120"/>
            <a:ext cx="5669279" cy="0"/>
          </a:xfrm>
          <a:prstGeom prst="line">
            <a:avLst/>
          </a:prstGeom>
          <a:ln w="508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027722" y="5486400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479082" y="555040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22332" y="5486400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473692" y="555040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0.1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16943" y="5486400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468303" y="555040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0.2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11553" y="5486400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462913" y="555040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0.3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06164" y="5486400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57524" y="555040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0.4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00774" y="5486400"/>
            <a:ext cx="0" cy="4572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52134" y="5550408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0.5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783080" y="5486400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298448" y="5404104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80" y="5374386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298448" y="5292090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2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783080" y="5262372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298448" y="5180076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4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783080" y="4926330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298448" y="4844034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10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783080" y="4366260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298448" y="4283964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20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783080" y="3246120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298448" y="3163824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40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783080" y="1005839"/>
            <a:ext cx="4572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298448" y="923543"/>
            <a:ext cx="457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111111"/>
                </a:solidFill>
                <a:latin typeface="Arial"/>
              </a:rPr>
              <a:t>80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5943600"/>
            <a:ext cx="56692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11111"/>
                </a:solidFill>
                <a:latin typeface="Arial"/>
              </a:rPr>
              <a:t>|Δ ratio|  (|normal_ratio − tumor_ratio|)</a:t>
            </a:r>
          </a:p>
        </p:txBody>
      </p:sp>
      <p:sp>
        <p:nvSpPr>
          <p:cNvPr id="37" name="TextBox 36"/>
          <p:cNvSpPr txBox="1"/>
          <p:nvPr/>
        </p:nvSpPr>
        <p:spPr>
          <a:xfrm rot="16200000">
            <a:off x="411479" y="2423160"/>
            <a:ext cx="1645920" cy="27432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11111"/>
                </a:solidFill>
                <a:latin typeface="Arial"/>
              </a:rPr>
              <a:t>−log10 Fisher exact P (allele count)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4016943" y="1005839"/>
            <a:ext cx="0" cy="4480561"/>
          </a:xfrm>
          <a:prstGeom prst="line">
            <a:avLst/>
          </a:prstGeom>
          <a:ln w="6350">
            <a:solidFill>
              <a:srgbClr val="6C757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828800" y="5374386"/>
            <a:ext cx="5669279" cy="0"/>
          </a:xfrm>
          <a:prstGeom prst="line">
            <a:avLst/>
          </a:prstGeom>
          <a:ln w="6350">
            <a:solidFill>
              <a:srgbClr val="6C757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917788" y="5532120"/>
            <a:ext cx="8229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1">
                <a:solidFill>
                  <a:srgbClr val="6C757D"/>
                </a:solidFill>
                <a:latin typeface="Arial"/>
              </a:rPr>
              <a:t>|Δ|=0.20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25511" y="5282946"/>
            <a:ext cx="6400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1">
                <a:solidFill>
                  <a:srgbClr val="6C757D"/>
                </a:solidFill>
                <a:latin typeface="Arial"/>
              </a:rPr>
              <a:t>P=0.01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16943" y="1005839"/>
            <a:ext cx="3481136" cy="4368546"/>
          </a:xfrm>
          <a:prstGeom prst="rect">
            <a:avLst/>
          </a:prstGeom>
          <a:noFill/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5145578" y="1051560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333333"/>
                </a:solidFill>
                <a:latin typeface="Arial"/>
              </a:rPr>
              <a:t>strict region</a:t>
            </a:r>
          </a:p>
        </p:txBody>
      </p:sp>
      <p:sp>
        <p:nvSpPr>
          <p:cNvPr id="44" name="Oval 43"/>
          <p:cNvSpPr/>
          <p:nvPr/>
        </p:nvSpPr>
        <p:spPr>
          <a:xfrm>
            <a:off x="2141005" y="5430360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2199873" y="5417220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2160739" y="5429866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2346684" y="5411231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Oval 47"/>
          <p:cNvSpPr/>
          <p:nvPr/>
        </p:nvSpPr>
        <p:spPr>
          <a:xfrm>
            <a:off x="2153684" y="5425200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3938531" y="4156116"/>
            <a:ext cx="109728" cy="109728"/>
          </a:xfrm>
          <a:prstGeom prst="ellipse">
            <a:avLst/>
          </a:prstGeom>
          <a:solidFill>
            <a:srgbClr val="FFFFFF"/>
          </a:solidFill>
          <a:ln w="762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5852587" y="1252248"/>
            <a:ext cx="128016" cy="128016"/>
          </a:xfrm>
          <a:prstGeom prst="ellipse">
            <a:avLst/>
          </a:prstGeom>
          <a:solidFill>
            <a:srgbClr val="0A7D6E"/>
          </a:solidFill>
          <a:ln w="762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4345032" y="3400559"/>
            <a:ext cx="128016" cy="128016"/>
          </a:xfrm>
          <a:prstGeom prst="ellipse">
            <a:avLst/>
          </a:prstGeom>
          <a:solidFill>
            <a:srgbClr val="0A7D6E"/>
          </a:solidFill>
          <a:ln w="762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Oval 51"/>
          <p:cNvSpPr/>
          <p:nvPr/>
        </p:nvSpPr>
        <p:spPr>
          <a:xfrm>
            <a:off x="3353557" y="4921295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Oval 52"/>
          <p:cNvSpPr/>
          <p:nvPr/>
        </p:nvSpPr>
        <p:spPr>
          <a:xfrm>
            <a:off x="4573859" y="4080810"/>
            <a:ext cx="128016" cy="128016"/>
          </a:xfrm>
          <a:prstGeom prst="ellipse">
            <a:avLst/>
          </a:prstGeom>
          <a:solidFill>
            <a:srgbClr val="0A7D6E"/>
          </a:solidFill>
          <a:ln w="762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Oval 53"/>
          <p:cNvSpPr/>
          <p:nvPr/>
        </p:nvSpPr>
        <p:spPr>
          <a:xfrm>
            <a:off x="3270497" y="4854083"/>
            <a:ext cx="109728" cy="109728"/>
          </a:xfrm>
          <a:prstGeom prst="ellipse">
            <a:avLst/>
          </a:prstGeom>
          <a:solidFill>
            <a:srgbClr val="FFFFFF"/>
          </a:solidFill>
          <a:ln w="762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2786684" y="5307160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Oval 55"/>
          <p:cNvSpPr/>
          <p:nvPr/>
        </p:nvSpPr>
        <p:spPr>
          <a:xfrm>
            <a:off x="2662030" y="5346243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Oval 56"/>
          <p:cNvSpPr/>
          <p:nvPr/>
        </p:nvSpPr>
        <p:spPr>
          <a:xfrm>
            <a:off x="2098823" y="5437019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Oval 57"/>
          <p:cNvSpPr/>
          <p:nvPr/>
        </p:nvSpPr>
        <p:spPr>
          <a:xfrm>
            <a:off x="2208055" y="5424645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Oval 58"/>
          <p:cNvSpPr/>
          <p:nvPr/>
        </p:nvSpPr>
        <p:spPr>
          <a:xfrm>
            <a:off x="2207833" y="5420558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Oval 59"/>
          <p:cNvSpPr/>
          <p:nvPr/>
        </p:nvSpPr>
        <p:spPr>
          <a:xfrm>
            <a:off x="2131814" y="5427697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Oval 60"/>
          <p:cNvSpPr/>
          <p:nvPr/>
        </p:nvSpPr>
        <p:spPr>
          <a:xfrm>
            <a:off x="2339156" y="5407614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Oval 61"/>
          <p:cNvSpPr/>
          <p:nvPr/>
        </p:nvSpPr>
        <p:spPr>
          <a:xfrm>
            <a:off x="2583011" y="5372737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Oval 62"/>
          <p:cNvSpPr/>
          <p:nvPr/>
        </p:nvSpPr>
        <p:spPr>
          <a:xfrm>
            <a:off x="2526149" y="5329635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Oval 63"/>
          <p:cNvSpPr/>
          <p:nvPr/>
        </p:nvSpPr>
        <p:spPr>
          <a:xfrm>
            <a:off x="2654265" y="5327727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Oval 64"/>
          <p:cNvSpPr/>
          <p:nvPr/>
        </p:nvSpPr>
        <p:spPr>
          <a:xfrm>
            <a:off x="2129271" y="5424322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Oval 65"/>
          <p:cNvSpPr/>
          <p:nvPr/>
        </p:nvSpPr>
        <p:spPr>
          <a:xfrm>
            <a:off x="3443606" y="5341336"/>
            <a:ext cx="109728" cy="109728"/>
          </a:xfrm>
          <a:prstGeom prst="ellipse">
            <a:avLst/>
          </a:prstGeom>
          <a:solidFill>
            <a:srgbClr val="FFFFFF"/>
          </a:solidFill>
          <a:ln w="762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Oval 66"/>
          <p:cNvSpPr/>
          <p:nvPr/>
        </p:nvSpPr>
        <p:spPr>
          <a:xfrm>
            <a:off x="2178162" y="5422844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Oval 67"/>
          <p:cNvSpPr/>
          <p:nvPr/>
        </p:nvSpPr>
        <p:spPr>
          <a:xfrm>
            <a:off x="2015912" y="5442148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Oval 68"/>
          <p:cNvSpPr/>
          <p:nvPr/>
        </p:nvSpPr>
        <p:spPr>
          <a:xfrm>
            <a:off x="2592718" y="5344948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Oval 69"/>
          <p:cNvSpPr/>
          <p:nvPr/>
        </p:nvSpPr>
        <p:spPr>
          <a:xfrm>
            <a:off x="2337897" y="5414039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Oval 70"/>
          <p:cNvSpPr/>
          <p:nvPr/>
        </p:nvSpPr>
        <p:spPr>
          <a:xfrm>
            <a:off x="2193380" y="5425153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2110547" y="5434107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Oval 72"/>
          <p:cNvSpPr/>
          <p:nvPr/>
        </p:nvSpPr>
        <p:spPr>
          <a:xfrm>
            <a:off x="2294350" y="5412364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Oval 73"/>
          <p:cNvSpPr/>
          <p:nvPr/>
        </p:nvSpPr>
        <p:spPr>
          <a:xfrm>
            <a:off x="2219517" y="5411947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Oval 74"/>
          <p:cNvSpPr/>
          <p:nvPr/>
        </p:nvSpPr>
        <p:spPr>
          <a:xfrm>
            <a:off x="2934135" y="5133288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Oval 75"/>
          <p:cNvSpPr/>
          <p:nvPr/>
        </p:nvSpPr>
        <p:spPr>
          <a:xfrm>
            <a:off x="3014465" y="5206138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2791784" y="5227569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Oval 77"/>
          <p:cNvSpPr/>
          <p:nvPr/>
        </p:nvSpPr>
        <p:spPr>
          <a:xfrm>
            <a:off x="2153094" y="5431704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Oval 78"/>
          <p:cNvSpPr/>
          <p:nvPr/>
        </p:nvSpPr>
        <p:spPr>
          <a:xfrm>
            <a:off x="2204675" y="5415085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Oval 79"/>
          <p:cNvSpPr/>
          <p:nvPr/>
        </p:nvSpPr>
        <p:spPr>
          <a:xfrm>
            <a:off x="2710415" y="5183813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Oval 80"/>
          <p:cNvSpPr/>
          <p:nvPr/>
        </p:nvSpPr>
        <p:spPr>
          <a:xfrm>
            <a:off x="2307052" y="5395005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2315790" y="5406664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Oval 82"/>
          <p:cNvSpPr/>
          <p:nvPr/>
        </p:nvSpPr>
        <p:spPr>
          <a:xfrm>
            <a:off x="2011475" y="5442451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Oval 83"/>
          <p:cNvSpPr/>
          <p:nvPr/>
        </p:nvSpPr>
        <p:spPr>
          <a:xfrm>
            <a:off x="2197502" y="5421011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Oval 84"/>
          <p:cNvSpPr/>
          <p:nvPr/>
        </p:nvSpPr>
        <p:spPr>
          <a:xfrm>
            <a:off x="2077690" y="5438483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Oval 85"/>
          <p:cNvSpPr/>
          <p:nvPr/>
        </p:nvSpPr>
        <p:spPr>
          <a:xfrm>
            <a:off x="2640903" y="5246493"/>
            <a:ext cx="109728" cy="109728"/>
          </a:xfrm>
          <a:prstGeom prst="ellipse">
            <a:avLst/>
          </a:prstGeom>
          <a:solidFill>
            <a:srgbClr val="FFFFFF"/>
          </a:solidFill>
          <a:ln w="762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Oval 86"/>
          <p:cNvSpPr/>
          <p:nvPr/>
        </p:nvSpPr>
        <p:spPr>
          <a:xfrm>
            <a:off x="2474447" y="5378768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Oval 87"/>
          <p:cNvSpPr/>
          <p:nvPr/>
        </p:nvSpPr>
        <p:spPr>
          <a:xfrm>
            <a:off x="2035431" y="5440455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Oval 88"/>
          <p:cNvSpPr/>
          <p:nvPr/>
        </p:nvSpPr>
        <p:spPr>
          <a:xfrm>
            <a:off x="2507450" y="5326682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Oval 89"/>
          <p:cNvSpPr/>
          <p:nvPr/>
        </p:nvSpPr>
        <p:spPr>
          <a:xfrm>
            <a:off x="3709790" y="4766357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Oval 90"/>
          <p:cNvSpPr/>
          <p:nvPr/>
        </p:nvSpPr>
        <p:spPr>
          <a:xfrm>
            <a:off x="3483208" y="4480290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Oval 91"/>
          <p:cNvSpPr/>
          <p:nvPr/>
        </p:nvSpPr>
        <p:spPr>
          <a:xfrm>
            <a:off x="2362202" y="5389134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Oval 92"/>
          <p:cNvSpPr/>
          <p:nvPr/>
        </p:nvSpPr>
        <p:spPr>
          <a:xfrm>
            <a:off x="2343073" y="5399675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Oval 93"/>
          <p:cNvSpPr/>
          <p:nvPr/>
        </p:nvSpPr>
        <p:spPr>
          <a:xfrm>
            <a:off x="2356643" y="5376138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Oval 94"/>
          <p:cNvSpPr/>
          <p:nvPr/>
        </p:nvSpPr>
        <p:spPr>
          <a:xfrm>
            <a:off x="2157677" y="5429604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Oval 95"/>
          <p:cNvSpPr/>
          <p:nvPr/>
        </p:nvSpPr>
        <p:spPr>
          <a:xfrm>
            <a:off x="2173805" y="5426709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Oval 96"/>
          <p:cNvSpPr/>
          <p:nvPr/>
        </p:nvSpPr>
        <p:spPr>
          <a:xfrm>
            <a:off x="2134053" y="5428106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Oval 97"/>
          <p:cNvSpPr/>
          <p:nvPr/>
        </p:nvSpPr>
        <p:spPr>
          <a:xfrm>
            <a:off x="2146695" y="5424279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Oval 98"/>
          <p:cNvSpPr/>
          <p:nvPr/>
        </p:nvSpPr>
        <p:spPr>
          <a:xfrm>
            <a:off x="2178123" y="5420599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Oval 99"/>
          <p:cNvSpPr/>
          <p:nvPr/>
        </p:nvSpPr>
        <p:spPr>
          <a:xfrm>
            <a:off x="2043842" y="5440968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Oval 100"/>
          <p:cNvSpPr/>
          <p:nvPr/>
        </p:nvSpPr>
        <p:spPr>
          <a:xfrm>
            <a:off x="2564119" y="5262336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Oval 101"/>
          <p:cNvSpPr/>
          <p:nvPr/>
        </p:nvSpPr>
        <p:spPr>
          <a:xfrm>
            <a:off x="2041211" y="5439975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Oval 102"/>
          <p:cNvSpPr/>
          <p:nvPr/>
        </p:nvSpPr>
        <p:spPr>
          <a:xfrm>
            <a:off x="2373135" y="5409482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Oval 103"/>
          <p:cNvSpPr/>
          <p:nvPr/>
        </p:nvSpPr>
        <p:spPr>
          <a:xfrm>
            <a:off x="2063793" y="5435822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Oval 104"/>
          <p:cNvSpPr/>
          <p:nvPr/>
        </p:nvSpPr>
        <p:spPr>
          <a:xfrm>
            <a:off x="2293153" y="5399200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Oval 105"/>
          <p:cNvSpPr/>
          <p:nvPr/>
        </p:nvSpPr>
        <p:spPr>
          <a:xfrm>
            <a:off x="2640593" y="5339670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Oval 106"/>
          <p:cNvSpPr/>
          <p:nvPr/>
        </p:nvSpPr>
        <p:spPr>
          <a:xfrm>
            <a:off x="2607964" y="5276027"/>
            <a:ext cx="109728" cy="109728"/>
          </a:xfrm>
          <a:prstGeom prst="ellipse">
            <a:avLst/>
          </a:prstGeom>
          <a:solidFill>
            <a:srgbClr val="FFFFFF"/>
          </a:solidFill>
          <a:ln w="762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Oval 107"/>
          <p:cNvSpPr/>
          <p:nvPr/>
        </p:nvSpPr>
        <p:spPr>
          <a:xfrm>
            <a:off x="2344200" y="5385323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Oval 108"/>
          <p:cNvSpPr/>
          <p:nvPr/>
        </p:nvSpPr>
        <p:spPr>
          <a:xfrm>
            <a:off x="1995773" y="5442451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Oval 109"/>
          <p:cNvSpPr/>
          <p:nvPr/>
        </p:nvSpPr>
        <p:spPr>
          <a:xfrm>
            <a:off x="2102565" y="5427298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Oval 110"/>
          <p:cNvSpPr/>
          <p:nvPr/>
        </p:nvSpPr>
        <p:spPr>
          <a:xfrm>
            <a:off x="3370552" y="5035853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Oval 111"/>
          <p:cNvSpPr/>
          <p:nvPr/>
        </p:nvSpPr>
        <p:spPr>
          <a:xfrm>
            <a:off x="3411634" y="4725200"/>
            <a:ext cx="109728" cy="109728"/>
          </a:xfrm>
          <a:prstGeom prst="ellipse">
            <a:avLst/>
          </a:prstGeom>
          <a:solidFill>
            <a:srgbClr val="FFFFFF"/>
          </a:solidFill>
          <a:ln w="762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Oval 112"/>
          <p:cNvSpPr/>
          <p:nvPr/>
        </p:nvSpPr>
        <p:spPr>
          <a:xfrm>
            <a:off x="4018831" y="5365912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Oval 113"/>
          <p:cNvSpPr/>
          <p:nvPr/>
        </p:nvSpPr>
        <p:spPr>
          <a:xfrm>
            <a:off x="2308574" y="5398547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Oval 114"/>
          <p:cNvSpPr/>
          <p:nvPr/>
        </p:nvSpPr>
        <p:spPr>
          <a:xfrm>
            <a:off x="2030787" y="5442451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Oval 115"/>
          <p:cNvSpPr/>
          <p:nvPr/>
        </p:nvSpPr>
        <p:spPr>
          <a:xfrm>
            <a:off x="2183108" y="5415097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Oval 116"/>
          <p:cNvSpPr/>
          <p:nvPr/>
        </p:nvSpPr>
        <p:spPr>
          <a:xfrm>
            <a:off x="2400930" y="5374376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Oval 117"/>
          <p:cNvSpPr/>
          <p:nvPr/>
        </p:nvSpPr>
        <p:spPr>
          <a:xfrm>
            <a:off x="2026261" y="5442289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Oval 118"/>
          <p:cNvSpPr/>
          <p:nvPr/>
        </p:nvSpPr>
        <p:spPr>
          <a:xfrm>
            <a:off x="2295332" y="5389738"/>
            <a:ext cx="82296" cy="82296"/>
          </a:xfrm>
          <a:prstGeom prst="ellipse">
            <a:avLst/>
          </a:prstGeom>
          <a:solidFill>
            <a:srgbClr val="CCCCCC"/>
          </a:solidFill>
          <a:ln w="762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Oval 119"/>
          <p:cNvSpPr/>
          <p:nvPr/>
        </p:nvSpPr>
        <p:spPr>
          <a:xfrm>
            <a:off x="393192" y="466344"/>
            <a:ext cx="128016" cy="128016"/>
          </a:xfrm>
          <a:prstGeom prst="ellipse">
            <a:avLst/>
          </a:prstGeom>
          <a:solidFill>
            <a:srgbClr val="0A7D6E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TextBox 120"/>
          <p:cNvSpPr txBox="1"/>
          <p:nvPr/>
        </p:nvSpPr>
        <p:spPr>
          <a:xfrm>
            <a:off x="594360" y="466344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0A7D6E"/>
                </a:solidFill>
                <a:latin typeface="Arial"/>
              </a:rPr>
              <a:t>good — strict</a:t>
            </a:r>
          </a:p>
        </p:txBody>
      </p:sp>
      <p:sp>
        <p:nvSpPr>
          <p:cNvPr id="122" name="Oval 121"/>
          <p:cNvSpPr/>
          <p:nvPr/>
        </p:nvSpPr>
        <p:spPr>
          <a:xfrm>
            <a:off x="1993392" y="466344"/>
            <a:ext cx="128016" cy="128016"/>
          </a:xfrm>
          <a:prstGeom prst="ellipse">
            <a:avLst/>
          </a:prstGeom>
          <a:solidFill>
            <a:srgbClr val="C53E1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TextBox 122"/>
          <p:cNvSpPr txBox="1"/>
          <p:nvPr/>
        </p:nvSpPr>
        <p:spPr>
          <a:xfrm>
            <a:off x="2194560" y="466344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C53E1F"/>
                </a:solidFill>
                <a:latin typeface="Arial"/>
              </a:rPr>
              <a:t>bad — strict</a:t>
            </a:r>
          </a:p>
        </p:txBody>
      </p:sp>
      <p:sp>
        <p:nvSpPr>
          <p:cNvPr id="124" name="Oval 123"/>
          <p:cNvSpPr/>
          <p:nvPr/>
        </p:nvSpPr>
        <p:spPr>
          <a:xfrm>
            <a:off x="3593592" y="46634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TextBox 124"/>
          <p:cNvSpPr txBox="1"/>
          <p:nvPr/>
        </p:nvSpPr>
        <p:spPr>
          <a:xfrm>
            <a:off x="3794760" y="466344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0A7D6E"/>
                </a:solidFill>
                <a:latin typeface="Arial"/>
              </a:rPr>
              <a:t>good — lite only</a:t>
            </a:r>
          </a:p>
        </p:txBody>
      </p:sp>
      <p:sp>
        <p:nvSpPr>
          <p:cNvPr id="126" name="Oval 125"/>
          <p:cNvSpPr/>
          <p:nvPr/>
        </p:nvSpPr>
        <p:spPr>
          <a:xfrm>
            <a:off x="5193792" y="46634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TextBox 126"/>
          <p:cNvSpPr txBox="1"/>
          <p:nvPr/>
        </p:nvSpPr>
        <p:spPr>
          <a:xfrm>
            <a:off x="5394960" y="466344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C53E1F"/>
                </a:solidFill>
                <a:latin typeface="Arial"/>
              </a:rPr>
              <a:t>bad — lite only</a:t>
            </a:r>
          </a:p>
        </p:txBody>
      </p:sp>
      <p:sp>
        <p:nvSpPr>
          <p:cNvPr id="128" name="Oval 127"/>
          <p:cNvSpPr/>
          <p:nvPr/>
        </p:nvSpPr>
        <p:spPr>
          <a:xfrm>
            <a:off x="6793992" y="466344"/>
            <a:ext cx="128016" cy="128016"/>
          </a:xfrm>
          <a:prstGeom prst="ellipse">
            <a:avLst/>
          </a:prstGeom>
          <a:solidFill>
            <a:srgbClr val="CCCCCC"/>
          </a:solidFill>
          <a:ln w="1270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TextBox 128"/>
          <p:cNvSpPr txBox="1"/>
          <p:nvPr/>
        </p:nvSpPr>
        <p:spPr>
          <a:xfrm>
            <a:off x="6995160" y="466344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11111"/>
                </a:solidFill>
                <a:latin typeface="Arial"/>
              </a:rPr>
              <a:t>neither (het)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750" i="1">
                <a:solidFill>
                  <a:srgbClr val="6C757D"/>
                </a:solidFill>
                <a:latin typeface="Arial"/>
              </a:rPr>
              <a:t>Each point = one (subject, locus) heterozygous event. Strict region defined by both x-threshold and P-threshold.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