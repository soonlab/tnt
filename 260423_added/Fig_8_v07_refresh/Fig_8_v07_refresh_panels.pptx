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5394960"/>
            <a:ext cx="237744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2960" y="1005840"/>
            <a:ext cx="0" cy="43891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53341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701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93669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5029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13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4050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75410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4378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15738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175504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" y="509320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HLA-A*02:10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4736592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2608" y="465429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HLA-A*30:04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4297680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2608" y="421538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HLA-A*02:06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3858768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2608" y="377647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HLA-A*02:07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3419856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608" y="333756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HLA-A*26:01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2980944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608" y="289864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HLA-A*11:01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2542032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2608" y="245973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HLA-A*31:01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2103120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2608" y="202082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HLA-A*02:01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1664208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2608" y="158191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HLA-A*33:03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1225296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2608" y="114300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HLA-A*24:02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852160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rial"/>
              </a:rPr>
              <a:t>Allele count (2 × n_patients)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21884"/>
            <a:ext cx="90054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31302" y="5084064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582972"/>
            <a:ext cx="90054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31302" y="4645152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144060"/>
            <a:ext cx="180109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21357" y="4206240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3705148"/>
            <a:ext cx="27016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111411" y="3767328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266236"/>
            <a:ext cx="27016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11411" y="3328416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2827324"/>
            <a:ext cx="360218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201466" y="2889504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2388412"/>
            <a:ext cx="540327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381575" y="2450592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1949500"/>
            <a:ext cx="810490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1633450" y="1949500"/>
            <a:ext cx="180109" cy="307238"/>
          </a:xfrm>
          <a:prstGeom prst="rect">
            <a:avLst/>
          </a:prstGeom>
          <a:solidFill>
            <a:srgbClr val="D6A417"/>
          </a:solidFill>
          <a:ln w="5080">
            <a:solidFill>
              <a:srgbClr val="D6A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831848" y="2011680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1510588"/>
            <a:ext cx="1170709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993669" y="1510588"/>
            <a:ext cx="180109" cy="307238"/>
          </a:xfrm>
          <a:prstGeom prst="rect">
            <a:avLst/>
          </a:prstGeom>
          <a:solidFill>
            <a:srgbClr val="D6A417"/>
          </a:solidFill>
          <a:ln w="5080">
            <a:solidFill>
              <a:srgbClr val="D6A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2192066" y="1572768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1071676"/>
            <a:ext cx="1620981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2443941" y="1071676"/>
            <a:ext cx="360218" cy="307238"/>
          </a:xfrm>
          <a:prstGeom prst="rect">
            <a:avLst/>
          </a:prstGeom>
          <a:solidFill>
            <a:srgbClr val="D6A417"/>
          </a:solidFill>
          <a:ln w="5080">
            <a:solidFill>
              <a:srgbClr val="D6A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822448" y="1133856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530352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4E5B"/>
                </a:solidFill>
                <a:latin typeface="Arial"/>
              </a:rPr>
              <a:t>HLA-A  (top 10)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611879" y="5394960"/>
            <a:ext cx="2377441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611879" y="1005840"/>
            <a:ext cx="0" cy="43891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611879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063239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272280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723640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712546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163906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372946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824306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8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033346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484706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11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566160" y="5175504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081527" y="509320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HLA-B*52:01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566160" y="4736592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081527" y="465429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HLA-B*44:03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566160" y="4297680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081527" y="421538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HLA-B*44:03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566160" y="3858768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081527" y="377647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HLA-B*58:01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566160" y="3419856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081527" y="333756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HLA-B*56:01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566160" y="2980944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081527" y="289864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HLA-B*40:06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566160" y="2542032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081527" y="245973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HLA-B*15:01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566160" y="2103120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081527" y="202082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HLA-B*46:01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566160" y="1664208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081527" y="158191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HLA-B*54:01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566160" y="1225296"/>
            <a:ext cx="45719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081527" y="114300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HLA-B*51:01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11879" y="5852160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rial"/>
              </a:rPr>
              <a:t>Allele count (2 × n_patients)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11879" y="5021884"/>
            <a:ext cx="660400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4290568" y="5084064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11879" y="4582972"/>
            <a:ext cx="660400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290568" y="4645152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11879" y="4144060"/>
            <a:ext cx="88053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510701" y="4206240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11879" y="3705148"/>
            <a:ext cx="88053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4510701" y="3767328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11879" y="3266236"/>
            <a:ext cx="88053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4510701" y="3328416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11879" y="2827324"/>
            <a:ext cx="88053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510701" y="2889504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11879" y="2388412"/>
            <a:ext cx="88053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4492413" y="2388412"/>
            <a:ext cx="440266" cy="307238"/>
          </a:xfrm>
          <a:prstGeom prst="rect">
            <a:avLst/>
          </a:prstGeom>
          <a:solidFill>
            <a:srgbClr val="D6A417"/>
          </a:solidFill>
          <a:ln w="5080">
            <a:solidFill>
              <a:srgbClr val="D6A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4950967" y="2450592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11879" y="1949500"/>
            <a:ext cx="1540933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5171101" y="2011680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11879" y="1510588"/>
            <a:ext cx="1100666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4712546" y="1510588"/>
            <a:ext cx="440266" cy="307238"/>
          </a:xfrm>
          <a:prstGeom prst="rect">
            <a:avLst/>
          </a:prstGeom>
          <a:solidFill>
            <a:srgbClr val="D6A417"/>
          </a:solidFill>
          <a:ln w="5080">
            <a:solidFill>
              <a:srgbClr val="D6A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5171101" y="1572768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11879" y="1071676"/>
            <a:ext cx="1981200" cy="307238"/>
          </a:xfrm>
          <a:prstGeom prst="rect">
            <a:avLst/>
          </a:prstGeom>
          <a:solidFill>
            <a:srgbClr val="1F4E5B"/>
          </a:solidFill>
          <a:ln w="5080">
            <a:solidFill>
              <a:srgbClr val="1F4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5611368" y="1133856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11879" y="530352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4E5B"/>
                </a:solidFill>
                <a:latin typeface="Arial"/>
              </a:rPr>
              <a:t>HLA-B  (top 10)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6400800" y="5394960"/>
            <a:ext cx="237744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400800" y="1005840"/>
            <a:ext cx="0" cy="43891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400800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852160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951133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402493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11533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7062893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11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8161866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7613226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16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8822266" y="5394960"/>
            <a:ext cx="0" cy="4572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8273626" y="545896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22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6355080" y="5175504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5870448" y="509320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HLA-C*12:02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355080" y="4736592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5870448" y="465429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HLA-C*03:02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6355080" y="4297680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870448" y="421538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HLA-C*04:01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6355080" y="3858768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870448" y="377647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HLA-C*08:01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6355080" y="3419856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5870448" y="333756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HLA-C*07:06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355080" y="2980944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5870448" y="289864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HLA-C*07:02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6355080" y="2542032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5870448" y="245973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HLA-C*03:03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6355080" y="2103120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870448" y="202082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HLA-C*03:04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6355080" y="1664208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870448" y="158191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HLA-C*14:02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355080" y="1225296"/>
            <a:ext cx="4572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870448" y="114300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HLA-C*01:02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00800" y="5852160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rial"/>
              </a:rPr>
              <a:t>Allele count (2 × n_patients)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00800" y="5021884"/>
            <a:ext cx="330199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6749287" y="5084064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400800" y="4582972"/>
            <a:ext cx="440266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6859354" y="4645152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400800" y="4144060"/>
            <a:ext cx="440266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6859354" y="4206240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00800" y="3705148"/>
            <a:ext cx="440266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859354" y="3767328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400800" y="3266236"/>
            <a:ext cx="440266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6859354" y="3328416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400800" y="2827324"/>
            <a:ext cx="440266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6859354" y="2889504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0" y="2388412"/>
            <a:ext cx="550333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6969421" y="2450592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400800" y="1949500"/>
            <a:ext cx="550333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6969421" y="2011680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00800" y="1510588"/>
            <a:ext cx="880533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7299621" y="1572768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8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400800" y="1071676"/>
            <a:ext cx="1540933" cy="307238"/>
          </a:xfrm>
          <a:prstGeom prst="rect">
            <a:avLst/>
          </a:prstGeom>
          <a:solidFill>
            <a:srgbClr val="3CA6B0"/>
          </a:solidFill>
          <a:ln w="5080">
            <a:solidFill>
              <a:srgbClr val="3CA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7941733" y="1071676"/>
            <a:ext cx="440266" cy="307238"/>
          </a:xfrm>
          <a:prstGeom prst="rect">
            <a:avLst/>
          </a:prstGeom>
          <a:solidFill>
            <a:srgbClr val="D6A417"/>
          </a:solidFill>
          <a:ln w="5080">
            <a:solidFill>
              <a:srgbClr val="D6A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8400288" y="1133856"/>
            <a:ext cx="3657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18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400800" y="530352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CA6B0"/>
                </a:solidFill>
                <a:latin typeface="Arial"/>
              </a:rPr>
              <a:t>HLA-C  (top 10)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269480" y="365760"/>
            <a:ext cx="182880" cy="109728"/>
          </a:xfrm>
          <a:prstGeom prst="rect">
            <a:avLst/>
          </a:prstGeom>
          <a:solidFill>
            <a:srgbClr val="1F4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7498079" y="3474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heterozygous allele count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269480" y="530352"/>
            <a:ext cx="182880" cy="109728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7498079" y="512064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from homozygous genotype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Allele counts per locus (2 alleles/patient); stacked yellow = contributed by homozygous genotype. n=35 patients (full v2 cohort).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57784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9728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493776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29768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65760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301752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237744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173736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0" y="109728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37460" y="557784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88819" y="56418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4780" y="557784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06140" y="56418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72100" y="557784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23460" y="56418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89420" y="557784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40780" y="56418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557784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" y="549554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493776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98448" y="485546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80" y="429768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98448" y="421538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36576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98448" y="35753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83080" y="301752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98448" y="293522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83080" y="237744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98448" y="229514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83080" y="173736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98448" y="165506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83080" y="109728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98448" y="101498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603504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# homozygous HLA class-I loci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411479" y="251460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Number of patients</a:t>
            </a:r>
          </a:p>
        </p:txBody>
      </p:sp>
      <p:sp>
        <p:nvSpPr>
          <p:cNvPr id="38" name="Oval 37"/>
          <p:cNvSpPr/>
          <p:nvPr/>
        </p:nvSpPr>
        <p:spPr>
          <a:xfrm>
            <a:off x="2209190" y="534466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2209190" y="502462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2209190" y="470458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2209190" y="438454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209190" y="406450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209190" y="374446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209190" y="342442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2209190" y="310438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2209190" y="278434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209190" y="246430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209190" y="214426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2209190" y="182422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2209190" y="1504187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916582" y="1069847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13</a:t>
            </a:r>
          </a:p>
        </p:txBody>
      </p:sp>
      <p:sp>
        <p:nvSpPr>
          <p:cNvPr id="52" name="Oval 51"/>
          <p:cNvSpPr/>
          <p:nvPr/>
        </p:nvSpPr>
        <p:spPr>
          <a:xfrm>
            <a:off x="3626510" y="534466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3626510" y="502462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3626510" y="470458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3626510" y="438454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3626510" y="406450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333902" y="3630168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58" name="Oval 57"/>
          <p:cNvSpPr/>
          <p:nvPr/>
        </p:nvSpPr>
        <p:spPr>
          <a:xfrm>
            <a:off x="2719425" y="534466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719425" y="502462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719425" y="470458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719425" y="438454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719425" y="406450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719425" y="374446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719425" y="342442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2719425" y="310438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2719425" y="278434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719425" y="246430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719425" y="214426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719425" y="182422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719425" y="1504187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2719425" y="118414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2719425" y="864107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2426817" y="429768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15</a:t>
            </a:r>
          </a:p>
        </p:txBody>
      </p:sp>
      <p:sp>
        <p:nvSpPr>
          <p:cNvPr id="74" name="Oval 73"/>
          <p:cNvSpPr/>
          <p:nvPr/>
        </p:nvSpPr>
        <p:spPr>
          <a:xfrm>
            <a:off x="4136745" y="534466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3844137" y="4910328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sp>
        <p:nvSpPr>
          <p:cNvPr id="76" name="Oval 75"/>
          <p:cNvSpPr/>
          <p:nvPr/>
        </p:nvSpPr>
        <p:spPr>
          <a:xfrm>
            <a:off x="5554065" y="534466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5261457" y="4910328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931160" y="1097280"/>
            <a:ext cx="0" cy="4480560"/>
          </a:xfrm>
          <a:prstGeom prst="line">
            <a:avLst/>
          </a:prstGeom>
          <a:ln w="12700">
            <a:solidFill>
              <a:srgbClr val="0A7D6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787575" y="1097280"/>
            <a:ext cx="0" cy="4480560"/>
          </a:xfrm>
          <a:prstGeom prst="line">
            <a:avLst/>
          </a:prstGeom>
          <a:ln w="12700">
            <a:solidFill>
              <a:srgbClr val="C53E1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920240" y="365760"/>
            <a:ext cx="164592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121408" y="347472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A7D6E"/>
                </a:solidFill>
                <a:latin typeface="Arial"/>
              </a:rPr>
              <a:t>good (n=18)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91840" y="365760"/>
            <a:ext cx="164592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493008" y="347472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53E1F"/>
                </a:solidFill>
                <a:latin typeface="Arial"/>
              </a:rPr>
              <a:t>bad (n=17)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292608"/>
            <a:ext cx="18288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333333"/>
                </a:solidFill>
                <a:latin typeface="Arial"/>
              </a:rPr>
              <a:t>Mann-Whitney P = 0.307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0" y="530352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>
                <a:solidFill>
                  <a:srgbClr val="6C757D"/>
                </a:solidFill>
                <a:latin typeface="Arial"/>
              </a:rPr>
              <a:t>good mean 0.28 · bad mean 0.18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Each dot = one patient. v2 full cohort n=35 (good 18 / bad 17). Dashed lines = per-group mean.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C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123405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332411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541417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750422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959428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168434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377440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586445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795451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004457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213462" y="1371600"/>
            <a:ext cx="199861" cy="256032"/>
          </a:xfrm>
          <a:prstGeom prst="rect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422468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31474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0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049485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258491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467497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76502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885508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94514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303520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512525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721531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30537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39542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348548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557554" y="1371600"/>
            <a:ext cx="199861" cy="256032"/>
          </a:xfrm>
          <a:prstGeom prst="rect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14400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123405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332411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541417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750422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959428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168434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377440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586445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795451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004457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13462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422468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631474" y="1874519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840480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049485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258491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4467497" y="1874519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4676502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4885508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094514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303520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512525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721531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930537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139542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348548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557554" y="1874519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914400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123405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332411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541417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750422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959428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2168434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2377440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2586445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795451" y="2212848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3004457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13462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422468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3631474" y="2212848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3840480" y="2212848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4049485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4258491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4467497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676502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4885508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5094514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5303520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5512525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5721531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5930537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6139542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6348548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6557554" y="2212848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914400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123405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332411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541417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750422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959428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2168434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2377440" y="2551176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2586445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2795451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3004457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3213462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3422468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3631474" y="2551176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3840480" y="2551176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4049485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258491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467497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676502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4885508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5094514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5303520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512525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5721531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5930537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6139542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6348548" y="2551176"/>
            <a:ext cx="190717" cy="274320"/>
          </a:xfrm>
          <a:prstGeom prst="rect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6557554" y="2551176"/>
            <a:ext cx="190717" cy="2743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274320" y="1408176"/>
            <a:ext cx="594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333333"/>
                </a:solidFill>
                <a:latin typeface="Arial"/>
              </a:rPr>
              <a:t>response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4320" y="1911095"/>
            <a:ext cx="594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333333"/>
                </a:solidFill>
                <a:latin typeface="Arial"/>
              </a:rPr>
              <a:t>HLA-A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320" y="2249424"/>
            <a:ext cx="594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333333"/>
                </a:solidFill>
                <a:latin typeface="Arial"/>
              </a:rPr>
              <a:t>HLA-B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2587752"/>
            <a:ext cx="594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333333"/>
                </a:solidFill>
                <a:latin typeface="Arial"/>
              </a:rPr>
              <a:t>HLA-C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1965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40971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49977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S10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58982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S11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67988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076994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0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495005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04011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S32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913017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S34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122022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S35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31028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540034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749040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58045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67051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76057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85062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94068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03074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12080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21085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30091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39097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48102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S29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57108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S30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66114" y="2852928"/>
            <a:ext cx="391885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  <a:latin typeface="Arial"/>
              </a:rPr>
              <a:t>S31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14400" y="3154680"/>
            <a:ext cx="164592" cy="100584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1115568" y="3136392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LOH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737360" y="3154680"/>
            <a:ext cx="164592" cy="100584"/>
          </a:xfrm>
          <a:prstGeom prst="rect">
            <a:avLst/>
          </a:prstGeom>
          <a:solidFill>
            <a:srgbClr val="CCCCCC"/>
          </a:solidFill>
          <a:ln w="508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1938528" y="313639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retained / biallelic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49440" y="548640"/>
            <a:ext cx="18288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P = 0.176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49440" y="795528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C757D"/>
                </a:solidFill>
                <a:latin typeface="Arial"/>
              </a:rPr>
              <a:t>Fisher exact, two-sided (per-allele)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6949440" y="2834640"/>
            <a:ext cx="1828800" cy="0"/>
          </a:xfrm>
          <a:prstGeom prst="line">
            <a:avLst/>
          </a:prstGeom>
          <a:ln w="762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949440" y="2834640"/>
            <a:ext cx="0" cy="36576"/>
          </a:xfrm>
          <a:prstGeom prst="line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6720840" y="289864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333333"/>
                </a:solidFill>
                <a:latin typeface="Arial"/>
              </a:rPr>
              <a:t>0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7559039" y="2834640"/>
            <a:ext cx="0" cy="36576"/>
          </a:xfrm>
          <a:prstGeom prst="line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7330439" y="289864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333333"/>
                </a:solidFill>
                <a:latin typeface="Arial"/>
              </a:rPr>
              <a:t>10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8168640" y="2834640"/>
            <a:ext cx="0" cy="36576"/>
          </a:xfrm>
          <a:prstGeom prst="line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7940040" y="289864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333333"/>
                </a:solidFill>
                <a:latin typeface="Arial"/>
              </a:rPr>
              <a:t>20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8778240" y="2834640"/>
            <a:ext cx="0" cy="36576"/>
          </a:xfrm>
          <a:prstGeom prst="line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8549640" y="289864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333333"/>
                </a:solidFill>
                <a:latin typeface="Arial"/>
              </a:rPr>
              <a:t>30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49440" y="3054096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333333"/>
                </a:solidFill>
                <a:latin typeface="Arial"/>
              </a:rPr>
              <a:t>% loci with LOH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949440" y="1463040"/>
            <a:ext cx="358588" cy="365760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6446520" y="157276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C53E1F"/>
                </a:solidFill>
                <a:latin typeface="Arial"/>
              </a:rPr>
              <a:t>bad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353748" y="1572768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2/34  (5.9%)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949440" y="2468880"/>
            <a:ext cx="1015999" cy="365760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6446520" y="257860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A7D6E"/>
                </a:solidFill>
                <a:latin typeface="Arial"/>
              </a:rPr>
              <a:t>good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011160" y="2578608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7/42  (16.7%)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Per-allele Fisher (LOHHLA-lite): good 7/42 vs bad 2/34, P = 0.176. Heatmap rows = HLA-A/B/C per patient (het normal only). Grey = retained or non-het.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5440679"/>
            <a:ext cx="201168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80160" y="1234440"/>
            <a:ext cx="0" cy="420623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5440679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0160" y="4389263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80160" y="3337846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80160" y="2286429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1235013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3897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75257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good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28569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79929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bad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34439" y="5440679"/>
            <a:ext cx="45721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535838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39" y="4389263"/>
            <a:ext cx="45721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8" y="430696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92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34439" y="3337846"/>
            <a:ext cx="45721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325555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183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4439" y="2286429"/>
            <a:ext cx="45721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220413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275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34439" y="1235013"/>
            <a:ext cx="45721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115271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367</a:t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-137160" y="251460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Arial"/>
              </a:rPr>
              <a:t>mutation sites with MHC-I binder (&lt;500 nM)</a:t>
            </a:r>
          </a:p>
        </p:txBody>
      </p:sp>
      <p:sp>
        <p:nvSpPr>
          <p:cNvPr id="25" name="Freeform 24"/>
          <p:cNvSpPr/>
          <p:nvPr/>
        </p:nvSpPr>
        <p:spPr>
          <a:xfrm>
            <a:off x="1682495" y="2734743"/>
            <a:ext cx="241402" cy="2683005"/>
          </a:xfrm>
          <a:custGeom>
            <a:avLst/>
            <a:gdLst/>
            <a:ahLst/>
            <a:cxnLst/>
            <a:rect l="l" t="t" r="r" b="b"/>
            <a:pathLst>
              <a:path w="241402" h="2683005">
                <a:moveTo>
                  <a:pt x="241402" y="2683005"/>
                </a:moveTo>
                <a:lnTo>
                  <a:pt x="154577" y="2683005"/>
                </a:lnTo>
                <a:lnTo>
                  <a:pt x="146205" y="2637530"/>
                </a:lnTo>
                <a:lnTo>
                  <a:pt x="137359" y="2592056"/>
                </a:lnTo>
                <a:lnTo>
                  <a:pt x="128032" y="2546581"/>
                </a:lnTo>
                <a:lnTo>
                  <a:pt x="118232" y="2501106"/>
                </a:lnTo>
                <a:lnTo>
                  <a:pt x="107987" y="2455632"/>
                </a:lnTo>
                <a:lnTo>
                  <a:pt x="97351" y="2410157"/>
                </a:lnTo>
                <a:lnTo>
                  <a:pt x="86412" y="2364682"/>
                </a:lnTo>
                <a:lnTo>
                  <a:pt x="75290" y="2319208"/>
                </a:lnTo>
                <a:lnTo>
                  <a:pt x="64141" y="2273733"/>
                </a:lnTo>
                <a:lnTo>
                  <a:pt x="53157" y="2228258"/>
                </a:lnTo>
                <a:lnTo>
                  <a:pt x="42560" y="2182784"/>
                </a:lnTo>
                <a:lnTo>
                  <a:pt x="32593" y="2137309"/>
                </a:lnTo>
                <a:lnTo>
                  <a:pt x="23518" y="2091834"/>
                </a:lnTo>
                <a:lnTo>
                  <a:pt x="15594" y="2046360"/>
                </a:lnTo>
                <a:lnTo>
                  <a:pt x="9074" y="2000885"/>
                </a:lnTo>
                <a:lnTo>
                  <a:pt x="4183" y="1955410"/>
                </a:lnTo>
                <a:lnTo>
                  <a:pt x="1111" y="1909936"/>
                </a:lnTo>
                <a:lnTo>
                  <a:pt x="0" y="1864461"/>
                </a:lnTo>
                <a:lnTo>
                  <a:pt x="935" y="1818986"/>
                </a:lnTo>
                <a:lnTo>
                  <a:pt x="3935" y="1773512"/>
                </a:lnTo>
                <a:lnTo>
                  <a:pt x="8956" y="1728037"/>
                </a:lnTo>
                <a:lnTo>
                  <a:pt x="15887" y="1682563"/>
                </a:lnTo>
                <a:lnTo>
                  <a:pt x="24559" y="1637088"/>
                </a:lnTo>
                <a:lnTo>
                  <a:pt x="34747" y="1591613"/>
                </a:lnTo>
                <a:lnTo>
                  <a:pt x="46187" y="1546139"/>
                </a:lnTo>
                <a:lnTo>
                  <a:pt x="58584" y="1500664"/>
                </a:lnTo>
                <a:lnTo>
                  <a:pt x="71626" y="1455189"/>
                </a:lnTo>
                <a:lnTo>
                  <a:pt x="84997" y="1409715"/>
                </a:lnTo>
                <a:lnTo>
                  <a:pt x="98387" y="1364240"/>
                </a:lnTo>
                <a:lnTo>
                  <a:pt x="111510" y="1318765"/>
                </a:lnTo>
                <a:lnTo>
                  <a:pt x="124104" y="1273291"/>
                </a:lnTo>
                <a:lnTo>
                  <a:pt x="135945" y="1227816"/>
                </a:lnTo>
                <a:lnTo>
                  <a:pt x="146847" y="1182341"/>
                </a:lnTo>
                <a:lnTo>
                  <a:pt x="156670" y="1136867"/>
                </a:lnTo>
                <a:lnTo>
                  <a:pt x="165315" y="1091392"/>
                </a:lnTo>
                <a:lnTo>
                  <a:pt x="172728" y="1045917"/>
                </a:lnTo>
                <a:lnTo>
                  <a:pt x="178895" y="1000443"/>
                </a:lnTo>
                <a:lnTo>
                  <a:pt x="183838" y="954968"/>
                </a:lnTo>
                <a:lnTo>
                  <a:pt x="187614" y="909493"/>
                </a:lnTo>
                <a:lnTo>
                  <a:pt x="190306" y="864019"/>
                </a:lnTo>
                <a:lnTo>
                  <a:pt x="192022" y="818544"/>
                </a:lnTo>
                <a:lnTo>
                  <a:pt x="192889" y="773070"/>
                </a:lnTo>
                <a:lnTo>
                  <a:pt x="193043" y="727595"/>
                </a:lnTo>
                <a:lnTo>
                  <a:pt x="192632" y="682120"/>
                </a:lnTo>
                <a:lnTo>
                  <a:pt x="191804" y="636646"/>
                </a:lnTo>
                <a:lnTo>
                  <a:pt x="190706" y="591171"/>
                </a:lnTo>
                <a:lnTo>
                  <a:pt x="189478" y="545696"/>
                </a:lnTo>
                <a:lnTo>
                  <a:pt x="188252" y="500222"/>
                </a:lnTo>
                <a:lnTo>
                  <a:pt x="187145" y="454747"/>
                </a:lnTo>
                <a:lnTo>
                  <a:pt x="186256" y="409272"/>
                </a:lnTo>
                <a:lnTo>
                  <a:pt x="185670" y="363798"/>
                </a:lnTo>
                <a:lnTo>
                  <a:pt x="185450" y="318323"/>
                </a:lnTo>
                <a:lnTo>
                  <a:pt x="185639" y="272848"/>
                </a:lnTo>
                <a:lnTo>
                  <a:pt x="186263" y="227374"/>
                </a:lnTo>
                <a:lnTo>
                  <a:pt x="187326" y="181899"/>
                </a:lnTo>
                <a:lnTo>
                  <a:pt x="188817" y="136424"/>
                </a:lnTo>
                <a:lnTo>
                  <a:pt x="190710" y="90950"/>
                </a:lnTo>
                <a:lnTo>
                  <a:pt x="192966" y="45475"/>
                </a:lnTo>
                <a:lnTo>
                  <a:pt x="195534" y="0"/>
                </a:lnTo>
                <a:lnTo>
                  <a:pt x="241402" y="0"/>
                </a:lnTo>
                <a:close/>
              </a:path>
            </a:pathLst>
          </a:custGeom>
          <a:solidFill>
            <a:srgbClr val="CFE4E1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487168" y="1783079"/>
            <a:ext cx="241401" cy="3611737"/>
          </a:xfrm>
          <a:custGeom>
            <a:avLst/>
            <a:gdLst/>
            <a:ahLst/>
            <a:cxnLst/>
            <a:rect l="l" t="t" r="r" b="b"/>
            <a:pathLst>
              <a:path w="241401" h="3611737">
                <a:moveTo>
                  <a:pt x="241401" y="3611737"/>
                </a:moveTo>
                <a:lnTo>
                  <a:pt x="75380" y="3611737"/>
                </a:lnTo>
                <a:lnTo>
                  <a:pt x="62912" y="3550521"/>
                </a:lnTo>
                <a:lnTo>
                  <a:pt x="50982" y="3489305"/>
                </a:lnTo>
                <a:lnTo>
                  <a:pt x="39820" y="3428090"/>
                </a:lnTo>
                <a:lnTo>
                  <a:pt x="29655" y="3366874"/>
                </a:lnTo>
                <a:lnTo>
                  <a:pt x="20703" y="3305658"/>
                </a:lnTo>
                <a:lnTo>
                  <a:pt x="13163" y="3244442"/>
                </a:lnTo>
                <a:lnTo>
                  <a:pt x="7205" y="3183226"/>
                </a:lnTo>
                <a:lnTo>
                  <a:pt x="2968" y="3122010"/>
                </a:lnTo>
                <a:lnTo>
                  <a:pt x="548" y="3060794"/>
                </a:lnTo>
                <a:lnTo>
                  <a:pt x="0" y="2999578"/>
                </a:lnTo>
                <a:lnTo>
                  <a:pt x="1326" y="2938363"/>
                </a:lnTo>
                <a:lnTo>
                  <a:pt x="4483" y="2877147"/>
                </a:lnTo>
                <a:lnTo>
                  <a:pt x="9376" y="2815931"/>
                </a:lnTo>
                <a:lnTo>
                  <a:pt x="15867" y="2754715"/>
                </a:lnTo>
                <a:lnTo>
                  <a:pt x="23776" y="2693499"/>
                </a:lnTo>
                <a:lnTo>
                  <a:pt x="32885" y="2632283"/>
                </a:lnTo>
                <a:lnTo>
                  <a:pt x="42953" y="2571067"/>
                </a:lnTo>
                <a:lnTo>
                  <a:pt x="53718" y="2509851"/>
                </a:lnTo>
                <a:lnTo>
                  <a:pt x="64912" y="2448636"/>
                </a:lnTo>
                <a:lnTo>
                  <a:pt x="76264" y="2387420"/>
                </a:lnTo>
                <a:lnTo>
                  <a:pt x="87516" y="2326204"/>
                </a:lnTo>
                <a:lnTo>
                  <a:pt x="98428" y="2264988"/>
                </a:lnTo>
                <a:lnTo>
                  <a:pt x="108786" y="2203772"/>
                </a:lnTo>
                <a:lnTo>
                  <a:pt x="118407" y="2142556"/>
                </a:lnTo>
                <a:lnTo>
                  <a:pt x="127145" y="2081340"/>
                </a:lnTo>
                <a:lnTo>
                  <a:pt x="134895" y="2020124"/>
                </a:lnTo>
                <a:lnTo>
                  <a:pt x="141591" y="1958909"/>
                </a:lnTo>
                <a:lnTo>
                  <a:pt x="147204" y="1897693"/>
                </a:lnTo>
                <a:lnTo>
                  <a:pt x="151745" y="1836477"/>
                </a:lnTo>
                <a:lnTo>
                  <a:pt x="155259" y="1775261"/>
                </a:lnTo>
                <a:lnTo>
                  <a:pt x="157817" y="1714045"/>
                </a:lnTo>
                <a:lnTo>
                  <a:pt x="159515" y="1652829"/>
                </a:lnTo>
                <a:lnTo>
                  <a:pt x="160469" y="1591613"/>
                </a:lnTo>
                <a:lnTo>
                  <a:pt x="160804" y="1530397"/>
                </a:lnTo>
                <a:lnTo>
                  <a:pt x="160653" y="1469182"/>
                </a:lnTo>
                <a:lnTo>
                  <a:pt x="160147" y="1407966"/>
                </a:lnTo>
                <a:lnTo>
                  <a:pt x="159417" y="1346750"/>
                </a:lnTo>
                <a:lnTo>
                  <a:pt x="158582" y="1285534"/>
                </a:lnTo>
                <a:lnTo>
                  <a:pt x="157751" y="1224318"/>
                </a:lnTo>
                <a:lnTo>
                  <a:pt x="157020" y="1163102"/>
                </a:lnTo>
                <a:lnTo>
                  <a:pt x="156466" y="1101886"/>
                </a:lnTo>
                <a:lnTo>
                  <a:pt x="156154" y="1040670"/>
                </a:lnTo>
                <a:lnTo>
                  <a:pt x="156130" y="979455"/>
                </a:lnTo>
                <a:lnTo>
                  <a:pt x="156426" y="918239"/>
                </a:lnTo>
                <a:lnTo>
                  <a:pt x="157058" y="857023"/>
                </a:lnTo>
                <a:lnTo>
                  <a:pt x="158031" y="795807"/>
                </a:lnTo>
                <a:lnTo>
                  <a:pt x="159340" y="734591"/>
                </a:lnTo>
                <a:lnTo>
                  <a:pt x="160969" y="673375"/>
                </a:lnTo>
                <a:lnTo>
                  <a:pt x="162898" y="612159"/>
                </a:lnTo>
                <a:lnTo>
                  <a:pt x="165102" y="550943"/>
                </a:lnTo>
                <a:lnTo>
                  <a:pt x="167550" y="489728"/>
                </a:lnTo>
                <a:lnTo>
                  <a:pt x="170214" y="428512"/>
                </a:lnTo>
                <a:lnTo>
                  <a:pt x="173062" y="367296"/>
                </a:lnTo>
                <a:lnTo>
                  <a:pt x="176064" y="306080"/>
                </a:lnTo>
                <a:lnTo>
                  <a:pt x="179191" y="244864"/>
                </a:lnTo>
                <a:lnTo>
                  <a:pt x="182415" y="183648"/>
                </a:lnTo>
                <a:lnTo>
                  <a:pt x="185709" y="122432"/>
                </a:lnTo>
                <a:lnTo>
                  <a:pt x="189048" y="61216"/>
                </a:lnTo>
                <a:lnTo>
                  <a:pt x="192408" y="0"/>
                </a:lnTo>
                <a:lnTo>
                  <a:pt x="241401" y="0"/>
                </a:lnTo>
                <a:close/>
              </a:path>
            </a:pathLst>
          </a:custGeom>
          <a:solidFill>
            <a:srgbClr val="F4D8D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68738" y="4357158"/>
            <a:ext cx="177027" cy="332509"/>
          </a:xfrm>
          <a:prstGeom prst="rect">
            <a:avLst/>
          </a:prstGeom>
          <a:noFill/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2068738" y="4569276"/>
            <a:ext cx="177028" cy="0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873410" y="3090184"/>
            <a:ext cx="177027" cy="1811601"/>
          </a:xfrm>
          <a:prstGeom prst="rect">
            <a:avLst/>
          </a:prstGeom>
          <a:noFill/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2873410" y="4626606"/>
            <a:ext cx="177028" cy="0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135178" y="436760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2154639" y="301463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2227313" y="2693595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2199103" y="4551060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2136270" y="5376600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2179915" y="4562526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2185827" y="3186626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2144717" y="450519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2218726" y="534220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2138786" y="459692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2174520" y="447079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190680" y="4585458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179593" y="4837706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199700" y="499822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2219145" y="404656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2247268" y="429881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160741" y="4665718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207650" y="4424936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3009302" y="4573992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044337" y="4608389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3028690" y="466571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2957818" y="452812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967468" y="304903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3041291" y="265919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929501" y="2292291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3034554" y="302610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3031443" y="4860637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2989068" y="496383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967837" y="458545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964669" y="4539594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961637" y="1741931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986125" y="535366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993782" y="5124352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3000084" y="461985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3056991" y="497529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280160" y="713232"/>
            <a:ext cx="201168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</a:rPr>
              <a:t>P = 0.779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932688"/>
            <a:ext cx="2011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1">
                <a:solidFill>
                  <a:srgbClr val="6C757D"/>
                </a:solidFill>
                <a:latin typeface="Arial"/>
              </a:rPr>
              <a:t>good n=18 / bad n=17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886200" y="5440679"/>
            <a:ext cx="201168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886200" y="1234440"/>
            <a:ext cx="0" cy="420623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886200" y="5440679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886200" y="4389912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86200" y="3337031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886200" y="2286264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86200" y="1233382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529937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981297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good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334609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785969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bad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840480" y="544067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355848" y="535838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840480" y="4389912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355848" y="430761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50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840480" y="333703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355848" y="325473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99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840480" y="228626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355848" y="220396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149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840480" y="1233382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355848" y="115108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 rot="16200000">
            <a:off x="2468880" y="251460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Arial"/>
              </a:rPr>
              <a:t>strong MHC-I binders (&lt;50 nM)</a:t>
            </a:r>
          </a:p>
        </p:txBody>
      </p:sp>
      <p:sp>
        <p:nvSpPr>
          <p:cNvPr id="90" name="Freeform 89"/>
          <p:cNvSpPr/>
          <p:nvPr/>
        </p:nvSpPr>
        <p:spPr>
          <a:xfrm>
            <a:off x="4288536" y="2353919"/>
            <a:ext cx="241401" cy="3065618"/>
          </a:xfrm>
          <a:custGeom>
            <a:avLst/>
            <a:gdLst/>
            <a:ahLst/>
            <a:cxnLst/>
            <a:rect l="l" t="t" r="r" b="b"/>
            <a:pathLst>
              <a:path w="241401" h="3065618">
                <a:moveTo>
                  <a:pt x="241401" y="3065618"/>
                </a:moveTo>
                <a:lnTo>
                  <a:pt x="106102" y="3065618"/>
                </a:lnTo>
                <a:lnTo>
                  <a:pt x="93398" y="3013659"/>
                </a:lnTo>
                <a:lnTo>
                  <a:pt x="80784" y="2961699"/>
                </a:lnTo>
                <a:lnTo>
                  <a:pt x="68454" y="2909739"/>
                </a:lnTo>
                <a:lnTo>
                  <a:pt x="56604" y="2857780"/>
                </a:lnTo>
                <a:lnTo>
                  <a:pt x="45431" y="2805820"/>
                </a:lnTo>
                <a:lnTo>
                  <a:pt x="35128" y="2753860"/>
                </a:lnTo>
                <a:lnTo>
                  <a:pt x="25874" y="2701901"/>
                </a:lnTo>
                <a:lnTo>
                  <a:pt x="17836" y="2649941"/>
                </a:lnTo>
                <a:lnTo>
                  <a:pt x="11156" y="2597982"/>
                </a:lnTo>
                <a:lnTo>
                  <a:pt x="5955" y="2546022"/>
                </a:lnTo>
                <a:lnTo>
                  <a:pt x="2326" y="2494062"/>
                </a:lnTo>
                <a:lnTo>
                  <a:pt x="331" y="2442103"/>
                </a:lnTo>
                <a:lnTo>
                  <a:pt x="0" y="2390143"/>
                </a:lnTo>
                <a:lnTo>
                  <a:pt x="1331" y="2338183"/>
                </a:lnTo>
                <a:lnTo>
                  <a:pt x="4292" y="2286224"/>
                </a:lnTo>
                <a:lnTo>
                  <a:pt x="8816" y="2234264"/>
                </a:lnTo>
                <a:lnTo>
                  <a:pt x="14807" y="2182304"/>
                </a:lnTo>
                <a:lnTo>
                  <a:pt x="22142" y="2130345"/>
                </a:lnTo>
                <a:lnTo>
                  <a:pt x="30669" y="2078385"/>
                </a:lnTo>
                <a:lnTo>
                  <a:pt x="40215" y="2026426"/>
                </a:lnTo>
                <a:lnTo>
                  <a:pt x="50589" y="1974466"/>
                </a:lnTo>
                <a:lnTo>
                  <a:pt x="61585" y="1922506"/>
                </a:lnTo>
                <a:lnTo>
                  <a:pt x="72992" y="1870547"/>
                </a:lnTo>
                <a:lnTo>
                  <a:pt x="84593" y="1818587"/>
                </a:lnTo>
                <a:lnTo>
                  <a:pt x="96180" y="1766627"/>
                </a:lnTo>
                <a:lnTo>
                  <a:pt x="107555" y="1714668"/>
                </a:lnTo>
                <a:lnTo>
                  <a:pt x="118538" y="1662708"/>
                </a:lnTo>
                <a:lnTo>
                  <a:pt x="128975" y="1610749"/>
                </a:lnTo>
                <a:lnTo>
                  <a:pt x="138738" y="1558789"/>
                </a:lnTo>
                <a:lnTo>
                  <a:pt x="147731" y="1506829"/>
                </a:lnTo>
                <a:lnTo>
                  <a:pt x="155893" y="1454870"/>
                </a:lnTo>
                <a:lnTo>
                  <a:pt x="163193" y="1402910"/>
                </a:lnTo>
                <a:lnTo>
                  <a:pt x="169631" y="1350950"/>
                </a:lnTo>
                <a:lnTo>
                  <a:pt x="175234" y="1298991"/>
                </a:lnTo>
                <a:lnTo>
                  <a:pt x="180053" y="1247031"/>
                </a:lnTo>
                <a:lnTo>
                  <a:pt x="184154" y="1195071"/>
                </a:lnTo>
                <a:lnTo>
                  <a:pt x="187617" y="1143112"/>
                </a:lnTo>
                <a:lnTo>
                  <a:pt x="190525" y="1091152"/>
                </a:lnTo>
                <a:lnTo>
                  <a:pt x="192965" y="1039193"/>
                </a:lnTo>
                <a:lnTo>
                  <a:pt x="195020" y="987233"/>
                </a:lnTo>
                <a:lnTo>
                  <a:pt x="196764" y="935273"/>
                </a:lnTo>
                <a:lnTo>
                  <a:pt x="198264" y="883314"/>
                </a:lnTo>
                <a:lnTo>
                  <a:pt x="199576" y="831354"/>
                </a:lnTo>
                <a:lnTo>
                  <a:pt x="200745" y="779394"/>
                </a:lnTo>
                <a:lnTo>
                  <a:pt x="201804" y="727435"/>
                </a:lnTo>
                <a:lnTo>
                  <a:pt x="202778" y="675475"/>
                </a:lnTo>
                <a:lnTo>
                  <a:pt x="203686" y="623515"/>
                </a:lnTo>
                <a:lnTo>
                  <a:pt x="204540" y="571556"/>
                </a:lnTo>
                <a:lnTo>
                  <a:pt x="205348" y="519596"/>
                </a:lnTo>
                <a:lnTo>
                  <a:pt x="206121" y="467637"/>
                </a:lnTo>
                <a:lnTo>
                  <a:pt x="206869" y="415677"/>
                </a:lnTo>
                <a:lnTo>
                  <a:pt x="207603" y="363717"/>
                </a:lnTo>
                <a:lnTo>
                  <a:pt x="208339" y="311758"/>
                </a:lnTo>
                <a:lnTo>
                  <a:pt x="209096" y="259798"/>
                </a:lnTo>
                <a:lnTo>
                  <a:pt x="209895" y="207838"/>
                </a:lnTo>
                <a:lnTo>
                  <a:pt x="210758" y="155879"/>
                </a:lnTo>
                <a:lnTo>
                  <a:pt x="211705" y="103919"/>
                </a:lnTo>
                <a:lnTo>
                  <a:pt x="212754" y="51959"/>
                </a:lnTo>
                <a:lnTo>
                  <a:pt x="213920" y="0"/>
                </a:lnTo>
                <a:lnTo>
                  <a:pt x="241401" y="0"/>
                </a:lnTo>
                <a:close/>
              </a:path>
            </a:pathLst>
          </a:custGeom>
          <a:solidFill>
            <a:srgbClr val="CFE4E1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5093208" y="1783079"/>
            <a:ext cx="241401" cy="3615316"/>
          </a:xfrm>
          <a:custGeom>
            <a:avLst/>
            <a:gdLst/>
            <a:ahLst/>
            <a:cxnLst/>
            <a:rect l="l" t="t" r="r" b="b"/>
            <a:pathLst>
              <a:path w="241401" h="3615316">
                <a:moveTo>
                  <a:pt x="241401" y="3615316"/>
                </a:moveTo>
                <a:lnTo>
                  <a:pt x="81985" y="3615316"/>
                </a:lnTo>
                <a:lnTo>
                  <a:pt x="69694" y="3554040"/>
                </a:lnTo>
                <a:lnTo>
                  <a:pt x="57868" y="3492763"/>
                </a:lnTo>
                <a:lnTo>
                  <a:pt x="46709" y="3431486"/>
                </a:lnTo>
                <a:lnTo>
                  <a:pt x="36410" y="3370210"/>
                </a:lnTo>
                <a:lnTo>
                  <a:pt x="27150" y="3308933"/>
                </a:lnTo>
                <a:lnTo>
                  <a:pt x="19083" y="3247657"/>
                </a:lnTo>
                <a:lnTo>
                  <a:pt x="12340" y="3186380"/>
                </a:lnTo>
                <a:lnTo>
                  <a:pt x="7016" y="3125104"/>
                </a:lnTo>
                <a:lnTo>
                  <a:pt x="3174" y="3063827"/>
                </a:lnTo>
                <a:lnTo>
                  <a:pt x="839" y="3002551"/>
                </a:lnTo>
                <a:lnTo>
                  <a:pt x="0" y="2941274"/>
                </a:lnTo>
                <a:lnTo>
                  <a:pt x="613" y="2879998"/>
                </a:lnTo>
                <a:lnTo>
                  <a:pt x="2604" y="2818721"/>
                </a:lnTo>
                <a:lnTo>
                  <a:pt x="5872" y="2757445"/>
                </a:lnTo>
                <a:lnTo>
                  <a:pt x="10298" y="2696168"/>
                </a:lnTo>
                <a:lnTo>
                  <a:pt x="15744" y="2634892"/>
                </a:lnTo>
                <a:lnTo>
                  <a:pt x="22069" y="2573615"/>
                </a:lnTo>
                <a:lnTo>
                  <a:pt x="29125" y="2512338"/>
                </a:lnTo>
                <a:lnTo>
                  <a:pt x="36769" y="2451062"/>
                </a:lnTo>
                <a:lnTo>
                  <a:pt x="44864" y="2389785"/>
                </a:lnTo>
                <a:lnTo>
                  <a:pt x="53282" y="2328509"/>
                </a:lnTo>
                <a:lnTo>
                  <a:pt x="61907" y="2267232"/>
                </a:lnTo>
                <a:lnTo>
                  <a:pt x="70637" y="2205956"/>
                </a:lnTo>
                <a:lnTo>
                  <a:pt x="79383" y="2144679"/>
                </a:lnTo>
                <a:lnTo>
                  <a:pt x="88068" y="2083403"/>
                </a:lnTo>
                <a:lnTo>
                  <a:pt x="96628" y="2022126"/>
                </a:lnTo>
                <a:lnTo>
                  <a:pt x="105006" y="1960850"/>
                </a:lnTo>
                <a:lnTo>
                  <a:pt x="113157" y="1899573"/>
                </a:lnTo>
                <a:lnTo>
                  <a:pt x="121041" y="1838297"/>
                </a:lnTo>
                <a:lnTo>
                  <a:pt x="128624" y="1777020"/>
                </a:lnTo>
                <a:lnTo>
                  <a:pt x="135876" y="1715743"/>
                </a:lnTo>
                <a:lnTo>
                  <a:pt x="142770" y="1654467"/>
                </a:lnTo>
                <a:lnTo>
                  <a:pt x="149284" y="1593190"/>
                </a:lnTo>
                <a:lnTo>
                  <a:pt x="155395" y="1531914"/>
                </a:lnTo>
                <a:lnTo>
                  <a:pt x="161087" y="1470637"/>
                </a:lnTo>
                <a:lnTo>
                  <a:pt x="166341" y="1409361"/>
                </a:lnTo>
                <a:lnTo>
                  <a:pt x="171146" y="1348084"/>
                </a:lnTo>
                <a:lnTo>
                  <a:pt x="175490" y="1286808"/>
                </a:lnTo>
                <a:lnTo>
                  <a:pt x="179366" y="1225531"/>
                </a:lnTo>
                <a:lnTo>
                  <a:pt x="182772" y="1164255"/>
                </a:lnTo>
                <a:lnTo>
                  <a:pt x="185707" y="1102978"/>
                </a:lnTo>
                <a:lnTo>
                  <a:pt x="188179" y="1041702"/>
                </a:lnTo>
                <a:lnTo>
                  <a:pt x="190199" y="980425"/>
                </a:lnTo>
                <a:lnTo>
                  <a:pt x="191784" y="919149"/>
                </a:lnTo>
                <a:lnTo>
                  <a:pt x="192958" y="857872"/>
                </a:lnTo>
                <a:lnTo>
                  <a:pt x="193753" y="796595"/>
                </a:lnTo>
                <a:lnTo>
                  <a:pt x="194206" y="735319"/>
                </a:lnTo>
                <a:lnTo>
                  <a:pt x="194362" y="674042"/>
                </a:lnTo>
                <a:lnTo>
                  <a:pt x="194274" y="612766"/>
                </a:lnTo>
                <a:lnTo>
                  <a:pt x="193998" y="551489"/>
                </a:lnTo>
                <a:lnTo>
                  <a:pt x="193597" y="490213"/>
                </a:lnTo>
                <a:lnTo>
                  <a:pt x="193136" y="428936"/>
                </a:lnTo>
                <a:lnTo>
                  <a:pt x="192682" y="367660"/>
                </a:lnTo>
                <a:lnTo>
                  <a:pt x="192299" y="306383"/>
                </a:lnTo>
                <a:lnTo>
                  <a:pt x="192050" y="245107"/>
                </a:lnTo>
                <a:lnTo>
                  <a:pt x="191990" y="183830"/>
                </a:lnTo>
                <a:lnTo>
                  <a:pt x="192167" y="122554"/>
                </a:lnTo>
                <a:lnTo>
                  <a:pt x="192620" y="61277"/>
                </a:lnTo>
                <a:lnTo>
                  <a:pt x="193375" y="0"/>
                </a:lnTo>
                <a:lnTo>
                  <a:pt x="241401" y="0"/>
                </a:lnTo>
                <a:close/>
              </a:path>
            </a:pathLst>
          </a:custGeom>
          <a:solidFill>
            <a:srgbClr val="F4D8D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674778" y="4309572"/>
            <a:ext cx="177027" cy="665979"/>
          </a:xfrm>
          <a:prstGeom prst="rect">
            <a:avLst/>
          </a:prstGeom>
          <a:noFill/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3" name="Connector 92"/>
          <p:cNvCxnSpPr/>
          <p:nvPr/>
        </p:nvCxnSpPr>
        <p:spPr>
          <a:xfrm>
            <a:off x="4674778" y="4711274"/>
            <a:ext cx="177028" cy="0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5479450" y="3791588"/>
            <a:ext cx="177027" cy="1078252"/>
          </a:xfrm>
          <a:prstGeom prst="rect">
            <a:avLst/>
          </a:prstGeom>
          <a:noFill/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5" name="Connector 94"/>
          <p:cNvCxnSpPr/>
          <p:nvPr/>
        </p:nvCxnSpPr>
        <p:spPr>
          <a:xfrm>
            <a:off x="5479450" y="4658418"/>
            <a:ext cx="177028" cy="0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741218" y="470183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760679" y="3560160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4833353" y="2312771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4805143" y="4807550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4742310" y="535724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4785955" y="444813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4791867" y="3031605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4750757" y="430013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4824766" y="537838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744826" y="4976688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4780560" y="463841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4796720" y="493440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4785633" y="474412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4805740" y="508239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4825185" y="4215568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4853308" y="425785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4766781" y="493440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813690" y="4363564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5615342" y="4744123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5650377" y="495554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5634730" y="495554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5563858" y="410985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5573508" y="375044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5647331" y="292589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5535541" y="1741931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5640594" y="3961862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5637483" y="476526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5595108" y="4828692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5573877" y="461727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5570709" y="370815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5567677" y="178421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5592165" y="5357247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5599822" y="506125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5606124" y="4701839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5663031" y="457498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3886200" y="713232"/>
            <a:ext cx="201168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</a:rPr>
              <a:t>P = 0.488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86200" y="932688"/>
            <a:ext cx="2011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1">
                <a:solidFill>
                  <a:srgbClr val="6C757D"/>
                </a:solidFill>
                <a:latin typeface="Arial"/>
              </a:rPr>
              <a:t>good n=18 / bad n=17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492240" y="5440679"/>
            <a:ext cx="201168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492240" y="1234440"/>
            <a:ext cx="0" cy="420623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492240" y="5440679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492240" y="4389013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492240" y="3337560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492240" y="2285894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492240" y="1234441"/>
            <a:ext cx="201168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135977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6587337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good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7940649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7392009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bad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6446520" y="544067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961888" y="535838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446520" y="4389013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961888" y="430671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493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6446520" y="333756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5961888" y="325526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985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446520" y="228589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5961888" y="220359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1478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6446520" y="123444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5961888" y="115214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111111"/>
                </a:solidFill>
                <a:latin typeface="Arial"/>
              </a:rPr>
              <a:t>1970</a:t>
            </a:r>
          </a:p>
        </p:txBody>
      </p:sp>
      <p:sp>
        <p:nvSpPr>
          <p:cNvPr id="154" name="TextBox 153"/>
          <p:cNvSpPr txBox="1"/>
          <p:nvPr/>
        </p:nvSpPr>
        <p:spPr>
          <a:xfrm rot="16200000">
            <a:off x="5074920" y="251460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Arial"/>
              </a:rPr>
              <a:t>PCN score (HLA-LOH adjusted proxy)</a:t>
            </a:r>
          </a:p>
        </p:txBody>
      </p:sp>
      <p:sp>
        <p:nvSpPr>
          <p:cNvPr id="155" name="Freeform 154"/>
          <p:cNvSpPr/>
          <p:nvPr/>
        </p:nvSpPr>
        <p:spPr>
          <a:xfrm>
            <a:off x="6894576" y="1783079"/>
            <a:ext cx="241401" cy="3647212"/>
          </a:xfrm>
          <a:custGeom>
            <a:avLst/>
            <a:gdLst/>
            <a:ahLst/>
            <a:cxnLst/>
            <a:rect l="l" t="t" r="r" b="b"/>
            <a:pathLst>
              <a:path w="241401" h="3647212">
                <a:moveTo>
                  <a:pt x="241401" y="3647212"/>
                </a:moveTo>
                <a:lnTo>
                  <a:pt x="28097" y="3647212"/>
                </a:lnTo>
                <a:lnTo>
                  <a:pt x="18362" y="3585395"/>
                </a:lnTo>
                <a:lnTo>
                  <a:pt x="10495" y="3523578"/>
                </a:lnTo>
                <a:lnTo>
                  <a:pt x="4715" y="3461761"/>
                </a:lnTo>
                <a:lnTo>
                  <a:pt x="1183" y="3399943"/>
                </a:lnTo>
                <a:lnTo>
                  <a:pt x="0" y="3338126"/>
                </a:lnTo>
                <a:lnTo>
                  <a:pt x="1195" y="3276309"/>
                </a:lnTo>
                <a:lnTo>
                  <a:pt x="4730" y="3214492"/>
                </a:lnTo>
                <a:lnTo>
                  <a:pt x="10499" y="3152675"/>
                </a:lnTo>
                <a:lnTo>
                  <a:pt x="18335" y="3090858"/>
                </a:lnTo>
                <a:lnTo>
                  <a:pt x="28016" y="3029041"/>
                </a:lnTo>
                <a:lnTo>
                  <a:pt x="39275" y="2967223"/>
                </a:lnTo>
                <a:lnTo>
                  <a:pt x="51815" y="2905406"/>
                </a:lnTo>
                <a:lnTo>
                  <a:pt x="65320" y="2843589"/>
                </a:lnTo>
                <a:lnTo>
                  <a:pt x="79467" y="2781772"/>
                </a:lnTo>
                <a:lnTo>
                  <a:pt x="93939" y="2719955"/>
                </a:lnTo>
                <a:lnTo>
                  <a:pt x="108437" y="2658138"/>
                </a:lnTo>
                <a:lnTo>
                  <a:pt x="122689" y="2596321"/>
                </a:lnTo>
                <a:lnTo>
                  <a:pt x="136456" y="2534503"/>
                </a:lnTo>
                <a:lnTo>
                  <a:pt x="149540" y="2472686"/>
                </a:lnTo>
                <a:lnTo>
                  <a:pt x="161781" y="2410869"/>
                </a:lnTo>
                <a:lnTo>
                  <a:pt x="173066" y="2349052"/>
                </a:lnTo>
                <a:lnTo>
                  <a:pt x="183318" y="2287235"/>
                </a:lnTo>
                <a:lnTo>
                  <a:pt x="192501" y="2225418"/>
                </a:lnTo>
                <a:lnTo>
                  <a:pt x="200610" y="2163601"/>
                </a:lnTo>
                <a:lnTo>
                  <a:pt x="207667" y="2101783"/>
                </a:lnTo>
                <a:lnTo>
                  <a:pt x="213719" y="2039966"/>
                </a:lnTo>
                <a:lnTo>
                  <a:pt x="218826" y="1978149"/>
                </a:lnTo>
                <a:lnTo>
                  <a:pt x="223060" y="1916332"/>
                </a:lnTo>
                <a:lnTo>
                  <a:pt x="226499" y="1854515"/>
                </a:lnTo>
                <a:lnTo>
                  <a:pt x="229222" y="1792698"/>
                </a:lnTo>
                <a:lnTo>
                  <a:pt x="231306" y="1730881"/>
                </a:lnTo>
                <a:lnTo>
                  <a:pt x="232824" y="1669063"/>
                </a:lnTo>
                <a:lnTo>
                  <a:pt x="233842" y="1607246"/>
                </a:lnTo>
                <a:lnTo>
                  <a:pt x="234420" y="1545429"/>
                </a:lnTo>
                <a:lnTo>
                  <a:pt x="234609" y="1483612"/>
                </a:lnTo>
                <a:lnTo>
                  <a:pt x="234454" y="1421795"/>
                </a:lnTo>
                <a:lnTo>
                  <a:pt x="233997" y="1359978"/>
                </a:lnTo>
                <a:lnTo>
                  <a:pt x="233270" y="1298161"/>
                </a:lnTo>
                <a:lnTo>
                  <a:pt x="232306" y="1236343"/>
                </a:lnTo>
                <a:lnTo>
                  <a:pt x="231136" y="1174526"/>
                </a:lnTo>
                <a:lnTo>
                  <a:pt x="229787" y="1112709"/>
                </a:lnTo>
                <a:lnTo>
                  <a:pt x="228290" y="1050892"/>
                </a:lnTo>
                <a:lnTo>
                  <a:pt x="226676" y="989075"/>
                </a:lnTo>
                <a:lnTo>
                  <a:pt x="224980" y="927258"/>
                </a:lnTo>
                <a:lnTo>
                  <a:pt x="223236" y="865441"/>
                </a:lnTo>
                <a:lnTo>
                  <a:pt x="221482" y="803623"/>
                </a:lnTo>
                <a:lnTo>
                  <a:pt x="219759" y="741806"/>
                </a:lnTo>
                <a:lnTo>
                  <a:pt x="218107" y="679989"/>
                </a:lnTo>
                <a:lnTo>
                  <a:pt x="216566" y="618172"/>
                </a:lnTo>
                <a:lnTo>
                  <a:pt x="215174" y="556355"/>
                </a:lnTo>
                <a:lnTo>
                  <a:pt x="213969" y="494538"/>
                </a:lnTo>
                <a:lnTo>
                  <a:pt x="212982" y="432721"/>
                </a:lnTo>
                <a:lnTo>
                  <a:pt x="212240" y="370903"/>
                </a:lnTo>
                <a:lnTo>
                  <a:pt x="211764" y="309086"/>
                </a:lnTo>
                <a:lnTo>
                  <a:pt x="211567" y="247269"/>
                </a:lnTo>
                <a:lnTo>
                  <a:pt x="211655" y="185452"/>
                </a:lnTo>
                <a:lnTo>
                  <a:pt x="212025" y="123635"/>
                </a:lnTo>
                <a:lnTo>
                  <a:pt x="212667" y="61818"/>
                </a:lnTo>
                <a:lnTo>
                  <a:pt x="213563" y="0"/>
                </a:lnTo>
                <a:lnTo>
                  <a:pt x="241401" y="0"/>
                </a:lnTo>
                <a:close/>
              </a:path>
            </a:pathLst>
          </a:custGeom>
          <a:solidFill>
            <a:srgbClr val="CFE4E1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7699248" y="2237866"/>
            <a:ext cx="241401" cy="3196985"/>
          </a:xfrm>
          <a:custGeom>
            <a:avLst/>
            <a:gdLst/>
            <a:ahLst/>
            <a:cxnLst/>
            <a:rect l="l" t="t" r="r" b="b"/>
            <a:pathLst>
              <a:path w="241401" h="3196985">
                <a:moveTo>
                  <a:pt x="241401" y="3196985"/>
                </a:moveTo>
                <a:lnTo>
                  <a:pt x="20508" y="3196985"/>
                </a:lnTo>
                <a:lnTo>
                  <a:pt x="13684" y="3142799"/>
                </a:lnTo>
                <a:lnTo>
                  <a:pt x="8137" y="3088613"/>
                </a:lnTo>
                <a:lnTo>
                  <a:pt x="3965" y="3034427"/>
                </a:lnTo>
                <a:lnTo>
                  <a:pt x="1238" y="2980240"/>
                </a:lnTo>
                <a:lnTo>
                  <a:pt x="0" y="2926054"/>
                </a:lnTo>
                <a:lnTo>
                  <a:pt x="261" y="2871868"/>
                </a:lnTo>
                <a:lnTo>
                  <a:pt x="2006" y="2817682"/>
                </a:lnTo>
                <a:lnTo>
                  <a:pt x="5187" y="2763496"/>
                </a:lnTo>
                <a:lnTo>
                  <a:pt x="9728" y="2709310"/>
                </a:lnTo>
                <a:lnTo>
                  <a:pt x="15528" y="2655123"/>
                </a:lnTo>
                <a:lnTo>
                  <a:pt x="22461" y="2600937"/>
                </a:lnTo>
                <a:lnTo>
                  <a:pt x="30382" y="2546751"/>
                </a:lnTo>
                <a:lnTo>
                  <a:pt x="39132" y="2492565"/>
                </a:lnTo>
                <a:lnTo>
                  <a:pt x="48542" y="2438379"/>
                </a:lnTo>
                <a:lnTo>
                  <a:pt x="58434" y="2384192"/>
                </a:lnTo>
                <a:lnTo>
                  <a:pt x="68633" y="2330006"/>
                </a:lnTo>
                <a:lnTo>
                  <a:pt x="78964" y="2275820"/>
                </a:lnTo>
                <a:lnTo>
                  <a:pt x="89262" y="2221634"/>
                </a:lnTo>
                <a:lnTo>
                  <a:pt x="99372" y="2167448"/>
                </a:lnTo>
                <a:lnTo>
                  <a:pt x="109154" y="2113262"/>
                </a:lnTo>
                <a:lnTo>
                  <a:pt x="118484" y="2059075"/>
                </a:lnTo>
                <a:lnTo>
                  <a:pt x="127257" y="2004889"/>
                </a:lnTo>
                <a:lnTo>
                  <a:pt x="135387" y="1950703"/>
                </a:lnTo>
                <a:lnTo>
                  <a:pt x="142807" y="1896517"/>
                </a:lnTo>
                <a:lnTo>
                  <a:pt x="149470" y="1842331"/>
                </a:lnTo>
                <a:lnTo>
                  <a:pt x="155350" y="1788144"/>
                </a:lnTo>
                <a:lnTo>
                  <a:pt x="160433" y="1733958"/>
                </a:lnTo>
                <a:lnTo>
                  <a:pt x="164727" y="1679772"/>
                </a:lnTo>
                <a:lnTo>
                  <a:pt x="168250" y="1625586"/>
                </a:lnTo>
                <a:lnTo>
                  <a:pt x="171032" y="1571400"/>
                </a:lnTo>
                <a:lnTo>
                  <a:pt x="173116" y="1517214"/>
                </a:lnTo>
                <a:lnTo>
                  <a:pt x="174551" y="1463027"/>
                </a:lnTo>
                <a:lnTo>
                  <a:pt x="175393" y="1408841"/>
                </a:lnTo>
                <a:lnTo>
                  <a:pt x="175702" y="1354655"/>
                </a:lnTo>
                <a:lnTo>
                  <a:pt x="175542" y="1300469"/>
                </a:lnTo>
                <a:lnTo>
                  <a:pt x="174979" y="1246283"/>
                </a:lnTo>
                <a:lnTo>
                  <a:pt x="174079" y="1192096"/>
                </a:lnTo>
                <a:lnTo>
                  <a:pt x="172908" y="1137910"/>
                </a:lnTo>
                <a:lnTo>
                  <a:pt x="171531" y="1083724"/>
                </a:lnTo>
                <a:lnTo>
                  <a:pt x="170011" y="1029538"/>
                </a:lnTo>
                <a:lnTo>
                  <a:pt x="168410" y="975352"/>
                </a:lnTo>
                <a:lnTo>
                  <a:pt x="166786" y="921166"/>
                </a:lnTo>
                <a:lnTo>
                  <a:pt x="165195" y="866979"/>
                </a:lnTo>
                <a:lnTo>
                  <a:pt x="163690" y="812793"/>
                </a:lnTo>
                <a:lnTo>
                  <a:pt x="162318" y="758607"/>
                </a:lnTo>
                <a:lnTo>
                  <a:pt x="161124" y="704421"/>
                </a:lnTo>
                <a:lnTo>
                  <a:pt x="160148" y="650235"/>
                </a:lnTo>
                <a:lnTo>
                  <a:pt x="159426" y="596048"/>
                </a:lnTo>
                <a:lnTo>
                  <a:pt x="158987" y="541862"/>
                </a:lnTo>
                <a:lnTo>
                  <a:pt x="158855" y="487676"/>
                </a:lnTo>
                <a:lnTo>
                  <a:pt x="159050" y="433490"/>
                </a:lnTo>
                <a:lnTo>
                  <a:pt x="159583" y="379304"/>
                </a:lnTo>
                <a:lnTo>
                  <a:pt x="160463" y="325118"/>
                </a:lnTo>
                <a:lnTo>
                  <a:pt x="161688" y="270931"/>
                </a:lnTo>
                <a:lnTo>
                  <a:pt x="163253" y="216745"/>
                </a:lnTo>
                <a:lnTo>
                  <a:pt x="165146" y="162559"/>
                </a:lnTo>
                <a:lnTo>
                  <a:pt x="167350" y="108373"/>
                </a:lnTo>
                <a:lnTo>
                  <a:pt x="169843" y="54187"/>
                </a:lnTo>
                <a:lnTo>
                  <a:pt x="172597" y="0"/>
                </a:lnTo>
                <a:lnTo>
                  <a:pt x="241401" y="0"/>
                </a:lnTo>
                <a:close/>
              </a:path>
            </a:pathLst>
          </a:custGeom>
          <a:solidFill>
            <a:srgbClr val="F4D8D2"/>
          </a:solidFill>
          <a:ln w="889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280818" y="4852130"/>
            <a:ext cx="177027" cy="442235"/>
          </a:xfrm>
          <a:prstGeom prst="rect">
            <a:avLst/>
          </a:prstGeom>
          <a:noFill/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8" name="Connector 157"/>
          <p:cNvCxnSpPr/>
          <p:nvPr/>
        </p:nvCxnSpPr>
        <p:spPr>
          <a:xfrm>
            <a:off x="7280818" y="5114328"/>
            <a:ext cx="177028" cy="0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8085490" y="3618760"/>
            <a:ext cx="177027" cy="1555812"/>
          </a:xfrm>
          <a:prstGeom prst="rect">
            <a:avLst/>
          </a:prstGeom>
          <a:noFill/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0" name="Connector 159"/>
          <p:cNvCxnSpPr/>
          <p:nvPr/>
        </p:nvCxnSpPr>
        <p:spPr>
          <a:xfrm>
            <a:off x="8085490" y="5106294"/>
            <a:ext cx="177028" cy="0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7347258" y="5065970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7366719" y="1741931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7439393" y="221251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7411183" y="526561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7348350" y="538914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7391995" y="508038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7397907" y="4744744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7356797" y="509825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7430806" y="5385885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7350866" y="5153664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7386600" y="4853165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7402760" y="483956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7391673" y="5227960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7411780" y="533183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7431225" y="471070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7459348" y="501224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7372821" y="5261636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Oval 177"/>
          <p:cNvSpPr/>
          <p:nvPr/>
        </p:nvSpPr>
        <p:spPr>
          <a:xfrm>
            <a:off x="7419730" y="480145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8221382" y="5118301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8256417" y="506514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8240770" y="5029194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Oval 181"/>
          <p:cNvSpPr/>
          <p:nvPr/>
        </p:nvSpPr>
        <p:spPr>
          <a:xfrm>
            <a:off x="8169898" y="4887563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8179548" y="3577612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8253371" y="2753021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8141581" y="219671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8246634" y="2903534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8243523" y="513342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8201148" y="5291799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8179917" y="5084561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8176749" y="477961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8173717" y="236285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8198205" y="5393703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8205862" y="537252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8212164" y="5073972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8269071" y="5146961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TextBox 195"/>
          <p:cNvSpPr txBox="1"/>
          <p:nvPr/>
        </p:nvSpPr>
        <p:spPr>
          <a:xfrm>
            <a:off x="6492240" y="713232"/>
            <a:ext cx="201168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</a:rPr>
              <a:t>P = 0.609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92240" y="932688"/>
            <a:ext cx="2011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1">
                <a:solidFill>
                  <a:srgbClr val="6C757D"/>
                </a:solidFill>
                <a:latin typeface="Arial"/>
              </a:rPr>
              <a:t>good n=18 / bad n=17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Half-violin = kernel density, open box = IQR with median line, jittered points = individual pre-CRT tumors. v2 full cohort (n=35).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5440679"/>
            <a:ext cx="3474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1234440"/>
            <a:ext cx="0" cy="420623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5440679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4593835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3746990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2900146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2090121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1243276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10788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2148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pre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92731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44091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post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544067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4048" y="535838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59383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048" y="451153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74699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4048" y="366469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46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2900146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4048" y="281785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69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209012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4048" y="200782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91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1243276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4048" y="116098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114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-502920" y="251460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# sites with MHC-I binder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10788" y="2789688"/>
            <a:ext cx="2481943" cy="51547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369640" y="274854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851583" y="326401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9808" y="2707392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10788" y="2716049"/>
            <a:ext cx="2481943" cy="217234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369640" y="2674901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851583" y="484724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9808" y="2633753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10788" y="2826507"/>
            <a:ext cx="2481943" cy="957303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369640" y="278535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851583" y="374266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2744211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10788" y="2936965"/>
            <a:ext cx="2481943" cy="206188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369640" y="2895817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3851583" y="495770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9808" y="2854669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410788" y="1906024"/>
            <a:ext cx="2481943" cy="324010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369640" y="1864876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851583" y="510497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9808" y="1823728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410788" y="4078364"/>
            <a:ext cx="2481943" cy="125185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369640" y="403721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851583" y="5289074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49808" y="3996068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410788" y="2311037"/>
            <a:ext cx="2481943" cy="301918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369640" y="226988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3851583" y="5289074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49808" y="2228741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S9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410788" y="2900146"/>
            <a:ext cx="2481943" cy="22091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369640" y="285899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3851583" y="3079914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49808" y="2817850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410788" y="3084243"/>
            <a:ext cx="2481943" cy="368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369640" y="304309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3851583" y="3079914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9808" y="3001947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S11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410788" y="2642411"/>
            <a:ext cx="2481943" cy="69956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369640" y="2601263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3851583" y="330083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49808" y="2560115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S12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10788" y="1685108"/>
            <a:ext cx="2481943" cy="44183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369640" y="2085792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3851583" y="1643960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49808" y="2044644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S14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410788" y="2377311"/>
            <a:ext cx="2481943" cy="1789420"/>
          </a:xfrm>
          <a:prstGeom prst="line">
            <a:avLst/>
          </a:prstGeom>
          <a:ln w="355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328492" y="2295015"/>
            <a:ext cx="164592" cy="16459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3810435" y="4084435"/>
            <a:ext cx="164592" cy="16459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3559628" y="3938131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good  Δ = -48.6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410788" y="3071969"/>
            <a:ext cx="2481943" cy="797753"/>
          </a:xfrm>
          <a:prstGeom prst="line">
            <a:avLst/>
          </a:prstGeom>
          <a:ln w="355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1328492" y="2989673"/>
            <a:ext cx="164592" cy="16459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810435" y="3787426"/>
            <a:ext cx="164592" cy="16459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559628" y="364112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bad  Δ = -21.7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713232"/>
            <a:ext cx="3474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A7D6E"/>
                </a:solidFill>
                <a:latin typeface="Arial"/>
              </a:rPr>
              <a:t>good (n=5): P = 0.125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914400"/>
            <a:ext cx="3474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C53E1F"/>
                </a:solidFill>
                <a:latin typeface="Arial"/>
              </a:rPr>
              <a:t>bad  (n=6): P = 0.031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0" y="713232"/>
            <a:ext cx="1645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333333"/>
                </a:solidFill>
                <a:latin typeface="Arial"/>
              </a:rPr>
              <a:t>MW P = 0.247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846320" y="5440679"/>
            <a:ext cx="3474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46320" y="1234440"/>
            <a:ext cx="0" cy="420623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46320" y="5440679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846320" y="4578745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846320" y="3778377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846320" y="2916443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846320" y="2054509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846320" y="1254141"/>
            <a:ext cx="3474720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42708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794068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pre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824651" y="5440679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276011" y="550468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post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800600" y="544067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315968" y="535838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800600" y="4578745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315968" y="4496449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14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800600" y="3778377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315968" y="3696081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27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800600" y="2916443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315968" y="2834147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41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4800600" y="205450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315968" y="197221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55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800600" y="125414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315968" y="117184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68</a:t>
            </a:r>
          </a:p>
        </p:txBody>
      </p:sp>
      <p:sp>
        <p:nvSpPr>
          <p:cNvPr id="107" name="TextBox 106"/>
          <p:cNvSpPr txBox="1"/>
          <p:nvPr/>
        </p:nvSpPr>
        <p:spPr>
          <a:xfrm rot="16200000">
            <a:off x="3429000" y="251460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# strong binders (&lt;50 nM)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342708" y="3532110"/>
            <a:ext cx="2481943" cy="49253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5301560" y="3490962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7783503" y="3983496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4681728" y="3449814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5342708" y="3716811"/>
            <a:ext cx="2481943" cy="104663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5301560" y="367566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7783503" y="472229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4681728" y="3634515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S2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342708" y="4086211"/>
            <a:ext cx="2481943" cy="30783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5301560" y="4045063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7783503" y="435289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4681728" y="4003915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S3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342708" y="3408977"/>
            <a:ext cx="2481943" cy="153916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5301560" y="3367829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7783503" y="490699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4681728" y="3326681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S5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5342708" y="2116075"/>
            <a:ext cx="2481943" cy="3078338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5301560" y="2074927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7783503" y="5153265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4681728" y="2033779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S6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5342708" y="3039576"/>
            <a:ext cx="2481943" cy="215483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5301560" y="2998428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7783503" y="5153265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4681728" y="2957280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S7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5342708" y="2423909"/>
            <a:ext cx="2481943" cy="301677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5301560" y="2382761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7783503" y="5399531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4681728" y="2341613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S9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5342708" y="4147778"/>
            <a:ext cx="2481943" cy="24626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5301560" y="410663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7783503" y="4352897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4681728" y="4065482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S10</a:t>
            </a:r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342708" y="3901511"/>
            <a:ext cx="2481943" cy="24626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5301560" y="410663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7783503" y="3860363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4681728" y="4065482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S11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5342708" y="1685108"/>
            <a:ext cx="2481943" cy="49253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5301560" y="1643960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7783503" y="2136494"/>
            <a:ext cx="82296" cy="82296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4681728" y="1602812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C53E1F"/>
                </a:solidFill>
                <a:latin typeface="Arial"/>
              </a:rPr>
              <a:t>S12</a:t>
            </a:r>
          </a:p>
        </p:txBody>
      </p:sp>
      <p:cxnSp>
        <p:nvCxnSpPr>
          <p:cNvPr id="148" name="Connector 147"/>
          <p:cNvCxnSpPr/>
          <p:nvPr/>
        </p:nvCxnSpPr>
        <p:spPr>
          <a:xfrm flipV="1">
            <a:off x="5342708" y="3224277"/>
            <a:ext cx="2481943" cy="18470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5301560" y="336782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7783503" y="3183129"/>
            <a:ext cx="82296" cy="82296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4681728" y="3326681"/>
            <a:ext cx="228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50" b="0" i="0">
                <a:solidFill>
                  <a:srgbClr val="0A7D6E"/>
                </a:solidFill>
                <a:latin typeface="Arial"/>
              </a:rPr>
              <a:t>S14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5342708" y="3150397"/>
            <a:ext cx="2481943" cy="1452975"/>
          </a:xfrm>
          <a:prstGeom prst="line">
            <a:avLst/>
          </a:prstGeom>
          <a:ln w="355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5260412" y="3068101"/>
            <a:ext cx="164592" cy="16459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7742355" y="4521076"/>
            <a:ext cx="164592" cy="164592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7491548" y="43747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good  Δ = -23.6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342708" y="3326888"/>
            <a:ext cx="2481943" cy="779845"/>
          </a:xfrm>
          <a:prstGeom prst="line">
            <a:avLst/>
          </a:prstGeom>
          <a:ln w="355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5260412" y="3244592"/>
            <a:ext cx="164592" cy="16459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7742355" y="4024437"/>
            <a:ext cx="164592" cy="164592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7491548" y="3878133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bad  Δ = -12.7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846320" y="713232"/>
            <a:ext cx="3474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A7D6E"/>
                </a:solidFill>
                <a:latin typeface="Arial"/>
              </a:rPr>
              <a:t>good (n=5): P = 0.125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846320" y="914400"/>
            <a:ext cx="3474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C53E1F"/>
                </a:solidFill>
                <a:latin typeface="Arial"/>
              </a:rPr>
              <a:t>bad  (n=6): P = 0.094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675120" y="713232"/>
            <a:ext cx="1645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333333"/>
                </a:solidFill>
                <a:latin typeface="Arial"/>
              </a:rPr>
              <a:t>MW P = 0.522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Per-subject thin lines, group-mean thick line. Wilcoxon signed-rank within each group; Mann-Whitney U between groups. N=11 paired subjects (good 5, bad 6; subj 13 excluded).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7"/>
            <a:ext cx="320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1">
                <a:solidFill>
                  <a:srgbClr val="333333"/>
                </a:solidFill>
                <a:latin typeface="Arial"/>
              </a:rPr>
              <a:t>resp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12647"/>
            <a:ext cx="320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1">
                <a:solidFill>
                  <a:srgbClr val="333333"/>
                </a:solidFill>
                <a:latin typeface="Arial"/>
              </a:rPr>
              <a:t>HLA-A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612647"/>
            <a:ext cx="320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1">
                <a:solidFill>
                  <a:srgbClr val="333333"/>
                </a:solidFill>
                <a:latin typeface="Arial"/>
              </a:rPr>
              <a:t>HLA-B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612647"/>
            <a:ext cx="320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1">
                <a:solidFill>
                  <a:srgbClr val="333333"/>
                </a:solidFill>
                <a:latin typeface="Arial"/>
              </a:rPr>
              <a:t>HLA-C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5806440"/>
            <a:ext cx="658368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03120" y="868680"/>
            <a:ext cx="0" cy="49377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3120" y="5806440"/>
            <a:ext cx="0" cy="4571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4479" y="58704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0052" y="5806440"/>
            <a:ext cx="0" cy="4571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71412" y="58704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67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36985" y="5806440"/>
            <a:ext cx="0" cy="4571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88345" y="58704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134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3917" y="5806440"/>
            <a:ext cx="0" cy="4571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05277" y="58704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201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70850" y="5806440"/>
            <a:ext cx="0" cy="4571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22210" y="58704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268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7782" y="5806440"/>
            <a:ext cx="0" cy="45719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9142" y="587044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11111"/>
                </a:solidFill>
                <a:latin typeface="Arial"/>
              </a:rPr>
              <a:t>335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6263640"/>
            <a:ext cx="65836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# mutation sites with MHC-I binder (pre)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889449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22960" y="88944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88304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88944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88720" y="88304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88944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54480" y="88304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39" y="883049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S34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03120" y="939219"/>
            <a:ext cx="78622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105855" y="902643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2108590" y="866067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95360" y="866067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1027916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22960" y="102791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102151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102791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188720" y="102151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54480" y="102791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554480" y="102151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39" y="1021515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S35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103120" y="1080298"/>
            <a:ext cx="471737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381035" y="1043722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501705" y="1007146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595360" y="1007146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1166382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22960" y="116638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2960" y="115998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" y="116638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188720" y="115998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54480" y="116638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554480" y="115998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39" y="1159981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103120" y="1221377"/>
            <a:ext cx="727261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2833116" y="1184801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2757229" y="1148225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595360" y="1148225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37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1304848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22960" y="130484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22960" y="129844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130484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188720" y="129844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54480" y="130484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554480" y="129844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91639" y="1298447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103120" y="1362456"/>
            <a:ext cx="746916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2597248" y="1325880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776884" y="1289304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595360" y="1289304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38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1443315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22960" y="144331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22960" y="143691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88720" y="144331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188720" y="143691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54480" y="144331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554480" y="143691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91639" y="1436914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103120" y="1503534"/>
            <a:ext cx="923818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2656215" y="1466958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2953786" y="1430382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8595360" y="1430382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47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1581781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822960" y="158178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822960" y="157538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88720" y="158178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188720" y="157538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54480" y="158178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554480" y="157538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91639" y="1575380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S11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103120" y="1644613"/>
            <a:ext cx="1257965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479313" y="1608037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3287933" y="1571461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595360" y="1571461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64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1720247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22960" y="172024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22960" y="171384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88720" y="172024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188720" y="171384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54480" y="172024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1554480" y="171384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1639" y="1713846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S5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2103120" y="1785692"/>
            <a:ext cx="1336588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2715182" y="1749116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3366556" y="1712540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8595360" y="1712540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68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1858713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822960" y="185871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822960" y="185231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88720" y="185871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188720" y="185231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554480" y="185871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1554480" y="185231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91639" y="1852313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S10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103120" y="1926771"/>
            <a:ext cx="1356243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2479313" y="1890195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3386211" y="1853619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8595360" y="1853619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69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1997180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822960" y="199718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822960" y="199077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88720" y="199718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188720" y="199077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54480" y="199718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554480" y="199077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91639" y="1990779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S26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2103120" y="2067850"/>
            <a:ext cx="1395555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2793805" y="2031274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3425523" y="1994698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8595360" y="1994698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71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2135646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822960" y="213564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822960" y="212924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88720" y="213564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188720" y="212924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554480" y="213564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554480" y="212924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691639" y="2129245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2103120" y="2208929"/>
            <a:ext cx="1415211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2675871" y="2172353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3445179" y="2135777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8595360" y="2135777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72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57200" y="2274112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822960" y="227411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822960" y="226771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88720" y="227411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188720" y="226771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54480" y="227411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1554480" y="226771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691639" y="2267712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S32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2103120" y="2350008"/>
            <a:ext cx="1474178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3639000" y="2313432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3504146" y="2276856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8595360" y="2276856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75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57200" y="2412579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822960" y="241257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822960" y="240617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88720" y="241257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1188720" y="240617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554480" y="241257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1554480" y="240617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691639" y="2406178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S12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2103120" y="2491086"/>
            <a:ext cx="1493833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3265542" y="2454510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3523801" y="2417934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8595360" y="2417934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76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7200" y="2551045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822960" y="255104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822960" y="254464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88720" y="2551045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1188720" y="254464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54480" y="2551045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1554480" y="254464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691639" y="2544644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S13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2103120" y="2632165"/>
            <a:ext cx="4029420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3599689" y="2595589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6059388" y="2559013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8595360" y="2559013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205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57200" y="2689511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822960" y="268951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822960" y="268311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188720" y="268951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1188720" y="268311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554480" y="2689511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1554480" y="268311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691639" y="2683110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S19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2103120" y="2773244"/>
            <a:ext cx="4068731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3403132" y="2736668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6098699" y="2700092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8595360" y="2700092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207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57200" y="2827977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822960" y="282797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TextBox 191"/>
          <p:cNvSpPr txBox="1"/>
          <p:nvPr/>
        </p:nvSpPr>
        <p:spPr>
          <a:xfrm>
            <a:off x="822960" y="282157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88720" y="282797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TextBox 193"/>
          <p:cNvSpPr txBox="1"/>
          <p:nvPr/>
        </p:nvSpPr>
        <p:spPr>
          <a:xfrm>
            <a:off x="1188720" y="282157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554480" y="282797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TextBox 195"/>
          <p:cNvSpPr txBox="1"/>
          <p:nvPr/>
        </p:nvSpPr>
        <p:spPr>
          <a:xfrm>
            <a:off x="1554480" y="282157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691639" y="2821577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S15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2103120" y="2914323"/>
            <a:ext cx="4697714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/>
          <p:cNvSpPr/>
          <p:nvPr/>
        </p:nvSpPr>
        <p:spPr>
          <a:xfrm>
            <a:off x="4366262" y="2877747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6727682" y="2841171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TextBox 200"/>
          <p:cNvSpPr txBox="1"/>
          <p:nvPr/>
        </p:nvSpPr>
        <p:spPr>
          <a:xfrm>
            <a:off x="8595360" y="2841171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239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57200" y="2966444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822960" y="296644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TextBox 203"/>
          <p:cNvSpPr txBox="1"/>
          <p:nvPr/>
        </p:nvSpPr>
        <p:spPr>
          <a:xfrm>
            <a:off x="822960" y="296004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88720" y="296644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TextBox 205"/>
          <p:cNvSpPr txBox="1"/>
          <p:nvPr/>
        </p:nvSpPr>
        <p:spPr>
          <a:xfrm>
            <a:off x="1188720" y="296004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554480" y="296644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TextBox 207"/>
          <p:cNvSpPr txBox="1"/>
          <p:nvPr/>
        </p:nvSpPr>
        <p:spPr>
          <a:xfrm>
            <a:off x="1554480" y="296004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691639" y="2960043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S18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2103120" y="3055402"/>
            <a:ext cx="5326697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/>
          <p:nvPr/>
        </p:nvSpPr>
        <p:spPr>
          <a:xfrm>
            <a:off x="5466981" y="3018826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7356665" y="2982250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TextBox 212"/>
          <p:cNvSpPr txBox="1"/>
          <p:nvPr/>
        </p:nvSpPr>
        <p:spPr>
          <a:xfrm>
            <a:off x="8595360" y="2982250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271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57200" y="3104910"/>
            <a:ext cx="320040" cy="9692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822960" y="310491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TextBox 215"/>
          <p:cNvSpPr txBox="1"/>
          <p:nvPr/>
        </p:nvSpPr>
        <p:spPr>
          <a:xfrm>
            <a:off x="822960" y="309850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88720" y="310491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TextBox 217"/>
          <p:cNvSpPr txBox="1"/>
          <p:nvPr/>
        </p:nvSpPr>
        <p:spPr>
          <a:xfrm>
            <a:off x="1188720" y="309850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554480" y="310491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TextBox 219"/>
          <p:cNvSpPr txBox="1"/>
          <p:nvPr/>
        </p:nvSpPr>
        <p:spPr>
          <a:xfrm>
            <a:off x="1554480" y="3098509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691639" y="3098509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S33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2103120" y="3196481"/>
            <a:ext cx="6270171" cy="0"/>
          </a:xfrm>
          <a:prstGeom prst="line">
            <a:avLst/>
          </a:prstGeom>
          <a:ln w="127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5427670" y="3159905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8300139" y="3123329"/>
            <a:ext cx="146304" cy="146304"/>
          </a:xfrm>
          <a:prstGeom prst="ellipse">
            <a:avLst/>
          </a:prstGeom>
          <a:solidFill>
            <a:srgbClr val="C53E1F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TextBox 224"/>
          <p:cNvSpPr txBox="1"/>
          <p:nvPr/>
        </p:nvSpPr>
        <p:spPr>
          <a:xfrm>
            <a:off x="8595360" y="3123329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C53E1F"/>
                </a:solidFill>
                <a:latin typeface="Arial"/>
              </a:rPr>
              <a:t>319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57200" y="3243376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822960" y="3243376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TextBox 227"/>
          <p:cNvSpPr txBox="1"/>
          <p:nvPr/>
        </p:nvSpPr>
        <p:spPr>
          <a:xfrm>
            <a:off x="822960" y="323697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188720" y="324337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TextBox 229"/>
          <p:cNvSpPr txBox="1"/>
          <p:nvPr/>
        </p:nvSpPr>
        <p:spPr>
          <a:xfrm>
            <a:off x="1188720" y="323697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554480" y="3243376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TextBox 231"/>
          <p:cNvSpPr txBox="1"/>
          <p:nvPr/>
        </p:nvSpPr>
        <p:spPr>
          <a:xfrm>
            <a:off x="1554480" y="323697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691639" y="3236975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S20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2103120" y="3337560"/>
            <a:ext cx="39311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Oval 234"/>
          <p:cNvSpPr/>
          <p:nvPr/>
        </p:nvSpPr>
        <p:spPr>
          <a:xfrm>
            <a:off x="2105855" y="3300984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Oval 235"/>
          <p:cNvSpPr/>
          <p:nvPr/>
        </p:nvSpPr>
        <p:spPr>
          <a:xfrm>
            <a:off x="2069279" y="326440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TextBox 236"/>
          <p:cNvSpPr txBox="1"/>
          <p:nvPr/>
        </p:nvSpPr>
        <p:spPr>
          <a:xfrm>
            <a:off x="8595360" y="3264408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57200" y="3381843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822960" y="3381843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TextBox 239"/>
          <p:cNvSpPr txBox="1"/>
          <p:nvPr/>
        </p:nvSpPr>
        <p:spPr>
          <a:xfrm>
            <a:off x="822960" y="337544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188720" y="338184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TextBox 241"/>
          <p:cNvSpPr txBox="1"/>
          <p:nvPr/>
        </p:nvSpPr>
        <p:spPr>
          <a:xfrm>
            <a:off x="1188720" y="337544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554480" y="338184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TextBox 243"/>
          <p:cNvSpPr txBox="1"/>
          <p:nvPr/>
        </p:nvSpPr>
        <p:spPr>
          <a:xfrm>
            <a:off x="1554480" y="337544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691639" y="3375442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S27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2103120" y="3478638"/>
            <a:ext cx="98278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val 246"/>
          <p:cNvSpPr/>
          <p:nvPr/>
        </p:nvSpPr>
        <p:spPr>
          <a:xfrm>
            <a:off x="2086199" y="3442062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Oval 247"/>
          <p:cNvSpPr/>
          <p:nvPr/>
        </p:nvSpPr>
        <p:spPr>
          <a:xfrm>
            <a:off x="2128246" y="3405486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TextBox 248"/>
          <p:cNvSpPr txBox="1"/>
          <p:nvPr/>
        </p:nvSpPr>
        <p:spPr>
          <a:xfrm>
            <a:off x="8595360" y="3405486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5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57200" y="3520309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822960" y="352030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TextBox 251"/>
          <p:cNvSpPr txBox="1"/>
          <p:nvPr/>
        </p:nvSpPr>
        <p:spPr>
          <a:xfrm>
            <a:off x="822960" y="351390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188720" y="352030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TextBox 253"/>
          <p:cNvSpPr txBox="1"/>
          <p:nvPr/>
        </p:nvSpPr>
        <p:spPr>
          <a:xfrm>
            <a:off x="1188720" y="351390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554480" y="352030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TextBox 255"/>
          <p:cNvSpPr txBox="1"/>
          <p:nvPr/>
        </p:nvSpPr>
        <p:spPr>
          <a:xfrm>
            <a:off x="1554480" y="351390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691639" y="3513908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S31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2103120" y="3619717"/>
            <a:ext cx="687949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Oval 258"/>
          <p:cNvSpPr/>
          <p:nvPr/>
        </p:nvSpPr>
        <p:spPr>
          <a:xfrm>
            <a:off x="2361379" y="3583141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2717917" y="3546565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TextBox 260"/>
          <p:cNvSpPr txBox="1"/>
          <p:nvPr/>
        </p:nvSpPr>
        <p:spPr>
          <a:xfrm>
            <a:off x="8595360" y="3546565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35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457200" y="3658775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822960" y="365877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TextBox 263"/>
          <p:cNvSpPr txBox="1"/>
          <p:nvPr/>
        </p:nvSpPr>
        <p:spPr>
          <a:xfrm>
            <a:off x="822960" y="365237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188720" y="365877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TextBox 265"/>
          <p:cNvSpPr txBox="1"/>
          <p:nvPr/>
        </p:nvSpPr>
        <p:spPr>
          <a:xfrm>
            <a:off x="1188720" y="365237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554480" y="365877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TextBox 267"/>
          <p:cNvSpPr txBox="1"/>
          <p:nvPr/>
        </p:nvSpPr>
        <p:spPr>
          <a:xfrm>
            <a:off x="1554480" y="365237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691639" y="3652374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S30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2103120" y="3760796"/>
            <a:ext cx="963129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270"/>
          <p:cNvSpPr/>
          <p:nvPr/>
        </p:nvSpPr>
        <p:spPr>
          <a:xfrm>
            <a:off x="2675871" y="3724220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Oval 271"/>
          <p:cNvSpPr/>
          <p:nvPr/>
        </p:nvSpPr>
        <p:spPr>
          <a:xfrm>
            <a:off x="2993097" y="3687644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TextBox 272"/>
          <p:cNvSpPr txBox="1"/>
          <p:nvPr/>
        </p:nvSpPr>
        <p:spPr>
          <a:xfrm>
            <a:off x="8595360" y="3687644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49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457200" y="3797241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822960" y="379724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TextBox 275"/>
          <p:cNvSpPr txBox="1"/>
          <p:nvPr/>
        </p:nvSpPr>
        <p:spPr>
          <a:xfrm>
            <a:off x="822960" y="379084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188720" y="3797241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TextBox 277"/>
          <p:cNvSpPr txBox="1"/>
          <p:nvPr/>
        </p:nvSpPr>
        <p:spPr>
          <a:xfrm>
            <a:off x="1188720" y="379084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554480" y="379724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TextBox 279"/>
          <p:cNvSpPr txBox="1"/>
          <p:nvPr/>
        </p:nvSpPr>
        <p:spPr>
          <a:xfrm>
            <a:off x="1554480" y="379084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691639" y="3790841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S8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2103120" y="3901875"/>
            <a:ext cx="1257965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Oval 282"/>
          <p:cNvSpPr/>
          <p:nvPr/>
        </p:nvSpPr>
        <p:spPr>
          <a:xfrm>
            <a:off x="2498969" y="3865299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Oval 283"/>
          <p:cNvSpPr/>
          <p:nvPr/>
        </p:nvSpPr>
        <p:spPr>
          <a:xfrm>
            <a:off x="3287933" y="3828723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TextBox 284"/>
          <p:cNvSpPr txBox="1"/>
          <p:nvPr/>
        </p:nvSpPr>
        <p:spPr>
          <a:xfrm>
            <a:off x="8595360" y="3828723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64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457200" y="3935708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822960" y="393570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TextBox 287"/>
          <p:cNvSpPr txBox="1"/>
          <p:nvPr/>
        </p:nvSpPr>
        <p:spPr>
          <a:xfrm>
            <a:off x="822960" y="392930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188720" y="393570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TextBox 289"/>
          <p:cNvSpPr txBox="1"/>
          <p:nvPr/>
        </p:nvSpPr>
        <p:spPr>
          <a:xfrm>
            <a:off x="1188720" y="392930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554480" y="393570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TextBox 291"/>
          <p:cNvSpPr txBox="1"/>
          <p:nvPr/>
        </p:nvSpPr>
        <p:spPr>
          <a:xfrm>
            <a:off x="1554480" y="392930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691639" y="3929307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S28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2103120" y="4042954"/>
            <a:ext cx="1375899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Oval 294"/>
          <p:cNvSpPr/>
          <p:nvPr/>
        </p:nvSpPr>
        <p:spPr>
          <a:xfrm>
            <a:off x="2459658" y="4006378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Oval 295"/>
          <p:cNvSpPr/>
          <p:nvPr/>
        </p:nvSpPr>
        <p:spPr>
          <a:xfrm>
            <a:off x="3405867" y="3969802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TextBox 296"/>
          <p:cNvSpPr txBox="1"/>
          <p:nvPr/>
        </p:nvSpPr>
        <p:spPr>
          <a:xfrm>
            <a:off x="8595360" y="3969802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70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57200" y="4074174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Rectangle 298"/>
          <p:cNvSpPr/>
          <p:nvPr/>
        </p:nvSpPr>
        <p:spPr>
          <a:xfrm>
            <a:off x="822960" y="407417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TextBox 299"/>
          <p:cNvSpPr txBox="1"/>
          <p:nvPr/>
        </p:nvSpPr>
        <p:spPr>
          <a:xfrm>
            <a:off x="822960" y="406777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1188720" y="407417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TextBox 301"/>
          <p:cNvSpPr txBox="1"/>
          <p:nvPr/>
        </p:nvSpPr>
        <p:spPr>
          <a:xfrm>
            <a:off x="1188720" y="406777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1554480" y="407417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TextBox 303"/>
          <p:cNvSpPr txBox="1"/>
          <p:nvPr/>
        </p:nvSpPr>
        <p:spPr>
          <a:xfrm>
            <a:off x="1554480" y="4067773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691639" y="4067773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S3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2103120" y="4184033"/>
            <a:ext cx="1395555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Oval 306"/>
          <p:cNvSpPr/>
          <p:nvPr/>
        </p:nvSpPr>
        <p:spPr>
          <a:xfrm>
            <a:off x="2498969" y="4147457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8" name="Connector 307"/>
          <p:cNvCxnSpPr/>
          <p:nvPr/>
        </p:nvCxnSpPr>
        <p:spPr>
          <a:xfrm>
            <a:off x="3398091" y="4083449"/>
            <a:ext cx="201168" cy="201168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3398091" y="4083449"/>
            <a:ext cx="201168" cy="201168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8595360" y="4110881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71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57200" y="4212640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822960" y="4212640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TextBox 312"/>
          <p:cNvSpPr txBox="1"/>
          <p:nvPr/>
        </p:nvSpPr>
        <p:spPr>
          <a:xfrm>
            <a:off x="822960" y="420624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188720" y="421264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TextBox 314"/>
          <p:cNvSpPr txBox="1"/>
          <p:nvPr/>
        </p:nvSpPr>
        <p:spPr>
          <a:xfrm>
            <a:off x="1188720" y="420624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554480" y="4212640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TextBox 316"/>
          <p:cNvSpPr txBox="1"/>
          <p:nvPr/>
        </p:nvSpPr>
        <p:spPr>
          <a:xfrm>
            <a:off x="1554480" y="420624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691639" y="4206240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S23</a:t>
            </a:r>
          </a:p>
        </p:txBody>
      </p:sp>
      <p:cxnSp>
        <p:nvCxnSpPr>
          <p:cNvPr id="319" name="Connector 318"/>
          <p:cNvCxnSpPr/>
          <p:nvPr/>
        </p:nvCxnSpPr>
        <p:spPr>
          <a:xfrm>
            <a:off x="2103120" y="4325112"/>
            <a:ext cx="1434866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Oval 319"/>
          <p:cNvSpPr/>
          <p:nvPr/>
        </p:nvSpPr>
        <p:spPr>
          <a:xfrm>
            <a:off x="2951050" y="4288536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Oval 320"/>
          <p:cNvSpPr/>
          <p:nvPr/>
        </p:nvSpPr>
        <p:spPr>
          <a:xfrm>
            <a:off x="3464834" y="4251959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TextBox 321"/>
          <p:cNvSpPr txBox="1"/>
          <p:nvPr/>
        </p:nvSpPr>
        <p:spPr>
          <a:xfrm>
            <a:off x="8595360" y="4251959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73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57200" y="4351107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822960" y="435110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TextBox 324"/>
          <p:cNvSpPr txBox="1"/>
          <p:nvPr/>
        </p:nvSpPr>
        <p:spPr>
          <a:xfrm>
            <a:off x="822960" y="434470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188720" y="435110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TextBox 326"/>
          <p:cNvSpPr txBox="1"/>
          <p:nvPr/>
        </p:nvSpPr>
        <p:spPr>
          <a:xfrm>
            <a:off x="1188720" y="434470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554480" y="435110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TextBox 328"/>
          <p:cNvSpPr txBox="1"/>
          <p:nvPr/>
        </p:nvSpPr>
        <p:spPr>
          <a:xfrm>
            <a:off x="1554480" y="434470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691639" y="4344706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</a:t>
            </a:r>
          </a:p>
        </p:txBody>
      </p:sp>
      <p:cxnSp>
        <p:nvCxnSpPr>
          <p:cNvPr id="331" name="Connector 330"/>
          <p:cNvCxnSpPr/>
          <p:nvPr/>
        </p:nvCxnSpPr>
        <p:spPr>
          <a:xfrm>
            <a:off x="2103120" y="4466190"/>
            <a:ext cx="1454522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Oval 331"/>
          <p:cNvSpPr/>
          <p:nvPr/>
        </p:nvSpPr>
        <p:spPr>
          <a:xfrm>
            <a:off x="2616903" y="4429614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Oval 332"/>
          <p:cNvSpPr/>
          <p:nvPr/>
        </p:nvSpPr>
        <p:spPr>
          <a:xfrm>
            <a:off x="3484490" y="439303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TextBox 333"/>
          <p:cNvSpPr txBox="1"/>
          <p:nvPr/>
        </p:nvSpPr>
        <p:spPr>
          <a:xfrm>
            <a:off x="8595360" y="4393038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74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57200" y="4489573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822960" y="448957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TextBox 336"/>
          <p:cNvSpPr txBox="1"/>
          <p:nvPr/>
        </p:nvSpPr>
        <p:spPr>
          <a:xfrm>
            <a:off x="822960" y="448317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188720" y="448957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TextBox 338"/>
          <p:cNvSpPr txBox="1"/>
          <p:nvPr/>
        </p:nvSpPr>
        <p:spPr>
          <a:xfrm>
            <a:off x="1188720" y="448317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554480" y="448957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TextBox 340"/>
          <p:cNvSpPr txBox="1"/>
          <p:nvPr/>
        </p:nvSpPr>
        <p:spPr>
          <a:xfrm>
            <a:off x="1554480" y="448317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691639" y="4483172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S25</a:t>
            </a:r>
          </a:p>
        </p:txBody>
      </p:sp>
      <p:cxnSp>
        <p:nvCxnSpPr>
          <p:cNvPr id="343" name="Connector 342"/>
          <p:cNvCxnSpPr/>
          <p:nvPr/>
        </p:nvCxnSpPr>
        <p:spPr>
          <a:xfrm>
            <a:off x="2103120" y="4607269"/>
            <a:ext cx="1533145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Oval 343"/>
          <p:cNvSpPr/>
          <p:nvPr/>
        </p:nvSpPr>
        <p:spPr>
          <a:xfrm>
            <a:off x="3088640" y="4570693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Oval 344"/>
          <p:cNvSpPr/>
          <p:nvPr/>
        </p:nvSpPr>
        <p:spPr>
          <a:xfrm>
            <a:off x="3563113" y="4534117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TextBox 345"/>
          <p:cNvSpPr txBox="1"/>
          <p:nvPr/>
        </p:nvSpPr>
        <p:spPr>
          <a:xfrm>
            <a:off x="8595360" y="4534117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78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457200" y="4628039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822960" y="462803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TextBox 348"/>
          <p:cNvSpPr txBox="1"/>
          <p:nvPr/>
        </p:nvSpPr>
        <p:spPr>
          <a:xfrm>
            <a:off x="822960" y="462163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188720" y="462803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TextBox 350"/>
          <p:cNvSpPr txBox="1"/>
          <p:nvPr/>
        </p:nvSpPr>
        <p:spPr>
          <a:xfrm>
            <a:off x="1188720" y="462163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554480" y="4628039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TextBox 352"/>
          <p:cNvSpPr txBox="1"/>
          <p:nvPr/>
        </p:nvSpPr>
        <p:spPr>
          <a:xfrm>
            <a:off x="1554480" y="4621638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1691639" y="4621638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S29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2103120" y="4748348"/>
            <a:ext cx="1592112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Oval 355"/>
          <p:cNvSpPr/>
          <p:nvPr/>
        </p:nvSpPr>
        <p:spPr>
          <a:xfrm>
            <a:off x="2774149" y="4711772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Oval 356"/>
          <p:cNvSpPr/>
          <p:nvPr/>
        </p:nvSpPr>
        <p:spPr>
          <a:xfrm>
            <a:off x="3622080" y="4675196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TextBox 357"/>
          <p:cNvSpPr txBox="1"/>
          <p:nvPr/>
        </p:nvSpPr>
        <p:spPr>
          <a:xfrm>
            <a:off x="8595360" y="4675196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81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457200" y="4766505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822960" y="476650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TextBox 360"/>
          <p:cNvSpPr txBox="1"/>
          <p:nvPr/>
        </p:nvSpPr>
        <p:spPr>
          <a:xfrm>
            <a:off x="822960" y="476010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188720" y="476650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TextBox 362"/>
          <p:cNvSpPr txBox="1"/>
          <p:nvPr/>
        </p:nvSpPr>
        <p:spPr>
          <a:xfrm>
            <a:off x="1188720" y="476010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554480" y="4766505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TextBox 364"/>
          <p:cNvSpPr txBox="1"/>
          <p:nvPr/>
        </p:nvSpPr>
        <p:spPr>
          <a:xfrm>
            <a:off x="1554480" y="4760105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691639" y="4760105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S9</a:t>
            </a:r>
          </a:p>
        </p:txBody>
      </p:sp>
      <p:cxnSp>
        <p:nvCxnSpPr>
          <p:cNvPr id="367" name="Connector 366"/>
          <p:cNvCxnSpPr/>
          <p:nvPr/>
        </p:nvCxnSpPr>
        <p:spPr>
          <a:xfrm>
            <a:off x="2103120" y="4889427"/>
            <a:ext cx="1670735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Oval 367"/>
          <p:cNvSpPr/>
          <p:nvPr/>
        </p:nvSpPr>
        <p:spPr>
          <a:xfrm>
            <a:off x="3029673" y="4852851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Oval 368"/>
          <p:cNvSpPr/>
          <p:nvPr/>
        </p:nvSpPr>
        <p:spPr>
          <a:xfrm>
            <a:off x="3700703" y="4816275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TextBox 369"/>
          <p:cNvSpPr txBox="1"/>
          <p:nvPr/>
        </p:nvSpPr>
        <p:spPr>
          <a:xfrm>
            <a:off x="8595360" y="4816275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85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457200" y="4904972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Rectangle 371"/>
          <p:cNvSpPr/>
          <p:nvPr/>
        </p:nvSpPr>
        <p:spPr>
          <a:xfrm>
            <a:off x="822960" y="4904972"/>
            <a:ext cx="320040" cy="96926"/>
          </a:xfrm>
          <a:prstGeom prst="rect">
            <a:avLst/>
          </a:prstGeom>
          <a:solidFill>
            <a:srgbClr val="D6A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TextBox 372"/>
          <p:cNvSpPr txBox="1"/>
          <p:nvPr/>
        </p:nvSpPr>
        <p:spPr>
          <a:xfrm>
            <a:off x="822960" y="489857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Arial"/>
              </a:rPr>
              <a:t>hom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1188720" y="490497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TextBox 374"/>
          <p:cNvSpPr txBox="1"/>
          <p:nvPr/>
        </p:nvSpPr>
        <p:spPr>
          <a:xfrm>
            <a:off x="1188720" y="489857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1554480" y="4904972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TextBox 376"/>
          <p:cNvSpPr txBox="1"/>
          <p:nvPr/>
        </p:nvSpPr>
        <p:spPr>
          <a:xfrm>
            <a:off x="1554480" y="4898571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691639" y="4898571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S14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2103120" y="5030506"/>
            <a:ext cx="1769013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Oval 379"/>
          <p:cNvSpPr/>
          <p:nvPr/>
        </p:nvSpPr>
        <p:spPr>
          <a:xfrm>
            <a:off x="2715182" y="4993930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Oval 380"/>
          <p:cNvSpPr/>
          <p:nvPr/>
        </p:nvSpPr>
        <p:spPr>
          <a:xfrm>
            <a:off x="3798981" y="4957354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TextBox 381"/>
          <p:cNvSpPr txBox="1"/>
          <p:nvPr/>
        </p:nvSpPr>
        <p:spPr>
          <a:xfrm>
            <a:off x="8595360" y="4957354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90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457200" y="5043438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822960" y="504343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TextBox 384"/>
          <p:cNvSpPr txBox="1"/>
          <p:nvPr/>
        </p:nvSpPr>
        <p:spPr>
          <a:xfrm>
            <a:off x="822960" y="503703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1188720" y="504343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TextBox 386"/>
          <p:cNvSpPr txBox="1"/>
          <p:nvPr/>
        </p:nvSpPr>
        <p:spPr>
          <a:xfrm>
            <a:off x="1188720" y="503703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1554480" y="5043438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TextBox 388"/>
          <p:cNvSpPr txBox="1"/>
          <p:nvPr/>
        </p:nvSpPr>
        <p:spPr>
          <a:xfrm>
            <a:off x="1554480" y="5037037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691639" y="5037037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S6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2103120" y="5171585"/>
            <a:ext cx="1886948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Oval 391"/>
          <p:cNvSpPr/>
          <p:nvPr/>
        </p:nvSpPr>
        <p:spPr>
          <a:xfrm>
            <a:off x="3127952" y="5135009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Oval 392"/>
          <p:cNvSpPr/>
          <p:nvPr/>
        </p:nvSpPr>
        <p:spPr>
          <a:xfrm>
            <a:off x="3916916" y="5098433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TextBox 393"/>
          <p:cNvSpPr txBox="1"/>
          <p:nvPr/>
        </p:nvSpPr>
        <p:spPr>
          <a:xfrm>
            <a:off x="8595360" y="5098433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96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457200" y="5181904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822960" y="518190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TextBox 396"/>
          <p:cNvSpPr txBox="1"/>
          <p:nvPr/>
        </p:nvSpPr>
        <p:spPr>
          <a:xfrm>
            <a:off x="822960" y="517550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1188720" y="518190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TextBox 398"/>
          <p:cNvSpPr txBox="1"/>
          <p:nvPr/>
        </p:nvSpPr>
        <p:spPr>
          <a:xfrm>
            <a:off x="1188720" y="517550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1554480" y="5181904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TextBox 400"/>
          <p:cNvSpPr txBox="1"/>
          <p:nvPr/>
        </p:nvSpPr>
        <p:spPr>
          <a:xfrm>
            <a:off x="1554480" y="5175504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691639" y="5175504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S4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2103120" y="5312664"/>
            <a:ext cx="2319373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/>
          <p:cNvSpPr/>
          <p:nvPr/>
        </p:nvSpPr>
        <p:spPr>
          <a:xfrm>
            <a:off x="3167263" y="5276088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05" name="Connector 404"/>
          <p:cNvCxnSpPr/>
          <p:nvPr/>
        </p:nvCxnSpPr>
        <p:spPr>
          <a:xfrm>
            <a:off x="4321909" y="5212079"/>
            <a:ext cx="201168" cy="201169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4321909" y="5212079"/>
            <a:ext cx="201168" cy="201169"/>
          </a:xfrm>
          <a:prstGeom prst="line">
            <a:avLst/>
          </a:prstGeom>
          <a:ln w="254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8595360" y="5239512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118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457200" y="5320371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822960" y="532037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TextBox 409"/>
          <p:cNvSpPr txBox="1"/>
          <p:nvPr/>
        </p:nvSpPr>
        <p:spPr>
          <a:xfrm>
            <a:off x="822960" y="531397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1188720" y="532037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TextBox 411"/>
          <p:cNvSpPr txBox="1"/>
          <p:nvPr/>
        </p:nvSpPr>
        <p:spPr>
          <a:xfrm>
            <a:off x="1188720" y="531397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1554480" y="5320371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TextBox 413"/>
          <p:cNvSpPr txBox="1"/>
          <p:nvPr/>
        </p:nvSpPr>
        <p:spPr>
          <a:xfrm>
            <a:off x="1554480" y="5313970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691639" y="5313970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S24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2103120" y="5453742"/>
            <a:ext cx="3793551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Oval 416"/>
          <p:cNvSpPr/>
          <p:nvPr/>
        </p:nvSpPr>
        <p:spPr>
          <a:xfrm>
            <a:off x="4267983" y="5417166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Oval 417"/>
          <p:cNvSpPr/>
          <p:nvPr/>
        </p:nvSpPr>
        <p:spPr>
          <a:xfrm>
            <a:off x="5823519" y="5380590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TextBox 418"/>
          <p:cNvSpPr txBox="1"/>
          <p:nvPr/>
        </p:nvSpPr>
        <p:spPr>
          <a:xfrm>
            <a:off x="8595360" y="5380590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193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457200" y="5458837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822960" y="545883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TextBox 421"/>
          <p:cNvSpPr txBox="1"/>
          <p:nvPr/>
        </p:nvSpPr>
        <p:spPr>
          <a:xfrm>
            <a:off x="822960" y="545243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1188720" y="545883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TextBox 423"/>
          <p:cNvSpPr txBox="1"/>
          <p:nvPr/>
        </p:nvSpPr>
        <p:spPr>
          <a:xfrm>
            <a:off x="1188720" y="545243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1554480" y="5458837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TextBox 425"/>
          <p:cNvSpPr txBox="1"/>
          <p:nvPr/>
        </p:nvSpPr>
        <p:spPr>
          <a:xfrm>
            <a:off x="1554480" y="5452436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691639" y="5452436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S16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2103120" y="5594821"/>
            <a:ext cx="4088387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Oval 428"/>
          <p:cNvSpPr/>
          <p:nvPr/>
        </p:nvSpPr>
        <p:spPr>
          <a:xfrm>
            <a:off x="3776590" y="5558245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Oval 429"/>
          <p:cNvSpPr/>
          <p:nvPr/>
        </p:nvSpPr>
        <p:spPr>
          <a:xfrm>
            <a:off x="6118355" y="5521669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TextBox 430"/>
          <p:cNvSpPr txBox="1"/>
          <p:nvPr/>
        </p:nvSpPr>
        <p:spPr>
          <a:xfrm>
            <a:off x="8595360" y="5521669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208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457200" y="5597303"/>
            <a:ext cx="320040" cy="9692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3" name="Rectangle 432"/>
          <p:cNvSpPr/>
          <p:nvPr/>
        </p:nvSpPr>
        <p:spPr>
          <a:xfrm>
            <a:off x="822960" y="559730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TextBox 433"/>
          <p:cNvSpPr txBox="1"/>
          <p:nvPr/>
        </p:nvSpPr>
        <p:spPr>
          <a:xfrm>
            <a:off x="822960" y="559090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1188720" y="559730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6" name="TextBox 435"/>
          <p:cNvSpPr txBox="1"/>
          <p:nvPr/>
        </p:nvSpPr>
        <p:spPr>
          <a:xfrm>
            <a:off x="1188720" y="559090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1554480" y="5597303"/>
            <a:ext cx="320040" cy="9692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TextBox 437"/>
          <p:cNvSpPr txBox="1"/>
          <p:nvPr/>
        </p:nvSpPr>
        <p:spPr>
          <a:xfrm>
            <a:off x="1554480" y="5590902"/>
            <a:ext cx="3200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333333"/>
                </a:solidFill>
                <a:latin typeface="Arial"/>
              </a:rPr>
              <a:t>het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691639" y="5590902"/>
            <a:ext cx="3657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333333"/>
                </a:solidFill>
                <a:latin typeface="Arial"/>
              </a:rPr>
              <a:t>S17</a:t>
            </a:r>
          </a:p>
        </p:txBody>
      </p:sp>
      <p:cxnSp>
        <p:nvCxnSpPr>
          <p:cNvPr id="440" name="Connector 439"/>
          <p:cNvCxnSpPr/>
          <p:nvPr/>
        </p:nvCxnSpPr>
        <p:spPr>
          <a:xfrm>
            <a:off x="2103120" y="5735900"/>
            <a:ext cx="4638747" cy="0"/>
          </a:xfrm>
          <a:prstGeom prst="line">
            <a:avLst/>
          </a:prstGeom>
          <a:ln w="127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Oval 440"/>
          <p:cNvSpPr/>
          <p:nvPr/>
        </p:nvSpPr>
        <p:spPr>
          <a:xfrm>
            <a:off x="4936277" y="5699324"/>
            <a:ext cx="73152" cy="73152"/>
          </a:xfrm>
          <a:prstGeom prst="ellipse">
            <a:avLst/>
          </a:prstGeom>
          <a:solidFill>
            <a:srgbClr val="D6A417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2" name="Oval 441"/>
          <p:cNvSpPr/>
          <p:nvPr/>
        </p:nvSpPr>
        <p:spPr>
          <a:xfrm>
            <a:off x="6668715" y="5662748"/>
            <a:ext cx="146304" cy="146304"/>
          </a:xfrm>
          <a:prstGeom prst="ellipse">
            <a:avLst/>
          </a:prstGeom>
          <a:solidFill>
            <a:srgbClr val="0A7D6E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3" name="TextBox 442"/>
          <p:cNvSpPr txBox="1"/>
          <p:nvPr/>
        </p:nvSpPr>
        <p:spPr>
          <a:xfrm>
            <a:off x="8595360" y="5662748"/>
            <a:ext cx="4572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0A7D6E"/>
                </a:solidFill>
                <a:latin typeface="Arial"/>
              </a:rPr>
              <a:t>236</a:t>
            </a:r>
          </a:p>
        </p:txBody>
      </p:sp>
      <p:sp>
        <p:nvSpPr>
          <p:cNvPr id="444" name="Oval 443"/>
          <p:cNvSpPr/>
          <p:nvPr/>
        </p:nvSpPr>
        <p:spPr>
          <a:xfrm>
            <a:off x="480060" y="6606540"/>
            <a:ext cx="137160" cy="137160"/>
          </a:xfrm>
          <a:prstGeom prst="ellipse">
            <a:avLst/>
          </a:prstGeom>
          <a:solidFill>
            <a:srgbClr val="0A7D6E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5" name="TextBox 444"/>
          <p:cNvSpPr txBox="1"/>
          <p:nvPr/>
        </p:nvSpPr>
        <p:spPr>
          <a:xfrm>
            <a:off x="731520" y="6629400"/>
            <a:ext cx="1645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HLA retained (good)</a:t>
            </a:r>
          </a:p>
        </p:txBody>
      </p:sp>
      <p:sp>
        <p:nvSpPr>
          <p:cNvPr id="446" name="Oval 445"/>
          <p:cNvSpPr/>
          <p:nvPr/>
        </p:nvSpPr>
        <p:spPr>
          <a:xfrm>
            <a:off x="2491740" y="6606540"/>
            <a:ext cx="137160" cy="137160"/>
          </a:xfrm>
          <a:prstGeom prst="ellipse">
            <a:avLst/>
          </a:prstGeom>
          <a:solidFill>
            <a:srgbClr val="C53E1F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7" name="TextBox 446"/>
          <p:cNvSpPr txBox="1"/>
          <p:nvPr/>
        </p:nvSpPr>
        <p:spPr>
          <a:xfrm>
            <a:off x="2743200" y="6629400"/>
            <a:ext cx="1645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HLA retained (bad)</a:t>
            </a:r>
          </a:p>
        </p:txBody>
      </p:sp>
      <p:cxnSp>
        <p:nvCxnSpPr>
          <p:cNvPr id="448" name="Connector 447"/>
          <p:cNvCxnSpPr/>
          <p:nvPr/>
        </p:nvCxnSpPr>
        <p:spPr>
          <a:xfrm>
            <a:off x="4398264" y="6592824"/>
            <a:ext cx="164591" cy="164592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4398264" y="6592824"/>
            <a:ext cx="164591" cy="164592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TextBox 449"/>
          <p:cNvSpPr txBox="1"/>
          <p:nvPr/>
        </p:nvSpPr>
        <p:spPr>
          <a:xfrm>
            <a:off x="4663440" y="662940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HLA strict LOH</a:t>
            </a:r>
          </a:p>
        </p:txBody>
      </p:sp>
      <p:sp>
        <p:nvSpPr>
          <p:cNvPr id="451" name="Oval 450"/>
          <p:cNvSpPr/>
          <p:nvPr/>
        </p:nvSpPr>
        <p:spPr>
          <a:xfrm>
            <a:off x="6172200" y="6629400"/>
            <a:ext cx="91440" cy="91440"/>
          </a:xfrm>
          <a:prstGeom prst="ellipse">
            <a:avLst/>
          </a:prstGeom>
          <a:solidFill>
            <a:srgbClr val="D6A417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2" name="TextBox 451"/>
          <p:cNvSpPr txBox="1"/>
          <p:nvPr/>
        </p:nvSpPr>
        <p:spPr>
          <a:xfrm>
            <a:off x="6373368" y="6629400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strong binders (&lt;50 nM)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