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IGH V-gene directional-coherence forest — tri-colour highlight by group-level coherence (GOLD=polar-opposite, TEAL=good-only, CORAL=bad-only)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35090" y="1097280"/>
            <a:ext cx="388620" cy="50292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629400" y="1097280"/>
            <a:ext cx="0" cy="5029200"/>
          </a:xfrm>
          <a:prstGeom prst="line">
            <a:avLst/>
          </a:prstGeom>
          <a:ln w="1524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743200" y="868680"/>
            <a:ext cx="3886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C53E1F"/>
                </a:solidFill>
                <a:latin typeface="Arial"/>
              </a:rPr>
              <a:t>bad (n up / 6) 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868680"/>
            <a:ext cx="3886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A7D6E"/>
                </a:solidFill>
                <a:latin typeface="Arial"/>
              </a:rPr>
              <a:t>→ good (n down / 6)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0" y="6126480"/>
            <a:ext cx="7772400" cy="0"/>
          </a:xfrm>
          <a:prstGeom prst="line">
            <a:avLst/>
          </a:prstGeom>
          <a:ln w="1016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743200" y="6126480"/>
            <a:ext cx="0" cy="54864"/>
          </a:xfrm>
          <a:prstGeom prst="line">
            <a:avLst/>
          </a:prstGeom>
          <a:ln w="762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578608" y="6190488"/>
            <a:ext cx="329184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C53E1F"/>
                </a:solidFill>
                <a:latin typeface="Arial"/>
              </a:rPr>
              <a:t>-6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686300" y="6126480"/>
            <a:ext cx="0" cy="54864"/>
          </a:xfrm>
          <a:prstGeom prst="line">
            <a:avLst/>
          </a:prstGeom>
          <a:ln w="762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21708" y="6190488"/>
            <a:ext cx="329184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C53E1F"/>
                </a:solidFill>
                <a:latin typeface="Arial"/>
              </a:rPr>
              <a:t>-3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629400" y="6126480"/>
            <a:ext cx="0" cy="54864"/>
          </a:xfrm>
          <a:prstGeom prst="line">
            <a:avLst/>
          </a:prstGeom>
          <a:ln w="762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64808" y="6190488"/>
            <a:ext cx="329184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222222"/>
                </a:solidFill>
                <a:latin typeface="Arial"/>
              </a:rPr>
              <a:t>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572500" y="6126480"/>
            <a:ext cx="0" cy="54864"/>
          </a:xfrm>
          <a:prstGeom prst="line">
            <a:avLst/>
          </a:prstGeom>
          <a:ln w="762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07908" y="6190488"/>
            <a:ext cx="329184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A7D6E"/>
                </a:solidFill>
                <a:latin typeface="Arial"/>
              </a:rPr>
              <a:t>+3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515600" y="6126480"/>
            <a:ext cx="0" cy="54864"/>
          </a:xfrm>
          <a:prstGeom prst="line">
            <a:avLst/>
          </a:prstGeom>
          <a:ln w="762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351008" y="6190488"/>
            <a:ext cx="329184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A7D6E"/>
                </a:solidFill>
                <a:latin typeface="Arial"/>
              </a:rPr>
              <a:t>+6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6364224"/>
            <a:ext cx="77724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1">
                <a:solidFill>
                  <a:srgbClr val="222222"/>
                </a:solidFill>
                <a:latin typeface="Arial"/>
              </a:rPr>
              <a:t>subject count (bad ↑ on left, good ↓ on right; max ±6)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9400" y="1116258"/>
            <a:ext cx="3238500" cy="56934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86300" y="1116258"/>
            <a:ext cx="1943100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0" y="1102025"/>
            <a:ext cx="7772400" cy="85402"/>
          </a:xfrm>
          <a:prstGeom prst="rect">
            <a:avLst/>
          </a:prstGeom>
          <a:noFill/>
          <a:ln w="1524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1106769"/>
            <a:ext cx="114300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1" i="0">
                <a:solidFill>
                  <a:srgbClr val="0A7D6E"/>
                </a:solidFill>
                <a:latin typeface="Arial"/>
              </a:rPr>
              <a:t>● IGHV3-38-3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61320" y="1106769"/>
            <a:ext cx="82296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0A7D6E"/>
                </a:solidFill>
                <a:latin typeface="Arial"/>
              </a:rPr>
              <a:t>P=0.18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29400" y="1211149"/>
            <a:ext cx="1" cy="56934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34000" y="1211149"/>
            <a:ext cx="1295400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4480" y="1201660"/>
            <a:ext cx="114300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IGHV1-45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61320" y="1201660"/>
            <a:ext cx="82296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P=0.17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9400" y="1306039"/>
            <a:ext cx="647700" cy="56934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86300" y="1306039"/>
            <a:ext cx="1943100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54480" y="1296550"/>
            <a:ext cx="114300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IGHV2-26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61320" y="1296550"/>
            <a:ext cx="82296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P=0.55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29400" y="1400930"/>
            <a:ext cx="3238500" cy="56934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686300" y="1400930"/>
            <a:ext cx="1943100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54480" y="1391441"/>
            <a:ext cx="114300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IGHV4-30-4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61320" y="1391441"/>
            <a:ext cx="82296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P=0.55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29400" y="1495820"/>
            <a:ext cx="3886200" cy="56934"/>
          </a:xfrm>
          <a:prstGeom prst="rect">
            <a:avLst/>
          </a:prstGeom>
          <a:solidFill>
            <a:srgbClr val="D4A300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38600" y="1495820"/>
            <a:ext cx="2590800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0" y="1481587"/>
            <a:ext cx="7772400" cy="85402"/>
          </a:xfrm>
          <a:prstGeom prst="rect">
            <a:avLst/>
          </a:prstGeom>
          <a:noFill/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554480" y="1486331"/>
            <a:ext cx="114300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1" i="0">
                <a:solidFill>
                  <a:srgbClr val="D4A300"/>
                </a:solidFill>
                <a:latin typeface="Arial"/>
              </a:rPr>
              <a:t>★ IGHV6-1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61320" y="1486331"/>
            <a:ext cx="82296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D4A300"/>
                </a:solidFill>
                <a:latin typeface="Arial"/>
              </a:rPr>
              <a:t>P=0.06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29400" y="1590711"/>
            <a:ext cx="3238500" cy="56934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334000" y="1590711"/>
            <a:ext cx="1295400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554480" y="1581222"/>
            <a:ext cx="114300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IGHV3-48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61320" y="1581222"/>
            <a:ext cx="82296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29400" y="1685602"/>
            <a:ext cx="647700" cy="56934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038600" y="1685602"/>
            <a:ext cx="2590800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554480" y="1676112"/>
            <a:ext cx="114300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IGHV3-49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61320" y="1676112"/>
            <a:ext cx="82296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29400" y="1780492"/>
            <a:ext cx="3238500" cy="56934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334000" y="1780492"/>
            <a:ext cx="1295400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554480" y="1771003"/>
            <a:ext cx="114300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IGHV3-9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61320" y="1771003"/>
            <a:ext cx="82296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629400" y="1875383"/>
            <a:ext cx="647700" cy="56934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038600" y="1875383"/>
            <a:ext cx="2590800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554480" y="1865894"/>
            <a:ext cx="114300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IGHV3-69-1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61320" y="1865894"/>
            <a:ext cx="82296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29400" y="1970273"/>
            <a:ext cx="647700" cy="56934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334000" y="1970273"/>
            <a:ext cx="1295400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54480" y="1960784"/>
            <a:ext cx="114300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IGHV3-53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61320" y="1960784"/>
            <a:ext cx="82296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P=0.24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629400" y="2065164"/>
            <a:ext cx="647700" cy="56934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334000" y="2065164"/>
            <a:ext cx="1295400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554480" y="2055675"/>
            <a:ext cx="114300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IGHV5-51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61320" y="2055675"/>
            <a:ext cx="82296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P=0.24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629400" y="2160054"/>
            <a:ext cx="647700" cy="56934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038600" y="2160054"/>
            <a:ext cx="2590800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554480" y="2150565"/>
            <a:ext cx="114300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IGHV4-59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61320" y="2150565"/>
            <a:ext cx="82296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629400" y="2254945"/>
            <a:ext cx="3238500" cy="56934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334000" y="2254945"/>
            <a:ext cx="1295400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554480" y="2245456"/>
            <a:ext cx="114300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IGHV3-74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61320" y="2245456"/>
            <a:ext cx="82296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629400" y="2349835"/>
            <a:ext cx="647700" cy="56934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038600" y="2349835"/>
            <a:ext cx="2590800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554480" y="2340346"/>
            <a:ext cx="114300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IGHV3-13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561320" y="2340346"/>
            <a:ext cx="82296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629400" y="2444726"/>
            <a:ext cx="2590800" cy="56934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686300" y="2444726"/>
            <a:ext cx="1943100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554480" y="2435237"/>
            <a:ext cx="114300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IGHV3-15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561320" y="2435237"/>
            <a:ext cx="82296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629400" y="2539617"/>
            <a:ext cx="1295400" cy="56934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686300" y="2539617"/>
            <a:ext cx="1943100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554480" y="2530128"/>
            <a:ext cx="114300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IGHV1-3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561320" y="2530128"/>
            <a:ext cx="82296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629400" y="2634507"/>
            <a:ext cx="2590800" cy="56934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686300" y="2634507"/>
            <a:ext cx="1943100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554480" y="2625018"/>
            <a:ext cx="114300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IGHV3-62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561320" y="2625018"/>
            <a:ext cx="82296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629400" y="2729398"/>
            <a:ext cx="1295400" cy="56934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686300" y="2729398"/>
            <a:ext cx="1943100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554480" y="2719909"/>
            <a:ext cx="114300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IGHV4-61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561320" y="2719909"/>
            <a:ext cx="82296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629400" y="2824288"/>
            <a:ext cx="1295400" cy="56934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4686300" y="2824288"/>
            <a:ext cx="1943100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554480" y="2814799"/>
            <a:ext cx="114300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IGHV3-20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561320" y="2814799"/>
            <a:ext cx="82296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629400" y="2919179"/>
            <a:ext cx="1295400" cy="56934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686300" y="2919179"/>
            <a:ext cx="1943100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554480" y="2909690"/>
            <a:ext cx="114300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IGHV1-24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561320" y="2909690"/>
            <a:ext cx="82296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629400" y="3014069"/>
            <a:ext cx="647700" cy="56934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5334000" y="3014069"/>
            <a:ext cx="1295400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554480" y="3004580"/>
            <a:ext cx="114300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IGHV1-46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561320" y="3004580"/>
            <a:ext cx="82296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P=0.24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629400" y="3108960"/>
            <a:ext cx="2590800" cy="56934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334000" y="3108960"/>
            <a:ext cx="1295400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554480" y="3099471"/>
            <a:ext cx="114300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IGHV1-18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561320" y="3099471"/>
            <a:ext cx="82296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629400" y="3203851"/>
            <a:ext cx="1943100" cy="56934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4686300" y="3203851"/>
            <a:ext cx="1943100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554480" y="3194362"/>
            <a:ext cx="114300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IGHV4-30-2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561320" y="3194362"/>
            <a:ext cx="82296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629400" y="3298741"/>
            <a:ext cx="2590800" cy="56934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4686300" y="3298741"/>
            <a:ext cx="1943100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554480" y="3289252"/>
            <a:ext cx="114300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IGHV4-31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561320" y="3289252"/>
            <a:ext cx="82296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P=0.57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629400" y="3393632"/>
            <a:ext cx="2590800" cy="56934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5334000" y="3393632"/>
            <a:ext cx="1295400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554480" y="3384143"/>
            <a:ext cx="114300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IGHV3-73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561320" y="3384143"/>
            <a:ext cx="82296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629400" y="3488522"/>
            <a:ext cx="2590800" cy="56934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5334000" y="3488522"/>
            <a:ext cx="1295400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554480" y="3479033"/>
            <a:ext cx="114300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IGHV3-35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561320" y="3479033"/>
            <a:ext cx="82296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629400" y="3583413"/>
            <a:ext cx="2590800" cy="56934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38600" y="3583413"/>
            <a:ext cx="2590800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554480" y="3573924"/>
            <a:ext cx="114300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IGHV4-39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0561320" y="3573924"/>
            <a:ext cx="82296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P=0.57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629400" y="3678303"/>
            <a:ext cx="2590800" cy="56934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5334000" y="3678303"/>
            <a:ext cx="1295400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554480" y="3668814"/>
            <a:ext cx="114300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IGHV4-28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0561320" y="3668814"/>
            <a:ext cx="82296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629400" y="3773194"/>
            <a:ext cx="2590800" cy="56934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5334000" y="3773194"/>
            <a:ext cx="1295400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554480" y="3763705"/>
            <a:ext cx="114300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IGHV3-72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0561320" y="3763705"/>
            <a:ext cx="82296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629400" y="3868085"/>
            <a:ext cx="647700" cy="56934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981700" y="3868085"/>
            <a:ext cx="647700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554480" y="3858595"/>
            <a:ext cx="114300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IGHV1-58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561320" y="3858595"/>
            <a:ext cx="82296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P=0.21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629400" y="3962975"/>
            <a:ext cx="2590800" cy="56934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4038600" y="3962975"/>
            <a:ext cx="2590800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554480" y="3953486"/>
            <a:ext cx="114300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IGHV1-69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561320" y="3953486"/>
            <a:ext cx="82296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P=0.57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6629400" y="4057866"/>
            <a:ext cx="2590800" cy="56934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334000" y="4057866"/>
            <a:ext cx="1295400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554480" y="4048377"/>
            <a:ext cx="114300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IGHV3-23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0561320" y="4048377"/>
            <a:ext cx="82296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629400" y="4152756"/>
            <a:ext cx="647700" cy="56934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3390900" y="4152756"/>
            <a:ext cx="3238500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554480" y="4143267"/>
            <a:ext cx="114300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IGHV1-2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561320" y="4143267"/>
            <a:ext cx="82296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6629400" y="4247647"/>
            <a:ext cx="1295400" cy="56934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5334000" y="4247647"/>
            <a:ext cx="1295400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554480" y="4238158"/>
            <a:ext cx="114300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IGHV3-64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0561320" y="4238158"/>
            <a:ext cx="82296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P=0.57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6629400" y="4342537"/>
            <a:ext cx="1943100" cy="56934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5334000" y="4342537"/>
            <a:ext cx="1295400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554480" y="4333048"/>
            <a:ext cx="114300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IGHV3-64D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0561320" y="4333048"/>
            <a:ext cx="82296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629400" y="4437428"/>
            <a:ext cx="1295400" cy="56934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4038600" y="4437428"/>
            <a:ext cx="2590800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554480" y="4427939"/>
            <a:ext cx="114300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IGHV3-7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0561320" y="4427939"/>
            <a:ext cx="82296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6629400" y="4532318"/>
            <a:ext cx="1943100" cy="56934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4686300" y="4532318"/>
            <a:ext cx="1943100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554480" y="4522829"/>
            <a:ext cx="114300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IGHV3-33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561320" y="4522829"/>
            <a:ext cx="82296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6629400" y="4627209"/>
            <a:ext cx="2590800" cy="56934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4038600" y="4627209"/>
            <a:ext cx="2590800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554480" y="4617720"/>
            <a:ext cx="114300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IGHV5-10-1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0561320" y="4617720"/>
            <a:ext cx="82296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P=0.57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629400" y="4722100"/>
            <a:ext cx="2590800" cy="56934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4038600" y="4722100"/>
            <a:ext cx="2590800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1554480" y="4712611"/>
            <a:ext cx="114300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IGHV4-4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0561320" y="4712611"/>
            <a:ext cx="82296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P=0.57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6629400" y="4816990"/>
            <a:ext cx="1295400" cy="56934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5334000" y="4816990"/>
            <a:ext cx="1295400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1554480" y="4807501"/>
            <a:ext cx="114300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IGHV4-34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0561320" y="4807501"/>
            <a:ext cx="82296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P=0.57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6629400" y="4911881"/>
            <a:ext cx="1943100" cy="56934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5334000" y="4911881"/>
            <a:ext cx="1295400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1554480" y="4902392"/>
            <a:ext cx="114300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IGHV4-38-2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0561320" y="4902392"/>
            <a:ext cx="82296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6629400" y="5006771"/>
            <a:ext cx="1295400" cy="56934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981700" y="5006771"/>
            <a:ext cx="647700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1554480" y="4997282"/>
            <a:ext cx="114300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IGHV5-78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0561320" y="4997282"/>
            <a:ext cx="82296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P=0.24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6629400" y="5101662"/>
            <a:ext cx="1943100" cy="56934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5334000" y="5101662"/>
            <a:ext cx="1295400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1554480" y="5092173"/>
            <a:ext cx="114300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IGHV2-70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10561320" y="5092173"/>
            <a:ext cx="82296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6629400" y="5196552"/>
            <a:ext cx="1943100" cy="56934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334000" y="5196552"/>
            <a:ext cx="1295400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1554480" y="5187063"/>
            <a:ext cx="114300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IGHV3-30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0561320" y="5187063"/>
            <a:ext cx="82296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6629400" y="5291443"/>
            <a:ext cx="1943100" cy="56934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334000" y="5291443"/>
            <a:ext cx="1295400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1554480" y="5281954"/>
            <a:ext cx="114300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IGHV3-21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0561320" y="5281954"/>
            <a:ext cx="82296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6629400" y="5386334"/>
            <a:ext cx="1943100" cy="56934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334000" y="5386334"/>
            <a:ext cx="1295400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1554480" y="5376845"/>
            <a:ext cx="114300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IGHV3-47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0561320" y="5376845"/>
            <a:ext cx="82296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6629400" y="5481224"/>
            <a:ext cx="1943100" cy="56934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334000" y="5481224"/>
            <a:ext cx="1295400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1554480" y="5471735"/>
            <a:ext cx="114300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IGHV3-43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0561320" y="5471735"/>
            <a:ext cx="82296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6629400" y="5576115"/>
            <a:ext cx="1295400" cy="56934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5981700" y="5576115"/>
            <a:ext cx="647700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1554480" y="5566626"/>
            <a:ext cx="114300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IGHV1-8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10561320" y="5566626"/>
            <a:ext cx="82296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P=0.24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6629400" y="5671005"/>
            <a:ext cx="2590800" cy="56934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5981700" y="5671005"/>
            <a:ext cx="647700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1554480" y="5661516"/>
            <a:ext cx="114300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IGHV3-11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10561320" y="5661516"/>
            <a:ext cx="82296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P=1.00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6629400" y="5765896"/>
            <a:ext cx="2590800" cy="56934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3390900" y="5765896"/>
            <a:ext cx="3238500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1554480" y="5756407"/>
            <a:ext cx="114300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IGHV2-5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10561320" y="5756407"/>
            <a:ext cx="82296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P=0.24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6629400" y="5860786"/>
            <a:ext cx="1943100" cy="56934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4038600" y="5860786"/>
            <a:ext cx="2590800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1554480" y="5851297"/>
            <a:ext cx="114300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IGHV3-25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10561320" y="5851297"/>
            <a:ext cx="82296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P=0.52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6629400" y="5955677"/>
            <a:ext cx="1943100" cy="56934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3390900" y="5955677"/>
            <a:ext cx="3238500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1554480" y="5946188"/>
            <a:ext cx="114300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  IGHV3-30-3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10561320" y="5946188"/>
            <a:ext cx="82296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P=0.24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6629400" y="6050568"/>
            <a:ext cx="2590800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6629400" y="6050568"/>
            <a:ext cx="1" cy="5693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2743200" y="6036334"/>
            <a:ext cx="7772400" cy="85402"/>
          </a:xfrm>
          <a:prstGeom prst="rect">
            <a:avLst/>
          </a:prstGeom>
          <a:noFill/>
          <a:ln w="1524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1554480" y="6041078"/>
            <a:ext cx="114300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1" i="0">
                <a:solidFill>
                  <a:srgbClr val="C53E1F"/>
                </a:solidFill>
                <a:latin typeface="Arial"/>
              </a:rPr>
              <a:t>● IGHV3-66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10561320" y="6041078"/>
            <a:ext cx="822960" cy="75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C53E1F"/>
                </a:solidFill>
                <a:latin typeface="Arial"/>
              </a:rPr>
              <a:t>P=0.45</a:t>
            </a:r>
          </a:p>
        </p:txBody>
      </p:sp>
      <p:cxnSp>
        <p:nvCxnSpPr>
          <p:cNvPr id="235" name="Connector 234"/>
          <p:cNvCxnSpPr/>
          <p:nvPr/>
        </p:nvCxnSpPr>
        <p:spPr>
          <a:xfrm flipH="1">
            <a:off x="10835640" y="1524288"/>
            <a:ext cx="594360" cy="0"/>
          </a:xfrm>
          <a:prstGeom prst="line">
            <a:avLst/>
          </a:prstGeom>
          <a:ln w="10160">
            <a:solidFill>
              <a:srgbClr val="D4A3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6" name="Rectangle 235"/>
          <p:cNvSpPr/>
          <p:nvPr/>
        </p:nvSpPr>
        <p:spPr>
          <a:xfrm>
            <a:off x="10881360" y="1231680"/>
            <a:ext cx="1280160" cy="594360"/>
          </a:xfrm>
          <a:prstGeom prst="rect">
            <a:avLst/>
          </a:prstGeom>
          <a:solidFill>
            <a:srgbClr val="D4A300"/>
          </a:solidFill>
          <a:ln w="1016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10881360" y="1231680"/>
            <a:ext cx="1280160" cy="5943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Arial"/>
              </a:rPr>
              <a:t>★ polar-opposite
(Fisher P=0.061;
good 6/6 down,
bad 4/2 up)</a:t>
            </a:r>
          </a:p>
        </p:txBody>
      </p:sp>
      <p:cxnSp>
        <p:nvCxnSpPr>
          <p:cNvPr id="238" name="Connector 237"/>
          <p:cNvCxnSpPr/>
          <p:nvPr/>
        </p:nvCxnSpPr>
        <p:spPr>
          <a:xfrm flipH="1">
            <a:off x="10835640" y="1144725"/>
            <a:ext cx="594360" cy="0"/>
          </a:xfrm>
          <a:prstGeom prst="line">
            <a:avLst/>
          </a:prstGeom>
          <a:ln w="10160">
            <a:solidFill>
              <a:srgbClr val="0A7D6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Rectangle 238"/>
          <p:cNvSpPr/>
          <p:nvPr/>
        </p:nvSpPr>
        <p:spPr>
          <a:xfrm>
            <a:off x="10881360" y="852117"/>
            <a:ext cx="1280160" cy="594360"/>
          </a:xfrm>
          <a:prstGeom prst="rect">
            <a:avLst/>
          </a:prstGeom>
          <a:solidFill>
            <a:srgbClr val="0A7D6E"/>
          </a:solidFill>
          <a:ln w="1016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10881360" y="852117"/>
            <a:ext cx="1280160" cy="5943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Arial"/>
              </a:rPr>
              <a:t>● good-coherent
(sign P=0.063;
good 5/5 down,
bad mixed 3/3)</a:t>
            </a:r>
          </a:p>
        </p:txBody>
      </p:sp>
      <p:cxnSp>
        <p:nvCxnSpPr>
          <p:cNvPr id="241" name="Connector 240"/>
          <p:cNvCxnSpPr/>
          <p:nvPr/>
        </p:nvCxnSpPr>
        <p:spPr>
          <a:xfrm flipH="1">
            <a:off x="10835640" y="6079035"/>
            <a:ext cx="594360" cy="0"/>
          </a:xfrm>
          <a:prstGeom prst="line">
            <a:avLst/>
          </a:prstGeom>
          <a:ln w="10160">
            <a:solidFill>
              <a:srgbClr val="C53E1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Rectangle 241"/>
          <p:cNvSpPr/>
          <p:nvPr/>
        </p:nvSpPr>
        <p:spPr>
          <a:xfrm>
            <a:off x="10881360" y="5786427"/>
            <a:ext cx="1280160" cy="594360"/>
          </a:xfrm>
          <a:prstGeom prst="rect">
            <a:avLst/>
          </a:prstGeom>
          <a:solidFill>
            <a:srgbClr val="C53E1F"/>
          </a:solidFill>
          <a:ln w="1016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10881360" y="5786427"/>
            <a:ext cx="1280160" cy="5943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Arial"/>
              </a:rPr>
              <a:t>● bad-coherent
(sign P=0.031;
bad 6/6 down,
good mixed)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2743200" y="6583680"/>
            <a:ext cx="777240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1">
                <a:solidFill>
                  <a:srgbClr val="222222"/>
                </a:solidFill>
                <a:latin typeface="Arial"/>
              </a:rPr>
              <a:t>Sorted by coherence_gap descending. Gray band = |majority − 0.5| &lt; 3.3/6 (indistinguishable from chance). Tri-colour highlights mark the three V-genes with individual-level statistical support: IGHV6-1 (between-group Fisher P=0.061 + within-good sign P=0.031, polar-opposite), IGHV3-38-3 (within-good sign P=0.063, good-coherent only), IGHV3-66 (within-bad sign P=0.031, bad-coherent only). Repertoire-level aggregate Wilcoxon P = 0.035.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411480" y="777240"/>
            <a:ext cx="21945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222222"/>
                </a:solidFill>
                <a:latin typeface="Arial"/>
              </a:rPr>
              <a:t>Highlight category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411480" y="1014984"/>
            <a:ext cx="201168" cy="146304"/>
          </a:xfrm>
          <a:prstGeom prst="rect">
            <a:avLst/>
          </a:prstGeom>
          <a:solidFill>
            <a:srgbClr val="D4A300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667512" y="1005840"/>
            <a:ext cx="20116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polar-opposite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411480" y="1197864"/>
            <a:ext cx="201168" cy="146304"/>
          </a:xfrm>
          <a:prstGeom prst="rect">
            <a:avLst/>
          </a:prstGeom>
          <a:solidFill>
            <a:srgbClr val="0A7D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667512" y="1188720"/>
            <a:ext cx="20116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good-coherent only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411480" y="1380744"/>
            <a:ext cx="201168" cy="146304"/>
          </a:xfrm>
          <a:prstGeom prst="rect">
            <a:avLst/>
          </a:prstGeom>
          <a:solidFill>
            <a:srgbClr val="C53E1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667512" y="1371600"/>
            <a:ext cx="20116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bad-coherent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Pattern-class scatter (good vs bad majority fraction) — tri-colour highlight on three statistically supported V-genes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800600" y="1097280"/>
            <a:ext cx="2514600" cy="2514600"/>
          </a:xfrm>
          <a:prstGeom prst="rect">
            <a:avLst/>
          </a:prstGeom>
          <a:solidFill>
            <a:srgbClr val="EE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00600" y="3611880"/>
            <a:ext cx="2514600" cy="2514600"/>
          </a:xfrm>
          <a:prstGeom prst="rect">
            <a:avLst/>
          </a:prstGeom>
          <a:solidFill>
            <a:srgbClr val="E5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0" y="1097280"/>
            <a:ext cx="2514600" cy="2514600"/>
          </a:xfrm>
          <a:prstGeom prst="rect">
            <a:avLst/>
          </a:prstGeom>
          <a:solidFill>
            <a:srgbClr val="FA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3611880"/>
            <a:ext cx="2514600" cy="25146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2286000" y="6126480"/>
            <a:ext cx="5029200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286000" y="1097280"/>
            <a:ext cx="0" cy="502920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0" y="1097280"/>
            <a:ext cx="0" cy="502920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286000" y="1097280"/>
            <a:ext cx="5029200" cy="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221992" y="612648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783080" y="604418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0.5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21992" y="486918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783080" y="478688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0.625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221992" y="361188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783080" y="352958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0.75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21992" y="235458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783080" y="227228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0.875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21992" y="109728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783080" y="101498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1.0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286000" y="612648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920240" y="618134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0.5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543300" y="612648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177540" y="618134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0.625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800600" y="612648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434840" y="618134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0.75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57900" y="612648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692140" y="618134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0.875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315200" y="612648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949440" y="618134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1.0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6473952"/>
            <a:ext cx="50292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good majority fraction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2606040"/>
            <a:ext cx="365760" cy="20116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bad majority fraction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800600" y="1097280"/>
            <a:ext cx="0" cy="5029200"/>
          </a:xfrm>
          <a:prstGeom prst="line">
            <a:avLst/>
          </a:prstGeom>
          <a:ln w="7620">
            <a:solidFill>
              <a:srgbClr val="BBBBB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286000" y="3611880"/>
            <a:ext cx="5029200" cy="0"/>
          </a:xfrm>
          <a:prstGeom prst="line">
            <a:avLst/>
          </a:prstGeom>
          <a:ln w="7620">
            <a:solidFill>
              <a:srgbClr val="BBBBB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5-Point Star 35"/>
          <p:cNvSpPr/>
          <p:nvPr/>
        </p:nvSpPr>
        <p:spPr>
          <a:xfrm>
            <a:off x="7214616" y="6025896"/>
            <a:ext cx="201168" cy="201168"/>
          </a:xfrm>
          <a:prstGeom prst="star5">
            <a:avLst/>
          </a:prstGeom>
          <a:solidFill>
            <a:srgbClr val="0A7D6E"/>
          </a:solidFill>
          <a:ln w="63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06640" y="6053328"/>
            <a:ext cx="10972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0A7D6E"/>
                </a:solidFill>
                <a:latin typeface="Arial"/>
              </a:rPr>
              <a:t>IGHV3-38-3</a:t>
            </a:r>
          </a:p>
        </p:txBody>
      </p:sp>
      <p:sp>
        <p:nvSpPr>
          <p:cNvPr id="38" name="Oval 37"/>
          <p:cNvSpPr/>
          <p:nvPr/>
        </p:nvSpPr>
        <p:spPr>
          <a:xfrm>
            <a:off x="7278624" y="508406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602224" y="60899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602224" y="60899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5-Point Star 40"/>
          <p:cNvSpPr/>
          <p:nvPr/>
        </p:nvSpPr>
        <p:spPr>
          <a:xfrm>
            <a:off x="7214616" y="4349496"/>
            <a:ext cx="201168" cy="201168"/>
          </a:xfrm>
          <a:prstGeom prst="star5">
            <a:avLst/>
          </a:prstGeom>
          <a:solidFill>
            <a:srgbClr val="D4A300"/>
          </a:solidFill>
          <a:ln w="63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06640" y="4376928"/>
            <a:ext cx="10972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D4A300"/>
                </a:solidFill>
                <a:latin typeface="Arial"/>
              </a:rPr>
              <a:t>IGHV6-1</a:t>
            </a:r>
          </a:p>
        </p:txBody>
      </p:sp>
      <p:sp>
        <p:nvSpPr>
          <p:cNvPr id="43" name="Oval 42"/>
          <p:cNvSpPr/>
          <p:nvPr/>
        </p:nvSpPr>
        <p:spPr>
          <a:xfrm>
            <a:off x="560222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60222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60222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60222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60222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60222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60222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60222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60222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925824" y="60899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925824" y="60899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925824" y="60899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925824" y="60899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925824" y="60899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925824" y="60899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26694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26694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255264" y="60899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925824" y="508406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92582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92582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392582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92582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92582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266944" y="307238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392582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92582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602224" y="27371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92582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255264" y="508406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92582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2249424" y="60899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92582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92582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92582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2249424" y="508406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925824" y="307238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224942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224942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224942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224942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2249424" y="44135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925824" y="27371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925824" y="27371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925824" y="27371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255264" y="307238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255264" y="2737104"/>
            <a:ext cx="73152" cy="73152"/>
          </a:xfrm>
          <a:prstGeom prst="ellipse">
            <a:avLst/>
          </a:prstGeom>
          <a:solidFill>
            <a:srgbClr val="22222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5-Point Star 89"/>
          <p:cNvSpPr/>
          <p:nvPr/>
        </p:nvSpPr>
        <p:spPr>
          <a:xfrm>
            <a:off x="3861816" y="996696"/>
            <a:ext cx="201168" cy="201168"/>
          </a:xfrm>
          <a:prstGeom prst="star5">
            <a:avLst/>
          </a:prstGeom>
          <a:solidFill>
            <a:srgbClr val="C53E1F"/>
          </a:solidFill>
          <a:ln w="63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053840" y="1024128"/>
            <a:ext cx="10972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C53E1F"/>
                </a:solidFill>
                <a:latin typeface="Arial"/>
              </a:rPr>
              <a:t>IGHV3-66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892040" y="1188720"/>
            <a:ext cx="5029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0A7D6E"/>
                </a:solidFill>
                <a:latin typeface="Arial"/>
              </a:rPr>
              <a:t>↗ both-coherent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892040" y="3703320"/>
            <a:ext cx="5029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0A7D6E"/>
                </a:solidFill>
                <a:latin typeface="Arial"/>
              </a:rPr>
              <a:t>→ good-coherent only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377440" y="1188720"/>
            <a:ext cx="5029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C53E1F"/>
                </a:solidFill>
                <a:latin typeface="Arial"/>
              </a:rPr>
              <a:t>↑ bad-coherent only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377440" y="3703320"/>
            <a:ext cx="5029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BBBBBB"/>
                </a:solidFill>
                <a:latin typeface="Arial"/>
              </a:rPr>
              <a:t>↙ stochastic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772400" y="1188720"/>
            <a:ext cx="43891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222222"/>
                </a:solidFill>
                <a:latin typeface="Arial"/>
              </a:rPr>
              <a:t>Highlight V-genes (statistical support)</a:t>
            </a:r>
          </a:p>
        </p:txBody>
      </p:sp>
      <p:sp>
        <p:nvSpPr>
          <p:cNvPr id="97" name="5-Point Star 96"/>
          <p:cNvSpPr/>
          <p:nvPr/>
        </p:nvSpPr>
        <p:spPr>
          <a:xfrm>
            <a:off x="7781544" y="1490472"/>
            <a:ext cx="164592" cy="164592"/>
          </a:xfrm>
          <a:prstGeom prst="star5">
            <a:avLst/>
          </a:prstGeom>
          <a:solidFill>
            <a:srgbClr val="D4A300"/>
          </a:solidFill>
          <a:ln w="63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028432" y="1463040"/>
            <a:ext cx="4206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4A300"/>
                </a:solidFill>
                <a:latin typeface="Arial"/>
              </a:rPr>
              <a:t>IGHV6-1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028432" y="1600200"/>
            <a:ext cx="4206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★ polar-opposite  (Fisher P=0.061;  good 6/6 down,  bad 4/2 up)</a:t>
            </a:r>
          </a:p>
        </p:txBody>
      </p:sp>
      <p:sp>
        <p:nvSpPr>
          <p:cNvPr id="100" name="5-Point Star 99"/>
          <p:cNvSpPr/>
          <p:nvPr/>
        </p:nvSpPr>
        <p:spPr>
          <a:xfrm>
            <a:off x="7781544" y="1764792"/>
            <a:ext cx="164592" cy="164592"/>
          </a:xfrm>
          <a:prstGeom prst="star5">
            <a:avLst/>
          </a:prstGeom>
          <a:solidFill>
            <a:srgbClr val="0A7D6E"/>
          </a:solidFill>
          <a:ln w="63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028432" y="1737360"/>
            <a:ext cx="4206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A7D6E"/>
                </a:solidFill>
                <a:latin typeface="Arial"/>
              </a:rPr>
              <a:t>IGHV3-38-3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028432" y="1874520"/>
            <a:ext cx="4206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● good-coherent  (sign P=0.063;  good 5/5 down,  bad mixed 3/3)</a:t>
            </a:r>
          </a:p>
        </p:txBody>
      </p:sp>
      <p:sp>
        <p:nvSpPr>
          <p:cNvPr id="103" name="5-Point Star 102"/>
          <p:cNvSpPr/>
          <p:nvPr/>
        </p:nvSpPr>
        <p:spPr>
          <a:xfrm>
            <a:off x="7781544" y="2039111"/>
            <a:ext cx="164592" cy="164592"/>
          </a:xfrm>
          <a:prstGeom prst="star5">
            <a:avLst/>
          </a:prstGeom>
          <a:solidFill>
            <a:srgbClr val="C53E1F"/>
          </a:solidFill>
          <a:ln w="63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028432" y="2011679"/>
            <a:ext cx="4206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C53E1F"/>
                </a:solidFill>
                <a:latin typeface="Arial"/>
              </a:rPr>
              <a:t>IGHV3-66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028432" y="2148839"/>
            <a:ext cx="4206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● bad-coherent  (sign P=0.031;  bad 6/6 down,  good mixed)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