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41148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Arial"/>
              </a:rPr>
              <a:t>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1560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  <a:latin typeface="Arial"/>
              </a:rPr>
              <a:t>36-pair baseline × cascade-Δ convergence test — null with near-0.05 emphasis (amber = 0.05 ≤ P &lt; 0.10; silver ◆ = manuscript headline pair)</a:t>
            </a:r>
          </a:p>
        </p:txBody>
      </p:sp>
      <p:sp>
        <p:nvSpPr>
          <p:cNvPr id="4" name="Rectangle 3"/>
          <p:cNvSpPr/>
          <p:nvPr/>
        </p:nvSpPr>
        <p:spPr>
          <a:xfrm>
            <a:off x="9340596" y="1097280"/>
            <a:ext cx="1632204" cy="493776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0" y="1097280"/>
            <a:ext cx="1632204" cy="493776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200400" y="6035040"/>
            <a:ext cx="7772400" cy="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0" y="1097280"/>
            <a:ext cx="0" cy="493776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972800" y="1097280"/>
            <a:ext cx="0" cy="4937760"/>
          </a:xfrm>
          <a:prstGeom prst="line">
            <a:avLst/>
          </a:prstGeom>
          <a:ln w="635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00400" y="1097280"/>
            <a:ext cx="7772400" cy="0"/>
          </a:xfrm>
          <a:prstGeom prst="line">
            <a:avLst/>
          </a:prstGeom>
          <a:ln w="635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00400" y="6035040"/>
            <a:ext cx="0" cy="64008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834640" y="6089904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-1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143500" y="6035040"/>
            <a:ext cx="0" cy="64008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777740" y="6089904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-0.5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086600" y="6035040"/>
            <a:ext cx="0" cy="64008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20840" y="6089904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+0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029700" y="6035040"/>
            <a:ext cx="0" cy="64008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663940" y="6089904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+0.5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972800" y="6035040"/>
            <a:ext cx="0" cy="64008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607040" y="6089904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+1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6382512"/>
            <a:ext cx="77724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222222"/>
                </a:solidFill>
                <a:latin typeface="Arial"/>
              </a:rPr>
              <a:t>Spearman r  (n = 11–12 paired; MSI_pct rows have n = 11, others n = 12)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86600" y="1097280"/>
            <a:ext cx="0" cy="4937760"/>
          </a:xfrm>
          <a:prstGeom prst="line">
            <a:avLst/>
          </a:prstGeom>
          <a:ln w="1524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832604" y="1097280"/>
            <a:ext cx="0" cy="4937760"/>
          </a:xfrm>
          <a:prstGeom prst="line">
            <a:avLst/>
          </a:prstGeom>
          <a:ln w="12700">
            <a:solidFill>
              <a:srgbClr val="D4A30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340596" y="1097280"/>
            <a:ext cx="0" cy="4937760"/>
          </a:xfrm>
          <a:prstGeom prst="line">
            <a:avLst/>
          </a:prstGeom>
          <a:ln w="12700">
            <a:solidFill>
              <a:srgbClr val="D4A30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200400" y="1104138"/>
            <a:ext cx="7772400" cy="123444"/>
          </a:xfrm>
          <a:prstGeom prst="rect">
            <a:avLst/>
          </a:prstGeom>
          <a:solidFill>
            <a:srgbClr val="FBF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2880" y="1104138"/>
            <a:ext cx="2926080" cy="1234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1" i="0">
                <a:solidFill>
                  <a:srgbClr val="F0C86E"/>
                </a:solidFill>
                <a:latin typeface="Arial"/>
              </a:rPr>
              <a:t>Myc Targets V × IGH_n_delta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086600" y="1165860"/>
            <a:ext cx="2172386" cy="0"/>
          </a:xfrm>
          <a:prstGeom prst="line">
            <a:avLst/>
          </a:prstGeom>
          <a:ln w="1016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9213266" y="1120140"/>
            <a:ext cx="91440" cy="91440"/>
          </a:xfrm>
          <a:prstGeom prst="ellipse">
            <a:avLst/>
          </a:prstGeom>
          <a:solidFill>
            <a:srgbClr val="F0C86E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045952" y="1104138"/>
            <a:ext cx="914400" cy="1234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F0C86E"/>
                </a:solidFill>
                <a:latin typeface="Arial"/>
              </a:rPr>
              <a:t>P=0.06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0" y="1241298"/>
            <a:ext cx="7772400" cy="123444"/>
          </a:xfrm>
          <a:prstGeom prst="rect">
            <a:avLst/>
          </a:prstGeom>
          <a:solidFill>
            <a:srgbClr val="FBF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2880" y="1241298"/>
            <a:ext cx="2926080" cy="1234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1" i="0">
                <a:solidFill>
                  <a:srgbClr val="F0C86E"/>
                </a:solidFill>
                <a:latin typeface="Arial"/>
              </a:rPr>
              <a:t>DNA Double-St × IGH_n_delta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086600" y="1303020"/>
            <a:ext cx="2117979" cy="0"/>
          </a:xfrm>
          <a:prstGeom prst="line">
            <a:avLst/>
          </a:prstGeom>
          <a:ln w="1016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9158859" y="1257300"/>
            <a:ext cx="91440" cy="91440"/>
          </a:xfrm>
          <a:prstGeom prst="ellipse">
            <a:avLst/>
          </a:prstGeom>
          <a:solidFill>
            <a:srgbClr val="F0C86E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045952" y="1241298"/>
            <a:ext cx="914400" cy="1234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F0C86E"/>
                </a:solidFill>
                <a:latin typeface="Arial"/>
              </a:rPr>
              <a:t>P=0.07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0" y="1378458"/>
            <a:ext cx="7772400" cy="123444"/>
          </a:xfrm>
          <a:prstGeom prst="rect">
            <a:avLst/>
          </a:prstGeom>
          <a:solidFill>
            <a:srgbClr val="FBF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82880" y="1378458"/>
            <a:ext cx="2926080" cy="1234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1" i="0">
                <a:solidFill>
                  <a:srgbClr val="F0C86E"/>
                </a:solidFill>
                <a:latin typeface="Arial"/>
              </a:rPr>
              <a:t>DNA Repair R- × IGH_n_delta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086600" y="1440180"/>
            <a:ext cx="2090776" cy="0"/>
          </a:xfrm>
          <a:prstGeom prst="line">
            <a:avLst/>
          </a:prstGeom>
          <a:ln w="1016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9131656" y="1394460"/>
            <a:ext cx="91440" cy="91440"/>
          </a:xfrm>
          <a:prstGeom prst="ellipse">
            <a:avLst/>
          </a:prstGeom>
          <a:solidFill>
            <a:srgbClr val="F0C86E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045952" y="1378458"/>
            <a:ext cx="914400" cy="1234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F0C86E"/>
                </a:solidFill>
                <a:latin typeface="Arial"/>
              </a:rPr>
              <a:t>P=0.07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2880" y="1515618"/>
            <a:ext cx="2926080" cy="1234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frac_amp × Treg_delta</a:t>
            </a:r>
          </a:p>
        </p:txBody>
      </p:sp>
      <p:cxnSp>
        <p:nvCxnSpPr>
          <p:cNvPr id="40" name="Connector 39"/>
          <p:cNvCxnSpPr/>
          <p:nvPr/>
        </p:nvCxnSpPr>
        <p:spPr>
          <a:xfrm flipH="1">
            <a:off x="5162931" y="1577340"/>
            <a:ext cx="1923669" cy="0"/>
          </a:xfrm>
          <a:prstGeom prst="line">
            <a:avLst/>
          </a:prstGeom>
          <a:ln w="1016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5117211" y="1531620"/>
            <a:ext cx="91440" cy="91440"/>
          </a:xfrm>
          <a:prstGeom prst="ellipse">
            <a:avLst/>
          </a:prstGeom>
          <a:solidFill>
            <a:srgbClr val="8A2B4C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045952" y="1515618"/>
            <a:ext cx="914400" cy="1234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8A2B4C"/>
                </a:solidFill>
                <a:latin typeface="Arial"/>
              </a:rPr>
              <a:t>P=0.10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2880" y="1652778"/>
            <a:ext cx="2926080" cy="1234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MHC_II × CD8_cytotoxic_delta</a:t>
            </a:r>
          </a:p>
        </p:txBody>
      </p:sp>
      <p:cxnSp>
        <p:nvCxnSpPr>
          <p:cNvPr id="44" name="Connector 43"/>
          <p:cNvCxnSpPr/>
          <p:nvPr/>
        </p:nvCxnSpPr>
        <p:spPr>
          <a:xfrm flipH="1">
            <a:off x="5209565" y="1714500"/>
            <a:ext cx="1877035" cy="0"/>
          </a:xfrm>
          <a:prstGeom prst="line">
            <a:avLst/>
          </a:prstGeom>
          <a:ln w="1016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5163845" y="1668780"/>
            <a:ext cx="91440" cy="91440"/>
          </a:xfrm>
          <a:prstGeom prst="ellipse">
            <a:avLst/>
          </a:prstGeom>
          <a:solidFill>
            <a:srgbClr val="8A2B4C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045952" y="1652778"/>
            <a:ext cx="914400" cy="1234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8A2B4C"/>
                </a:solidFill>
                <a:latin typeface="Arial"/>
              </a:rPr>
              <a:t>P=0.11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2880" y="1789938"/>
            <a:ext cx="2926080" cy="1234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MSI_pct × Treg_delta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7160" y="1789938"/>
            <a:ext cx="274320" cy="1234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 i="1">
                <a:solidFill>
                  <a:srgbClr val="BBBBBB"/>
                </a:solidFill>
                <a:latin typeface="Arial"/>
              </a:rPr>
              <a:t>n=11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7086600" y="1851660"/>
            <a:ext cx="1737131" cy="0"/>
          </a:xfrm>
          <a:prstGeom prst="line">
            <a:avLst/>
          </a:prstGeom>
          <a:ln w="1016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8778011" y="1805940"/>
            <a:ext cx="91440" cy="91440"/>
          </a:xfrm>
          <a:prstGeom prst="ellipse">
            <a:avLst/>
          </a:prstGeom>
          <a:solidFill>
            <a:srgbClr val="0E4A68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045952" y="1789938"/>
            <a:ext cx="914400" cy="1234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0E4A68"/>
                </a:solidFill>
                <a:latin typeface="Arial"/>
              </a:rPr>
              <a:t>P=0.17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82880" y="1927098"/>
            <a:ext cx="2926080" cy="1234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DNA Double-St × Treg_delta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7086600" y="1988820"/>
            <a:ext cx="1523390" cy="0"/>
          </a:xfrm>
          <a:prstGeom prst="line">
            <a:avLst/>
          </a:prstGeom>
          <a:ln w="1016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8564270" y="1943100"/>
            <a:ext cx="91440" cy="91440"/>
          </a:xfrm>
          <a:prstGeom prst="ellipse">
            <a:avLst/>
          </a:prstGeom>
          <a:solidFill>
            <a:srgbClr val="0E4A68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045952" y="1927098"/>
            <a:ext cx="914400" cy="1234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0E4A68"/>
                </a:solidFill>
                <a:latin typeface="Arial"/>
              </a:rPr>
              <a:t>P=0.21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82880" y="2064258"/>
            <a:ext cx="2926080" cy="1234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MSI_pct × CD8_cytotoxic_delta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37160" y="2064258"/>
            <a:ext cx="274320" cy="1234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 i="1">
                <a:solidFill>
                  <a:srgbClr val="BBBBBB"/>
                </a:solidFill>
                <a:latin typeface="Arial"/>
              </a:rPr>
              <a:t>n=11</a:t>
            </a:r>
          </a:p>
        </p:txBody>
      </p:sp>
      <p:cxnSp>
        <p:nvCxnSpPr>
          <p:cNvPr id="58" name="Connector 57"/>
          <p:cNvCxnSpPr/>
          <p:nvPr/>
        </p:nvCxnSpPr>
        <p:spPr>
          <a:xfrm flipH="1">
            <a:off x="5637047" y="2125980"/>
            <a:ext cx="1449553" cy="0"/>
          </a:xfrm>
          <a:prstGeom prst="line">
            <a:avLst/>
          </a:prstGeom>
          <a:ln w="1016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5591327" y="2080260"/>
            <a:ext cx="91440" cy="91440"/>
          </a:xfrm>
          <a:prstGeom prst="ellipse">
            <a:avLst/>
          </a:prstGeom>
          <a:solidFill>
            <a:srgbClr val="8A2B4C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1045952" y="2064258"/>
            <a:ext cx="914400" cy="1234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8A2B4C"/>
                </a:solidFill>
                <a:latin typeface="Arial"/>
              </a:rPr>
              <a:t>P=0.26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2201418"/>
            <a:ext cx="2926080" cy="1234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MHC_II × MHC_II_delta</a:t>
            </a:r>
          </a:p>
        </p:txBody>
      </p:sp>
      <p:cxnSp>
        <p:nvCxnSpPr>
          <p:cNvPr id="62" name="Connector 61"/>
          <p:cNvCxnSpPr/>
          <p:nvPr/>
        </p:nvCxnSpPr>
        <p:spPr>
          <a:xfrm flipH="1">
            <a:off x="5672023" y="2263140"/>
            <a:ext cx="1414577" cy="0"/>
          </a:xfrm>
          <a:prstGeom prst="line">
            <a:avLst/>
          </a:prstGeom>
          <a:ln w="1016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5626303" y="2217420"/>
            <a:ext cx="91440" cy="91440"/>
          </a:xfrm>
          <a:prstGeom prst="ellipse">
            <a:avLst/>
          </a:prstGeom>
          <a:solidFill>
            <a:srgbClr val="8A2B4C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1045952" y="2201418"/>
            <a:ext cx="914400" cy="1234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8A2B4C"/>
                </a:solidFill>
                <a:latin typeface="Arial"/>
              </a:rPr>
              <a:t>P=0.25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82880" y="2338578"/>
            <a:ext cx="2926080" cy="1234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DNA Repair R- × Treg_delta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7086600" y="2400300"/>
            <a:ext cx="1360170" cy="0"/>
          </a:xfrm>
          <a:prstGeom prst="line">
            <a:avLst/>
          </a:prstGeom>
          <a:ln w="1016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Oval 66"/>
          <p:cNvSpPr/>
          <p:nvPr/>
        </p:nvSpPr>
        <p:spPr>
          <a:xfrm>
            <a:off x="8401050" y="2354580"/>
            <a:ext cx="91440" cy="91440"/>
          </a:xfrm>
          <a:prstGeom prst="ellipse">
            <a:avLst/>
          </a:prstGeom>
          <a:solidFill>
            <a:srgbClr val="0E4A68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1045952" y="2338578"/>
            <a:ext cx="914400" cy="1234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0E4A68"/>
                </a:solidFill>
                <a:latin typeface="Arial"/>
              </a:rPr>
              <a:t>P=0.27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2475738"/>
            <a:ext cx="2926080" cy="1234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Myc Targets V × Treg_delta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7086600" y="2537460"/>
            <a:ext cx="1251356" cy="0"/>
          </a:xfrm>
          <a:prstGeom prst="line">
            <a:avLst/>
          </a:prstGeom>
          <a:ln w="1016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Oval 70"/>
          <p:cNvSpPr/>
          <p:nvPr/>
        </p:nvSpPr>
        <p:spPr>
          <a:xfrm>
            <a:off x="8292236" y="2491740"/>
            <a:ext cx="91440" cy="91440"/>
          </a:xfrm>
          <a:prstGeom prst="ellipse">
            <a:avLst/>
          </a:prstGeom>
          <a:solidFill>
            <a:srgbClr val="0E4A68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1045952" y="2475738"/>
            <a:ext cx="914400" cy="1234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0E4A68"/>
                </a:solidFill>
                <a:latin typeface="Arial"/>
              </a:rPr>
              <a:t>P=0.31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82880" y="2612898"/>
            <a:ext cx="2926080" cy="1234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HDR Thru Homo × IGH_n_delta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7086600" y="2674620"/>
            <a:ext cx="1224153" cy="0"/>
          </a:xfrm>
          <a:prstGeom prst="line">
            <a:avLst/>
          </a:prstGeom>
          <a:ln w="1016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Oval 74"/>
          <p:cNvSpPr/>
          <p:nvPr/>
        </p:nvSpPr>
        <p:spPr>
          <a:xfrm>
            <a:off x="8265033" y="2628900"/>
            <a:ext cx="91440" cy="91440"/>
          </a:xfrm>
          <a:prstGeom prst="ellipse">
            <a:avLst/>
          </a:prstGeom>
          <a:solidFill>
            <a:srgbClr val="0E4A68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1045952" y="2612898"/>
            <a:ext cx="914400" cy="1234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0E4A68"/>
                </a:solidFill>
                <a:latin typeface="Arial"/>
              </a:rPr>
              <a:t>P=0.32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82880" y="2750058"/>
            <a:ext cx="2926080" cy="1234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E2F Targets × IGH_n_delta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7086600" y="2811780"/>
            <a:ext cx="1196950" cy="0"/>
          </a:xfrm>
          <a:prstGeom prst="line">
            <a:avLst/>
          </a:prstGeom>
          <a:ln w="1016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Oval 78"/>
          <p:cNvSpPr/>
          <p:nvPr/>
        </p:nvSpPr>
        <p:spPr>
          <a:xfrm>
            <a:off x="8237830" y="2766060"/>
            <a:ext cx="91440" cy="91440"/>
          </a:xfrm>
          <a:prstGeom prst="ellipse">
            <a:avLst/>
          </a:prstGeom>
          <a:solidFill>
            <a:srgbClr val="0E4A68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1045952" y="2750058"/>
            <a:ext cx="914400" cy="1234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0E4A68"/>
                </a:solidFill>
                <a:latin typeface="Arial"/>
              </a:rPr>
              <a:t>P=0.33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82880" y="2887218"/>
            <a:ext cx="2926080" cy="1234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G2-M Checkpoi × IGH_n_delta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7086600" y="2948940"/>
            <a:ext cx="1196950" cy="0"/>
          </a:xfrm>
          <a:prstGeom prst="line">
            <a:avLst/>
          </a:prstGeom>
          <a:ln w="1016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Oval 82"/>
          <p:cNvSpPr/>
          <p:nvPr/>
        </p:nvSpPr>
        <p:spPr>
          <a:xfrm>
            <a:off x="8237830" y="2903220"/>
            <a:ext cx="91440" cy="91440"/>
          </a:xfrm>
          <a:prstGeom prst="ellipse">
            <a:avLst/>
          </a:prstGeom>
          <a:solidFill>
            <a:srgbClr val="0E4A68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1045952" y="2887218"/>
            <a:ext cx="914400" cy="1234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0E4A68"/>
                </a:solidFill>
                <a:latin typeface="Arial"/>
              </a:rPr>
              <a:t>P=0.33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3024378"/>
            <a:ext cx="2926080" cy="1234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DNA Double-St × MHC_II_delta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7086600" y="3086100"/>
            <a:ext cx="1142543" cy="0"/>
          </a:xfrm>
          <a:prstGeom prst="line">
            <a:avLst/>
          </a:prstGeom>
          <a:ln w="1016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Oval 86"/>
          <p:cNvSpPr/>
          <p:nvPr/>
        </p:nvSpPr>
        <p:spPr>
          <a:xfrm>
            <a:off x="8183423" y="3040380"/>
            <a:ext cx="91440" cy="91440"/>
          </a:xfrm>
          <a:prstGeom prst="ellipse">
            <a:avLst/>
          </a:prstGeom>
          <a:solidFill>
            <a:srgbClr val="0E4A68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1045952" y="3024378"/>
            <a:ext cx="914400" cy="1234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0E4A68"/>
                </a:solidFill>
                <a:latin typeface="Arial"/>
              </a:rPr>
              <a:t>P=0.35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82880" y="3161538"/>
            <a:ext cx="2926080" cy="1234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DNA Repair R- × MHC_II_delta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7086600" y="3223260"/>
            <a:ext cx="1115339" cy="0"/>
          </a:xfrm>
          <a:prstGeom prst="line">
            <a:avLst/>
          </a:prstGeom>
          <a:ln w="1016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8156219" y="3177540"/>
            <a:ext cx="91440" cy="91440"/>
          </a:xfrm>
          <a:prstGeom prst="ellipse">
            <a:avLst/>
          </a:prstGeom>
          <a:solidFill>
            <a:srgbClr val="0E4A68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1045952" y="3161538"/>
            <a:ext cx="914400" cy="1234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0E4A68"/>
                </a:solidFill>
                <a:latin typeface="Arial"/>
              </a:rPr>
              <a:t>P=0.37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82880" y="3298698"/>
            <a:ext cx="2926080" cy="1234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Myc Targets V × MHC_II_delta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7086600" y="3360420"/>
            <a:ext cx="952119" cy="0"/>
          </a:xfrm>
          <a:prstGeom prst="line">
            <a:avLst/>
          </a:prstGeom>
          <a:ln w="1016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Oval 94"/>
          <p:cNvSpPr/>
          <p:nvPr/>
        </p:nvSpPr>
        <p:spPr>
          <a:xfrm>
            <a:off x="7992999" y="3314700"/>
            <a:ext cx="91440" cy="91440"/>
          </a:xfrm>
          <a:prstGeom prst="ellipse">
            <a:avLst/>
          </a:prstGeom>
          <a:solidFill>
            <a:srgbClr val="0E4A68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1045952" y="3298698"/>
            <a:ext cx="914400" cy="1234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0E4A68"/>
                </a:solidFill>
                <a:latin typeface="Arial"/>
              </a:rPr>
              <a:t>P=0.44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82880" y="3435858"/>
            <a:ext cx="2926080" cy="1234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MSI_pct × IGH_n_delta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37160" y="3435858"/>
            <a:ext cx="274320" cy="1234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 i="1">
                <a:solidFill>
                  <a:srgbClr val="BBBBBB"/>
                </a:solidFill>
                <a:latin typeface="Arial"/>
              </a:rPr>
              <a:t>n=11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7086600" y="3497580"/>
            <a:ext cx="870509" cy="0"/>
          </a:xfrm>
          <a:prstGeom prst="line">
            <a:avLst/>
          </a:prstGeom>
          <a:ln w="1016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Oval 99"/>
          <p:cNvSpPr/>
          <p:nvPr/>
        </p:nvSpPr>
        <p:spPr>
          <a:xfrm>
            <a:off x="7911389" y="3451860"/>
            <a:ext cx="91440" cy="91440"/>
          </a:xfrm>
          <a:prstGeom prst="ellipse">
            <a:avLst/>
          </a:prstGeom>
          <a:solidFill>
            <a:srgbClr val="0E4A68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1045952" y="3435858"/>
            <a:ext cx="914400" cy="1234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0E4A68"/>
                </a:solidFill>
                <a:latin typeface="Arial"/>
              </a:rPr>
              <a:t>P=0.51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82880" y="3573018"/>
            <a:ext cx="2926080" cy="1234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HDR Thru Homo × Treg_delta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7086600" y="3634740"/>
            <a:ext cx="734492" cy="0"/>
          </a:xfrm>
          <a:prstGeom prst="line">
            <a:avLst/>
          </a:prstGeom>
          <a:ln w="1016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Oval 103"/>
          <p:cNvSpPr/>
          <p:nvPr/>
        </p:nvSpPr>
        <p:spPr>
          <a:xfrm>
            <a:off x="7775372" y="3589020"/>
            <a:ext cx="91440" cy="91440"/>
          </a:xfrm>
          <a:prstGeom prst="ellipse">
            <a:avLst/>
          </a:prstGeom>
          <a:solidFill>
            <a:srgbClr val="0E4A68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1045952" y="3573018"/>
            <a:ext cx="914400" cy="1234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0E4A68"/>
                </a:solidFill>
                <a:latin typeface="Arial"/>
              </a:rPr>
              <a:t>P=0.56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82880" y="3710178"/>
            <a:ext cx="2926080" cy="1234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frac_amp × MHC_II_delta</a:t>
            </a:r>
          </a:p>
        </p:txBody>
      </p:sp>
      <p:cxnSp>
        <p:nvCxnSpPr>
          <p:cNvPr id="107" name="Connector 106"/>
          <p:cNvCxnSpPr/>
          <p:nvPr/>
        </p:nvCxnSpPr>
        <p:spPr>
          <a:xfrm flipH="1">
            <a:off x="6375425" y="3771900"/>
            <a:ext cx="711175" cy="0"/>
          </a:xfrm>
          <a:prstGeom prst="line">
            <a:avLst/>
          </a:prstGeom>
          <a:ln w="1016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Oval 107"/>
          <p:cNvSpPr/>
          <p:nvPr/>
        </p:nvSpPr>
        <p:spPr>
          <a:xfrm>
            <a:off x="6329705" y="3726180"/>
            <a:ext cx="91440" cy="91440"/>
          </a:xfrm>
          <a:prstGeom prst="ellipse">
            <a:avLst/>
          </a:prstGeom>
          <a:solidFill>
            <a:srgbClr val="8A2B4C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1045952" y="3710178"/>
            <a:ext cx="914400" cy="1234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8A2B4C"/>
                </a:solidFill>
                <a:latin typeface="Arial"/>
              </a:rPr>
              <a:t>P=0.57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82880" y="3847338"/>
            <a:ext cx="2926080" cy="1234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MHC_II × IGH_n_delta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7086600" y="3909060"/>
            <a:ext cx="680085" cy="0"/>
          </a:xfrm>
          <a:prstGeom prst="line">
            <a:avLst/>
          </a:prstGeom>
          <a:ln w="1016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Oval 111"/>
          <p:cNvSpPr/>
          <p:nvPr/>
        </p:nvSpPr>
        <p:spPr>
          <a:xfrm>
            <a:off x="7720965" y="3863340"/>
            <a:ext cx="91440" cy="91440"/>
          </a:xfrm>
          <a:prstGeom prst="ellipse">
            <a:avLst/>
          </a:prstGeom>
          <a:solidFill>
            <a:srgbClr val="0E4A68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1045952" y="3847338"/>
            <a:ext cx="914400" cy="1234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0E4A68"/>
                </a:solidFill>
                <a:latin typeface="Arial"/>
              </a:rPr>
              <a:t>P=0.59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82880" y="3984498"/>
            <a:ext cx="2926080" cy="1234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frac_amp × CD8_cytotoxic_delta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7086600" y="4046220"/>
            <a:ext cx="680085" cy="0"/>
          </a:xfrm>
          <a:prstGeom prst="line">
            <a:avLst/>
          </a:prstGeom>
          <a:ln w="1016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Oval 115"/>
          <p:cNvSpPr/>
          <p:nvPr/>
        </p:nvSpPr>
        <p:spPr>
          <a:xfrm>
            <a:off x="7720965" y="4000500"/>
            <a:ext cx="91440" cy="91440"/>
          </a:xfrm>
          <a:prstGeom prst="ellipse">
            <a:avLst/>
          </a:prstGeom>
          <a:solidFill>
            <a:srgbClr val="0E4A68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1045952" y="3984498"/>
            <a:ext cx="914400" cy="1234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0E4A68"/>
                </a:solidFill>
                <a:latin typeface="Arial"/>
              </a:rPr>
              <a:t>P=0.59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82880" y="4121658"/>
            <a:ext cx="2926080" cy="1234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E2F Targets × Treg_delta</a:t>
            </a:r>
          </a:p>
        </p:txBody>
      </p:sp>
      <p:cxnSp>
        <p:nvCxnSpPr>
          <p:cNvPr id="119" name="Connector 118"/>
          <p:cNvCxnSpPr/>
          <p:nvPr/>
        </p:nvCxnSpPr>
        <p:spPr>
          <a:xfrm>
            <a:off x="7086600" y="4183380"/>
            <a:ext cx="598475" cy="0"/>
          </a:xfrm>
          <a:prstGeom prst="line">
            <a:avLst/>
          </a:prstGeom>
          <a:ln w="1016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Oval 119"/>
          <p:cNvSpPr/>
          <p:nvPr/>
        </p:nvSpPr>
        <p:spPr>
          <a:xfrm>
            <a:off x="7639355" y="4137660"/>
            <a:ext cx="91440" cy="91440"/>
          </a:xfrm>
          <a:prstGeom prst="ellipse">
            <a:avLst/>
          </a:prstGeom>
          <a:solidFill>
            <a:srgbClr val="0E4A68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1045952" y="4121658"/>
            <a:ext cx="914400" cy="1234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0E4A68"/>
                </a:solidFill>
                <a:latin typeface="Arial"/>
              </a:rPr>
              <a:t>P=0.63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82880" y="4258818"/>
            <a:ext cx="2926080" cy="1234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G2-M Checkpoi × Treg_delta</a:t>
            </a:r>
          </a:p>
        </p:txBody>
      </p:sp>
      <p:cxnSp>
        <p:nvCxnSpPr>
          <p:cNvPr id="123" name="Connector 122"/>
          <p:cNvCxnSpPr/>
          <p:nvPr/>
        </p:nvCxnSpPr>
        <p:spPr>
          <a:xfrm>
            <a:off x="7086600" y="4320540"/>
            <a:ext cx="598475" cy="0"/>
          </a:xfrm>
          <a:prstGeom prst="line">
            <a:avLst/>
          </a:prstGeom>
          <a:ln w="1016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Oval 123"/>
          <p:cNvSpPr/>
          <p:nvPr/>
        </p:nvSpPr>
        <p:spPr>
          <a:xfrm>
            <a:off x="7639355" y="4274820"/>
            <a:ext cx="91440" cy="91440"/>
          </a:xfrm>
          <a:prstGeom prst="ellipse">
            <a:avLst/>
          </a:prstGeom>
          <a:solidFill>
            <a:srgbClr val="0E4A68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1045952" y="4258818"/>
            <a:ext cx="914400" cy="1234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0E4A68"/>
                </a:solidFill>
                <a:latin typeface="Arial"/>
              </a:rPr>
              <a:t>P=0.63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82880" y="4395978"/>
            <a:ext cx="2926080" cy="1234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MSI_pct × MHC_II_delta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37160" y="4395978"/>
            <a:ext cx="274320" cy="1234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 i="1">
                <a:solidFill>
                  <a:srgbClr val="BBBBBB"/>
                </a:solidFill>
                <a:latin typeface="Arial"/>
              </a:rPr>
              <a:t>n=11</a:t>
            </a:r>
          </a:p>
        </p:txBody>
      </p:sp>
      <p:cxnSp>
        <p:nvCxnSpPr>
          <p:cNvPr id="128" name="Connector 127"/>
          <p:cNvCxnSpPr/>
          <p:nvPr/>
        </p:nvCxnSpPr>
        <p:spPr>
          <a:xfrm>
            <a:off x="7086600" y="4457700"/>
            <a:ext cx="579044" cy="0"/>
          </a:xfrm>
          <a:prstGeom prst="line">
            <a:avLst/>
          </a:prstGeom>
          <a:ln w="1016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Oval 128"/>
          <p:cNvSpPr/>
          <p:nvPr/>
        </p:nvSpPr>
        <p:spPr>
          <a:xfrm>
            <a:off x="7619924" y="4411980"/>
            <a:ext cx="91440" cy="91440"/>
          </a:xfrm>
          <a:prstGeom prst="ellipse">
            <a:avLst/>
          </a:prstGeom>
          <a:solidFill>
            <a:srgbClr val="0E4A68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1045952" y="4395978"/>
            <a:ext cx="914400" cy="1234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0E4A68"/>
                </a:solidFill>
                <a:latin typeface="Arial"/>
              </a:rPr>
              <a:t>P=0.66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82880" y="4533138"/>
            <a:ext cx="2926080" cy="1234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E2F Targets × CD8_cytotoxic_delta</a:t>
            </a:r>
          </a:p>
        </p:txBody>
      </p:sp>
      <p:cxnSp>
        <p:nvCxnSpPr>
          <p:cNvPr id="132" name="Connector 131"/>
          <p:cNvCxnSpPr/>
          <p:nvPr/>
        </p:nvCxnSpPr>
        <p:spPr>
          <a:xfrm>
            <a:off x="7086600" y="4594860"/>
            <a:ext cx="489661" cy="0"/>
          </a:xfrm>
          <a:prstGeom prst="line">
            <a:avLst/>
          </a:prstGeom>
          <a:ln w="1016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Oval 132"/>
          <p:cNvSpPr/>
          <p:nvPr/>
        </p:nvSpPr>
        <p:spPr>
          <a:xfrm>
            <a:off x="7530541" y="4549140"/>
            <a:ext cx="91440" cy="91440"/>
          </a:xfrm>
          <a:prstGeom prst="ellipse">
            <a:avLst/>
          </a:prstGeom>
          <a:solidFill>
            <a:srgbClr val="0E4A68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1045952" y="4533138"/>
            <a:ext cx="914400" cy="1234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0E4A68"/>
                </a:solidFill>
                <a:latin typeface="Arial"/>
              </a:rPr>
              <a:t>P=0.70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82880" y="4670298"/>
            <a:ext cx="2926080" cy="1234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HDR Thru Homo × CD8_cytotoxic_delta</a:t>
            </a:r>
          </a:p>
        </p:txBody>
      </p:sp>
      <p:cxnSp>
        <p:nvCxnSpPr>
          <p:cNvPr id="136" name="Connector 135"/>
          <p:cNvCxnSpPr/>
          <p:nvPr/>
        </p:nvCxnSpPr>
        <p:spPr>
          <a:xfrm>
            <a:off x="7086600" y="4732020"/>
            <a:ext cx="489661" cy="0"/>
          </a:xfrm>
          <a:prstGeom prst="line">
            <a:avLst/>
          </a:prstGeom>
          <a:ln w="1016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Oval 136"/>
          <p:cNvSpPr/>
          <p:nvPr/>
        </p:nvSpPr>
        <p:spPr>
          <a:xfrm>
            <a:off x="7530541" y="4686300"/>
            <a:ext cx="91440" cy="91440"/>
          </a:xfrm>
          <a:prstGeom prst="ellipse">
            <a:avLst/>
          </a:prstGeom>
          <a:solidFill>
            <a:srgbClr val="0E4A68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11045952" y="4670298"/>
            <a:ext cx="914400" cy="1234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0E4A68"/>
                </a:solidFill>
                <a:latin typeface="Arial"/>
              </a:rPr>
              <a:t>P=0.70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82880" y="4807458"/>
            <a:ext cx="2926080" cy="1234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G2-M Checkpoi × CD8_cytotoxic_delta</a:t>
            </a:r>
          </a:p>
        </p:txBody>
      </p:sp>
      <p:cxnSp>
        <p:nvCxnSpPr>
          <p:cNvPr id="140" name="Connector 139"/>
          <p:cNvCxnSpPr/>
          <p:nvPr/>
        </p:nvCxnSpPr>
        <p:spPr>
          <a:xfrm>
            <a:off x="7086600" y="4869180"/>
            <a:ext cx="489661" cy="0"/>
          </a:xfrm>
          <a:prstGeom prst="line">
            <a:avLst/>
          </a:prstGeom>
          <a:ln w="1016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Oval 140"/>
          <p:cNvSpPr/>
          <p:nvPr/>
        </p:nvSpPr>
        <p:spPr>
          <a:xfrm>
            <a:off x="7530541" y="4823460"/>
            <a:ext cx="91440" cy="91440"/>
          </a:xfrm>
          <a:prstGeom prst="ellipse">
            <a:avLst/>
          </a:prstGeom>
          <a:solidFill>
            <a:srgbClr val="0E4A68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11045952" y="4807458"/>
            <a:ext cx="914400" cy="1234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0E4A68"/>
                </a:solidFill>
                <a:latin typeface="Arial"/>
              </a:rPr>
              <a:t>P=0.70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82880" y="4944618"/>
            <a:ext cx="2926080" cy="1234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MHC_II × Treg_delta</a:t>
            </a:r>
          </a:p>
        </p:txBody>
      </p:sp>
      <p:cxnSp>
        <p:nvCxnSpPr>
          <p:cNvPr id="144" name="Connector 143"/>
          <p:cNvCxnSpPr/>
          <p:nvPr/>
        </p:nvCxnSpPr>
        <p:spPr>
          <a:xfrm flipH="1">
            <a:off x="6732956" y="5006340"/>
            <a:ext cx="353644" cy="0"/>
          </a:xfrm>
          <a:prstGeom prst="line">
            <a:avLst/>
          </a:prstGeom>
          <a:ln w="1016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Oval 144"/>
          <p:cNvSpPr/>
          <p:nvPr/>
        </p:nvSpPr>
        <p:spPr>
          <a:xfrm>
            <a:off x="6687236" y="4960620"/>
            <a:ext cx="91440" cy="91440"/>
          </a:xfrm>
          <a:prstGeom prst="ellipse">
            <a:avLst/>
          </a:prstGeom>
          <a:solidFill>
            <a:srgbClr val="8A2B4C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11045952" y="4944618"/>
            <a:ext cx="914400" cy="1234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8A2B4C"/>
                </a:solidFill>
                <a:latin typeface="Arial"/>
              </a:rPr>
              <a:t>P=0.78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82880" y="5081778"/>
            <a:ext cx="2926080" cy="1234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HDR Thru Homo × MHC_II_delta</a:t>
            </a:r>
          </a:p>
        </p:txBody>
      </p:sp>
      <p:cxnSp>
        <p:nvCxnSpPr>
          <p:cNvPr id="148" name="Connector 147"/>
          <p:cNvCxnSpPr/>
          <p:nvPr/>
        </p:nvCxnSpPr>
        <p:spPr>
          <a:xfrm>
            <a:off x="7086600" y="5143500"/>
            <a:ext cx="353644" cy="0"/>
          </a:xfrm>
          <a:prstGeom prst="line">
            <a:avLst/>
          </a:prstGeom>
          <a:ln w="1016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Oval 148"/>
          <p:cNvSpPr/>
          <p:nvPr/>
        </p:nvSpPr>
        <p:spPr>
          <a:xfrm>
            <a:off x="7394524" y="5097780"/>
            <a:ext cx="91440" cy="91440"/>
          </a:xfrm>
          <a:prstGeom prst="ellipse">
            <a:avLst/>
          </a:prstGeom>
          <a:solidFill>
            <a:srgbClr val="0E4A68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1045952" y="5081778"/>
            <a:ext cx="914400" cy="1234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0E4A68"/>
                </a:solidFill>
                <a:latin typeface="Arial"/>
              </a:rPr>
              <a:t>P=0.78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82880" y="5218938"/>
            <a:ext cx="2926080" cy="1234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frac_amp × IGH_n_delta</a:t>
            </a:r>
          </a:p>
        </p:txBody>
      </p:sp>
      <p:cxnSp>
        <p:nvCxnSpPr>
          <p:cNvPr id="152" name="Connector 151"/>
          <p:cNvCxnSpPr/>
          <p:nvPr/>
        </p:nvCxnSpPr>
        <p:spPr>
          <a:xfrm flipH="1">
            <a:off x="6779590" y="5280660"/>
            <a:ext cx="307010" cy="0"/>
          </a:xfrm>
          <a:prstGeom prst="line">
            <a:avLst/>
          </a:prstGeom>
          <a:ln w="1016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Oval 152"/>
          <p:cNvSpPr/>
          <p:nvPr/>
        </p:nvSpPr>
        <p:spPr>
          <a:xfrm>
            <a:off x="6733870" y="5234940"/>
            <a:ext cx="91440" cy="91440"/>
          </a:xfrm>
          <a:prstGeom prst="ellipse">
            <a:avLst/>
          </a:prstGeom>
          <a:solidFill>
            <a:srgbClr val="8A2B4C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11045952" y="5218938"/>
            <a:ext cx="914400" cy="1234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8A2B4C"/>
                </a:solidFill>
                <a:latin typeface="Arial"/>
              </a:rPr>
              <a:t>P=0.81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3200400" y="5356098"/>
            <a:ext cx="7772400" cy="123444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182880" y="5356098"/>
            <a:ext cx="2926080" cy="1234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1" i="0">
                <a:solidFill>
                  <a:srgbClr val="9CA3AF"/>
                </a:solidFill>
                <a:latin typeface="Arial"/>
              </a:rPr>
              <a:t>DNA Double-St × CD8_cytotoxic_delta</a:t>
            </a:r>
          </a:p>
        </p:txBody>
      </p:sp>
      <p:cxnSp>
        <p:nvCxnSpPr>
          <p:cNvPr id="157" name="Connector 156"/>
          <p:cNvCxnSpPr/>
          <p:nvPr/>
        </p:nvCxnSpPr>
        <p:spPr>
          <a:xfrm flipH="1">
            <a:off x="6814566" y="5417820"/>
            <a:ext cx="272034" cy="0"/>
          </a:xfrm>
          <a:prstGeom prst="line">
            <a:avLst/>
          </a:prstGeom>
          <a:ln w="1016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Oval 157"/>
          <p:cNvSpPr/>
          <p:nvPr/>
        </p:nvSpPr>
        <p:spPr>
          <a:xfrm>
            <a:off x="6768846" y="5372100"/>
            <a:ext cx="91440" cy="91440"/>
          </a:xfrm>
          <a:prstGeom prst="ellipse">
            <a:avLst/>
          </a:prstGeom>
          <a:solidFill>
            <a:srgbClr val="8A2B4C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Diamond 158"/>
          <p:cNvSpPr/>
          <p:nvPr/>
        </p:nvSpPr>
        <p:spPr>
          <a:xfrm>
            <a:off x="6723126" y="5326380"/>
            <a:ext cx="182880" cy="182880"/>
          </a:xfrm>
          <a:prstGeom prst="diamond">
            <a:avLst/>
          </a:prstGeom>
          <a:solidFill>
            <a:srgbClr val="9CA3AF"/>
          </a:solidFill>
          <a:ln w="762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6933438" y="5342382"/>
            <a:ext cx="1280160" cy="8229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1">
                <a:solidFill>
                  <a:srgbClr val="9CA3AF"/>
                </a:solidFill>
                <a:latin typeface="Arial"/>
              </a:rPr>
              <a:t>headline pair (manuscript)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1045952" y="5356098"/>
            <a:ext cx="914400" cy="1234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9CA3AF"/>
                </a:solidFill>
                <a:latin typeface="Arial"/>
              </a:rPr>
              <a:t>P=0.83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82880" y="5493258"/>
            <a:ext cx="2926080" cy="1234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Myc Targets V × CD8_cytotoxic_delta</a:t>
            </a:r>
          </a:p>
        </p:txBody>
      </p:sp>
      <p:cxnSp>
        <p:nvCxnSpPr>
          <p:cNvPr id="163" name="Connector 162"/>
          <p:cNvCxnSpPr/>
          <p:nvPr/>
        </p:nvCxnSpPr>
        <p:spPr>
          <a:xfrm>
            <a:off x="7086600" y="5554980"/>
            <a:ext cx="108814" cy="0"/>
          </a:xfrm>
          <a:prstGeom prst="line">
            <a:avLst/>
          </a:prstGeom>
          <a:ln w="1016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Oval 163"/>
          <p:cNvSpPr/>
          <p:nvPr/>
        </p:nvSpPr>
        <p:spPr>
          <a:xfrm>
            <a:off x="7149694" y="5509260"/>
            <a:ext cx="91440" cy="91440"/>
          </a:xfrm>
          <a:prstGeom prst="ellipse">
            <a:avLst/>
          </a:prstGeom>
          <a:solidFill>
            <a:srgbClr val="0E4A68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11045952" y="5493258"/>
            <a:ext cx="914400" cy="1234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0E4A68"/>
                </a:solidFill>
                <a:latin typeface="Arial"/>
              </a:rPr>
              <a:t>P=0.93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82880" y="5630418"/>
            <a:ext cx="2926080" cy="1234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G2-M Checkpoi × MHC_II_delta</a:t>
            </a:r>
          </a:p>
        </p:txBody>
      </p:sp>
      <p:cxnSp>
        <p:nvCxnSpPr>
          <p:cNvPr id="167" name="Connector 166"/>
          <p:cNvCxnSpPr/>
          <p:nvPr/>
        </p:nvCxnSpPr>
        <p:spPr>
          <a:xfrm>
            <a:off x="7086600" y="5692140"/>
            <a:ext cx="81610" cy="0"/>
          </a:xfrm>
          <a:prstGeom prst="line">
            <a:avLst/>
          </a:prstGeom>
          <a:ln w="1016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Oval 167"/>
          <p:cNvSpPr/>
          <p:nvPr/>
        </p:nvSpPr>
        <p:spPr>
          <a:xfrm>
            <a:off x="7122490" y="5646420"/>
            <a:ext cx="91440" cy="91440"/>
          </a:xfrm>
          <a:prstGeom prst="ellipse">
            <a:avLst/>
          </a:prstGeom>
          <a:solidFill>
            <a:srgbClr val="0E4A68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11045952" y="5630418"/>
            <a:ext cx="914400" cy="1234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0E4A68"/>
                </a:solidFill>
                <a:latin typeface="Arial"/>
              </a:rPr>
              <a:t>P=0.95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82880" y="5767578"/>
            <a:ext cx="2926080" cy="1234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E2F Targets × MHC_II_delta</a:t>
            </a:r>
          </a:p>
        </p:txBody>
      </p:sp>
      <p:cxnSp>
        <p:nvCxnSpPr>
          <p:cNvPr id="171" name="Connector 170"/>
          <p:cNvCxnSpPr/>
          <p:nvPr/>
        </p:nvCxnSpPr>
        <p:spPr>
          <a:xfrm>
            <a:off x="7086600" y="5829300"/>
            <a:ext cx="81610" cy="0"/>
          </a:xfrm>
          <a:prstGeom prst="line">
            <a:avLst/>
          </a:prstGeom>
          <a:ln w="1016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Oval 171"/>
          <p:cNvSpPr/>
          <p:nvPr/>
        </p:nvSpPr>
        <p:spPr>
          <a:xfrm>
            <a:off x="7122490" y="5783580"/>
            <a:ext cx="91440" cy="91440"/>
          </a:xfrm>
          <a:prstGeom prst="ellipse">
            <a:avLst/>
          </a:prstGeom>
          <a:solidFill>
            <a:srgbClr val="0E4A68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11045952" y="5767578"/>
            <a:ext cx="914400" cy="1234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0E4A68"/>
                </a:solidFill>
                <a:latin typeface="Arial"/>
              </a:rPr>
              <a:t>P=0.95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82880" y="5904738"/>
            <a:ext cx="2926080" cy="1234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DNA Repair R- × CD8_cytotoxic_delta</a:t>
            </a:r>
          </a:p>
        </p:txBody>
      </p:sp>
      <p:cxnSp>
        <p:nvCxnSpPr>
          <p:cNvPr id="175" name="Connector 174"/>
          <p:cNvCxnSpPr/>
          <p:nvPr/>
        </p:nvCxnSpPr>
        <p:spPr>
          <a:xfrm flipH="1">
            <a:off x="7059397" y="5966460"/>
            <a:ext cx="27203" cy="0"/>
          </a:xfrm>
          <a:prstGeom prst="line">
            <a:avLst/>
          </a:prstGeom>
          <a:ln w="1016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6" name="Oval 175"/>
          <p:cNvSpPr/>
          <p:nvPr/>
        </p:nvSpPr>
        <p:spPr>
          <a:xfrm>
            <a:off x="7013677" y="5920740"/>
            <a:ext cx="91440" cy="91440"/>
          </a:xfrm>
          <a:prstGeom prst="ellipse">
            <a:avLst/>
          </a:prstGeom>
          <a:solidFill>
            <a:srgbClr val="8A2B4C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11045952" y="5904738"/>
            <a:ext cx="914400" cy="1234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8A2B4C"/>
                </a:solidFill>
                <a:latin typeface="Arial"/>
              </a:rPr>
              <a:t>P=0.98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9601200" y="1280160"/>
            <a:ext cx="2286000" cy="914400"/>
          </a:xfrm>
          <a:prstGeom prst="rect">
            <a:avLst/>
          </a:prstGeom>
          <a:solidFill>
            <a:srgbClr val="D4A300"/>
          </a:solidFill>
          <a:ln w="1016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9601200" y="1280160"/>
            <a:ext cx="2286000" cy="9144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222222"/>
                </a:solidFill>
                <a:latin typeface="Arial"/>
              </a:rPr>
              <a:t>0 / 36 pairs
P &lt; 0.05 (BH q ≥ 0.98)
1.8 expected by chance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9601200" y="2331720"/>
            <a:ext cx="2286000" cy="777240"/>
          </a:xfrm>
          <a:prstGeom prst="rect">
            <a:avLst/>
          </a:prstGeom>
          <a:solidFill>
            <a:srgbClr val="F0C86E"/>
          </a:solidFill>
          <a:ln w="1016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9601200" y="2331720"/>
            <a:ext cx="2286000" cy="7772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222222"/>
                </a:solidFill>
                <a:latin typeface="Arial"/>
              </a:rPr>
              <a:t>3 / 36 pairs
near 0.05 (P &lt; 0.10)
all × IGH_n Δ; partial P &gt; 0.13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9601200" y="3246120"/>
            <a:ext cx="2286000" cy="594360"/>
          </a:xfrm>
          <a:prstGeom prst="rect">
            <a:avLst/>
          </a:prstGeom>
          <a:solidFill>
            <a:srgbClr val="F0F0F0"/>
          </a:solidFill>
          <a:ln w="1016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9601200" y="3246120"/>
            <a:ext cx="2286000" cy="5943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222222"/>
                </a:solidFill>
                <a:latin typeface="Arial"/>
              </a:rPr>
              <a:t>headline pair ◆
DSB × CD8-cyt Δ
r = −0.07, P = 0.83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3200400" y="6519672"/>
            <a:ext cx="164592" cy="118872"/>
          </a:xfrm>
          <a:prstGeom prst="rect">
            <a:avLst/>
          </a:prstGeom>
          <a:solidFill>
            <a:srgbClr val="D4A300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3401568" y="6510528"/>
            <a:ext cx="13716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P &lt; 0.05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4800600" y="6519672"/>
            <a:ext cx="164592" cy="118872"/>
          </a:xfrm>
          <a:prstGeom prst="rect">
            <a:avLst/>
          </a:prstGeom>
          <a:solidFill>
            <a:srgbClr val="F0C86E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5001768" y="6510528"/>
            <a:ext cx="13716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0.05 ≤ P &lt; 0.10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6400800" y="6519672"/>
            <a:ext cx="164592" cy="118872"/>
          </a:xfrm>
          <a:prstGeom prst="rect">
            <a:avLst/>
          </a:prstGeom>
          <a:solidFill>
            <a:srgbClr val="0E4A68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6601968" y="6510528"/>
            <a:ext cx="13716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P ≥ 0.10, r &gt; 0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8001000" y="6519672"/>
            <a:ext cx="164592" cy="118872"/>
          </a:xfrm>
          <a:prstGeom prst="rect">
            <a:avLst/>
          </a:prstGeom>
          <a:solidFill>
            <a:srgbClr val="8A2B4C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8202168" y="6510528"/>
            <a:ext cx="13716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P ≥ 0.10, r &lt; 0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9601200" y="6519672"/>
            <a:ext cx="164592" cy="118872"/>
          </a:xfrm>
          <a:prstGeom prst="rect">
            <a:avLst/>
          </a:prstGeom>
          <a:solidFill>
            <a:srgbClr val="9CA3AF"/>
          </a:solidFill>
          <a:ln w="254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9802368" y="6510528"/>
            <a:ext cx="13716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headline pair ◆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3200400" y="6693408"/>
            <a:ext cx="77724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1">
                <a:solidFill>
                  <a:srgbClr val="222222"/>
                </a:solidFill>
                <a:latin typeface="Arial"/>
              </a:rPr>
              <a:t>Gold dashed = |r| = 0.58 (P = 0.05 at n = 12). Shaded gray zones = |r| &gt; 0.58 (significant zone) — no hit lands inside.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41148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Arial"/>
              </a:rPr>
              <a:t>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1560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  <a:latin typeface="Arial"/>
              </a:rPr>
              <a:t>Purity-adjusted paired Δ sensitivity — raw vs purity-adjusted Δ (Tarabichi 2021 motif)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00400" y="6217920"/>
            <a:ext cx="5943600" cy="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00400" y="1188720"/>
            <a:ext cx="0" cy="502920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144000" y="1188720"/>
            <a:ext cx="0" cy="5029200"/>
          </a:xfrm>
          <a:prstGeom prst="line">
            <a:avLst/>
          </a:prstGeom>
          <a:ln w="635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0" y="1188720"/>
            <a:ext cx="5943600" cy="0"/>
          </a:xfrm>
          <a:prstGeom prst="line">
            <a:avLst/>
          </a:prstGeom>
          <a:ln w="635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136392" y="621792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697480" y="613562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0.0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36392" y="496062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697480" y="487832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1.1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36392" y="370332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697480" y="362102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2.2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36392" y="244602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697480" y="236372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3.3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36392" y="118872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697480" y="110642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4.4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200400" y="6217920"/>
            <a:ext cx="0" cy="64008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834640" y="6272784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0.0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686300" y="6217920"/>
            <a:ext cx="0" cy="64008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320540" y="6272784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1.1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172200" y="6217920"/>
            <a:ext cx="0" cy="64008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806440" y="6272784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2.2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58100" y="6217920"/>
            <a:ext cx="0" cy="64008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292340" y="6272784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3.3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144000" y="6217920"/>
            <a:ext cx="0" cy="64008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778240" y="6272784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4.4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6565392"/>
            <a:ext cx="59436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222222"/>
                </a:solidFill>
                <a:latin typeface="Arial"/>
              </a:rPr>
              <a:t>raw Δ (observed)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31720" y="2697480"/>
            <a:ext cx="365760" cy="20116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222222"/>
                </a:solidFill>
                <a:latin typeface="Arial"/>
              </a:rPr>
              <a:t>purity-adjusted Δ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3200400" y="1188720"/>
            <a:ext cx="5943600" cy="5029200"/>
          </a:xfrm>
          <a:prstGeom prst="line">
            <a:avLst/>
          </a:prstGeom>
          <a:ln w="15240">
            <a:solidFill>
              <a:srgbClr val="D4A30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8547735" y="5544763"/>
            <a:ext cx="109728" cy="109728"/>
          </a:xfrm>
          <a:prstGeom prst="ellipse">
            <a:avLst/>
          </a:prstGeom>
          <a:solidFill>
            <a:srgbClr val="0E4A6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547735" y="6009903"/>
            <a:ext cx="109728" cy="109728"/>
          </a:xfrm>
          <a:prstGeom prst="ellipse">
            <a:avLst/>
          </a:prstGeom>
          <a:solidFill>
            <a:srgbClr val="0E4A6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547735" y="5453169"/>
            <a:ext cx="109728" cy="109728"/>
          </a:xfrm>
          <a:prstGeom prst="ellipse">
            <a:avLst/>
          </a:prstGeom>
          <a:solidFill>
            <a:srgbClr val="0E4A6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547735" y="5453169"/>
            <a:ext cx="109728" cy="109728"/>
          </a:xfrm>
          <a:prstGeom prst="ellipse">
            <a:avLst/>
          </a:prstGeom>
          <a:solidFill>
            <a:srgbClr val="0E4A6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547735" y="6163965"/>
            <a:ext cx="109728" cy="109728"/>
          </a:xfrm>
          <a:prstGeom prst="ellipse">
            <a:avLst/>
          </a:prstGeom>
          <a:solidFill>
            <a:srgbClr val="0E4A6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547735" y="6136697"/>
            <a:ext cx="109728" cy="109728"/>
          </a:xfrm>
          <a:prstGeom prst="ellipse">
            <a:avLst/>
          </a:prstGeom>
          <a:solidFill>
            <a:srgbClr val="0E4A6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547735" y="6154875"/>
            <a:ext cx="109728" cy="109728"/>
          </a:xfrm>
          <a:prstGeom prst="ellipse">
            <a:avLst/>
          </a:prstGeom>
          <a:solidFill>
            <a:srgbClr val="0E4A6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547735" y="5918549"/>
            <a:ext cx="109728" cy="109728"/>
          </a:xfrm>
          <a:prstGeom prst="ellipse">
            <a:avLst/>
          </a:prstGeom>
          <a:solidFill>
            <a:srgbClr val="0E4A6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547735" y="6000355"/>
            <a:ext cx="109728" cy="109728"/>
          </a:xfrm>
          <a:prstGeom prst="ellipse">
            <a:avLst/>
          </a:prstGeom>
          <a:solidFill>
            <a:srgbClr val="0E4A68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200400" y="6263640"/>
            <a:ext cx="8229600" cy="320040"/>
          </a:xfrm>
          <a:prstGeom prst="rect">
            <a:avLst/>
          </a:prstGeom>
          <a:solidFill>
            <a:srgbClr val="F0F0F0"/>
          </a:solidFill>
          <a:ln w="1016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0" y="6263640"/>
            <a:ext cx="8229600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222222"/>
                </a:solidFill>
                <a:latin typeface="Arial"/>
              </a:rPr>
              <a:t>y = x diagonal (gold) — points scatter tightly: purity correction does not flip Δ sign or rank for any cascade feature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