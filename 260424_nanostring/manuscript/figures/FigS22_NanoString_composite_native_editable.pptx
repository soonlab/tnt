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222222"/>
                </a:solidFill>
                <a:latin typeface="Arial"/>
              </a:rPr>
              <a:t>Supp Fig S22. NanoString PanCancer Immune orthogonal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6-subject extreme-phenotype (3 pCR vs 3 poor) × paired pre/post × 730 probes.
Six panels: A pre/post/Δ heatmap · B pre-treatment direction waterfall · C regulatory-grade signatures · D IAE vs IBI composite · E IAE vs IBI genes · F Pre-spec cascade arrow 4 (ΔCD8-exh × ΔTLS-8, r=+0.82, P=0.046).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A  Pre/post/Δ composite heatmap (good − bad) + directional evidence per timepoint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Left: good − bad composite z (star ★ = one-sided MW P ≤ 0.05 ceiling, dot · = P ≤ 0.10). Right: -log₁₀ P per timepoint; dashed red = P = 0.05.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594359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pre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594359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594359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50392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GC_TF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868680"/>
            <a:ext cx="502920" cy="182879"/>
          </a:xfrm>
          <a:prstGeom prst="rect">
            <a:avLst/>
          </a:prstGeom>
          <a:solidFill>
            <a:srgbClr val="71B4AB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86868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+0.88★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868680"/>
            <a:ext cx="502920" cy="182879"/>
          </a:xfrm>
          <a:prstGeom prst="rect">
            <a:avLst/>
          </a:prstGeom>
          <a:solidFill>
            <a:srgbClr val="9AC9C3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86868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868680"/>
            <a:ext cx="502920" cy="182879"/>
          </a:xfrm>
          <a:prstGeom prst="rect">
            <a:avLst/>
          </a:prstGeom>
          <a:solidFill>
            <a:srgbClr val="F5DFD9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86868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-0.25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033271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IFNg_10_Ayers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1051560"/>
            <a:ext cx="502920" cy="182879"/>
          </a:xfrm>
          <a:prstGeom prst="rect">
            <a:avLst/>
          </a:prstGeom>
          <a:solidFill>
            <a:srgbClr val="73B5AC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105156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+0.86★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1051560"/>
            <a:ext cx="502920" cy="182879"/>
          </a:xfrm>
          <a:prstGeom prst="rect">
            <a:avLst/>
          </a:prstGeom>
          <a:solidFill>
            <a:srgbClr val="1E8779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105156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Arial"/>
              </a:rPr>
              <a:t>+1.40★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051560"/>
            <a:ext cx="502920" cy="182879"/>
          </a:xfrm>
          <a:prstGeom prst="rect">
            <a:avLst/>
          </a:prstGeom>
          <a:solidFill>
            <a:srgbClr val="A9D1CC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05156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+0.53·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1216151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Ayers_TIS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1234439"/>
            <a:ext cx="502920" cy="182879"/>
          </a:xfrm>
          <a:prstGeom prst="rect">
            <a:avLst/>
          </a:prstGeom>
          <a:solidFill>
            <a:srgbClr val="81BCB4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123443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+0.78★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234439"/>
            <a:ext cx="502920" cy="182879"/>
          </a:xfrm>
          <a:prstGeom prst="rect">
            <a:avLst/>
          </a:prstGeom>
          <a:solidFill>
            <a:srgbClr val="6DB1A8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123443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+0.90·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1234439"/>
            <a:ext cx="502920" cy="182879"/>
          </a:xfrm>
          <a:prstGeom prst="rect">
            <a:avLst/>
          </a:prstGeom>
          <a:solidFill>
            <a:srgbClr val="EAF4F2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123443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1399031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IFNg_6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1417319"/>
            <a:ext cx="502920" cy="182879"/>
          </a:xfrm>
          <a:prstGeom prst="rect">
            <a:avLst/>
          </a:prstGeom>
          <a:solidFill>
            <a:srgbClr val="61ABA1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141731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Arial"/>
              </a:rPr>
              <a:t>+0.98★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1417319"/>
            <a:ext cx="502920" cy="182879"/>
          </a:xfrm>
          <a:prstGeom prst="rect">
            <a:avLst/>
          </a:prstGeom>
          <a:solidFill>
            <a:srgbClr val="0A7D6E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141731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Arial"/>
              </a:rPr>
              <a:t>+1.52★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1417319"/>
            <a:ext cx="502920" cy="182879"/>
          </a:xfrm>
          <a:prstGeom prst="rect">
            <a:avLst/>
          </a:prstGeom>
          <a:solidFill>
            <a:srgbClr val="A7D0CB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141731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+0.54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1581912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M1_macro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1600200"/>
            <a:ext cx="502920" cy="182879"/>
          </a:xfrm>
          <a:prstGeom prst="rect">
            <a:avLst/>
          </a:prstGeom>
          <a:solidFill>
            <a:srgbClr val="88C0B8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0" y="160020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+0.73★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1600200"/>
            <a:ext cx="502920" cy="182879"/>
          </a:xfrm>
          <a:prstGeom prst="rect">
            <a:avLst/>
          </a:prstGeom>
          <a:solidFill>
            <a:srgbClr val="62ABA2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160020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Arial"/>
              </a:rPr>
              <a:t>+0.97·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1600200"/>
            <a:ext cx="502920" cy="182879"/>
          </a:xfrm>
          <a:prstGeom prst="rect">
            <a:avLst/>
          </a:prstGeom>
          <a:solidFill>
            <a:srgbClr val="D8EAE8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160020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1764791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CD8_cytotoxic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77440" y="1783079"/>
            <a:ext cx="502920" cy="182879"/>
          </a:xfrm>
          <a:prstGeom prst="rect">
            <a:avLst/>
          </a:prstGeom>
          <a:solidFill>
            <a:srgbClr val="ABD2CD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77440" y="178307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+0.52★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80360" y="1783079"/>
            <a:ext cx="502920" cy="182879"/>
          </a:xfrm>
          <a:prstGeom prst="rect">
            <a:avLst/>
          </a:prstGeom>
          <a:solidFill>
            <a:srgbClr val="B2D6D1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80360" y="178307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+0.47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1783079"/>
            <a:ext cx="502920" cy="182879"/>
          </a:xfrm>
          <a:prstGeom prst="rect">
            <a:avLst/>
          </a:prstGeom>
          <a:solidFill>
            <a:srgbClr val="FDF9F8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0" y="178307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-0.05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1947672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T_cell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1965960"/>
            <a:ext cx="502920" cy="182879"/>
          </a:xfrm>
          <a:prstGeom prst="rect">
            <a:avLst/>
          </a:prstGeom>
          <a:solidFill>
            <a:srgbClr val="85BEB7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77440" y="196596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+0.75·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1965960"/>
            <a:ext cx="502920" cy="182879"/>
          </a:xfrm>
          <a:prstGeom prst="rect">
            <a:avLst/>
          </a:prstGeom>
          <a:solidFill>
            <a:srgbClr val="E2F0EE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80360" y="196596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+0.17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3280" y="1965960"/>
            <a:ext cx="502920" cy="182879"/>
          </a:xfrm>
          <a:prstGeom prst="rect">
            <a:avLst/>
          </a:prstGeom>
          <a:solidFill>
            <a:srgbClr val="E8B5A9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0" y="196596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-0.58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2130551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HLA_I_axis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40" y="2148839"/>
            <a:ext cx="502920" cy="182879"/>
          </a:xfrm>
          <a:prstGeom prst="rect">
            <a:avLst/>
          </a:prstGeom>
          <a:solidFill>
            <a:srgbClr val="73B5AC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77440" y="214883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+0.87·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80360" y="2148839"/>
            <a:ext cx="502920" cy="182879"/>
          </a:xfrm>
          <a:prstGeom prst="rect">
            <a:avLst/>
          </a:prstGeom>
          <a:solidFill>
            <a:srgbClr val="489E93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80360" y="214883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Arial"/>
              </a:rPr>
              <a:t>+1.13★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83280" y="2148839"/>
            <a:ext cx="502920" cy="182879"/>
          </a:xfrm>
          <a:prstGeom prst="rect">
            <a:avLst/>
          </a:prstGeom>
          <a:solidFill>
            <a:srgbClr val="D4E8E5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83280" y="214883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2313432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HLA_I_machinery_narrow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77440" y="2331720"/>
            <a:ext cx="502920" cy="182879"/>
          </a:xfrm>
          <a:prstGeom prst="rect">
            <a:avLst/>
          </a:prstGeom>
          <a:solidFill>
            <a:srgbClr val="73B5AC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77440" y="233172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+0.87·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2331720"/>
            <a:ext cx="502920" cy="182879"/>
          </a:xfrm>
          <a:prstGeom prst="rect">
            <a:avLst/>
          </a:prstGeom>
          <a:solidFill>
            <a:srgbClr val="489E93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80360" y="233172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Arial"/>
              </a:rPr>
              <a:t>+1.13★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83280" y="2331720"/>
            <a:ext cx="502920" cy="182879"/>
          </a:xfrm>
          <a:prstGeom prst="rect">
            <a:avLst/>
          </a:prstGeom>
          <a:solidFill>
            <a:srgbClr val="D4E8E5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83280" y="233172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2496312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NK_activating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377440" y="2514600"/>
            <a:ext cx="502920" cy="182879"/>
          </a:xfrm>
          <a:prstGeom prst="rect">
            <a:avLst/>
          </a:prstGeom>
          <a:solidFill>
            <a:srgbClr val="8EC3BC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77440" y="251460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+0.70·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80360" y="2514600"/>
            <a:ext cx="502920" cy="182879"/>
          </a:xfrm>
          <a:prstGeom prst="rect">
            <a:avLst/>
          </a:prstGeom>
          <a:solidFill>
            <a:srgbClr val="F6FAF9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80360" y="251460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+0.05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83280" y="2514600"/>
            <a:ext cx="502920" cy="182879"/>
          </a:xfrm>
          <a:prstGeom prst="rect">
            <a:avLst/>
          </a:prstGeom>
          <a:solidFill>
            <a:srgbClr val="E6ADA0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83280" y="251460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-0.64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2679191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IMPRES_pos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377440" y="2697479"/>
            <a:ext cx="502920" cy="182879"/>
          </a:xfrm>
          <a:prstGeom prst="rect">
            <a:avLst/>
          </a:prstGeom>
          <a:solidFill>
            <a:srgbClr val="9CCAC4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77440" y="269747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+0.61·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2697479"/>
            <a:ext cx="502920" cy="182879"/>
          </a:xfrm>
          <a:prstGeom prst="rect">
            <a:avLst/>
          </a:prstGeom>
          <a:solidFill>
            <a:srgbClr val="61ABA1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80360" y="269747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Arial"/>
              </a:rPr>
              <a:t>+0.98·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83280" y="2697479"/>
            <a:ext cx="502920" cy="182879"/>
          </a:xfrm>
          <a:prstGeom prst="rect">
            <a:avLst/>
          </a:prstGeom>
          <a:solidFill>
            <a:srgbClr val="C3DFDC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83280" y="269747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+0.37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2862071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CD8_exh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77440" y="2880359"/>
            <a:ext cx="502920" cy="182879"/>
          </a:xfrm>
          <a:prstGeom prst="rect">
            <a:avLst/>
          </a:prstGeom>
          <a:solidFill>
            <a:srgbClr val="A7D0CB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377440" y="288035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+0.54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880360" y="2880359"/>
            <a:ext cx="502920" cy="182879"/>
          </a:xfrm>
          <a:prstGeom prst="rect">
            <a:avLst/>
          </a:prstGeom>
          <a:solidFill>
            <a:srgbClr val="6EB2A9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880360" y="288035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+0.90·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83280" y="2880359"/>
            <a:ext cx="502920" cy="182879"/>
          </a:xfrm>
          <a:prstGeom prst="rect">
            <a:avLst/>
          </a:prstGeom>
          <a:solidFill>
            <a:srgbClr val="C5E0DD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83280" y="288035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+0.35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320" y="3044951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Memory_B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377440" y="3063239"/>
            <a:ext cx="502920" cy="182879"/>
          </a:xfrm>
          <a:prstGeom prst="rect">
            <a:avLst/>
          </a:prstGeom>
          <a:solidFill>
            <a:srgbClr val="86BEB7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377440" y="306323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+0.75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880360" y="3063239"/>
            <a:ext cx="502920" cy="182879"/>
          </a:xfrm>
          <a:prstGeom prst="rect">
            <a:avLst/>
          </a:prstGeom>
          <a:solidFill>
            <a:srgbClr val="BFDDD9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80360" y="306323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+0.40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383280" y="3063239"/>
            <a:ext cx="502920" cy="182879"/>
          </a:xfrm>
          <a:prstGeom prst="rect">
            <a:avLst/>
          </a:prstGeom>
          <a:solidFill>
            <a:srgbClr val="F1D2CA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383280" y="306323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-0.35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" y="3227832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Plasma_proxy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377440" y="3246120"/>
            <a:ext cx="502920" cy="182879"/>
          </a:xfrm>
          <a:prstGeom prst="rect">
            <a:avLst/>
          </a:prstGeom>
          <a:solidFill>
            <a:srgbClr val="419A8E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377440" y="324612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Arial"/>
              </a:rPr>
              <a:t>+1.17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80360" y="3246120"/>
            <a:ext cx="502920" cy="182879"/>
          </a:xfrm>
          <a:prstGeom prst="rect">
            <a:avLst/>
          </a:prstGeom>
          <a:solidFill>
            <a:srgbClr val="55A59A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80360" y="324612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Arial"/>
              </a:rPr>
              <a:t>+1.05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383280" y="3246120"/>
            <a:ext cx="502920" cy="182879"/>
          </a:xfrm>
          <a:prstGeom prst="rect">
            <a:avLst/>
          </a:prstGeom>
          <a:solidFill>
            <a:srgbClr val="FAEFEC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383280" y="324612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-0.13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4320" y="3410712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Teff_cytotoxic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377440" y="3429000"/>
            <a:ext cx="502920" cy="182879"/>
          </a:xfrm>
          <a:prstGeom prst="rect">
            <a:avLst/>
          </a:prstGeom>
          <a:solidFill>
            <a:srgbClr val="B9D9D5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377440" y="342900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+0.43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880360" y="3429000"/>
            <a:ext cx="502920" cy="182879"/>
          </a:xfrm>
          <a:prstGeom prst="rect">
            <a:avLst/>
          </a:prstGeom>
          <a:solidFill>
            <a:srgbClr val="ABD2CD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880360" y="342900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+0.52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383280" y="3429000"/>
            <a:ext cx="502920" cy="182879"/>
          </a:xfrm>
          <a:prstGeom prst="rect">
            <a:avLst/>
          </a:prstGeom>
          <a:solidFill>
            <a:srgbClr val="F1F7F6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383280" y="342900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+0.08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4320" y="3593591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TLS_8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377440" y="3611879"/>
            <a:ext cx="502920" cy="182879"/>
          </a:xfrm>
          <a:prstGeom prst="rect">
            <a:avLst/>
          </a:prstGeom>
          <a:solidFill>
            <a:srgbClr val="BBDBD7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377440" y="361187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+0.42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80360" y="3611879"/>
            <a:ext cx="502920" cy="182879"/>
          </a:xfrm>
          <a:prstGeom prst="rect">
            <a:avLst/>
          </a:prstGeom>
          <a:solidFill>
            <a:srgbClr val="AED4CF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880360" y="361187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+0.50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383280" y="3611879"/>
            <a:ext cx="502920" cy="182879"/>
          </a:xfrm>
          <a:prstGeom prst="rect">
            <a:avLst/>
          </a:prstGeom>
          <a:solidFill>
            <a:srgbClr val="F2F8F7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383280" y="361187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+0.08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4320" y="3776472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M2_macro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377440" y="3794759"/>
            <a:ext cx="502920" cy="182879"/>
          </a:xfrm>
          <a:prstGeom prst="rect">
            <a:avLst/>
          </a:prstGeom>
          <a:solidFill>
            <a:srgbClr val="E6F2F0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377440" y="379475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+0.15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880360" y="3794759"/>
            <a:ext cx="502920" cy="182879"/>
          </a:xfrm>
          <a:prstGeom prst="rect">
            <a:avLst/>
          </a:prstGeom>
          <a:solidFill>
            <a:srgbClr val="CDE4E1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880360" y="379475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+0.31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383280" y="3794759"/>
            <a:ext cx="502920" cy="182879"/>
          </a:xfrm>
          <a:prstGeom prst="rect">
            <a:avLst/>
          </a:prstGeom>
          <a:solidFill>
            <a:srgbClr val="E5F1EF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383280" y="379475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+0.16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4320" y="3959352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DC_mature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377440" y="3977639"/>
            <a:ext cx="502920" cy="182879"/>
          </a:xfrm>
          <a:prstGeom prst="rect">
            <a:avLst/>
          </a:prstGeom>
          <a:solidFill>
            <a:srgbClr val="ADD3CE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377440" y="397763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+0.51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880360" y="3977639"/>
            <a:ext cx="502920" cy="182879"/>
          </a:xfrm>
          <a:prstGeom prst="rect">
            <a:avLst/>
          </a:prstGeom>
          <a:solidFill>
            <a:srgbClr val="9ECBC5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880360" y="397763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+0.60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383280" y="3977639"/>
            <a:ext cx="502920" cy="182879"/>
          </a:xfrm>
          <a:prstGeom prst="rect">
            <a:avLst/>
          </a:prstGeom>
          <a:solidFill>
            <a:srgbClr val="F0F7F6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383280" y="397763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+0.09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74320" y="4142232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HLA_II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377440" y="4160520"/>
            <a:ext cx="502920" cy="182879"/>
          </a:xfrm>
          <a:prstGeom prst="rect">
            <a:avLst/>
          </a:prstGeom>
          <a:solidFill>
            <a:srgbClr val="BFDDD9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377440" y="416052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+0.39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880360" y="4160520"/>
            <a:ext cx="502920" cy="182879"/>
          </a:xfrm>
          <a:prstGeom prst="rect">
            <a:avLst/>
          </a:prstGeom>
          <a:solidFill>
            <a:srgbClr val="53A499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880360" y="416052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Arial"/>
              </a:rPr>
              <a:t>+1.06·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383280" y="4160520"/>
            <a:ext cx="502920" cy="182879"/>
          </a:xfrm>
          <a:prstGeom prst="rect">
            <a:avLst/>
          </a:prstGeom>
          <a:solidFill>
            <a:srgbClr val="92C5BE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383280" y="416052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+0.67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74320" y="4325112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Naive_B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377440" y="4343400"/>
            <a:ext cx="502920" cy="182879"/>
          </a:xfrm>
          <a:prstGeom prst="rect">
            <a:avLst/>
          </a:prstGeom>
          <a:solidFill>
            <a:srgbClr val="8CC2BB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377440" y="434340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+0.71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880360" y="4343400"/>
            <a:ext cx="502920" cy="182879"/>
          </a:xfrm>
          <a:prstGeom prst="rect">
            <a:avLst/>
          </a:prstGeom>
          <a:solidFill>
            <a:srgbClr val="ECC2B9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880360" y="434340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-0.47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383280" y="4343400"/>
            <a:ext cx="502920" cy="182879"/>
          </a:xfrm>
          <a:prstGeom prst="rect">
            <a:avLst/>
          </a:prstGeom>
          <a:solidFill>
            <a:srgbClr val="D16850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383280" y="434340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Arial"/>
              </a:rPr>
              <a:t>-1.18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74320" y="4507992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NK_inhibiting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377440" y="4526279"/>
            <a:ext cx="502920" cy="182879"/>
          </a:xfrm>
          <a:prstGeom prst="rect">
            <a:avLst/>
          </a:prstGeom>
          <a:solidFill>
            <a:srgbClr val="D8EAE8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377440" y="452627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+0.24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880360" y="4526279"/>
            <a:ext cx="502920" cy="182879"/>
          </a:xfrm>
          <a:prstGeom prst="rect">
            <a:avLst/>
          </a:prstGeom>
          <a:solidFill>
            <a:srgbClr val="E19D8E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880360" y="452627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-0.77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383280" y="4526279"/>
            <a:ext cx="502920" cy="182879"/>
          </a:xfrm>
          <a:prstGeom prst="rect">
            <a:avLst/>
          </a:prstGeom>
          <a:solidFill>
            <a:srgbClr val="D87F6B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383280" y="452627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Arial"/>
              </a:rPr>
              <a:t>-1.00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74320" y="4690872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Treg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377440" y="4709159"/>
            <a:ext cx="502920" cy="182879"/>
          </a:xfrm>
          <a:prstGeom prst="rect">
            <a:avLst/>
          </a:prstGeom>
          <a:solidFill>
            <a:srgbClr val="CAE3DF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377440" y="470915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+0.33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880360" y="4709159"/>
            <a:ext cx="502920" cy="182879"/>
          </a:xfrm>
          <a:prstGeom prst="rect">
            <a:avLst/>
          </a:prstGeom>
          <a:solidFill>
            <a:srgbClr val="61ABA1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880360" y="470915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Arial"/>
              </a:rPr>
              <a:t>+0.98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383280" y="4709159"/>
            <a:ext cx="502920" cy="182879"/>
          </a:xfrm>
          <a:prstGeom prst="rect">
            <a:avLst/>
          </a:prstGeom>
          <a:solidFill>
            <a:srgbClr val="95C7C0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383280" y="4709159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+0.65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74320" y="4873752"/>
            <a:ext cx="2011680" cy="2011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BAFF_APRIL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377440" y="4892040"/>
            <a:ext cx="502920" cy="182879"/>
          </a:xfrm>
          <a:prstGeom prst="rect">
            <a:avLst/>
          </a:prstGeom>
          <a:solidFill>
            <a:srgbClr val="BADAD6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377440" y="489204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+0.43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880360" y="4892040"/>
            <a:ext cx="502920" cy="182879"/>
          </a:xfrm>
          <a:prstGeom prst="rect">
            <a:avLst/>
          </a:prstGeom>
          <a:solidFill>
            <a:srgbClr val="ECF5F3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880360" y="489204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+0.12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383280" y="4892040"/>
            <a:ext cx="502920" cy="182879"/>
          </a:xfrm>
          <a:prstGeom prst="rect">
            <a:avLst/>
          </a:prstGeom>
          <a:solidFill>
            <a:srgbClr val="F3D7D0"/>
          </a:solidFill>
          <a:ln w="25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383280" y="4892040"/>
            <a:ext cx="502920" cy="1828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 i="0">
                <a:solidFill>
                  <a:srgbClr val="222222"/>
                </a:solidFill>
                <a:latin typeface="Arial"/>
              </a:rPr>
              <a:t>-0.31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023360" y="4969764"/>
            <a:ext cx="164592" cy="105155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4023360" y="4864608"/>
            <a:ext cx="164592" cy="105155"/>
          </a:xfrm>
          <a:prstGeom prst="rect">
            <a:avLst/>
          </a:prstGeom>
          <a:solidFill>
            <a:srgbClr val="C74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023360" y="4759452"/>
            <a:ext cx="164592" cy="105155"/>
          </a:xfrm>
          <a:prstGeom prst="rect">
            <a:avLst/>
          </a:prstGeom>
          <a:solidFill>
            <a:srgbClr val="CA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023360" y="4654296"/>
            <a:ext cx="164592" cy="105155"/>
          </a:xfrm>
          <a:prstGeom prst="rect">
            <a:avLst/>
          </a:prstGeom>
          <a:solidFill>
            <a:srgbClr val="CD5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4023360" y="4549140"/>
            <a:ext cx="164592" cy="105155"/>
          </a:xfrm>
          <a:prstGeom prst="rect">
            <a:avLst/>
          </a:prstGeom>
          <a:solidFill>
            <a:srgbClr val="D06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023360" y="4443983"/>
            <a:ext cx="164592" cy="105155"/>
          </a:xfrm>
          <a:prstGeom prst="rect">
            <a:avLst/>
          </a:prstGeom>
          <a:solidFill>
            <a:srgbClr val="D36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023360" y="4338828"/>
            <a:ext cx="164592" cy="105155"/>
          </a:xfrm>
          <a:prstGeom prst="rect">
            <a:avLst/>
          </a:prstGeom>
          <a:solidFill>
            <a:srgbClr val="D67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023360" y="4233672"/>
            <a:ext cx="164592" cy="105155"/>
          </a:xfrm>
          <a:prstGeom prst="rect">
            <a:avLst/>
          </a:prstGeom>
          <a:solidFill>
            <a:srgbClr val="D9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023360" y="4128515"/>
            <a:ext cx="164592" cy="105155"/>
          </a:xfrm>
          <a:prstGeom prst="rect">
            <a:avLst/>
          </a:prstGeom>
          <a:solidFill>
            <a:srgbClr val="DC8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023360" y="4023360"/>
            <a:ext cx="164592" cy="105155"/>
          </a:xfrm>
          <a:prstGeom prst="rect">
            <a:avLst/>
          </a:prstGeom>
          <a:solidFill>
            <a:srgbClr val="DF9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023360" y="3918204"/>
            <a:ext cx="164592" cy="105155"/>
          </a:xfrm>
          <a:prstGeom prst="rect">
            <a:avLst/>
          </a:prstGeom>
          <a:solidFill>
            <a:srgbClr val="E2A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4023360" y="3813048"/>
            <a:ext cx="164592" cy="105155"/>
          </a:xfrm>
          <a:prstGeom prst="rect">
            <a:avLst/>
          </a:prstGeom>
          <a:solidFill>
            <a:srgbClr val="E5A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023360" y="3707891"/>
            <a:ext cx="164592" cy="105155"/>
          </a:xfrm>
          <a:prstGeom prst="rect">
            <a:avLst/>
          </a:prstGeom>
          <a:solidFill>
            <a:srgbClr val="E8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4023360" y="3602736"/>
            <a:ext cx="164592" cy="105155"/>
          </a:xfrm>
          <a:prstGeom prst="rect">
            <a:avLst/>
          </a:prstGeom>
          <a:solidFill>
            <a:srgbClr val="EBB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023360" y="3497579"/>
            <a:ext cx="164592" cy="105155"/>
          </a:xfrm>
          <a:prstGeom prst="rect">
            <a:avLst/>
          </a:prstGeom>
          <a:solidFill>
            <a:srgbClr val="EEC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4023360" y="3392424"/>
            <a:ext cx="164592" cy="105155"/>
          </a:xfrm>
          <a:prstGeom prst="rect">
            <a:avLst/>
          </a:prstGeom>
          <a:solidFill>
            <a:srgbClr val="F1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023360" y="3287268"/>
            <a:ext cx="164592" cy="105155"/>
          </a:xfrm>
          <a:prstGeom prst="rect">
            <a:avLst/>
          </a:prstGeom>
          <a:solidFill>
            <a:srgbClr val="F4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023360" y="3182112"/>
            <a:ext cx="164592" cy="105155"/>
          </a:xfrm>
          <a:prstGeom prst="rect">
            <a:avLst/>
          </a:prstGeom>
          <a:solidFill>
            <a:srgbClr val="F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023360" y="3076956"/>
            <a:ext cx="164592" cy="105155"/>
          </a:xfrm>
          <a:prstGeom prst="rect">
            <a:avLst/>
          </a:prstGeom>
          <a:solidFill>
            <a:srgbClr val="FA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023360" y="2971800"/>
            <a:ext cx="164592" cy="105155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023360" y="2866644"/>
            <a:ext cx="164592" cy="105155"/>
          </a:xfrm>
          <a:prstGeom prst="rect">
            <a:avLst/>
          </a:prstGeom>
          <a:solidFill>
            <a:srgbClr val="F8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023360" y="2761488"/>
            <a:ext cx="164592" cy="105155"/>
          </a:xfrm>
          <a:prstGeom prst="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023360" y="2656332"/>
            <a:ext cx="164592" cy="105155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023360" y="2551176"/>
            <a:ext cx="164592" cy="105155"/>
          </a:xfrm>
          <a:prstGeom prst="rect">
            <a:avLst/>
          </a:prstGeom>
          <a:solidFill>
            <a:srgbClr val="D3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023360" y="2446020"/>
            <a:ext cx="164592" cy="105155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023360" y="2340864"/>
            <a:ext cx="164592" cy="105155"/>
          </a:xfrm>
          <a:prstGeom prst="rect">
            <a:avLst/>
          </a:prstGeom>
          <a:solidFill>
            <a:srgbClr val="B9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023360" y="2235708"/>
            <a:ext cx="164592" cy="105155"/>
          </a:xfrm>
          <a:prstGeom prst="rect">
            <a:avLst/>
          </a:prstGeom>
          <a:solidFill>
            <a:srgbClr val="AD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023360" y="2130552"/>
            <a:ext cx="164592" cy="105155"/>
          </a:xfrm>
          <a:prstGeom prst="rect">
            <a:avLst/>
          </a:prstGeom>
          <a:solidFill>
            <a:srgbClr val="A0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023360" y="2025396"/>
            <a:ext cx="164592" cy="105155"/>
          </a:xfrm>
          <a:prstGeom prst="rect">
            <a:avLst/>
          </a:prstGeom>
          <a:solidFill>
            <a:srgbClr val="94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023360" y="1920239"/>
            <a:ext cx="164592" cy="105155"/>
          </a:xfrm>
          <a:prstGeom prst="rect">
            <a:avLst/>
          </a:prstGeom>
          <a:solidFill>
            <a:srgbClr val="87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023360" y="1815084"/>
            <a:ext cx="164592" cy="105155"/>
          </a:xfrm>
          <a:prstGeom prst="rect">
            <a:avLst/>
          </a:prstGeom>
          <a:solidFill>
            <a:srgbClr val="7B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023360" y="1709928"/>
            <a:ext cx="164592" cy="105155"/>
          </a:xfrm>
          <a:prstGeom prst="rect">
            <a:avLst/>
          </a:prstGeom>
          <a:solidFill>
            <a:srgbClr val="6EB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4023360" y="1604772"/>
            <a:ext cx="164592" cy="105155"/>
          </a:xfrm>
          <a:prstGeom prst="rect">
            <a:avLst/>
          </a:prstGeom>
          <a:solidFill>
            <a:srgbClr val="61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4023360" y="1499616"/>
            <a:ext cx="164592" cy="105155"/>
          </a:xfrm>
          <a:prstGeom prst="rect">
            <a:avLst/>
          </a:prstGeom>
          <a:solidFill>
            <a:srgbClr val="55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4023360" y="1394459"/>
            <a:ext cx="164592" cy="105155"/>
          </a:xfrm>
          <a:prstGeom prst="rect">
            <a:avLst/>
          </a:prstGeom>
          <a:solidFill>
            <a:srgbClr val="48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023360" y="1289304"/>
            <a:ext cx="164592" cy="105155"/>
          </a:xfrm>
          <a:prstGeom prst="rect">
            <a:avLst/>
          </a:prstGeom>
          <a:solidFill>
            <a:srgbClr val="3C9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023360" y="1184148"/>
            <a:ext cx="164592" cy="105155"/>
          </a:xfrm>
          <a:prstGeom prst="rect">
            <a:avLst/>
          </a:prstGeom>
          <a:solidFill>
            <a:srgbClr val="2F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023360" y="1078992"/>
            <a:ext cx="164592" cy="105155"/>
          </a:xfrm>
          <a:prstGeom prst="rect">
            <a:avLst/>
          </a:prstGeom>
          <a:solidFill>
            <a:srgbClr val="238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023360" y="973836"/>
            <a:ext cx="164592" cy="105155"/>
          </a:xfrm>
          <a:prstGeom prst="rect">
            <a:avLst/>
          </a:prstGeom>
          <a:solidFill>
            <a:srgbClr val="168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023360" y="868680"/>
            <a:ext cx="164592" cy="105155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886200" y="667512"/>
            <a:ext cx="62179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+1.52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886200" y="5093207"/>
            <a:ext cx="62179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-1.52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4553712" y="822959"/>
            <a:ext cx="0" cy="4297681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4553712" y="5074920"/>
            <a:ext cx="310896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7250216" y="822959"/>
            <a:ext cx="0" cy="4297681"/>
          </a:xfrm>
          <a:prstGeom prst="line">
            <a:avLst/>
          </a:prstGeom>
          <a:ln w="7620">
            <a:solidFill>
              <a:srgbClr val="C53E1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6838736" y="640080"/>
            <a:ext cx="8229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1">
                <a:solidFill>
                  <a:srgbClr val="C53E1F"/>
                </a:solidFill>
                <a:latin typeface="Arial"/>
              </a:rPr>
              <a:t>P = 0.05</a:t>
            </a:r>
          </a:p>
        </p:txBody>
      </p:sp>
      <p:cxnSp>
        <p:nvCxnSpPr>
          <p:cNvPr id="214" name="Connector 213"/>
          <p:cNvCxnSpPr/>
          <p:nvPr/>
        </p:nvCxnSpPr>
        <p:spPr>
          <a:xfrm>
            <a:off x="4553712" y="5074920"/>
            <a:ext cx="0" cy="64008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4416552" y="514807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  <p:cxnSp>
        <p:nvCxnSpPr>
          <p:cNvPr id="216" name="Connector 215"/>
          <p:cNvCxnSpPr/>
          <p:nvPr/>
        </p:nvCxnSpPr>
        <p:spPr>
          <a:xfrm>
            <a:off x="6626352" y="5074920"/>
            <a:ext cx="0" cy="64008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6489192" y="514807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1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285232" y="5349240"/>
            <a:ext cx="1645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-log₁₀ P (good &gt; bad, 1-sided)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553712" y="886968"/>
            <a:ext cx="2696566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4553712" y="942386"/>
            <a:ext cx="1448713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4553712" y="997804"/>
            <a:ext cx="200859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4553712" y="1069848"/>
            <a:ext cx="2696566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4553712" y="1125266"/>
            <a:ext cx="2696566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4553712" y="1180684"/>
            <a:ext cx="2072640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553712" y="1252728"/>
            <a:ext cx="2696566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553712" y="1308146"/>
            <a:ext cx="2072640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553712" y="1363564"/>
            <a:ext cx="387763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553712" y="1435607"/>
            <a:ext cx="2696566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553712" y="1491026"/>
            <a:ext cx="2696566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553712" y="1546444"/>
            <a:ext cx="1448713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553712" y="1618488"/>
            <a:ext cx="2696566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4553712" y="1673906"/>
            <a:ext cx="2072640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4553712" y="1729324"/>
            <a:ext cx="623926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4553712" y="1801367"/>
            <a:ext cx="2696566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4553712" y="1856786"/>
            <a:ext cx="944982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4553712" y="1912204"/>
            <a:ext cx="387763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4553712" y="1984248"/>
            <a:ext cx="2072640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553712" y="2039666"/>
            <a:ext cx="200859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553712" y="2095084"/>
            <a:ext cx="200859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553712" y="2167127"/>
            <a:ext cx="2072640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4553712" y="2222546"/>
            <a:ext cx="2696566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4553712" y="2277964"/>
            <a:ext cx="623926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4553712" y="2350008"/>
            <a:ext cx="2072640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4553712" y="2405426"/>
            <a:ext cx="2696566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4553712" y="2460844"/>
            <a:ext cx="623926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4553712" y="2532888"/>
            <a:ext cx="2072640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553712" y="2588306"/>
            <a:ext cx="623926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553712" y="2643724"/>
            <a:ext cx="200859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553712" y="2715768"/>
            <a:ext cx="2072640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553712" y="2771186"/>
            <a:ext cx="2072640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553712" y="2826604"/>
            <a:ext cx="944982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553712" y="2898647"/>
            <a:ext cx="1448713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553712" y="2954066"/>
            <a:ext cx="2072640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553712" y="3009484"/>
            <a:ext cx="623926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4553712" y="3081527"/>
            <a:ext cx="1448713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4553712" y="3136946"/>
            <a:ext cx="623926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4553712" y="3192364"/>
            <a:ext cx="200859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4553712" y="3264408"/>
            <a:ext cx="1448713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4553712" y="3319826"/>
            <a:ext cx="1448713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4553712" y="3375244"/>
            <a:ext cx="387763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4553712" y="3447288"/>
            <a:ext cx="1448713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4553712" y="3502706"/>
            <a:ext cx="944982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4553712" y="3558124"/>
            <a:ext cx="623926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4553712" y="3630167"/>
            <a:ext cx="1448713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4553712" y="3685586"/>
            <a:ext cx="1448713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4553712" y="3741004"/>
            <a:ext cx="200859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4553712" y="3813047"/>
            <a:ext cx="1448713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4553712" y="3868466"/>
            <a:ext cx="623926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4553712" y="3923884"/>
            <a:ext cx="623926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4553712" y="3995927"/>
            <a:ext cx="1448713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4553712" y="4051346"/>
            <a:ext cx="944982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4553712" y="4106764"/>
            <a:ext cx="387763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4553712" y="4178807"/>
            <a:ext cx="944982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4553712" y="4234226"/>
            <a:ext cx="2072640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4553712" y="4289644"/>
            <a:ext cx="623926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4553712" y="4361688"/>
            <a:ext cx="944982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4553712" y="4417106"/>
            <a:ext cx="387763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4553712" y="4472524"/>
            <a:ext cx="46170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4553712" y="4544567"/>
            <a:ext cx="944982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4553712" y="4599986"/>
            <a:ext cx="94838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4553712" y="4655404"/>
            <a:ext cx="46170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4553712" y="4727447"/>
            <a:ext cx="944982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4553712" y="4782866"/>
            <a:ext cx="1448713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4553712" y="4838284"/>
            <a:ext cx="944982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4553712" y="4910327"/>
            <a:ext cx="623926" cy="37130"/>
          </a:xfrm>
          <a:prstGeom prst="rect">
            <a:avLst/>
          </a:prstGeom>
          <a:solidFill>
            <a:srgbClr val="1F5B82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4553712" y="4965746"/>
            <a:ext cx="944982" cy="37130"/>
          </a:xfrm>
          <a:prstGeom prst="rect">
            <a:avLst/>
          </a:prstGeom>
          <a:solidFill>
            <a:srgbClr val="888888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4553712" y="5021164"/>
            <a:ext cx="200859" cy="37130"/>
          </a:xfrm>
          <a:prstGeom prst="rect">
            <a:avLst/>
          </a:prstGeom>
          <a:solidFill>
            <a:srgbClr val="D4A300"/>
          </a:solidFill>
          <a:ln w="190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4553712" y="5577840"/>
            <a:ext cx="146304" cy="91440"/>
          </a:xfrm>
          <a:prstGeom prst="rect">
            <a:avLst/>
          </a:prstGeom>
          <a:solidFill>
            <a:srgbClr val="1F5B82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4718304" y="5550407"/>
            <a:ext cx="411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pre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5175504" y="5577840"/>
            <a:ext cx="146304" cy="91440"/>
          </a:xfrm>
          <a:prstGeom prst="rect">
            <a:avLst/>
          </a:prstGeom>
          <a:solidFill>
            <a:srgbClr val="888888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5340096" y="5550407"/>
            <a:ext cx="411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post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5797296" y="5577840"/>
            <a:ext cx="146304" cy="91440"/>
          </a:xfrm>
          <a:prstGeom prst="rect">
            <a:avLst/>
          </a:prstGeom>
          <a:solidFill>
            <a:srgbClr val="D4A300"/>
          </a:solidFill>
          <a:ln w="25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5961888" y="5550407"/>
            <a:ext cx="411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Arial"/>
              </a:rPr>
              <a:t>Δ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3977640" y="5349240"/>
            <a:ext cx="713232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888888"/>
                </a:solidFill>
                <a:latin typeface="Arial"/>
              </a:rPr>
              <a:t>good − bad (z)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B  Pre-treatment direction waterfall — 23/23 good &gt; bad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Six composites reach ceiling P = 0.05 (Ayers TIS, IFN-γ 6/10, CD8 cytotoxic, M1 macrophage, GC-TF). Value axis ticks at 0.2 increments; P from one-sided MW, 3 vs 3 ceiling = 0.050.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39" y="4910328"/>
            <a:ext cx="5852161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" y="4910328"/>
            <a:ext cx="0" cy="54864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-109727" y="4974336"/>
            <a:ext cx="40233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-1.2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9120" y="4910328"/>
            <a:ext cx="0" cy="54864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7952" y="4974336"/>
            <a:ext cx="40233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-1.0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66799" y="4910328"/>
            <a:ext cx="0" cy="54864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5631" y="4974336"/>
            <a:ext cx="40233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-0.8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54479" y="4910328"/>
            <a:ext cx="0" cy="54864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53311" y="4974336"/>
            <a:ext cx="40233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-0.6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42160" y="4910328"/>
            <a:ext cx="0" cy="54864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40991" y="4974336"/>
            <a:ext cx="40233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-0.4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9840" y="4910328"/>
            <a:ext cx="0" cy="54864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28672" y="4974336"/>
            <a:ext cx="40233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-0.2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4910328"/>
            <a:ext cx="0" cy="54864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16351" y="4974336"/>
            <a:ext cx="40233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05199" y="4910328"/>
            <a:ext cx="0" cy="54864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04031" y="4974336"/>
            <a:ext cx="40233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+0.2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92879" y="4910328"/>
            <a:ext cx="0" cy="54864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91712" y="4974336"/>
            <a:ext cx="40233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+0.4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80560" y="4910328"/>
            <a:ext cx="0" cy="54864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79392" y="4974336"/>
            <a:ext cx="40233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+0.6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68240" y="4910328"/>
            <a:ext cx="0" cy="54864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67072" y="4974336"/>
            <a:ext cx="40233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+0.8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55920" y="4910328"/>
            <a:ext cx="0" cy="54864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54752" y="4974336"/>
            <a:ext cx="40233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+1.0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599" y="4910328"/>
            <a:ext cx="0" cy="54864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42431" y="4974336"/>
            <a:ext cx="40233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888888"/>
                </a:solidFill>
                <a:latin typeface="Arial"/>
              </a:rPr>
              <a:t>+1.2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17520" y="822959"/>
            <a:ext cx="0" cy="4087369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850392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GC_TF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886968"/>
            <a:ext cx="2134056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850392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Courier New"/>
              </a:rPr>
              <a:t>+0.88   P=0.05 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024127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IFNg_10_Ayers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1060704"/>
            <a:ext cx="2105439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1024127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Courier New"/>
              </a:rPr>
              <a:t>+0.86   P=0.05 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1197864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Ayers_TIS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1234440"/>
            <a:ext cx="1897955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1197864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Courier New"/>
              </a:rPr>
              <a:t>+0.78   P=0.05 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371600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IFNg_6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1408176"/>
            <a:ext cx="2377956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1371600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Courier New"/>
              </a:rPr>
              <a:t>+0.98   P=0.05 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1545336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M1_macro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1581912"/>
            <a:ext cx="1791296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1545336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Courier New"/>
              </a:rPr>
              <a:t>+0.73   P=0.05 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1719072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CD8_cytotoxic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1755648"/>
            <a:ext cx="1269668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1719072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Courier New"/>
              </a:rPr>
              <a:t>+0.52   P=0.05 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1892807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T_cell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17520" y="1929384"/>
            <a:ext cx="1836018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0" y="1892807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Courier New"/>
              </a:rPr>
              <a:t>+0.75   P=0.10 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066544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HLA_I_axis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2103120"/>
            <a:ext cx="2109221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0" y="2066544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Courier New"/>
              </a:rPr>
              <a:t>+0.87   P=0.10 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2240279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HLA_I_machinery_narrow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2276856"/>
            <a:ext cx="2109221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2240279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Courier New"/>
              </a:rPr>
              <a:t>+0.87   P=0.10 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2414016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NK_activating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2450592"/>
            <a:ext cx="1701039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40" y="2414016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Courier New"/>
              </a:rPr>
              <a:t>+0.70   P=0.10 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2587751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IMPRES_pos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17520" y="2624327"/>
            <a:ext cx="1485934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35040" y="2587751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Courier New"/>
              </a:rPr>
              <a:t>+0.61   P=0.10 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2761488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CD8_exh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2798064"/>
            <a:ext cx="1325884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35040" y="2761488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Courier New"/>
              </a:rPr>
              <a:t>+0.54   P=0.20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2935224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Memory_B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17520" y="2971800"/>
            <a:ext cx="1827084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35040" y="2935224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Courier New"/>
              </a:rPr>
              <a:t>+0.75   P=0.20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3108960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Plasma_proxy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145536"/>
            <a:ext cx="2864096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35040" y="3108960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Courier New"/>
              </a:rPr>
              <a:t>+1.17   P=0.20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3282696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Teff_cytotoxic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17520" y="3319272"/>
            <a:ext cx="1055036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35040" y="3282696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Courier New"/>
              </a:rPr>
              <a:t>+0.43   P=0.20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3456432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TLS_8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3493008"/>
            <a:ext cx="1017861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35040" y="3456432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Courier New"/>
              </a:rPr>
              <a:t>+0.42   P=0.20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3630168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M2_macro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3666744"/>
            <a:ext cx="368020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35040" y="3630168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Courier New"/>
              </a:rPr>
              <a:t>+0.15   P=0.20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3803904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DC_mature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3840479"/>
            <a:ext cx="1239001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35040" y="3803904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Courier New"/>
              </a:rPr>
              <a:t>+0.51   P=0.20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3977640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HLA_II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017520" y="4014215"/>
            <a:ext cx="953235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035040" y="3977640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Courier New"/>
              </a:rPr>
              <a:t>+0.39   P=0.35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4151376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Naive_B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017520" y="4187951"/>
            <a:ext cx="1735622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35040" y="4151376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Courier New"/>
              </a:rPr>
              <a:t>+0.71   P=0.35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4325112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NK_inhibiting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017520" y="4361688"/>
            <a:ext cx="577998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035040" y="4325112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Courier New"/>
              </a:rPr>
              <a:t>+0.24   P=0.35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4498848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Treg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4535424"/>
            <a:ext cx="796963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35040" y="4498848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Courier New"/>
              </a:rPr>
              <a:t>+0.33   P=0.35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4672584"/>
            <a:ext cx="237744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BAFF_APRIL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017520" y="4709159"/>
            <a:ext cx="1042778" cy="128016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035040" y="4672584"/>
            <a:ext cx="128016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Courier New"/>
              </a:rPr>
              <a:t>+0.43   P=0.50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5839" y="5166360"/>
            <a:ext cx="21945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good − bad (composite z)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5440680"/>
            <a:ext cx="82296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1">
                <a:solidFill>
                  <a:srgbClr val="888888"/>
                </a:solidFill>
                <a:latin typeface="Arial"/>
              </a:rPr>
              <a:t>★ = one-sided MW P ≤ 0.05 (3-vs-3 ceiling) · · = P ≤ 0.10 · P-values tabulated per composite in Courier at right of each bar.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C  Regulatory-grade signatures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Six FDA/regulatory-grade immune signatures: pre-RT (left) vs post-RT (right), good (teal) vs bad (coral).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651760" cy="2057400"/>
          </a:xfrm>
          <a:prstGeom prst="rect">
            <a:avLst/>
          </a:prstGeom>
          <a:noFill/>
          <a:ln w="508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2651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Ayers TIS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093047"/>
            <a:ext cx="265176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05287" y="2204840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41422" y="1106072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3026" y="1887897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65058" y="1580261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3128" y="1954569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90502" y="2132928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4467" y="268868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03520" y="2186948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76583" y="2261993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72826" y="213415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98774" y="240799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16386" y="202157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25372" y="2061489"/>
            <a:ext cx="20116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55724" y="2498612"/>
            <a:ext cx="20116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92147" y="1652140"/>
            <a:ext cx="20116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22499" y="2159947"/>
            <a:ext cx="20116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74519" y="914400"/>
            <a:ext cx="0" cy="2057400"/>
          </a:xfrm>
          <a:prstGeom prst="line">
            <a:avLst/>
          </a:prstGeom>
          <a:ln w="508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1228" y="960120"/>
            <a:ext cx="119329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D4A300"/>
                </a:solidFill>
                <a:latin typeface="Arial"/>
              </a:rPr>
              <a:t>pre P = 0.05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7107" y="960120"/>
            <a:ext cx="106070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post P = 0.10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" y="2990088"/>
            <a:ext cx="6629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g / b  pre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39696" y="2990088"/>
            <a:ext cx="6629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g / b  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868680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888888"/>
                </a:solidFill>
                <a:latin typeface="Arial"/>
              </a:rPr>
              <a:t>+2.1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286207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888888"/>
                </a:solidFill>
                <a:latin typeface="Arial"/>
              </a:rPr>
              <a:t>-1.6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914400"/>
            <a:ext cx="2651760" cy="2057400"/>
          </a:xfrm>
          <a:prstGeom prst="rect">
            <a:avLst/>
          </a:prstGeom>
          <a:noFill/>
          <a:ln w="508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713232"/>
            <a:ext cx="2651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IFN-γ 6-gene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474720" y="1923645"/>
            <a:ext cx="2651759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919471" y="1785757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02604" y="1106072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901142" y="1672942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048149" y="1110632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11308" y="1759671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33206" y="1666458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466627" y="2289510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15482" y="2136508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60268" y="1933295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90141" y="214719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79709" y="268868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39390" y="223836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851452" y="1785177"/>
            <a:ext cx="20116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81804" y="2349550"/>
            <a:ext cx="20116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018227" y="1340107"/>
            <a:ext cx="20116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548579" y="2219744"/>
            <a:ext cx="20116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00600" y="914400"/>
            <a:ext cx="0" cy="2057400"/>
          </a:xfrm>
          <a:prstGeom prst="line">
            <a:avLst/>
          </a:prstGeom>
          <a:ln w="508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607308" y="960120"/>
            <a:ext cx="119329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D4A300"/>
                </a:solidFill>
                <a:latin typeface="Arial"/>
              </a:rPr>
              <a:t>pre P = 0.05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3188" y="960120"/>
            <a:ext cx="106070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D4A300"/>
                </a:solidFill>
                <a:latin typeface="Arial"/>
              </a:rPr>
              <a:t>post P = 0.05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5966" y="2990088"/>
            <a:ext cx="6629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g / b  pre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65776" y="2990088"/>
            <a:ext cx="6629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g / b  post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79" y="868680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888888"/>
                </a:solidFill>
                <a:latin typeface="Arial"/>
              </a:rPr>
              <a:t>+1.7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4679" y="286207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888888"/>
                </a:solidFill>
                <a:latin typeface="Arial"/>
              </a:rPr>
              <a:t>-1.8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799" y="914400"/>
            <a:ext cx="2651760" cy="2057400"/>
          </a:xfrm>
          <a:prstGeom prst="rect">
            <a:avLst/>
          </a:prstGeom>
          <a:noFill/>
          <a:ln w="508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799" y="713232"/>
            <a:ext cx="2651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IFN-γ 10-gene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400799" y="2085122"/>
            <a:ext cx="265176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6857852" y="2030968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971248" y="1106072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829353" y="1789526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57456" y="1365977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800785" y="2036251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15909" y="1920597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385129" y="241180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72272" y="2319738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346822" y="227541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17678" y="223430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359964" y="268868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501128" y="2293479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6777532" y="1997968"/>
            <a:ext cx="20116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307884" y="2504357"/>
            <a:ext cx="20116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944307" y="1509935"/>
            <a:ext cx="20116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474659" y="2328228"/>
            <a:ext cx="20116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726679" y="914400"/>
            <a:ext cx="0" cy="2057400"/>
          </a:xfrm>
          <a:prstGeom prst="line">
            <a:avLst/>
          </a:prstGeom>
          <a:ln w="508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533387" y="960120"/>
            <a:ext cx="119329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D4A300"/>
                </a:solidFill>
                <a:latin typeface="Arial"/>
              </a:rPr>
              <a:t>pre P = 0.05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59267" y="960120"/>
            <a:ext cx="106070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D4A300"/>
                </a:solidFill>
                <a:latin typeface="Arial"/>
              </a:rPr>
              <a:t>post P = 0.05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72046" y="2990088"/>
            <a:ext cx="6629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g / b  pre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91855" y="2990088"/>
            <a:ext cx="6629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g / b  post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80759" y="868680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888888"/>
                </a:solidFill>
                <a:latin typeface="Arial"/>
              </a:rPr>
              <a:t>+2.0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80759" y="286207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888888"/>
                </a:solidFill>
                <a:latin typeface="Arial"/>
              </a:rPr>
              <a:t>-1.5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8640" y="3337560"/>
            <a:ext cx="2651760" cy="2057400"/>
          </a:xfrm>
          <a:prstGeom prst="rect">
            <a:avLst/>
          </a:prstGeom>
          <a:noFill/>
          <a:ln w="508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8640" y="3136391"/>
            <a:ext cx="2651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CD8 cytotoxic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48640" y="4587427"/>
            <a:ext cx="265176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946396" y="4600229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144789" y="3529232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55265" y="4417429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162538" y="4468980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74489" y="4587874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177431" y="4759371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528901" y="4775112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660206" y="4763118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540970" y="4647749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705230" y="4719610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500299" y="511184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658007" y="4119928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925372" y="4580897"/>
            <a:ext cx="20116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455724" y="4890623"/>
            <a:ext cx="20116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092147" y="4298248"/>
            <a:ext cx="20116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622499" y="4579939"/>
            <a:ext cx="20116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874519" y="3337560"/>
            <a:ext cx="0" cy="2057400"/>
          </a:xfrm>
          <a:prstGeom prst="line">
            <a:avLst/>
          </a:prstGeom>
          <a:ln w="508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81228" y="3383279"/>
            <a:ext cx="119329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D4A300"/>
                </a:solidFill>
                <a:latin typeface="Arial"/>
              </a:rPr>
              <a:t>pre P = 0.05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07107" y="3383279"/>
            <a:ext cx="106070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post P = 0.35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9886" y="5413248"/>
            <a:ext cx="6629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g / b  pre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9696" y="5413248"/>
            <a:ext cx="6629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g / b  post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28600" y="3291840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888888"/>
                </a:solidFill>
                <a:latin typeface="Arial"/>
              </a:rPr>
              <a:t>+2.1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8600" y="528523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888888"/>
                </a:solidFill>
                <a:latin typeface="Arial"/>
              </a:rPr>
              <a:t>-1.4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74720" y="3337560"/>
            <a:ext cx="2651760" cy="2057400"/>
          </a:xfrm>
          <a:prstGeom prst="rect">
            <a:avLst/>
          </a:prstGeom>
          <a:noFill/>
          <a:ln w="508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474720" y="3136391"/>
            <a:ext cx="2651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IMPRES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3474720" y="4533920"/>
            <a:ext cx="2651759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3923004" y="4714730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040150" y="3529232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78876" y="4406045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028044" y="3922695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932553" y="4501088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088165" y="4493274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455429" y="511184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629113" y="4826342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432912" y="4565162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609728" y="4633476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403731" y="4992040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568195" y="4162469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3851452" y="4586341"/>
            <a:ext cx="20116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4381804" y="4935403"/>
            <a:ext cx="20116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5018227" y="4027453"/>
            <a:ext cx="20116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5548579" y="4586482"/>
            <a:ext cx="20116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800600" y="3337560"/>
            <a:ext cx="0" cy="2057400"/>
          </a:xfrm>
          <a:prstGeom prst="line">
            <a:avLst/>
          </a:prstGeom>
          <a:ln w="508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3607308" y="3383279"/>
            <a:ext cx="119329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pre P = 0.10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933188" y="3383279"/>
            <a:ext cx="106070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post P = 0.10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45966" y="5413248"/>
            <a:ext cx="6629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g / b  pre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65776" y="5413248"/>
            <a:ext cx="6629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g / b  post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154679" y="3291840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888888"/>
                </a:solidFill>
                <a:latin typeface="Arial"/>
              </a:rPr>
              <a:t>+2.1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154679" y="528523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888888"/>
                </a:solidFill>
                <a:latin typeface="Arial"/>
              </a:rPr>
              <a:t>-1.5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400799" y="3337560"/>
            <a:ext cx="2651760" cy="2057400"/>
          </a:xfrm>
          <a:prstGeom prst="rect">
            <a:avLst/>
          </a:prstGeom>
          <a:noFill/>
          <a:ln w="508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400799" y="3136391"/>
            <a:ext cx="2651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M1 macrophage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6400799" y="4396213"/>
            <a:ext cx="265176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6847795" y="4346870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7996528" y="3529232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838361" y="4405611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8023402" y="3539695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844715" y="4501906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004070" y="4278923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7368162" y="4841199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8511596" y="4510842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7319846" y="459210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523736" y="4602586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336650" y="511184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8521159" y="3945095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>
            <a:off x="6777532" y="4463849"/>
            <a:ext cx="20116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7307884" y="4894104"/>
            <a:ext cx="20116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944307" y="3828337"/>
            <a:ext cx="201168" cy="0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474659" y="4398561"/>
            <a:ext cx="201168" cy="0"/>
          </a:xfrm>
          <a:prstGeom prst="line">
            <a:avLst/>
          </a:prstGeom>
          <a:ln w="228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7726679" y="3337560"/>
            <a:ext cx="0" cy="2057400"/>
          </a:xfrm>
          <a:prstGeom prst="line">
            <a:avLst/>
          </a:prstGeom>
          <a:ln w="508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6533387" y="3383279"/>
            <a:ext cx="119329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D4A300"/>
                </a:solidFill>
                <a:latin typeface="Arial"/>
              </a:rPr>
              <a:t>pre P = 0.05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859267" y="3383279"/>
            <a:ext cx="106070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post P = 0.10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772046" y="5413248"/>
            <a:ext cx="6629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g / b  pre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91855" y="5413248"/>
            <a:ext cx="6629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g / b  post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080759" y="3291840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888888"/>
                </a:solidFill>
                <a:latin typeface="Arial"/>
              </a:rPr>
              <a:t>+1.8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080759" y="528523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888888"/>
                </a:solidFill>
                <a:latin typeface="Arial"/>
              </a:rPr>
              <a:t>-1.7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D  IAE (n=2) vs IBI (n=3) — composite fingerprint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Positive (teal) = IAE &gt; IBI; negative (coral) = IBI &gt; IAE.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841248"/>
            <a:ext cx="0" cy="3346704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144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Treg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950976"/>
            <a:ext cx="3200400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9144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+1.26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Naive_B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2926" y="1179576"/>
            <a:ext cx="3001873" cy="15544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006" y="11430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-1.18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IFNg_10_Ayers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08176"/>
            <a:ext cx="2160779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1299" y="13716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002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IFNg_6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636776"/>
            <a:ext cx="2159377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9897" y="16002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288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IMPRES_pos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865376"/>
            <a:ext cx="2156402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6922" y="18288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0574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NK_inhibiting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91544" y="2093976"/>
            <a:ext cx="2123255" cy="15544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88624" y="20574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-0.83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2860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CD8_exh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2322576"/>
            <a:ext cx="2046104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6624" y="22860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5146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Teff_over_Treg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56057" y="2551176"/>
            <a:ext cx="1958742" cy="15544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53137" y="25146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-0.77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7432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2779776"/>
            <a:ext cx="1950978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11498" y="27432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9718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NK_activ_over_inhib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008376"/>
            <a:ext cx="1690186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0706" y="29718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+0.66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2004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Ayers_TIS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236976"/>
            <a:ext cx="1651442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11962" y="32004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4290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DC_mature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3465576"/>
            <a:ext cx="1543767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04287" y="34290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+0.61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6576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HLA_I_machinery_narrow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3694176"/>
            <a:ext cx="1509983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70503" y="36576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+0.59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8862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HLA_I_axis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3922776"/>
            <a:ext cx="1509983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70503" y="38862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+0.59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4297680"/>
            <a:ext cx="3657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IAE − IBI (mean Δ z)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502920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568" y="501091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IAE &gt; IBI (good inflamed)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502920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93008" y="501091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IBI &gt; IAE (bad inflamed)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E  Top 18 gene discriminators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IAE productive cascade (JAK3, IKBKB, TAPBP, ZAP70, BATF) vs IBI suppressive (KIR_Inh, ARG2, RAG1).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841248"/>
            <a:ext cx="0" cy="4261104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144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PLA2G6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950976"/>
            <a:ext cx="3200400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9144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+3.38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JAK3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179576"/>
            <a:ext cx="2928651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9171" y="11430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+3.09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KIR_Inhibiting_Subgroup_2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38" y="1408176"/>
            <a:ext cx="2852961" cy="15544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18" y="13716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-3.01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002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IKBKB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636776"/>
            <a:ext cx="2725880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6400" y="16002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288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TAPBP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865376"/>
            <a:ext cx="2636243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6763" y="18288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0574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ARG2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3481" y="2093976"/>
            <a:ext cx="2571318" cy="15544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0561" y="20574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-2.71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2860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ZAP70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2322576"/>
            <a:ext cx="2568971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491" y="22860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5146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CCL24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551176"/>
            <a:ext cx="2516308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6828" y="25146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7432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IFIH1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2779776"/>
            <a:ext cx="2398245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8765" y="27432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9718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XCL2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45095" y="3008376"/>
            <a:ext cx="2369704" cy="15544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42175" y="29718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-2.50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2004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STAT6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236976"/>
            <a:ext cx="2311118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1638" y="32004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4290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PYCARD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3465576"/>
            <a:ext cx="2307029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7549" y="34290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6576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LILRB3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3694176"/>
            <a:ext cx="2283900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4420" y="36576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8862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RAG1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04870" y="3922776"/>
            <a:ext cx="2209929" cy="15544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01950" y="38862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-2.33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1148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MS4A1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12305" y="4151376"/>
            <a:ext cx="2202494" cy="15544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09385" y="41148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-2.32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3434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S100B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4379976"/>
            <a:ext cx="2199679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60199" y="43434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5720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SELPLG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4608576"/>
            <a:ext cx="2190710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1230" y="45720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8006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BATF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4837176"/>
            <a:ext cx="2118562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79082" y="48006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86000" y="5212080"/>
            <a:ext cx="3657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IAE − IBI (mean Δ z)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502920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5568" y="501091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IAE &gt; IBI (good inflamed)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91840" y="502920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93008" y="501091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IBI &gt; IAE (bad inflamed)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F  Pre-spec cascade arrow 4 (T2): ΔCD8-exh × ΔTLS-8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Pearson r = +0.82, P = 0.046 · Spearman ρ = +0.77, P = 0.072 (n = 6 paired)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005840"/>
            <a:ext cx="4572000" cy="384048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3137354" y="1005840"/>
            <a:ext cx="0" cy="384048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5065237"/>
            <a:ext cx="457200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286000" y="1760984"/>
            <a:ext cx="4572000" cy="2980497"/>
          </a:xfrm>
          <a:prstGeom prst="line">
            <a:avLst/>
          </a:prstGeom>
          <a:ln w="762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295351" y="1496162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9087" y="1487018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s2</a:t>
            </a:r>
          </a:p>
        </p:txBody>
      </p:sp>
      <p:sp>
        <p:nvSpPr>
          <p:cNvPr id="10" name="Oval 9"/>
          <p:cNvSpPr/>
          <p:nvPr/>
        </p:nvSpPr>
        <p:spPr>
          <a:xfrm>
            <a:off x="4316786" y="3957381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0522" y="3948237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s4</a:t>
            </a:r>
          </a:p>
        </p:txBody>
      </p:sp>
      <p:sp>
        <p:nvSpPr>
          <p:cNvPr id="12" name="Oval 11"/>
          <p:cNvSpPr/>
          <p:nvPr/>
        </p:nvSpPr>
        <p:spPr>
          <a:xfrm>
            <a:off x="3141791" y="4191405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5527" y="4182261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s14</a:t>
            </a:r>
          </a:p>
        </p:txBody>
      </p:sp>
      <p:sp>
        <p:nvSpPr>
          <p:cNvPr id="14" name="Oval 13"/>
          <p:cNvSpPr/>
          <p:nvPr/>
        </p:nvSpPr>
        <p:spPr>
          <a:xfrm>
            <a:off x="4416221" y="2664107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9957" y="2654963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s10</a:t>
            </a:r>
          </a:p>
        </p:txBody>
      </p:sp>
      <p:sp>
        <p:nvSpPr>
          <p:cNvPr id="16" name="Oval 15"/>
          <p:cNvSpPr/>
          <p:nvPr/>
        </p:nvSpPr>
        <p:spPr>
          <a:xfrm>
            <a:off x="2684056" y="3879869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7792" y="3870725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s11</a:t>
            </a:r>
          </a:p>
        </p:txBody>
      </p:sp>
      <p:sp>
        <p:nvSpPr>
          <p:cNvPr id="18" name="Oval 17"/>
          <p:cNvSpPr/>
          <p:nvPr/>
        </p:nvSpPr>
        <p:spPr>
          <a:xfrm>
            <a:off x="4954769" y="3560853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8505" y="3551709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166360"/>
            <a:ext cx="4572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Δ CD8 exhaustion (z)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1417320" y="2651760"/>
            <a:ext cx="731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Δ TLS-8 (z)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736592"/>
            <a:ext cx="2743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+0.1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960120"/>
            <a:ext cx="2743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+2.1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89204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-0.5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9204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+2.3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118872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117043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good (pCR)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37160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135331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bad (poor)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