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486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222222"/>
                </a:solidFill>
                <a:latin typeface="Arial"/>
              </a:rPr>
              <a:t>Supp Fig S22. NanoString PanCancer Immune orthogonal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77440"/>
            <a:ext cx="82296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Arial"/>
              </a:rPr>
              <a:t>6-subject extreme-phenotype (3 pCR vs 3 poor) × paired pre/post × 730 probes.
Six panels: A pre/post/Δ heatmap · B pre-treatment direction waterfall · C regulatory-grade signatures · D IAE vs IBI composite · E IAE vs IBI genes · F Pre-spec cascade arrow 4 (ΔCD8-exh × ΔTLS-8, r=+0.82, P=0.046).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22222"/>
                </a:solidFill>
                <a:latin typeface="Arial"/>
              </a:rPr>
              <a:t>A  Pre/post/Δ composite heatmap (good − bad)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888888"/>
                </a:solidFill>
                <a:latin typeface="Arial"/>
              </a:rPr>
              <a:t>Star ★ = one-sided MW P ≤ 0.05 (ceiling at n=3 vs 3). Dot · = P ≤ 0.10.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0" y="594359"/>
            <a:ext cx="7315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594359"/>
            <a:ext cx="7315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94359"/>
            <a:ext cx="7315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79" y="850392"/>
            <a:ext cx="2377440" cy="201167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GC_TF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868680"/>
            <a:ext cx="731520" cy="182879"/>
          </a:xfrm>
          <a:prstGeom prst="rect">
            <a:avLst/>
          </a:prstGeom>
          <a:solidFill>
            <a:srgbClr val="71B4AB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86868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+0.88 ★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868680"/>
            <a:ext cx="731520" cy="182879"/>
          </a:xfrm>
          <a:prstGeom prst="rect">
            <a:avLst/>
          </a:prstGeom>
          <a:solidFill>
            <a:srgbClr val="9AC9C3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86868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+0.62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868680"/>
            <a:ext cx="731520" cy="182879"/>
          </a:xfrm>
          <a:prstGeom prst="rect">
            <a:avLst/>
          </a:prstGeom>
          <a:solidFill>
            <a:srgbClr val="F5DFD9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86868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-0.25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79" y="1033271"/>
            <a:ext cx="2377440" cy="201167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IFNg_10_Ayers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1051560"/>
            <a:ext cx="731520" cy="182879"/>
          </a:xfrm>
          <a:prstGeom prst="rect">
            <a:avLst/>
          </a:prstGeom>
          <a:solidFill>
            <a:srgbClr val="73B5AC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08960" y="105156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+0.86 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0" y="1051560"/>
            <a:ext cx="731520" cy="182879"/>
          </a:xfrm>
          <a:prstGeom prst="rect">
            <a:avLst/>
          </a:prstGeom>
          <a:solidFill>
            <a:srgbClr val="1E8779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105156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+1.40 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0" y="1051560"/>
            <a:ext cx="731520" cy="182879"/>
          </a:xfrm>
          <a:prstGeom prst="rect">
            <a:avLst/>
          </a:prstGeom>
          <a:solidFill>
            <a:srgbClr val="A9D1CC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105156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+0.53 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79" y="1216151"/>
            <a:ext cx="2377440" cy="201167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Ayers_TIS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1234439"/>
            <a:ext cx="731520" cy="182879"/>
          </a:xfrm>
          <a:prstGeom prst="rect">
            <a:avLst/>
          </a:prstGeom>
          <a:solidFill>
            <a:srgbClr val="81BCB4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08960" y="123443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+0.78 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0" y="1234439"/>
            <a:ext cx="731520" cy="182879"/>
          </a:xfrm>
          <a:prstGeom prst="rect">
            <a:avLst/>
          </a:prstGeom>
          <a:solidFill>
            <a:srgbClr val="6DB1A8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0" y="123443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+0.90 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1234439"/>
            <a:ext cx="731520" cy="182879"/>
          </a:xfrm>
          <a:prstGeom prst="rect">
            <a:avLst/>
          </a:prstGeom>
          <a:solidFill>
            <a:srgbClr val="EAF4F2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123443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79" y="1399031"/>
            <a:ext cx="2377440" cy="201167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IFNg_6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08960" y="1417319"/>
            <a:ext cx="731520" cy="182879"/>
          </a:xfrm>
          <a:prstGeom prst="rect">
            <a:avLst/>
          </a:prstGeom>
          <a:solidFill>
            <a:srgbClr val="61ABA1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08960" y="141731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+0.98 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0" y="1417319"/>
            <a:ext cx="731520" cy="182879"/>
          </a:xfrm>
          <a:prstGeom prst="rect">
            <a:avLst/>
          </a:prstGeom>
          <a:solidFill>
            <a:srgbClr val="0A7D6E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0" y="141731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+1.52 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417319"/>
            <a:ext cx="731520" cy="182879"/>
          </a:xfrm>
          <a:prstGeom prst="rect">
            <a:avLst/>
          </a:prstGeom>
          <a:solidFill>
            <a:srgbClr val="A7D0CB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141731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+0.54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79" y="1581912"/>
            <a:ext cx="2377440" cy="201167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M1_macro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08960" y="1600200"/>
            <a:ext cx="731520" cy="182879"/>
          </a:xfrm>
          <a:prstGeom prst="rect">
            <a:avLst/>
          </a:prstGeom>
          <a:solidFill>
            <a:srgbClr val="88C0B8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08960" y="160020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+0.73 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40480" y="1600200"/>
            <a:ext cx="731520" cy="182879"/>
          </a:xfrm>
          <a:prstGeom prst="rect">
            <a:avLst/>
          </a:prstGeom>
          <a:solidFill>
            <a:srgbClr val="62ABA2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40480" y="160020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+0.97 ·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1600200"/>
            <a:ext cx="731520" cy="182879"/>
          </a:xfrm>
          <a:prstGeom prst="rect">
            <a:avLst/>
          </a:prstGeom>
          <a:solidFill>
            <a:srgbClr val="D8EAE8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0" y="160020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79" y="1764791"/>
            <a:ext cx="2377440" cy="201167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CD8_cytotoxic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08960" y="1783079"/>
            <a:ext cx="731520" cy="182879"/>
          </a:xfrm>
          <a:prstGeom prst="rect">
            <a:avLst/>
          </a:prstGeom>
          <a:solidFill>
            <a:srgbClr val="ABD2CD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08960" y="178307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+0.52 ★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0" y="1783079"/>
            <a:ext cx="731520" cy="182879"/>
          </a:xfrm>
          <a:prstGeom prst="rect">
            <a:avLst/>
          </a:prstGeom>
          <a:solidFill>
            <a:srgbClr val="B2D6D1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40480" y="178307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+0.47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0" y="1783079"/>
            <a:ext cx="731520" cy="182879"/>
          </a:xfrm>
          <a:prstGeom prst="rect">
            <a:avLst/>
          </a:prstGeom>
          <a:solidFill>
            <a:srgbClr val="FDF9F8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0" y="178307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-0.05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79" y="1947672"/>
            <a:ext cx="2377440" cy="201167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T_cell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08960" y="1965960"/>
            <a:ext cx="731520" cy="182879"/>
          </a:xfrm>
          <a:prstGeom prst="rect">
            <a:avLst/>
          </a:prstGeom>
          <a:solidFill>
            <a:srgbClr val="85BEB7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0" y="196596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+0.75 ·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0" y="1965960"/>
            <a:ext cx="731520" cy="182879"/>
          </a:xfrm>
          <a:prstGeom prst="rect">
            <a:avLst/>
          </a:prstGeom>
          <a:solidFill>
            <a:srgbClr val="E2F0EE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40480" y="196596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+0.17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1965960"/>
            <a:ext cx="731520" cy="182879"/>
          </a:xfrm>
          <a:prstGeom prst="rect">
            <a:avLst/>
          </a:prstGeom>
          <a:solidFill>
            <a:srgbClr val="E8B5A9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0" y="196596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-0.58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79" y="2130551"/>
            <a:ext cx="2377440" cy="201167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HLA_I_axis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108960" y="2148839"/>
            <a:ext cx="731520" cy="182879"/>
          </a:xfrm>
          <a:prstGeom prst="rect">
            <a:avLst/>
          </a:prstGeom>
          <a:solidFill>
            <a:srgbClr val="73B5AC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08960" y="214883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+0.87 ·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40480" y="2148839"/>
            <a:ext cx="731520" cy="182879"/>
          </a:xfrm>
          <a:prstGeom prst="rect">
            <a:avLst/>
          </a:prstGeom>
          <a:solidFill>
            <a:srgbClr val="489E93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40480" y="214883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+1.13 ★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0" y="2148839"/>
            <a:ext cx="731520" cy="182879"/>
          </a:xfrm>
          <a:prstGeom prst="rect">
            <a:avLst/>
          </a:prstGeom>
          <a:solidFill>
            <a:srgbClr val="D4E8E5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2000" y="214883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79" y="2313432"/>
            <a:ext cx="2377440" cy="201167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HLA_I_machinery_narrow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108960" y="2331720"/>
            <a:ext cx="731520" cy="182879"/>
          </a:xfrm>
          <a:prstGeom prst="rect">
            <a:avLst/>
          </a:prstGeom>
          <a:solidFill>
            <a:srgbClr val="73B5AC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108960" y="233172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+0.87 ·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840480" y="2331720"/>
            <a:ext cx="731520" cy="182879"/>
          </a:xfrm>
          <a:prstGeom prst="rect">
            <a:avLst/>
          </a:prstGeom>
          <a:solidFill>
            <a:srgbClr val="489E93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40480" y="233172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+1.13 ★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2331720"/>
            <a:ext cx="731520" cy="182879"/>
          </a:xfrm>
          <a:prstGeom prst="rect">
            <a:avLst/>
          </a:prstGeom>
          <a:solidFill>
            <a:srgbClr val="D4E8E5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0" y="233172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79" y="2496312"/>
            <a:ext cx="2377440" cy="201167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NK_activating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108960" y="2514600"/>
            <a:ext cx="731520" cy="182879"/>
          </a:xfrm>
          <a:prstGeom prst="rect">
            <a:avLst/>
          </a:prstGeom>
          <a:solidFill>
            <a:srgbClr val="8EC3BC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108960" y="251460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+0.70 ·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840480" y="2514600"/>
            <a:ext cx="731520" cy="182879"/>
          </a:xfrm>
          <a:prstGeom prst="rect">
            <a:avLst/>
          </a:prstGeom>
          <a:solidFill>
            <a:srgbClr val="F6FAF9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840480" y="251460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+0.05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2000" y="2514600"/>
            <a:ext cx="731520" cy="182879"/>
          </a:xfrm>
          <a:prstGeom prst="rect">
            <a:avLst/>
          </a:prstGeom>
          <a:solidFill>
            <a:srgbClr val="E6ADA0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572000" y="251460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-0.64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79" y="2679191"/>
            <a:ext cx="2377440" cy="201167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IMPRES_pos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108960" y="2697479"/>
            <a:ext cx="731520" cy="182879"/>
          </a:xfrm>
          <a:prstGeom prst="rect">
            <a:avLst/>
          </a:prstGeom>
          <a:solidFill>
            <a:srgbClr val="9CCAC4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108960" y="269747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+0.61 ·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840480" y="2697479"/>
            <a:ext cx="731520" cy="182879"/>
          </a:xfrm>
          <a:prstGeom prst="rect">
            <a:avLst/>
          </a:prstGeom>
          <a:solidFill>
            <a:srgbClr val="61ABA1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840480" y="269747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+0.98 ·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572000" y="2697479"/>
            <a:ext cx="731520" cy="182879"/>
          </a:xfrm>
          <a:prstGeom prst="rect">
            <a:avLst/>
          </a:prstGeom>
          <a:solidFill>
            <a:srgbClr val="C3DFDC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572000" y="269747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+0.37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0079" y="2862071"/>
            <a:ext cx="2377440" cy="201167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CD8_exh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108960" y="2880359"/>
            <a:ext cx="731520" cy="182879"/>
          </a:xfrm>
          <a:prstGeom prst="rect">
            <a:avLst/>
          </a:prstGeom>
          <a:solidFill>
            <a:srgbClr val="A7D0CB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108960" y="288035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+0.54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840480" y="2880359"/>
            <a:ext cx="731520" cy="182879"/>
          </a:xfrm>
          <a:prstGeom prst="rect">
            <a:avLst/>
          </a:prstGeom>
          <a:solidFill>
            <a:srgbClr val="6EB2A9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840480" y="288035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+0.90 ·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572000" y="2880359"/>
            <a:ext cx="731520" cy="182879"/>
          </a:xfrm>
          <a:prstGeom prst="rect">
            <a:avLst/>
          </a:prstGeom>
          <a:solidFill>
            <a:srgbClr val="C5E0DD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72000" y="288035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+0.35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40079" y="3044951"/>
            <a:ext cx="2377440" cy="201167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Memory_B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108960" y="3063239"/>
            <a:ext cx="731520" cy="182879"/>
          </a:xfrm>
          <a:prstGeom prst="rect">
            <a:avLst/>
          </a:prstGeom>
          <a:solidFill>
            <a:srgbClr val="86BEB7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108960" y="306323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+0.75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840480" y="3063239"/>
            <a:ext cx="731520" cy="182879"/>
          </a:xfrm>
          <a:prstGeom prst="rect">
            <a:avLst/>
          </a:prstGeom>
          <a:solidFill>
            <a:srgbClr val="BFDDD9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840480" y="306323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+0.40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572000" y="3063239"/>
            <a:ext cx="731520" cy="182879"/>
          </a:xfrm>
          <a:prstGeom prst="rect">
            <a:avLst/>
          </a:prstGeom>
          <a:solidFill>
            <a:srgbClr val="F1D2CA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572000" y="306323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-0.35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40079" y="3227832"/>
            <a:ext cx="2377440" cy="201167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Plasma_proxy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108960" y="3246120"/>
            <a:ext cx="731520" cy="182879"/>
          </a:xfrm>
          <a:prstGeom prst="rect">
            <a:avLst/>
          </a:prstGeom>
          <a:solidFill>
            <a:srgbClr val="419A8E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108960" y="324612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+1.17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840480" y="3246120"/>
            <a:ext cx="731520" cy="182879"/>
          </a:xfrm>
          <a:prstGeom prst="rect">
            <a:avLst/>
          </a:prstGeom>
          <a:solidFill>
            <a:srgbClr val="55A59A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840480" y="324612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+1.05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572000" y="3246120"/>
            <a:ext cx="731520" cy="182879"/>
          </a:xfrm>
          <a:prstGeom prst="rect">
            <a:avLst/>
          </a:prstGeom>
          <a:solidFill>
            <a:srgbClr val="FAEFEC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572000" y="324612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-0.13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0079" y="3410712"/>
            <a:ext cx="2377440" cy="201167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Teff_cytotoxic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108960" y="3429000"/>
            <a:ext cx="731520" cy="182879"/>
          </a:xfrm>
          <a:prstGeom prst="rect">
            <a:avLst/>
          </a:prstGeom>
          <a:solidFill>
            <a:srgbClr val="B9D9D5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108960" y="342900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+0.43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840480" y="3429000"/>
            <a:ext cx="731520" cy="182879"/>
          </a:xfrm>
          <a:prstGeom prst="rect">
            <a:avLst/>
          </a:prstGeom>
          <a:solidFill>
            <a:srgbClr val="ABD2CD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840480" y="342900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+0.52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0" y="3429000"/>
            <a:ext cx="731520" cy="182879"/>
          </a:xfrm>
          <a:prstGeom prst="rect">
            <a:avLst/>
          </a:prstGeom>
          <a:solidFill>
            <a:srgbClr val="F1F7F6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72000" y="342900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+0.08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40079" y="3593591"/>
            <a:ext cx="2377440" cy="201167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TLS_8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108960" y="3611879"/>
            <a:ext cx="731520" cy="182879"/>
          </a:xfrm>
          <a:prstGeom prst="rect">
            <a:avLst/>
          </a:prstGeom>
          <a:solidFill>
            <a:srgbClr val="BBDBD7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108960" y="361187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+0.42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840480" y="3611879"/>
            <a:ext cx="731520" cy="182879"/>
          </a:xfrm>
          <a:prstGeom prst="rect">
            <a:avLst/>
          </a:prstGeom>
          <a:solidFill>
            <a:srgbClr val="AED4CF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840480" y="361187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+0.50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572000" y="3611879"/>
            <a:ext cx="731520" cy="182879"/>
          </a:xfrm>
          <a:prstGeom prst="rect">
            <a:avLst/>
          </a:prstGeom>
          <a:solidFill>
            <a:srgbClr val="F2F8F7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572000" y="361187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+0.08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40079" y="3776472"/>
            <a:ext cx="2377440" cy="201167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M2_macro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108960" y="3794759"/>
            <a:ext cx="731520" cy="182879"/>
          </a:xfrm>
          <a:prstGeom prst="rect">
            <a:avLst/>
          </a:prstGeom>
          <a:solidFill>
            <a:srgbClr val="E6F2F0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108960" y="379475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+0.15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840480" y="3794759"/>
            <a:ext cx="731520" cy="182879"/>
          </a:xfrm>
          <a:prstGeom prst="rect">
            <a:avLst/>
          </a:prstGeom>
          <a:solidFill>
            <a:srgbClr val="CDE4E1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840480" y="379475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+0.31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572000" y="3794759"/>
            <a:ext cx="731520" cy="182879"/>
          </a:xfrm>
          <a:prstGeom prst="rect">
            <a:avLst/>
          </a:prstGeom>
          <a:solidFill>
            <a:srgbClr val="E5F1EF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572000" y="379475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+0.16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0079" y="3959352"/>
            <a:ext cx="2377440" cy="201167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DC_mature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108960" y="3977639"/>
            <a:ext cx="731520" cy="182879"/>
          </a:xfrm>
          <a:prstGeom prst="rect">
            <a:avLst/>
          </a:prstGeom>
          <a:solidFill>
            <a:srgbClr val="ADD3CE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108960" y="397763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+0.51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840480" y="3977639"/>
            <a:ext cx="731520" cy="182879"/>
          </a:xfrm>
          <a:prstGeom prst="rect">
            <a:avLst/>
          </a:prstGeom>
          <a:solidFill>
            <a:srgbClr val="9ECBC5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840480" y="397763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+0.60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4572000" y="3977639"/>
            <a:ext cx="731520" cy="182879"/>
          </a:xfrm>
          <a:prstGeom prst="rect">
            <a:avLst/>
          </a:prstGeom>
          <a:solidFill>
            <a:srgbClr val="F0F7F6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572000" y="397763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+0.09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0079" y="4142232"/>
            <a:ext cx="2377440" cy="201167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HLA_II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108960" y="4160520"/>
            <a:ext cx="731520" cy="182879"/>
          </a:xfrm>
          <a:prstGeom prst="rect">
            <a:avLst/>
          </a:prstGeom>
          <a:solidFill>
            <a:srgbClr val="BFDDD9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108960" y="416052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+0.39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840480" y="4160520"/>
            <a:ext cx="731520" cy="182879"/>
          </a:xfrm>
          <a:prstGeom prst="rect">
            <a:avLst/>
          </a:prstGeom>
          <a:solidFill>
            <a:srgbClr val="53A499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840480" y="416052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+1.06 ·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572000" y="4160520"/>
            <a:ext cx="731520" cy="182879"/>
          </a:xfrm>
          <a:prstGeom prst="rect">
            <a:avLst/>
          </a:prstGeom>
          <a:solidFill>
            <a:srgbClr val="92C5BE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4572000" y="416052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40079" y="4325112"/>
            <a:ext cx="2377440" cy="201167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Naive_B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108960" y="4343400"/>
            <a:ext cx="731520" cy="182879"/>
          </a:xfrm>
          <a:prstGeom prst="rect">
            <a:avLst/>
          </a:prstGeom>
          <a:solidFill>
            <a:srgbClr val="8CC2BB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3108960" y="434340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+0.71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840480" y="4343400"/>
            <a:ext cx="731520" cy="182879"/>
          </a:xfrm>
          <a:prstGeom prst="rect">
            <a:avLst/>
          </a:prstGeom>
          <a:solidFill>
            <a:srgbClr val="ECC2B9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3840480" y="434340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-0.47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4572000" y="4343400"/>
            <a:ext cx="731520" cy="182879"/>
          </a:xfrm>
          <a:prstGeom prst="rect">
            <a:avLst/>
          </a:prstGeom>
          <a:solidFill>
            <a:srgbClr val="D16850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572000" y="434340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-1.18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79" y="4507992"/>
            <a:ext cx="2377440" cy="201167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NK_inhibiting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108960" y="4526279"/>
            <a:ext cx="731520" cy="182879"/>
          </a:xfrm>
          <a:prstGeom prst="rect">
            <a:avLst/>
          </a:prstGeom>
          <a:solidFill>
            <a:srgbClr val="D8EAE8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3108960" y="452627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+0.24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3840480" y="4526279"/>
            <a:ext cx="731520" cy="182879"/>
          </a:xfrm>
          <a:prstGeom prst="rect">
            <a:avLst/>
          </a:prstGeom>
          <a:solidFill>
            <a:srgbClr val="E19D8E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3840480" y="452627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-0.77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4572000" y="4526279"/>
            <a:ext cx="731520" cy="182879"/>
          </a:xfrm>
          <a:prstGeom prst="rect">
            <a:avLst/>
          </a:prstGeom>
          <a:solidFill>
            <a:srgbClr val="D87F6B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572000" y="452627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-1.00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40079" y="4690872"/>
            <a:ext cx="2377440" cy="201167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Treg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3108960" y="4709159"/>
            <a:ext cx="731520" cy="182879"/>
          </a:xfrm>
          <a:prstGeom prst="rect">
            <a:avLst/>
          </a:prstGeom>
          <a:solidFill>
            <a:srgbClr val="CAE3DF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3108960" y="470915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+0.33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3840480" y="4709159"/>
            <a:ext cx="731520" cy="182879"/>
          </a:xfrm>
          <a:prstGeom prst="rect">
            <a:avLst/>
          </a:prstGeom>
          <a:solidFill>
            <a:srgbClr val="61ABA1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3840480" y="470915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+0.98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4572000" y="4709159"/>
            <a:ext cx="731520" cy="182879"/>
          </a:xfrm>
          <a:prstGeom prst="rect">
            <a:avLst/>
          </a:prstGeom>
          <a:solidFill>
            <a:srgbClr val="95C7C0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0" y="4709159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+0.65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40079" y="4873752"/>
            <a:ext cx="2377440" cy="201167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BAFF_APRIL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3108960" y="4892040"/>
            <a:ext cx="731520" cy="182879"/>
          </a:xfrm>
          <a:prstGeom prst="rect">
            <a:avLst/>
          </a:prstGeom>
          <a:solidFill>
            <a:srgbClr val="BADAD6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108960" y="489204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+0.43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3840480" y="4892040"/>
            <a:ext cx="731520" cy="182879"/>
          </a:xfrm>
          <a:prstGeom prst="rect">
            <a:avLst/>
          </a:prstGeom>
          <a:solidFill>
            <a:srgbClr val="ECF5F3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840480" y="489204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+0.12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4572000" y="4892040"/>
            <a:ext cx="731520" cy="182879"/>
          </a:xfrm>
          <a:prstGeom prst="rect">
            <a:avLst/>
          </a:prstGeom>
          <a:solidFill>
            <a:srgbClr val="F3D7D0"/>
          </a:solidFill>
          <a:ln w="25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4572000" y="4892040"/>
            <a:ext cx="731520" cy="18287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-0.31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5669280" y="4969764"/>
            <a:ext cx="228600" cy="105155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669280" y="4864608"/>
            <a:ext cx="228600" cy="105155"/>
          </a:xfrm>
          <a:prstGeom prst="rect">
            <a:avLst/>
          </a:prstGeom>
          <a:solidFill>
            <a:srgbClr val="C74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5669280" y="4759452"/>
            <a:ext cx="228600" cy="105155"/>
          </a:xfrm>
          <a:prstGeom prst="rect">
            <a:avLst/>
          </a:prstGeom>
          <a:solidFill>
            <a:srgbClr val="CA51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5669280" y="4654296"/>
            <a:ext cx="228600" cy="105155"/>
          </a:xfrm>
          <a:prstGeom prst="rect">
            <a:avLst/>
          </a:prstGeom>
          <a:solidFill>
            <a:srgbClr val="CD5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5669280" y="4549140"/>
            <a:ext cx="228600" cy="105155"/>
          </a:xfrm>
          <a:prstGeom prst="rect">
            <a:avLst/>
          </a:prstGeom>
          <a:solidFill>
            <a:srgbClr val="D065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0" y="4443983"/>
            <a:ext cx="228600" cy="105155"/>
          </a:xfrm>
          <a:prstGeom prst="rect">
            <a:avLst/>
          </a:prstGeom>
          <a:solidFill>
            <a:srgbClr val="D36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5669280" y="4338828"/>
            <a:ext cx="228600" cy="105155"/>
          </a:xfrm>
          <a:prstGeom prst="rect">
            <a:avLst/>
          </a:prstGeom>
          <a:solidFill>
            <a:srgbClr val="D679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5669280" y="4233672"/>
            <a:ext cx="228600" cy="105155"/>
          </a:xfrm>
          <a:prstGeom prst="rect">
            <a:avLst/>
          </a:prstGeom>
          <a:solidFill>
            <a:srgbClr val="D98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5669280" y="4128515"/>
            <a:ext cx="228600" cy="105155"/>
          </a:xfrm>
          <a:prstGeom prst="rect">
            <a:avLst/>
          </a:prstGeom>
          <a:solidFill>
            <a:srgbClr val="DC8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5669280" y="4023360"/>
            <a:ext cx="228600" cy="105155"/>
          </a:xfrm>
          <a:prstGeom prst="rect">
            <a:avLst/>
          </a:prstGeom>
          <a:solidFill>
            <a:srgbClr val="DF97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669280" y="3918204"/>
            <a:ext cx="228600" cy="105155"/>
          </a:xfrm>
          <a:prstGeom prst="rect">
            <a:avLst/>
          </a:prstGeom>
          <a:solidFill>
            <a:srgbClr val="E2A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5669280" y="3813048"/>
            <a:ext cx="228600" cy="105155"/>
          </a:xfrm>
          <a:prstGeom prst="rect">
            <a:avLst/>
          </a:prstGeom>
          <a:solidFill>
            <a:srgbClr val="E5A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5669280" y="3707891"/>
            <a:ext cx="228600" cy="105155"/>
          </a:xfrm>
          <a:prstGeom prst="rect">
            <a:avLst/>
          </a:prstGeom>
          <a:solidFill>
            <a:srgbClr val="E8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5669280" y="3602736"/>
            <a:ext cx="228600" cy="105155"/>
          </a:xfrm>
          <a:prstGeom prst="rect">
            <a:avLst/>
          </a:prstGeom>
          <a:solidFill>
            <a:srgbClr val="EBB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5669280" y="3497579"/>
            <a:ext cx="228600" cy="105155"/>
          </a:xfrm>
          <a:prstGeom prst="rect">
            <a:avLst/>
          </a:prstGeom>
          <a:solidFill>
            <a:srgbClr val="EEC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5669280" y="3392424"/>
            <a:ext cx="228600" cy="105155"/>
          </a:xfrm>
          <a:prstGeom prst="rect">
            <a:avLst/>
          </a:prstGeom>
          <a:solidFill>
            <a:srgbClr val="F1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5669280" y="3287268"/>
            <a:ext cx="228600" cy="105155"/>
          </a:xfrm>
          <a:prstGeom prst="rect">
            <a:avLst/>
          </a:prstGeom>
          <a:solidFill>
            <a:srgbClr val="F4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5669280" y="3182112"/>
            <a:ext cx="228600" cy="105155"/>
          </a:xfrm>
          <a:prstGeom prst="rect">
            <a:avLst/>
          </a:prstGeom>
          <a:solidFill>
            <a:srgbClr val="F7E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5669280" y="3076956"/>
            <a:ext cx="228600" cy="105155"/>
          </a:xfrm>
          <a:prstGeom prst="rect">
            <a:avLst/>
          </a:prstGeom>
          <a:solidFill>
            <a:srgbClr val="FA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5669280" y="2971800"/>
            <a:ext cx="228600" cy="105155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669280" y="2866644"/>
            <a:ext cx="228600" cy="105155"/>
          </a:xfrm>
          <a:prstGeom prst="rect">
            <a:avLst/>
          </a:prstGeom>
          <a:solidFill>
            <a:srgbClr val="F8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669280" y="2761488"/>
            <a:ext cx="228600" cy="105155"/>
          </a:xfrm>
          <a:prstGeom prst="rect">
            <a:avLst/>
          </a:prstGeom>
          <a:solidFill>
            <a:srgbClr val="EC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669280" y="2656332"/>
            <a:ext cx="228600" cy="105155"/>
          </a:xfrm>
          <a:prstGeom prst="rect">
            <a:avLst/>
          </a:prstGeom>
          <a:solidFill>
            <a:srgbClr val="DF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669280" y="2551176"/>
            <a:ext cx="228600" cy="105155"/>
          </a:xfrm>
          <a:prstGeom prst="rect">
            <a:avLst/>
          </a:prstGeom>
          <a:solidFill>
            <a:srgbClr val="D3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669280" y="2446020"/>
            <a:ext cx="228600" cy="105155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669280" y="2340864"/>
            <a:ext cx="228600" cy="105155"/>
          </a:xfrm>
          <a:prstGeom prst="rect">
            <a:avLst/>
          </a:prstGeom>
          <a:solidFill>
            <a:srgbClr val="B9DA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5669280" y="2235708"/>
            <a:ext cx="228600" cy="105155"/>
          </a:xfrm>
          <a:prstGeom prst="rect">
            <a:avLst/>
          </a:prstGeom>
          <a:solidFill>
            <a:srgbClr val="ADD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5669280" y="2130552"/>
            <a:ext cx="228600" cy="105155"/>
          </a:xfrm>
          <a:prstGeom prst="rect">
            <a:avLst/>
          </a:prstGeom>
          <a:solidFill>
            <a:srgbClr val="A0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5669280" y="2025396"/>
            <a:ext cx="228600" cy="105155"/>
          </a:xfrm>
          <a:prstGeom prst="rect">
            <a:avLst/>
          </a:prstGeom>
          <a:solidFill>
            <a:srgbClr val="94C6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5669280" y="1920239"/>
            <a:ext cx="228600" cy="105155"/>
          </a:xfrm>
          <a:prstGeom prst="rect">
            <a:avLst/>
          </a:prstGeom>
          <a:solidFill>
            <a:srgbClr val="87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5669280" y="1815084"/>
            <a:ext cx="228600" cy="105155"/>
          </a:xfrm>
          <a:prstGeom prst="rect">
            <a:avLst/>
          </a:prstGeom>
          <a:solidFill>
            <a:srgbClr val="7BB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5669280" y="1709928"/>
            <a:ext cx="228600" cy="105155"/>
          </a:xfrm>
          <a:prstGeom prst="rect">
            <a:avLst/>
          </a:prstGeom>
          <a:solidFill>
            <a:srgbClr val="6EB2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5669280" y="1604772"/>
            <a:ext cx="228600" cy="105155"/>
          </a:xfrm>
          <a:prstGeom prst="rect">
            <a:avLst/>
          </a:prstGeom>
          <a:solidFill>
            <a:srgbClr val="61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5669280" y="1499616"/>
            <a:ext cx="228600" cy="105155"/>
          </a:xfrm>
          <a:prstGeom prst="rect">
            <a:avLst/>
          </a:prstGeom>
          <a:solidFill>
            <a:srgbClr val="55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5669280" y="1394459"/>
            <a:ext cx="228600" cy="105155"/>
          </a:xfrm>
          <a:prstGeom prst="rect">
            <a:avLst/>
          </a:prstGeom>
          <a:solidFill>
            <a:srgbClr val="489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5669280" y="1289304"/>
            <a:ext cx="228600" cy="105155"/>
          </a:xfrm>
          <a:prstGeom prst="rect">
            <a:avLst/>
          </a:prstGeom>
          <a:solidFill>
            <a:srgbClr val="3C97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669280" y="1184148"/>
            <a:ext cx="228600" cy="105155"/>
          </a:xfrm>
          <a:prstGeom prst="rect">
            <a:avLst/>
          </a:prstGeom>
          <a:solidFill>
            <a:srgbClr val="2F9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5669280" y="1078992"/>
            <a:ext cx="228600" cy="105155"/>
          </a:xfrm>
          <a:prstGeom prst="rect">
            <a:avLst/>
          </a:prstGeom>
          <a:solidFill>
            <a:srgbClr val="23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5669280" y="973836"/>
            <a:ext cx="228600" cy="105155"/>
          </a:xfrm>
          <a:prstGeom prst="rect">
            <a:avLst/>
          </a:prstGeom>
          <a:solidFill>
            <a:srgbClr val="168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5669280" y="868680"/>
            <a:ext cx="228600" cy="105155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5669280" y="594359"/>
            <a:ext cx="77724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Arial"/>
              </a:rPr>
              <a:t>+1.52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5669280" y="5111496"/>
            <a:ext cx="77724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Arial"/>
              </a:rPr>
              <a:t>-1.52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5989320" y="2862072"/>
            <a:ext cx="9144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Arial"/>
              </a:rPr>
              <a:t>good − bad (z)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22222"/>
                </a:solidFill>
                <a:latin typeface="Arial"/>
              </a:rPr>
              <a:t>B  Pre-treatment direction waterfall — 23/23 good &gt; bad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888888"/>
                </a:solidFill>
                <a:latin typeface="Arial"/>
              </a:rPr>
              <a:t>Six composites reach ceiling P = 0.05 (Ayers TIS, IFN-γ 6/10, CD8 cytotoxic, M1 macrophage, GC-TF).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0" y="777240"/>
            <a:ext cx="0" cy="4178808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850392"/>
            <a:ext cx="24688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GC_TF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886968"/>
            <a:ext cx="2725301" cy="128016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71421" y="850392"/>
            <a:ext cx="6400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D4A300"/>
                </a:solidFill>
                <a:latin typeface="Arial"/>
              </a:rPr>
              <a:t>+0.88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24127"/>
            <a:ext cx="24688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IFNg_10_Ayers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060704"/>
            <a:ext cx="2688755" cy="128016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34875" y="1024127"/>
            <a:ext cx="6400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D4A300"/>
                </a:solidFill>
                <a:latin typeface="Arial"/>
              </a:rPr>
              <a:t>+0.86 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197864"/>
            <a:ext cx="24688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Ayers_TIS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234440"/>
            <a:ext cx="2423787" cy="128016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907" y="1197864"/>
            <a:ext cx="6400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D4A300"/>
                </a:solidFill>
                <a:latin typeface="Arial"/>
              </a:rPr>
              <a:t>+0.78 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371600"/>
            <a:ext cx="24688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IFNg_6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1408176"/>
            <a:ext cx="3036773" cy="128016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2893" y="1371600"/>
            <a:ext cx="6400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D4A300"/>
                </a:solidFill>
                <a:latin typeface="Arial"/>
              </a:rPr>
              <a:t>+0.98 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545336"/>
            <a:ext cx="24688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M1_macro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581912"/>
            <a:ext cx="2287578" cy="128016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33698" y="1545336"/>
            <a:ext cx="6400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D4A300"/>
                </a:solidFill>
                <a:latin typeface="Arial"/>
              </a:rPr>
              <a:t>+0.73 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719072"/>
            <a:ext cx="24688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CD8_cytotoxic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1755648"/>
            <a:ext cx="1621432" cy="128016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7552" y="1719072"/>
            <a:ext cx="6400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D4A300"/>
                </a:solidFill>
                <a:latin typeface="Arial"/>
              </a:rPr>
              <a:t>+0.52 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1892807"/>
            <a:ext cx="24688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T_cell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1929384"/>
            <a:ext cx="2344690" cy="128016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90810" y="1892807"/>
            <a:ext cx="6400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066544"/>
            <a:ext cx="24688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HLA_I_axis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2103120"/>
            <a:ext cx="2693585" cy="128016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39705" y="2066544"/>
            <a:ext cx="6400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240279"/>
            <a:ext cx="24688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HLA_I_machinery_narrow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0" y="2276856"/>
            <a:ext cx="2693585" cy="128016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39705" y="2240279"/>
            <a:ext cx="6400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2414016"/>
            <a:ext cx="24688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NK_activating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2450592"/>
            <a:ext cx="2172315" cy="128016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18435" y="2414016"/>
            <a:ext cx="6400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+0.70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587751"/>
            <a:ext cx="24688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IMPRES_pos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0" y="2624327"/>
            <a:ext cx="1897615" cy="128016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43735" y="2587751"/>
            <a:ext cx="6400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2761488"/>
            <a:ext cx="24688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CD8_exh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2798064"/>
            <a:ext cx="1693223" cy="128016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39343" y="2761488"/>
            <a:ext cx="6400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+0.54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935224"/>
            <a:ext cx="24688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Memory_B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0" y="2971800"/>
            <a:ext cx="2333282" cy="128016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79402" y="2935224"/>
            <a:ext cx="6400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+0.75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3108960"/>
            <a:ext cx="24688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Plasma_proxy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0" y="3145536"/>
            <a:ext cx="3657600" cy="128016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03720" y="3108960"/>
            <a:ext cx="6400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+1.17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3282696"/>
            <a:ext cx="24688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Teff_cytotoxic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3319272"/>
            <a:ext cx="1347336" cy="128016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93456" y="3282696"/>
            <a:ext cx="6400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3456432"/>
            <a:ext cx="24688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TLS_8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0" y="3493008"/>
            <a:ext cx="1299862" cy="128016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45982" y="3456432"/>
            <a:ext cx="6400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3630168"/>
            <a:ext cx="24688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M2_macro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3666744"/>
            <a:ext cx="469980" cy="128016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16100" y="3630168"/>
            <a:ext cx="6400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3803904"/>
            <a:ext cx="24688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DC_mature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0" y="3840479"/>
            <a:ext cx="1582269" cy="128016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28389" y="3803904"/>
            <a:ext cx="6400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+0.51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3977640"/>
            <a:ext cx="24688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HLA_II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0" y="4014215"/>
            <a:ext cx="1217331" cy="128016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463451" y="3977640"/>
            <a:ext cx="6400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+0.39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4151376"/>
            <a:ext cx="24688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Naive_B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200400" y="4187951"/>
            <a:ext cx="2216480" cy="128016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62600" y="4151376"/>
            <a:ext cx="6400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4325112"/>
            <a:ext cx="24688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NK_inhibiting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0" y="4361688"/>
            <a:ext cx="738133" cy="128016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84253" y="4325112"/>
            <a:ext cx="6400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+0.24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4498848"/>
            <a:ext cx="24688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Treg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00400" y="4535424"/>
            <a:ext cx="1017764" cy="128016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263884" y="4498848"/>
            <a:ext cx="6400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+0.33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4672584"/>
            <a:ext cx="24688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BAFF_APRIL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00400" y="4709159"/>
            <a:ext cx="1331682" cy="128016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7802" y="4672584"/>
            <a:ext cx="64008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+0.43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71600" y="4956048"/>
            <a:ext cx="36576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good − bad (composite z)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371600" y="5230368"/>
            <a:ext cx="36576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1">
                <a:solidFill>
                  <a:srgbClr val="D4A300"/>
                </a:solidFill>
                <a:latin typeface="Arial"/>
              </a:rPr>
              <a:t>★ = one-sided MW P ≤ 0.05 (ceiling)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22222"/>
                </a:solidFill>
                <a:latin typeface="Arial"/>
              </a:rPr>
              <a:t>C  Regulatory-grade signatures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888888"/>
                </a:solidFill>
                <a:latin typeface="Arial"/>
              </a:rPr>
              <a:t>Six FDA/regulatory-grade immune signatures: pre-RT (left) vs post-RT (right), good (teal) vs bad (coral).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2651760" cy="2057400"/>
          </a:xfrm>
          <a:prstGeom prst="rect">
            <a:avLst/>
          </a:prstGeom>
          <a:noFill/>
          <a:ln w="508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2651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Ayers TIS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2093047"/>
            <a:ext cx="2651760" cy="0"/>
          </a:xfrm>
          <a:prstGeom prst="line">
            <a:avLst/>
          </a:prstGeom>
          <a:ln w="3810">
            <a:solidFill>
              <a:srgbClr val="8888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05287" y="2204840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141422" y="1106072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3026" y="1887897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165058" y="1580261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3128" y="1954569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190502" y="2132928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534467" y="2688687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03520" y="2186948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76583" y="2261993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72826" y="2134157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98774" y="2407997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16386" y="2021577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925372" y="2061489"/>
            <a:ext cx="201168" cy="0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55724" y="2498612"/>
            <a:ext cx="201168" cy="0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92147" y="1652140"/>
            <a:ext cx="201168" cy="0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622499" y="2159947"/>
            <a:ext cx="201168" cy="0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74519" y="914400"/>
            <a:ext cx="0" cy="2057400"/>
          </a:xfrm>
          <a:prstGeom prst="line">
            <a:avLst/>
          </a:prstGeom>
          <a:ln w="5080">
            <a:solidFill>
              <a:srgbClr val="8888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1228" y="960120"/>
            <a:ext cx="119329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1" i="0">
                <a:solidFill>
                  <a:srgbClr val="D4A300"/>
                </a:solidFill>
                <a:latin typeface="Arial"/>
              </a:rPr>
              <a:t>pre P = 0.05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07107" y="960120"/>
            <a:ext cx="1060704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888888"/>
                </a:solidFill>
                <a:latin typeface="Arial"/>
              </a:rPr>
              <a:t>post P = 0.10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9886" y="2990088"/>
            <a:ext cx="6629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888888"/>
                </a:solidFill>
                <a:latin typeface="Arial"/>
              </a:rPr>
              <a:t>g / b  pre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39696" y="2990088"/>
            <a:ext cx="6629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888888"/>
                </a:solidFill>
                <a:latin typeface="Arial"/>
              </a:rPr>
              <a:t>g / b  post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" y="868680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00" b="0" i="0">
                <a:solidFill>
                  <a:srgbClr val="888888"/>
                </a:solidFill>
                <a:latin typeface="Arial"/>
              </a:rPr>
              <a:t>+2.1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" y="2862072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00" b="0" i="0">
                <a:solidFill>
                  <a:srgbClr val="888888"/>
                </a:solidFill>
                <a:latin typeface="Arial"/>
              </a:rPr>
              <a:t>-1.6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0" y="914400"/>
            <a:ext cx="2651760" cy="2057400"/>
          </a:xfrm>
          <a:prstGeom prst="rect">
            <a:avLst/>
          </a:prstGeom>
          <a:noFill/>
          <a:ln w="508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0" y="713232"/>
            <a:ext cx="2651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IFN-γ 6-gene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474720" y="1923645"/>
            <a:ext cx="2651759" cy="0"/>
          </a:xfrm>
          <a:prstGeom prst="line">
            <a:avLst/>
          </a:prstGeom>
          <a:ln w="3810">
            <a:solidFill>
              <a:srgbClr val="8888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3919471" y="1785757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102604" y="1106072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901142" y="1672942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048149" y="1110632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911308" y="1759671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033206" y="1666458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466627" y="2289510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615482" y="2136508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460268" y="1933295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590141" y="2147197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479709" y="2688687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639390" y="2238367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3851452" y="1785177"/>
            <a:ext cx="201168" cy="0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381804" y="2349550"/>
            <a:ext cx="201168" cy="0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018227" y="1340107"/>
            <a:ext cx="201168" cy="0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548579" y="2219744"/>
            <a:ext cx="201168" cy="0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800600" y="914400"/>
            <a:ext cx="0" cy="2057400"/>
          </a:xfrm>
          <a:prstGeom prst="line">
            <a:avLst/>
          </a:prstGeom>
          <a:ln w="5080">
            <a:solidFill>
              <a:srgbClr val="8888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607308" y="960120"/>
            <a:ext cx="119329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1" i="0">
                <a:solidFill>
                  <a:srgbClr val="D4A300"/>
                </a:solidFill>
                <a:latin typeface="Arial"/>
              </a:rPr>
              <a:t>pre P = 0.05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33188" y="960120"/>
            <a:ext cx="1060704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1" i="0">
                <a:solidFill>
                  <a:srgbClr val="D4A300"/>
                </a:solidFill>
                <a:latin typeface="Arial"/>
              </a:rPr>
              <a:t>post P = 0.05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5966" y="2990088"/>
            <a:ext cx="6629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888888"/>
                </a:solidFill>
                <a:latin typeface="Arial"/>
              </a:rPr>
              <a:t>g / b  pre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65776" y="2990088"/>
            <a:ext cx="6629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888888"/>
                </a:solidFill>
                <a:latin typeface="Arial"/>
              </a:rPr>
              <a:t>g / b  post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54679" y="868680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00" b="0" i="0">
                <a:solidFill>
                  <a:srgbClr val="888888"/>
                </a:solidFill>
                <a:latin typeface="Arial"/>
              </a:rPr>
              <a:t>+1.7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54679" y="2862072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00" b="0" i="0">
                <a:solidFill>
                  <a:srgbClr val="888888"/>
                </a:solidFill>
                <a:latin typeface="Arial"/>
              </a:rPr>
              <a:t>-1.8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799" y="914400"/>
            <a:ext cx="2651760" cy="2057400"/>
          </a:xfrm>
          <a:prstGeom prst="rect">
            <a:avLst/>
          </a:prstGeom>
          <a:noFill/>
          <a:ln w="508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799" y="713232"/>
            <a:ext cx="2651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IFN-γ 10-gene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400799" y="2085122"/>
            <a:ext cx="2651760" cy="0"/>
          </a:xfrm>
          <a:prstGeom prst="line">
            <a:avLst/>
          </a:prstGeom>
          <a:ln w="3810">
            <a:solidFill>
              <a:srgbClr val="8888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6857852" y="2030968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71248" y="1106072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829353" y="1789526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957456" y="1365977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800785" y="2036251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015909" y="1920597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385129" y="2411807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572272" y="2319738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346822" y="2275417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517678" y="2234307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359964" y="2688687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501128" y="2293479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6777532" y="1997968"/>
            <a:ext cx="201168" cy="0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307884" y="2504357"/>
            <a:ext cx="201168" cy="0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7944307" y="1509935"/>
            <a:ext cx="201168" cy="0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8474659" y="2328228"/>
            <a:ext cx="201168" cy="0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726679" y="914400"/>
            <a:ext cx="0" cy="2057400"/>
          </a:xfrm>
          <a:prstGeom prst="line">
            <a:avLst/>
          </a:prstGeom>
          <a:ln w="5080">
            <a:solidFill>
              <a:srgbClr val="8888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533387" y="960120"/>
            <a:ext cx="119329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1" i="0">
                <a:solidFill>
                  <a:srgbClr val="D4A300"/>
                </a:solidFill>
                <a:latin typeface="Arial"/>
              </a:rPr>
              <a:t>pre P = 0.05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859267" y="960120"/>
            <a:ext cx="1060704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1" i="0">
                <a:solidFill>
                  <a:srgbClr val="D4A300"/>
                </a:solidFill>
                <a:latin typeface="Arial"/>
              </a:rPr>
              <a:t>post P = 0.05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72046" y="2990088"/>
            <a:ext cx="6629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888888"/>
                </a:solidFill>
                <a:latin typeface="Arial"/>
              </a:rPr>
              <a:t>g / b  pre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991855" y="2990088"/>
            <a:ext cx="6629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888888"/>
                </a:solidFill>
                <a:latin typeface="Arial"/>
              </a:rPr>
              <a:t>g / b  post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80759" y="868680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00" b="0" i="0">
                <a:solidFill>
                  <a:srgbClr val="888888"/>
                </a:solidFill>
                <a:latin typeface="Arial"/>
              </a:rPr>
              <a:t>+2.0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080759" y="2862072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00" b="0" i="0">
                <a:solidFill>
                  <a:srgbClr val="888888"/>
                </a:solidFill>
                <a:latin typeface="Arial"/>
              </a:rPr>
              <a:t>-1.5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48640" y="3337560"/>
            <a:ext cx="2651760" cy="2057400"/>
          </a:xfrm>
          <a:prstGeom prst="rect">
            <a:avLst/>
          </a:prstGeom>
          <a:noFill/>
          <a:ln w="508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40" y="3136391"/>
            <a:ext cx="2651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CD8 cytotoxic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48640" y="4587427"/>
            <a:ext cx="2651760" cy="0"/>
          </a:xfrm>
          <a:prstGeom prst="line">
            <a:avLst/>
          </a:prstGeom>
          <a:ln w="3810">
            <a:solidFill>
              <a:srgbClr val="8888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946396" y="4600229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144789" y="3529232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55265" y="4417429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2162538" y="4468980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74489" y="4587874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177431" y="4759371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528901" y="4775112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2660206" y="4763118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540970" y="4647749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705230" y="4719610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500299" y="5111847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2658007" y="4119928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925372" y="4580897"/>
            <a:ext cx="201168" cy="0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1455724" y="4890623"/>
            <a:ext cx="201168" cy="0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092147" y="4298248"/>
            <a:ext cx="201168" cy="0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622499" y="4579939"/>
            <a:ext cx="201168" cy="0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874519" y="3337560"/>
            <a:ext cx="0" cy="2057400"/>
          </a:xfrm>
          <a:prstGeom prst="line">
            <a:avLst/>
          </a:prstGeom>
          <a:ln w="5080">
            <a:solidFill>
              <a:srgbClr val="8888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681228" y="3383279"/>
            <a:ext cx="119329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1" i="0">
                <a:solidFill>
                  <a:srgbClr val="D4A300"/>
                </a:solidFill>
                <a:latin typeface="Arial"/>
              </a:rPr>
              <a:t>pre P = 0.05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007107" y="3383279"/>
            <a:ext cx="1060704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888888"/>
                </a:solidFill>
                <a:latin typeface="Arial"/>
              </a:rPr>
              <a:t>post P = 0.35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9886" y="5413248"/>
            <a:ext cx="6629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888888"/>
                </a:solidFill>
                <a:latin typeface="Arial"/>
              </a:rPr>
              <a:t>g / b  pre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39696" y="5413248"/>
            <a:ext cx="6629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888888"/>
                </a:solidFill>
                <a:latin typeface="Arial"/>
              </a:rPr>
              <a:t>g / b  post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28600" y="3291840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00" b="0" i="0">
                <a:solidFill>
                  <a:srgbClr val="888888"/>
                </a:solidFill>
                <a:latin typeface="Arial"/>
              </a:rPr>
              <a:t>+2.1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28600" y="5285232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00" b="0" i="0">
                <a:solidFill>
                  <a:srgbClr val="888888"/>
                </a:solidFill>
                <a:latin typeface="Arial"/>
              </a:rPr>
              <a:t>-1.4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474720" y="3337560"/>
            <a:ext cx="2651760" cy="2057400"/>
          </a:xfrm>
          <a:prstGeom prst="rect">
            <a:avLst/>
          </a:prstGeom>
          <a:noFill/>
          <a:ln w="508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474720" y="3136391"/>
            <a:ext cx="2651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IMPRES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3474720" y="4533920"/>
            <a:ext cx="2651759" cy="0"/>
          </a:xfrm>
          <a:prstGeom prst="line">
            <a:avLst/>
          </a:prstGeom>
          <a:ln w="3810">
            <a:solidFill>
              <a:srgbClr val="8888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Oval 110"/>
          <p:cNvSpPr/>
          <p:nvPr/>
        </p:nvSpPr>
        <p:spPr>
          <a:xfrm>
            <a:off x="3923004" y="4714730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5040150" y="3529232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878876" y="4406045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5028044" y="3922695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3932553" y="4501088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088165" y="4493274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455429" y="5111847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5629113" y="4826342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432912" y="4565162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609728" y="4633476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4403731" y="4992040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568195" y="4162469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3" name="Connector 122"/>
          <p:cNvCxnSpPr/>
          <p:nvPr/>
        </p:nvCxnSpPr>
        <p:spPr>
          <a:xfrm>
            <a:off x="3851452" y="4586341"/>
            <a:ext cx="201168" cy="0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4381804" y="4935403"/>
            <a:ext cx="201168" cy="0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5018227" y="4027453"/>
            <a:ext cx="201168" cy="0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5548579" y="4586482"/>
            <a:ext cx="201168" cy="0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4800600" y="3337560"/>
            <a:ext cx="0" cy="2057400"/>
          </a:xfrm>
          <a:prstGeom prst="line">
            <a:avLst/>
          </a:prstGeom>
          <a:ln w="5080">
            <a:solidFill>
              <a:srgbClr val="8888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/>
          <p:cNvSpPr txBox="1"/>
          <p:nvPr/>
        </p:nvSpPr>
        <p:spPr>
          <a:xfrm>
            <a:off x="3607308" y="3383279"/>
            <a:ext cx="119329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888888"/>
                </a:solidFill>
                <a:latin typeface="Arial"/>
              </a:rPr>
              <a:t>pre P = 0.10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933188" y="3383279"/>
            <a:ext cx="1060704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888888"/>
                </a:solidFill>
                <a:latin typeface="Arial"/>
              </a:rPr>
              <a:t>post P = 0.10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845966" y="5413248"/>
            <a:ext cx="6629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888888"/>
                </a:solidFill>
                <a:latin typeface="Arial"/>
              </a:rPr>
              <a:t>g / b  pre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65776" y="5413248"/>
            <a:ext cx="6629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888888"/>
                </a:solidFill>
                <a:latin typeface="Arial"/>
              </a:rPr>
              <a:t>g / b  post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154679" y="3291840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00" b="0" i="0">
                <a:solidFill>
                  <a:srgbClr val="888888"/>
                </a:solidFill>
                <a:latin typeface="Arial"/>
              </a:rPr>
              <a:t>+2.1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154679" y="5285232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00" b="0" i="0">
                <a:solidFill>
                  <a:srgbClr val="888888"/>
                </a:solidFill>
                <a:latin typeface="Arial"/>
              </a:rPr>
              <a:t>-1.5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400799" y="3337560"/>
            <a:ext cx="2651760" cy="2057400"/>
          </a:xfrm>
          <a:prstGeom prst="rect">
            <a:avLst/>
          </a:prstGeom>
          <a:noFill/>
          <a:ln w="508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400799" y="3136391"/>
            <a:ext cx="2651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M1 macrophage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6400799" y="4396213"/>
            <a:ext cx="2651760" cy="0"/>
          </a:xfrm>
          <a:prstGeom prst="line">
            <a:avLst/>
          </a:prstGeom>
          <a:ln w="3810">
            <a:solidFill>
              <a:srgbClr val="8888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Oval 136"/>
          <p:cNvSpPr/>
          <p:nvPr/>
        </p:nvSpPr>
        <p:spPr>
          <a:xfrm>
            <a:off x="6847795" y="4346870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7996528" y="3529232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6838361" y="4405611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8023402" y="3539695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6844715" y="4501906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8004070" y="4278923"/>
            <a:ext cx="91440" cy="91440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7368162" y="4841199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8511596" y="4510842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7319846" y="4592107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523736" y="4602586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336650" y="5111847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8521159" y="3945095"/>
            <a:ext cx="91440" cy="914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9" name="Connector 148"/>
          <p:cNvCxnSpPr/>
          <p:nvPr/>
        </p:nvCxnSpPr>
        <p:spPr>
          <a:xfrm>
            <a:off x="6777532" y="4463849"/>
            <a:ext cx="201168" cy="0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7307884" y="4894104"/>
            <a:ext cx="201168" cy="0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944307" y="3828337"/>
            <a:ext cx="201168" cy="0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8474659" y="4398561"/>
            <a:ext cx="201168" cy="0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7726679" y="3337560"/>
            <a:ext cx="0" cy="2057400"/>
          </a:xfrm>
          <a:prstGeom prst="line">
            <a:avLst/>
          </a:prstGeom>
          <a:ln w="5080">
            <a:solidFill>
              <a:srgbClr val="8888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/>
          <p:cNvSpPr txBox="1"/>
          <p:nvPr/>
        </p:nvSpPr>
        <p:spPr>
          <a:xfrm>
            <a:off x="6533387" y="3383279"/>
            <a:ext cx="119329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1" i="0">
                <a:solidFill>
                  <a:srgbClr val="D4A300"/>
                </a:solidFill>
                <a:latin typeface="Arial"/>
              </a:rPr>
              <a:t>pre P = 0.05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859267" y="3383279"/>
            <a:ext cx="1060704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888888"/>
                </a:solidFill>
                <a:latin typeface="Arial"/>
              </a:rPr>
              <a:t>post P = 0.10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772046" y="5413248"/>
            <a:ext cx="6629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888888"/>
                </a:solidFill>
                <a:latin typeface="Arial"/>
              </a:rPr>
              <a:t>g / b  pre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991855" y="5413248"/>
            <a:ext cx="6629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888888"/>
                </a:solidFill>
                <a:latin typeface="Arial"/>
              </a:rPr>
              <a:t>g / b  post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080759" y="3291840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00" b="0" i="0">
                <a:solidFill>
                  <a:srgbClr val="888888"/>
                </a:solidFill>
                <a:latin typeface="Arial"/>
              </a:rPr>
              <a:t>+1.8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080759" y="5285232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00" b="0" i="0">
                <a:solidFill>
                  <a:srgbClr val="888888"/>
                </a:solidFill>
                <a:latin typeface="Arial"/>
              </a:rPr>
              <a:t>-1.7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22222"/>
                </a:solidFill>
                <a:latin typeface="Arial"/>
              </a:rPr>
              <a:t>D  IAE (n=2) vs IBI (n=3) — composite fingerprint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888888"/>
                </a:solidFill>
                <a:latin typeface="Arial"/>
              </a:rPr>
              <a:t>Positive (teal) = IAE &gt; IBI; negative (coral) = IBI &gt; IAE.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0" y="841248"/>
            <a:ext cx="0" cy="3346704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9144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Treg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950976"/>
            <a:ext cx="3200400" cy="155448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60920" y="9144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+1.26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1430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Naive_B</a:t>
            </a:r>
          </a:p>
        </p:txBody>
      </p:sp>
      <p:sp>
        <p:nvSpPr>
          <p:cNvPr id="9" name="Rectangle 8"/>
          <p:cNvSpPr/>
          <p:nvPr/>
        </p:nvSpPr>
        <p:spPr>
          <a:xfrm>
            <a:off x="1112926" y="1179576"/>
            <a:ext cx="3001873" cy="155448"/>
          </a:xfrm>
          <a:prstGeom prst="rect">
            <a:avLst/>
          </a:prstGeom>
          <a:solidFill>
            <a:srgbClr val="C53E1F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0006" y="11430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50" b="0" i="0">
                <a:solidFill>
                  <a:srgbClr val="888888"/>
                </a:solidFill>
                <a:latin typeface="Arial"/>
              </a:rPr>
              <a:t>-1.18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716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IFNg_10_Ayers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408176"/>
            <a:ext cx="2160779" cy="155448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1299" y="13716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+0.85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002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IFNg_6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0" y="1636776"/>
            <a:ext cx="2159377" cy="155448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9897" y="16002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8288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IMPRES_pos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0" y="1865376"/>
            <a:ext cx="2156402" cy="155448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6922" y="18288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+0.85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0574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NK_inhibiting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91544" y="2093976"/>
            <a:ext cx="2123255" cy="155448"/>
          </a:xfrm>
          <a:prstGeom prst="rect">
            <a:avLst/>
          </a:prstGeom>
          <a:solidFill>
            <a:srgbClr val="C53E1F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88624" y="20574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50" b="0" i="0">
                <a:solidFill>
                  <a:srgbClr val="888888"/>
                </a:solidFill>
                <a:latin typeface="Arial"/>
              </a:rPr>
              <a:t>-0.83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2860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CD8_exh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0" y="2322576"/>
            <a:ext cx="2046104" cy="155448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06624" y="22860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5146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Teff_over_Treg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56057" y="2551176"/>
            <a:ext cx="1958742" cy="155448"/>
          </a:xfrm>
          <a:prstGeom prst="rect">
            <a:avLst/>
          </a:prstGeom>
          <a:solidFill>
            <a:srgbClr val="C53E1F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53137" y="25146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50" b="0" i="0">
                <a:solidFill>
                  <a:srgbClr val="888888"/>
                </a:solidFill>
                <a:latin typeface="Arial"/>
              </a:rPr>
              <a:t>-0.77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7432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HLA_II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0" y="2779776"/>
            <a:ext cx="1950978" cy="155448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11498" y="27432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29718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NK_activ_over_inhib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0" y="3008376"/>
            <a:ext cx="1690186" cy="155448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0706" y="29718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+0.66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2004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Ayers_TIS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0" y="3236976"/>
            <a:ext cx="1651442" cy="155448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11962" y="32004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+0.65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4290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DC_mature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3465576"/>
            <a:ext cx="1543767" cy="155448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04287" y="34290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+0.61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36576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HLA_I_machinery_narrow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0" y="3694176"/>
            <a:ext cx="1509983" cy="155448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70503" y="36576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+0.59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38862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HLA_I_axis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0" y="3922776"/>
            <a:ext cx="1509983" cy="155448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70503" y="38862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+0.59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86000" y="4297680"/>
            <a:ext cx="36576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IAE − IBI (mean Δ z)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5029200"/>
            <a:ext cx="164592" cy="109728"/>
          </a:xfrm>
          <a:prstGeom prst="rect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15568" y="5010912"/>
            <a:ext cx="1645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IAE &gt; IBI (good inflamed)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91840" y="5029200"/>
            <a:ext cx="164592" cy="109728"/>
          </a:xfrm>
          <a:prstGeom prst="rect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93008" y="5010912"/>
            <a:ext cx="1645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IBI &gt; IAE (bad inflamed)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22222"/>
                </a:solidFill>
                <a:latin typeface="Arial"/>
              </a:rPr>
              <a:t>E  Top 18 gene discriminators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888888"/>
                </a:solidFill>
                <a:latin typeface="Arial"/>
              </a:rPr>
              <a:t>IAE productive cascade (JAK3, IKBKB, TAPBP, ZAP70, BATF) vs IBI suppressive (KIR_Inh, ARG2, RAG1).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0" y="841248"/>
            <a:ext cx="0" cy="4261104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9144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Courier New"/>
              </a:rPr>
              <a:t>PLA2G6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950976"/>
            <a:ext cx="3200400" cy="155448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60920" y="9144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+3.38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1430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Courier New"/>
              </a:rPr>
              <a:t>JAK3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179576"/>
            <a:ext cx="2928651" cy="155448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9171" y="11430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+3.09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716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Courier New"/>
              </a:rPr>
              <a:t>KIR_Inhibiting_Subgroup_2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1838" y="1408176"/>
            <a:ext cx="2852961" cy="155448"/>
          </a:xfrm>
          <a:prstGeom prst="rect">
            <a:avLst/>
          </a:prstGeom>
          <a:solidFill>
            <a:srgbClr val="C53E1F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18" y="13716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50" b="0" i="0">
                <a:solidFill>
                  <a:srgbClr val="888888"/>
                </a:solidFill>
                <a:latin typeface="Arial"/>
              </a:rPr>
              <a:t>-3.01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002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Courier New"/>
              </a:rPr>
              <a:t>IKBKB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0" y="1636776"/>
            <a:ext cx="2725880" cy="155448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86400" y="16002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+2.88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8288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Courier New"/>
              </a:rPr>
              <a:t>TAPBP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0" y="1865376"/>
            <a:ext cx="2636243" cy="155448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6763" y="18288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+2.78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0574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Courier New"/>
              </a:rPr>
              <a:t>ARG2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43481" y="2093976"/>
            <a:ext cx="2571318" cy="155448"/>
          </a:xfrm>
          <a:prstGeom prst="rect">
            <a:avLst/>
          </a:prstGeom>
          <a:solidFill>
            <a:srgbClr val="C53E1F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0561" y="20574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50" b="0" i="0">
                <a:solidFill>
                  <a:srgbClr val="888888"/>
                </a:solidFill>
                <a:latin typeface="Arial"/>
              </a:rPr>
              <a:t>-2.71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2860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Courier New"/>
              </a:rPr>
              <a:t>ZAP70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0" y="2322576"/>
            <a:ext cx="2568971" cy="155448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491" y="22860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+2.71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5146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Courier New"/>
              </a:rPr>
              <a:t>CCL24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0" y="2551176"/>
            <a:ext cx="2516308" cy="155448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6828" y="25146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+2.66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7432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Courier New"/>
              </a:rPr>
              <a:t>IFIH1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0" y="2779776"/>
            <a:ext cx="2398245" cy="155448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58765" y="27432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+2.53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29718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Courier New"/>
              </a:rPr>
              <a:t>XCL2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45095" y="3008376"/>
            <a:ext cx="2369704" cy="155448"/>
          </a:xfrm>
          <a:prstGeom prst="rect">
            <a:avLst/>
          </a:prstGeom>
          <a:solidFill>
            <a:srgbClr val="C53E1F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42175" y="29718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50" b="0" i="0">
                <a:solidFill>
                  <a:srgbClr val="888888"/>
                </a:solidFill>
                <a:latin typeface="Arial"/>
              </a:rPr>
              <a:t>-2.50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2004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Courier New"/>
              </a:rPr>
              <a:t>STAT6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0" y="3236976"/>
            <a:ext cx="2311118" cy="155448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71638" y="32004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+2.44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4290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Courier New"/>
              </a:rPr>
              <a:t>PYCARD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3465576"/>
            <a:ext cx="2307029" cy="155448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67549" y="34290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+2.44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36576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Courier New"/>
              </a:rPr>
              <a:t>LILRB3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0" y="3694176"/>
            <a:ext cx="2283900" cy="155448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4420" y="36576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+2.41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38862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Courier New"/>
              </a:rPr>
              <a:t>RAG1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904870" y="3922776"/>
            <a:ext cx="2209929" cy="155448"/>
          </a:xfrm>
          <a:prstGeom prst="rect">
            <a:avLst/>
          </a:prstGeom>
          <a:solidFill>
            <a:srgbClr val="C53E1F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01950" y="38862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50" b="0" i="0">
                <a:solidFill>
                  <a:srgbClr val="888888"/>
                </a:solidFill>
                <a:latin typeface="Arial"/>
              </a:rPr>
              <a:t>-2.33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1148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Courier New"/>
              </a:rPr>
              <a:t>MS4A1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12305" y="4151376"/>
            <a:ext cx="2202494" cy="155448"/>
          </a:xfrm>
          <a:prstGeom prst="rect">
            <a:avLst/>
          </a:prstGeom>
          <a:solidFill>
            <a:srgbClr val="C53E1F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09385" y="41148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50" b="0" i="0">
                <a:solidFill>
                  <a:srgbClr val="888888"/>
                </a:solidFill>
                <a:latin typeface="Arial"/>
              </a:rPr>
              <a:t>-2.32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43434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Courier New"/>
              </a:rPr>
              <a:t>S100B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0" y="4379976"/>
            <a:ext cx="2199679" cy="155448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60199" y="43434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+2.32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45720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Courier New"/>
              </a:rPr>
              <a:t>SELPLG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0" y="4608576"/>
            <a:ext cx="2190710" cy="155448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51230" y="45720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+2.31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4800600"/>
            <a:ext cx="3383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Courier New"/>
              </a:rPr>
              <a:t>BATF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0" y="4837176"/>
            <a:ext cx="2118562" cy="155448"/>
          </a:xfrm>
          <a:prstGeom prst="rect">
            <a:avLst/>
          </a:prstGeom>
          <a:solidFill>
            <a:srgbClr val="0A7D6E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79082" y="4800600"/>
            <a:ext cx="502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888888"/>
                </a:solidFill>
                <a:latin typeface="Arial"/>
              </a:rPr>
              <a:t>+2.24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86000" y="5212080"/>
            <a:ext cx="36576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IAE − IBI (mean Δ z)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4400" y="5029200"/>
            <a:ext cx="164592" cy="109728"/>
          </a:xfrm>
          <a:prstGeom prst="rect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15568" y="5010912"/>
            <a:ext cx="1645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IAE &gt; IBI (good inflamed)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91840" y="5029200"/>
            <a:ext cx="164592" cy="109728"/>
          </a:xfrm>
          <a:prstGeom prst="rect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493008" y="5010912"/>
            <a:ext cx="1645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IBI &gt; IAE (bad inflamed)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22222"/>
                </a:solidFill>
                <a:latin typeface="Arial"/>
              </a:rPr>
              <a:t>F  Pre-spec cascade arrow 4 (T2): ΔCD8-exh × ΔTLS-8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888888"/>
                </a:solidFill>
                <a:latin typeface="Arial"/>
              </a:rPr>
              <a:t>Pearson r = +0.82, P = 0.046 · Spearman ρ = +0.77, P = 0.072 (n = 6 paired)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1005840"/>
            <a:ext cx="4572000" cy="3840480"/>
          </a:xfrm>
          <a:prstGeom prst="rect">
            <a:avLst/>
          </a:prstGeom>
          <a:noFill/>
          <a:ln w="63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3137354" y="1005840"/>
            <a:ext cx="0" cy="3840480"/>
          </a:xfrm>
          <a:prstGeom prst="line">
            <a:avLst/>
          </a:prstGeom>
          <a:ln w="3810">
            <a:solidFill>
              <a:srgbClr val="8888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286000" y="5065237"/>
            <a:ext cx="4572000" cy="0"/>
          </a:xfrm>
          <a:prstGeom prst="line">
            <a:avLst/>
          </a:prstGeom>
          <a:ln w="3810">
            <a:solidFill>
              <a:srgbClr val="8888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2286000" y="1760984"/>
            <a:ext cx="4572000" cy="2980497"/>
          </a:xfrm>
          <a:prstGeom prst="line">
            <a:avLst/>
          </a:prstGeom>
          <a:ln w="7620">
            <a:solidFill>
              <a:srgbClr val="8888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6295351" y="1496162"/>
            <a:ext cx="164592" cy="164592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9087" y="1487018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s2</a:t>
            </a:r>
          </a:p>
        </p:txBody>
      </p:sp>
      <p:sp>
        <p:nvSpPr>
          <p:cNvPr id="10" name="Oval 9"/>
          <p:cNvSpPr/>
          <p:nvPr/>
        </p:nvSpPr>
        <p:spPr>
          <a:xfrm>
            <a:off x="4316786" y="3957381"/>
            <a:ext cx="164592" cy="164592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0522" y="3948237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s4</a:t>
            </a:r>
          </a:p>
        </p:txBody>
      </p:sp>
      <p:sp>
        <p:nvSpPr>
          <p:cNvPr id="12" name="Oval 11"/>
          <p:cNvSpPr/>
          <p:nvPr/>
        </p:nvSpPr>
        <p:spPr>
          <a:xfrm>
            <a:off x="3141791" y="4191405"/>
            <a:ext cx="164592" cy="164592"/>
          </a:xfrm>
          <a:prstGeom prst="ellipse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5527" y="4182261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s14</a:t>
            </a:r>
          </a:p>
        </p:txBody>
      </p:sp>
      <p:sp>
        <p:nvSpPr>
          <p:cNvPr id="14" name="Oval 13"/>
          <p:cNvSpPr/>
          <p:nvPr/>
        </p:nvSpPr>
        <p:spPr>
          <a:xfrm>
            <a:off x="4416221" y="2664107"/>
            <a:ext cx="164592" cy="164592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9957" y="2654963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s10</a:t>
            </a:r>
          </a:p>
        </p:txBody>
      </p:sp>
      <p:sp>
        <p:nvSpPr>
          <p:cNvPr id="16" name="Oval 15"/>
          <p:cNvSpPr/>
          <p:nvPr/>
        </p:nvSpPr>
        <p:spPr>
          <a:xfrm>
            <a:off x="2684056" y="3879869"/>
            <a:ext cx="164592" cy="164592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57792" y="3870725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s11</a:t>
            </a:r>
          </a:p>
        </p:txBody>
      </p:sp>
      <p:sp>
        <p:nvSpPr>
          <p:cNvPr id="18" name="Oval 17"/>
          <p:cNvSpPr/>
          <p:nvPr/>
        </p:nvSpPr>
        <p:spPr>
          <a:xfrm>
            <a:off x="4954769" y="3560853"/>
            <a:ext cx="164592" cy="164592"/>
          </a:xfrm>
          <a:prstGeom prst="ellipse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505" y="3551709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s13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5166360"/>
            <a:ext cx="45720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Δ CD8 exhaustion (z)</a:t>
            </a:r>
          </a:p>
        </p:txBody>
      </p:sp>
      <p:sp>
        <p:nvSpPr>
          <p:cNvPr id="21" name="TextBox 20"/>
          <p:cNvSpPr txBox="1"/>
          <p:nvPr/>
        </p:nvSpPr>
        <p:spPr>
          <a:xfrm rot="16200000">
            <a:off x="1417320" y="2651760"/>
            <a:ext cx="73152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Δ TLS-8 (z)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4736592"/>
            <a:ext cx="2743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888888"/>
                </a:solidFill>
                <a:latin typeface="Arial"/>
              </a:rPr>
              <a:t>+0.1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960120"/>
            <a:ext cx="2743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888888"/>
                </a:solidFill>
                <a:latin typeface="Arial"/>
              </a:rPr>
              <a:t>+2.1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4892040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888888"/>
                </a:solidFill>
                <a:latin typeface="Arial"/>
              </a:rPr>
              <a:t>-0.5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892040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888888"/>
                </a:solidFill>
                <a:latin typeface="Arial"/>
              </a:rPr>
              <a:t>+2.3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0" y="1188720"/>
            <a:ext cx="164592" cy="109728"/>
          </a:xfrm>
          <a:prstGeom prst="rect">
            <a:avLst/>
          </a:prstGeom>
          <a:solidFill>
            <a:srgbClr val="0A7D6E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33488" y="1170432"/>
            <a:ext cx="1645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good (pCR)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32320" y="1371600"/>
            <a:ext cx="164592" cy="109728"/>
          </a:xfrm>
          <a:prstGeom prst="rect">
            <a:avLst/>
          </a:prstGeom>
          <a:solidFill>
            <a:srgbClr val="C53E1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3488" y="1353312"/>
            <a:ext cx="1645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bad (poor)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