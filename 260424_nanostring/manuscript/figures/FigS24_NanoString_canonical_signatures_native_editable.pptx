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222222"/>
                </a:solidFill>
                <a:latin typeface="Arial"/>
              </a:rPr>
              <a:t>Supp Fig S24. NanoString regulatory-grade signatures — pre vs post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Ayers TIS, IFN-γ 6-gene, IFN-γ 10-gene, CD8 cytotoxic, IMPRES, M1 macrophage.
Six panels (one slide each), pre-RT and post-RT side-by-side per signature. Group means as solid bars.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Ayers TIS (Keytruda companion; 16 of 18 genes)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Ayers et al JCI 2017 [63]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914400"/>
            <a:ext cx="5943600" cy="393192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645920" y="3146457"/>
            <a:ext cx="594360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482609" y="3352828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913" y="3352828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s2</a:t>
            </a:r>
          </a:p>
        </p:txBody>
      </p:sp>
      <p:sp>
        <p:nvSpPr>
          <p:cNvPr id="8" name="Oval 7"/>
          <p:cNvSpPr/>
          <p:nvPr/>
        </p:nvSpPr>
        <p:spPr>
          <a:xfrm>
            <a:off x="5494221" y="1402950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40525" y="1402950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s2</a:t>
            </a:r>
          </a:p>
        </p:txBody>
      </p:sp>
      <p:sp>
        <p:nvSpPr>
          <p:cNvPr id="10" name="Oval 9"/>
          <p:cNvSpPr/>
          <p:nvPr/>
        </p:nvSpPr>
        <p:spPr>
          <a:xfrm>
            <a:off x="2504641" y="2790380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0945" y="2790380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s4</a:t>
            </a:r>
          </a:p>
        </p:txBody>
      </p:sp>
      <p:sp>
        <p:nvSpPr>
          <p:cNvPr id="12" name="Oval 11"/>
          <p:cNvSpPr/>
          <p:nvPr/>
        </p:nvSpPr>
        <p:spPr>
          <a:xfrm>
            <a:off x="5395904" y="2244448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42208" y="2244448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s4</a:t>
            </a:r>
          </a:p>
        </p:txBody>
      </p:sp>
      <p:sp>
        <p:nvSpPr>
          <p:cNvPr id="14" name="Oval 13"/>
          <p:cNvSpPr/>
          <p:nvPr/>
        </p:nvSpPr>
        <p:spPr>
          <a:xfrm>
            <a:off x="2435071" y="2908697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1375" y="2908697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s14</a:t>
            </a:r>
          </a:p>
        </p:txBody>
      </p:sp>
      <p:sp>
        <p:nvSpPr>
          <p:cNvPr id="16" name="Oval 15"/>
          <p:cNvSpPr/>
          <p:nvPr/>
        </p:nvSpPr>
        <p:spPr>
          <a:xfrm>
            <a:off x="5490760" y="3225213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7064" y="3225213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s14</a:t>
            </a:r>
          </a:p>
        </p:txBody>
      </p:sp>
      <p:sp>
        <p:nvSpPr>
          <p:cNvPr id="18" name="Oval 17"/>
          <p:cNvSpPr/>
          <p:nvPr/>
        </p:nvSpPr>
        <p:spPr>
          <a:xfrm>
            <a:off x="3580646" y="4211465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6950" y="4211465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s10</a:t>
            </a:r>
          </a:p>
        </p:txBody>
      </p:sp>
      <p:sp>
        <p:nvSpPr>
          <p:cNvPr id="20" name="Oval 19"/>
          <p:cNvSpPr/>
          <p:nvPr/>
        </p:nvSpPr>
        <p:spPr>
          <a:xfrm>
            <a:off x="6671825" y="3321076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8129" y="3321076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s10</a:t>
            </a:r>
          </a:p>
        </p:txBody>
      </p:sp>
      <p:sp>
        <p:nvSpPr>
          <p:cNvPr id="22" name="Oval 21"/>
          <p:cNvSpPr/>
          <p:nvPr/>
        </p:nvSpPr>
        <p:spPr>
          <a:xfrm>
            <a:off x="3696490" y="3454252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2794" y="3454252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s11</a:t>
            </a:r>
          </a:p>
        </p:txBody>
      </p:sp>
      <p:sp>
        <p:nvSpPr>
          <p:cNvPr id="24" name="Oval 23"/>
          <p:cNvSpPr/>
          <p:nvPr/>
        </p:nvSpPr>
        <p:spPr>
          <a:xfrm>
            <a:off x="6620136" y="3227393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440" y="3227393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s11</a:t>
            </a:r>
          </a:p>
        </p:txBody>
      </p:sp>
      <p:sp>
        <p:nvSpPr>
          <p:cNvPr id="26" name="Oval 25"/>
          <p:cNvSpPr/>
          <p:nvPr/>
        </p:nvSpPr>
        <p:spPr>
          <a:xfrm>
            <a:off x="3624210" y="3713351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0514" y="3713351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s13</a:t>
            </a:r>
          </a:p>
        </p:txBody>
      </p:sp>
      <p:sp>
        <p:nvSpPr>
          <p:cNvPr id="28" name="Oval 27"/>
          <p:cNvSpPr/>
          <p:nvPr/>
        </p:nvSpPr>
        <p:spPr>
          <a:xfrm>
            <a:off x="6592410" y="3027608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38714" y="3027608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72868" y="3090453"/>
            <a:ext cx="329184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61588" y="3866175"/>
            <a:ext cx="329184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44668" y="2364023"/>
            <a:ext cx="329184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33388" y="3265178"/>
            <a:ext cx="329183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17720" y="914400"/>
            <a:ext cx="0" cy="3931920"/>
          </a:xfrm>
          <a:prstGeom prst="line">
            <a:avLst/>
          </a:prstGeom>
          <a:ln w="6350">
            <a:solidFill>
              <a:srgbClr val="33333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43100" y="960120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D4A300"/>
                </a:solidFill>
                <a:latin typeface="Arial"/>
              </a:rPr>
              <a:t>★ pre MW P = 0.050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4900" y="960120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post MW P = 0.100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3100" y="4901183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good     ·     bad    (pre)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4900" y="4901183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good     ·     bad    (post)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841248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+2.24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727448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-1.71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2770632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411479" y="2606040"/>
            <a:ext cx="731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composite z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100584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5008" y="98755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 (pCR)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118872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5008" y="117043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 (poor)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IFN-γ 6-gene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Ayers et al JCI 2017 [64]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914400"/>
            <a:ext cx="5943600" cy="393192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645920" y="2845835"/>
            <a:ext cx="594360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428444" y="2609123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74748" y="2609123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s2</a:t>
            </a:r>
          </a:p>
        </p:txBody>
      </p:sp>
      <p:sp>
        <p:nvSpPr>
          <p:cNvPr id="8" name="Oval 7"/>
          <p:cNvSpPr/>
          <p:nvPr/>
        </p:nvSpPr>
        <p:spPr>
          <a:xfrm>
            <a:off x="5428072" y="1402950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4376" y="1402950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s2</a:t>
            </a:r>
          </a:p>
        </p:txBody>
      </p:sp>
      <p:sp>
        <p:nvSpPr>
          <p:cNvPr id="10" name="Oval 9"/>
          <p:cNvSpPr/>
          <p:nvPr/>
        </p:nvSpPr>
        <p:spPr>
          <a:xfrm>
            <a:off x="2464973" y="2408919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1277" y="2408919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s4</a:t>
            </a:r>
          </a:p>
        </p:txBody>
      </p:sp>
      <p:sp>
        <p:nvSpPr>
          <p:cNvPr id="12" name="Oval 11"/>
          <p:cNvSpPr/>
          <p:nvPr/>
        </p:nvSpPr>
        <p:spPr>
          <a:xfrm>
            <a:off x="5443934" y="1411043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0238" y="1411043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s4</a:t>
            </a:r>
          </a:p>
        </p:txBody>
      </p:sp>
      <p:sp>
        <p:nvSpPr>
          <p:cNvPr id="14" name="Oval 13"/>
          <p:cNvSpPr/>
          <p:nvPr/>
        </p:nvSpPr>
        <p:spPr>
          <a:xfrm>
            <a:off x="2536801" y="2562830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3105" y="2562830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s14</a:t>
            </a:r>
          </a:p>
        </p:txBody>
      </p:sp>
      <p:sp>
        <p:nvSpPr>
          <p:cNvPr id="16" name="Oval 15"/>
          <p:cNvSpPr/>
          <p:nvPr/>
        </p:nvSpPr>
        <p:spPr>
          <a:xfrm>
            <a:off x="5478925" y="2397413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5229" y="2397413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s14</a:t>
            </a:r>
          </a:p>
        </p:txBody>
      </p:sp>
      <p:sp>
        <p:nvSpPr>
          <p:cNvPr id="18" name="Oval 17"/>
          <p:cNvSpPr/>
          <p:nvPr/>
        </p:nvSpPr>
        <p:spPr>
          <a:xfrm>
            <a:off x="3670903" y="3503083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7207" y="3503083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s10</a:t>
            </a:r>
          </a:p>
        </p:txBody>
      </p:sp>
      <p:sp>
        <p:nvSpPr>
          <p:cNvPr id="20" name="Oval 19"/>
          <p:cNvSpPr/>
          <p:nvPr/>
        </p:nvSpPr>
        <p:spPr>
          <a:xfrm>
            <a:off x="6696364" y="3231566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2668" y="3231566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s10</a:t>
            </a:r>
          </a:p>
        </p:txBody>
      </p:sp>
      <p:sp>
        <p:nvSpPr>
          <p:cNvPr id="22" name="Oval 21"/>
          <p:cNvSpPr/>
          <p:nvPr/>
        </p:nvSpPr>
        <p:spPr>
          <a:xfrm>
            <a:off x="3611376" y="2870943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57680" y="2870943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s11</a:t>
            </a:r>
          </a:p>
        </p:txBody>
      </p:sp>
      <p:sp>
        <p:nvSpPr>
          <p:cNvPr id="24" name="Oval 23"/>
          <p:cNvSpPr/>
          <p:nvPr/>
        </p:nvSpPr>
        <p:spPr>
          <a:xfrm>
            <a:off x="6575115" y="3250535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1419" y="3250535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s11</a:t>
            </a:r>
          </a:p>
        </p:txBody>
      </p:sp>
      <p:sp>
        <p:nvSpPr>
          <p:cNvPr id="26" name="Oval 25"/>
          <p:cNvSpPr/>
          <p:nvPr/>
        </p:nvSpPr>
        <p:spPr>
          <a:xfrm>
            <a:off x="3669492" y="4211465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5796" y="4211465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s13</a:t>
            </a:r>
          </a:p>
        </p:txBody>
      </p:sp>
      <p:sp>
        <p:nvSpPr>
          <p:cNvPr id="28" name="Oval 27"/>
          <p:cNvSpPr/>
          <p:nvPr/>
        </p:nvSpPr>
        <p:spPr>
          <a:xfrm>
            <a:off x="6558104" y="3412325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4408" y="3412325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72868" y="2600109"/>
            <a:ext cx="329184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61588" y="3601649"/>
            <a:ext cx="329184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44668" y="1810287"/>
            <a:ext cx="329184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33388" y="3371294"/>
            <a:ext cx="329183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17720" y="914400"/>
            <a:ext cx="0" cy="3931920"/>
          </a:xfrm>
          <a:prstGeom prst="line">
            <a:avLst/>
          </a:prstGeom>
          <a:ln w="6350">
            <a:solidFill>
              <a:srgbClr val="33333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43100" y="960120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D4A300"/>
                </a:solidFill>
                <a:latin typeface="Arial"/>
              </a:rPr>
              <a:t>★ pre MW P = 0.050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4900" y="960120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D4A300"/>
                </a:solidFill>
                <a:latin typeface="Arial"/>
              </a:rPr>
              <a:t>★ post MW P = 0.050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3100" y="4901183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good     ·     bad    (pre)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4900" y="4901183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good     ·     bad    (post)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841248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+1.88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727448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-1.95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2770632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411479" y="2606040"/>
            <a:ext cx="731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composite z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100584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5008" y="98755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 (pCR)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118872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5008" y="117043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 (poor)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IFN-γ 10-gene (expanded)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Ayers et al JCI 2017 [64]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914400"/>
            <a:ext cx="5943600" cy="393192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645920" y="3132394"/>
            <a:ext cx="594360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396376" y="3044274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42680" y="3044274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s2</a:t>
            </a:r>
          </a:p>
        </p:txBody>
      </p:sp>
      <p:sp>
        <p:nvSpPr>
          <p:cNvPr id="8" name="Oval 7"/>
          <p:cNvSpPr/>
          <p:nvPr/>
        </p:nvSpPr>
        <p:spPr>
          <a:xfrm>
            <a:off x="5438286" y="1402950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4590" y="1402950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s2</a:t>
            </a:r>
          </a:p>
        </p:txBody>
      </p:sp>
      <p:sp>
        <p:nvSpPr>
          <p:cNvPr id="10" name="Oval 9"/>
          <p:cNvSpPr/>
          <p:nvPr/>
        </p:nvSpPr>
        <p:spPr>
          <a:xfrm>
            <a:off x="2459363" y="2615811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5667" y="2615811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s4</a:t>
            </a:r>
          </a:p>
        </p:txBody>
      </p:sp>
      <p:sp>
        <p:nvSpPr>
          <p:cNvPr id="12" name="Oval 11"/>
          <p:cNvSpPr/>
          <p:nvPr/>
        </p:nvSpPr>
        <p:spPr>
          <a:xfrm>
            <a:off x="5497141" y="1864179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3445" y="1864179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s4</a:t>
            </a:r>
          </a:p>
        </p:txBody>
      </p:sp>
      <p:sp>
        <p:nvSpPr>
          <p:cNvPr id="14" name="Oval 13"/>
          <p:cNvSpPr/>
          <p:nvPr/>
        </p:nvSpPr>
        <p:spPr>
          <a:xfrm>
            <a:off x="2483214" y="3053649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9518" y="3053649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s14</a:t>
            </a:r>
          </a:p>
        </p:txBody>
      </p:sp>
      <p:sp>
        <p:nvSpPr>
          <p:cNvPr id="16" name="Oval 15"/>
          <p:cNvSpPr/>
          <p:nvPr/>
        </p:nvSpPr>
        <p:spPr>
          <a:xfrm>
            <a:off x="5438173" y="2848409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4477" y="2848409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s14</a:t>
            </a:r>
          </a:p>
        </p:txBody>
      </p:sp>
      <p:sp>
        <p:nvSpPr>
          <p:cNvPr id="18" name="Oval 17"/>
          <p:cNvSpPr/>
          <p:nvPr/>
        </p:nvSpPr>
        <p:spPr>
          <a:xfrm>
            <a:off x="3652570" y="3720112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8874" y="3720112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s10</a:t>
            </a:r>
          </a:p>
        </p:txBody>
      </p:sp>
      <p:sp>
        <p:nvSpPr>
          <p:cNvPr id="20" name="Oval 19"/>
          <p:cNvSpPr/>
          <p:nvPr/>
        </p:nvSpPr>
        <p:spPr>
          <a:xfrm>
            <a:off x="6587888" y="3556726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4192" y="3556726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s10</a:t>
            </a:r>
          </a:p>
        </p:txBody>
      </p:sp>
      <p:sp>
        <p:nvSpPr>
          <p:cNvPr id="22" name="Oval 21"/>
          <p:cNvSpPr/>
          <p:nvPr/>
        </p:nvSpPr>
        <p:spPr>
          <a:xfrm>
            <a:off x="3581601" y="3478075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27905" y="3478075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s11</a:t>
            </a:r>
          </a:p>
        </p:txBody>
      </p:sp>
      <p:sp>
        <p:nvSpPr>
          <p:cNvPr id="24" name="Oval 23"/>
          <p:cNvSpPr/>
          <p:nvPr/>
        </p:nvSpPr>
        <p:spPr>
          <a:xfrm>
            <a:off x="6579825" y="3405121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6129" y="3405121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s11</a:t>
            </a:r>
          </a:p>
        </p:txBody>
      </p:sp>
      <p:sp>
        <p:nvSpPr>
          <p:cNvPr id="26" name="Oval 25"/>
          <p:cNvSpPr/>
          <p:nvPr/>
        </p:nvSpPr>
        <p:spPr>
          <a:xfrm>
            <a:off x="3681123" y="4211465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7427" y="4211465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s13</a:t>
            </a:r>
          </a:p>
        </p:txBody>
      </p:sp>
      <p:sp>
        <p:nvSpPr>
          <p:cNvPr id="28" name="Oval 27"/>
          <p:cNvSpPr/>
          <p:nvPr/>
        </p:nvSpPr>
        <p:spPr>
          <a:xfrm>
            <a:off x="6581025" y="3510127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7329" y="3510127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72868" y="2977730"/>
            <a:ext cx="329184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61588" y="3876369"/>
            <a:ext cx="329184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44668" y="2111665"/>
            <a:ext cx="329184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33388" y="3563810"/>
            <a:ext cx="329183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17720" y="914400"/>
            <a:ext cx="0" cy="3931920"/>
          </a:xfrm>
          <a:prstGeom prst="line">
            <a:avLst/>
          </a:prstGeom>
          <a:ln w="6350">
            <a:solidFill>
              <a:srgbClr val="33333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43100" y="960120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D4A300"/>
                </a:solidFill>
                <a:latin typeface="Arial"/>
              </a:rPr>
              <a:t>★ pre MW P = 0.050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4900" y="960120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D4A300"/>
                </a:solidFill>
                <a:latin typeface="Arial"/>
              </a:rPr>
              <a:t>★ post MW P = 0.050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3100" y="4901183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good     ·     bad    (pre)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4900" y="4901183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good     ·     bad    (post)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841248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+2.13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727448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-1.65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2770632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411479" y="2606040"/>
            <a:ext cx="731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composite z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100584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5008" y="98755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 (pCR)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118872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5008" y="117043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 (poor)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CD8 cytotoxic (GZMA/B/H/K, PRF1, IFNG, CD8A/B, GNLY)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in-house pure effector panel, matches external LC-CRT meta Z=+2.74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914400"/>
            <a:ext cx="5943600" cy="393192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645920" y="3272843"/>
            <a:ext cx="594360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445220" y="3303546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91524" y="3303546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s2</a:t>
            </a:r>
          </a:p>
        </p:txBody>
      </p:sp>
      <p:sp>
        <p:nvSpPr>
          <p:cNvPr id="8" name="Oval 7"/>
          <p:cNvSpPr/>
          <p:nvPr/>
        </p:nvSpPr>
        <p:spPr>
          <a:xfrm>
            <a:off x="5363502" y="1402950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09806" y="1402950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s2</a:t>
            </a:r>
          </a:p>
        </p:txBody>
      </p:sp>
      <p:sp>
        <p:nvSpPr>
          <p:cNvPr id="10" name="Oval 9"/>
          <p:cNvSpPr/>
          <p:nvPr/>
        </p:nvSpPr>
        <p:spPr>
          <a:xfrm>
            <a:off x="2512595" y="2979148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8899" y="2979148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s4</a:t>
            </a:r>
          </a:p>
        </p:txBody>
      </p:sp>
      <p:sp>
        <p:nvSpPr>
          <p:cNvPr id="12" name="Oval 11"/>
          <p:cNvSpPr/>
          <p:nvPr/>
        </p:nvSpPr>
        <p:spPr>
          <a:xfrm>
            <a:off x="5385554" y="3070631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1858" y="3070631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s4</a:t>
            </a:r>
          </a:p>
        </p:txBody>
      </p:sp>
      <p:sp>
        <p:nvSpPr>
          <p:cNvPr id="14" name="Oval 13"/>
          <p:cNvSpPr/>
          <p:nvPr/>
        </p:nvSpPr>
        <p:spPr>
          <a:xfrm>
            <a:off x="2430306" y="3281620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6610" y="3281620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s14</a:t>
            </a:r>
          </a:p>
        </p:txBody>
      </p:sp>
      <p:sp>
        <p:nvSpPr>
          <p:cNvPr id="16" name="Oval 15"/>
          <p:cNvSpPr/>
          <p:nvPr/>
        </p:nvSpPr>
        <p:spPr>
          <a:xfrm>
            <a:off x="5491752" y="3585960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8056" y="3585960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s14</a:t>
            </a:r>
          </a:p>
        </p:txBody>
      </p:sp>
      <p:sp>
        <p:nvSpPr>
          <p:cNvPr id="18" name="Oval 17"/>
          <p:cNvSpPr/>
          <p:nvPr/>
        </p:nvSpPr>
        <p:spPr>
          <a:xfrm>
            <a:off x="3654460" y="3613893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0764" y="3613893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s10</a:t>
            </a:r>
          </a:p>
        </p:txBody>
      </p:sp>
      <p:sp>
        <p:nvSpPr>
          <p:cNvPr id="20" name="Oval 19"/>
          <p:cNvSpPr/>
          <p:nvPr/>
        </p:nvSpPr>
        <p:spPr>
          <a:xfrm>
            <a:off x="6675617" y="3592609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1921" y="3592609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s10</a:t>
            </a:r>
          </a:p>
        </p:txBody>
      </p:sp>
      <p:sp>
        <p:nvSpPr>
          <p:cNvPr id="22" name="Oval 21"/>
          <p:cNvSpPr/>
          <p:nvPr/>
        </p:nvSpPr>
        <p:spPr>
          <a:xfrm>
            <a:off x="3673469" y="3387874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9773" y="3387874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s11</a:t>
            </a:r>
          </a:p>
        </p:txBody>
      </p:sp>
      <p:sp>
        <p:nvSpPr>
          <p:cNvPr id="24" name="Oval 23"/>
          <p:cNvSpPr/>
          <p:nvPr/>
        </p:nvSpPr>
        <p:spPr>
          <a:xfrm>
            <a:off x="6660200" y="3515399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6504" y="3515399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s11</a:t>
            </a:r>
          </a:p>
        </p:txBody>
      </p:sp>
      <p:sp>
        <p:nvSpPr>
          <p:cNvPr id="26" name="Oval 25"/>
          <p:cNvSpPr/>
          <p:nvPr/>
        </p:nvSpPr>
        <p:spPr>
          <a:xfrm>
            <a:off x="3593262" y="4211465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9566" y="4211465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s13</a:t>
            </a:r>
          </a:p>
        </p:txBody>
      </p:sp>
      <p:sp>
        <p:nvSpPr>
          <p:cNvPr id="28" name="Oval 27"/>
          <p:cNvSpPr/>
          <p:nvPr/>
        </p:nvSpPr>
        <p:spPr>
          <a:xfrm>
            <a:off x="6630847" y="2451201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7151" y="2451201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72868" y="3261257"/>
            <a:ext cx="329184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61588" y="3810896"/>
            <a:ext cx="329184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44668" y="2759666"/>
            <a:ext cx="329184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33388" y="3259555"/>
            <a:ext cx="329183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17720" y="914400"/>
            <a:ext cx="0" cy="3931920"/>
          </a:xfrm>
          <a:prstGeom prst="line">
            <a:avLst/>
          </a:prstGeom>
          <a:ln w="6350">
            <a:solidFill>
              <a:srgbClr val="33333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43100" y="960120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D4A300"/>
                </a:solidFill>
                <a:latin typeface="Arial"/>
              </a:rPr>
              <a:t>★ pre MW P = 0.050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4900" y="960120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post MW P = 0.350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3100" y="4901183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good     ·     bad    (pre)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4900" y="4901183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good     ·     bad    (post)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841248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+2.23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727448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-1.49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2770632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411479" y="2606040"/>
            <a:ext cx="731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composite z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100584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5008" y="98755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 (pCR)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118872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5008" y="117043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 (poor)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IMPRES (14 of 15 positive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Auslander et al Nat Med 2018 [65]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914400"/>
            <a:ext cx="5943600" cy="393192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645920" y="3177890"/>
            <a:ext cx="594360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465445" y="3506739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11749" y="3506739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s2</a:t>
            </a:r>
          </a:p>
        </p:txBody>
      </p:sp>
      <p:sp>
        <p:nvSpPr>
          <p:cNvPr id="8" name="Oval 7"/>
          <p:cNvSpPr/>
          <p:nvPr/>
        </p:nvSpPr>
        <p:spPr>
          <a:xfrm>
            <a:off x="5490436" y="1402950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6740" y="1402950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s2</a:t>
            </a:r>
          </a:p>
        </p:txBody>
      </p:sp>
      <p:sp>
        <p:nvSpPr>
          <p:cNvPr id="10" name="Oval 9"/>
          <p:cNvSpPr/>
          <p:nvPr/>
        </p:nvSpPr>
        <p:spPr>
          <a:xfrm>
            <a:off x="2444010" y="2958945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0314" y="2958945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s4</a:t>
            </a:r>
          </a:p>
        </p:txBody>
      </p:sp>
      <p:sp>
        <p:nvSpPr>
          <p:cNvPr id="12" name="Oval 11"/>
          <p:cNvSpPr/>
          <p:nvPr/>
        </p:nvSpPr>
        <p:spPr>
          <a:xfrm>
            <a:off x="5450472" y="2101191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776" y="2101191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s4</a:t>
            </a:r>
          </a:p>
        </p:txBody>
      </p:sp>
      <p:sp>
        <p:nvSpPr>
          <p:cNvPr id="14" name="Oval 13"/>
          <p:cNvSpPr/>
          <p:nvPr/>
        </p:nvSpPr>
        <p:spPr>
          <a:xfrm>
            <a:off x="2399824" y="3127610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6128" y="3127610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s14</a:t>
            </a:r>
          </a:p>
        </p:txBody>
      </p:sp>
      <p:sp>
        <p:nvSpPr>
          <p:cNvPr id="16" name="Oval 15"/>
          <p:cNvSpPr/>
          <p:nvPr/>
        </p:nvSpPr>
        <p:spPr>
          <a:xfrm>
            <a:off x="5419668" y="3113742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5972" y="3113742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s14</a:t>
            </a:r>
          </a:p>
        </p:txBody>
      </p:sp>
      <p:sp>
        <p:nvSpPr>
          <p:cNvPr id="18" name="Oval 17"/>
          <p:cNvSpPr/>
          <p:nvPr/>
        </p:nvSpPr>
        <p:spPr>
          <a:xfrm>
            <a:off x="3627137" y="4211465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3441" y="4211465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s10</a:t>
            </a:r>
          </a:p>
        </p:txBody>
      </p:sp>
      <p:sp>
        <p:nvSpPr>
          <p:cNvPr id="20" name="Oval 19"/>
          <p:cNvSpPr/>
          <p:nvPr/>
        </p:nvSpPr>
        <p:spPr>
          <a:xfrm>
            <a:off x="6573650" y="3704806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9954" y="3704806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s10</a:t>
            </a:r>
          </a:p>
        </p:txBody>
      </p:sp>
      <p:sp>
        <p:nvSpPr>
          <p:cNvPr id="22" name="Oval 21"/>
          <p:cNvSpPr/>
          <p:nvPr/>
        </p:nvSpPr>
        <p:spPr>
          <a:xfrm>
            <a:off x="3699309" y="3241315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5613" y="3241315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s11</a:t>
            </a:r>
          </a:p>
        </p:txBody>
      </p:sp>
      <p:sp>
        <p:nvSpPr>
          <p:cNvPr id="24" name="Oval 23"/>
          <p:cNvSpPr/>
          <p:nvPr/>
        </p:nvSpPr>
        <p:spPr>
          <a:xfrm>
            <a:off x="6607190" y="3362546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53494" y="3362546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s11</a:t>
            </a:r>
          </a:p>
        </p:txBody>
      </p:sp>
      <p:sp>
        <p:nvSpPr>
          <p:cNvPr id="26" name="Oval 25"/>
          <p:cNvSpPr/>
          <p:nvPr/>
        </p:nvSpPr>
        <p:spPr>
          <a:xfrm>
            <a:off x="3723070" y="3998855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69374" y="3998855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s13</a:t>
            </a:r>
          </a:p>
        </p:txBody>
      </p:sp>
      <p:sp>
        <p:nvSpPr>
          <p:cNvPr id="28" name="Oval 27"/>
          <p:cNvSpPr/>
          <p:nvPr/>
        </p:nvSpPr>
        <p:spPr>
          <a:xfrm>
            <a:off x="6637994" y="2526694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298" y="2526694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72868" y="3270917"/>
            <a:ext cx="329184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61588" y="3890364"/>
            <a:ext cx="329184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44668" y="2279113"/>
            <a:ext cx="329184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33388" y="3271167"/>
            <a:ext cx="329183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17720" y="914400"/>
            <a:ext cx="0" cy="3931920"/>
          </a:xfrm>
          <a:prstGeom prst="line">
            <a:avLst/>
          </a:prstGeom>
          <a:ln w="6350">
            <a:solidFill>
              <a:srgbClr val="33333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43100" y="960120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pre MW P = 0.100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4900" y="960120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post MW P = 0.100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3100" y="4901183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good     ·     bad    (pre)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4900" y="4901183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good     ·     bad    (post)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841248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+2.23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727448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-1.64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2770632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411479" y="2606040"/>
            <a:ext cx="731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composite z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100584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5008" y="98755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 (pCR)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118872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5008" y="117043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 (poor)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M1 macrophage (CXCL9/10/11, IL12B, CD80/86, IFNG, TNF, IL1B)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in-house panel; classically activated polarization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914400"/>
            <a:ext cx="5943600" cy="393192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645920" y="2933515"/>
            <a:ext cx="594360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479678" y="2853934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5982" y="2853934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s2</a:t>
            </a:r>
          </a:p>
        </p:txBody>
      </p:sp>
      <p:sp>
        <p:nvSpPr>
          <p:cNvPr id="8" name="Oval 7"/>
          <p:cNvSpPr/>
          <p:nvPr/>
        </p:nvSpPr>
        <p:spPr>
          <a:xfrm>
            <a:off x="5456297" y="1402950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02601" y="1402950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s2</a:t>
            </a:r>
          </a:p>
        </p:txBody>
      </p:sp>
      <p:sp>
        <p:nvSpPr>
          <p:cNvPr id="10" name="Oval 9"/>
          <p:cNvSpPr/>
          <p:nvPr/>
        </p:nvSpPr>
        <p:spPr>
          <a:xfrm>
            <a:off x="2490123" y="2958176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6427" y="2958176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s4</a:t>
            </a:r>
          </a:p>
        </p:txBody>
      </p:sp>
      <p:sp>
        <p:nvSpPr>
          <p:cNvPr id="12" name="Oval 11"/>
          <p:cNvSpPr/>
          <p:nvPr/>
        </p:nvSpPr>
        <p:spPr>
          <a:xfrm>
            <a:off x="5385016" y="1421518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1320" y="1421518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s4</a:t>
            </a:r>
          </a:p>
        </p:txBody>
      </p:sp>
      <p:sp>
        <p:nvSpPr>
          <p:cNvPr id="14" name="Oval 13"/>
          <p:cNvSpPr/>
          <p:nvPr/>
        </p:nvSpPr>
        <p:spPr>
          <a:xfrm>
            <a:off x="2455575" y="3129061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1879" y="3129061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s14</a:t>
            </a:r>
          </a:p>
        </p:txBody>
      </p:sp>
      <p:sp>
        <p:nvSpPr>
          <p:cNvPr id="16" name="Oval 15"/>
          <p:cNvSpPr/>
          <p:nvPr/>
        </p:nvSpPr>
        <p:spPr>
          <a:xfrm>
            <a:off x="5398005" y="2733355"/>
            <a:ext cx="146304" cy="146304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4309" y="2733355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s14</a:t>
            </a:r>
          </a:p>
        </p:txBody>
      </p:sp>
      <p:sp>
        <p:nvSpPr>
          <p:cNvPr id="18" name="Oval 17"/>
          <p:cNvSpPr/>
          <p:nvPr/>
        </p:nvSpPr>
        <p:spPr>
          <a:xfrm>
            <a:off x="3638763" y="3731171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067" y="3731171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s10</a:t>
            </a:r>
          </a:p>
        </p:txBody>
      </p:sp>
      <p:sp>
        <p:nvSpPr>
          <p:cNvPr id="20" name="Oval 19"/>
          <p:cNvSpPr/>
          <p:nvPr/>
        </p:nvSpPr>
        <p:spPr>
          <a:xfrm>
            <a:off x="6565824" y="3144920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2128" y="3144920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s10</a:t>
            </a:r>
          </a:p>
        </p:txBody>
      </p:sp>
      <p:sp>
        <p:nvSpPr>
          <p:cNvPr id="22" name="Oval 21"/>
          <p:cNvSpPr/>
          <p:nvPr/>
        </p:nvSpPr>
        <p:spPr>
          <a:xfrm>
            <a:off x="3721473" y="3289132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67777" y="3289132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s11</a:t>
            </a:r>
          </a:p>
        </p:txBody>
      </p:sp>
      <p:sp>
        <p:nvSpPr>
          <p:cNvPr id="24" name="Oval 23"/>
          <p:cNvSpPr/>
          <p:nvPr/>
        </p:nvSpPr>
        <p:spPr>
          <a:xfrm>
            <a:off x="6583131" y="3307729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435" y="3307729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s11</a:t>
            </a:r>
          </a:p>
        </p:txBody>
      </p:sp>
      <p:sp>
        <p:nvSpPr>
          <p:cNvPr id="26" name="Oval 25"/>
          <p:cNvSpPr/>
          <p:nvPr/>
        </p:nvSpPr>
        <p:spPr>
          <a:xfrm>
            <a:off x="3678157" y="4211465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4461" y="4211465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s13</a:t>
            </a:r>
          </a:p>
        </p:txBody>
      </p:sp>
      <p:sp>
        <p:nvSpPr>
          <p:cNvPr id="28" name="Oval 27"/>
          <p:cNvSpPr/>
          <p:nvPr/>
        </p:nvSpPr>
        <p:spPr>
          <a:xfrm>
            <a:off x="6595628" y="2140942"/>
            <a:ext cx="146304" cy="146304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1932" y="2140942"/>
            <a:ext cx="365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Arial"/>
              </a:rPr>
              <a:t>s13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72868" y="3053542"/>
            <a:ext cx="329184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561588" y="3817074"/>
            <a:ext cx="329184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44668" y="1925760"/>
            <a:ext cx="329184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33388" y="2937682"/>
            <a:ext cx="329183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17720" y="914400"/>
            <a:ext cx="0" cy="3931920"/>
          </a:xfrm>
          <a:prstGeom prst="line">
            <a:avLst/>
          </a:prstGeom>
          <a:ln w="6350">
            <a:solidFill>
              <a:srgbClr val="33333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43100" y="960120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D4A300"/>
                </a:solidFill>
                <a:latin typeface="Arial"/>
              </a:rPr>
              <a:t>★ pre MW P = 0.050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4900" y="960120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post MW P = 0.100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3100" y="4901183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good     ·     bad    (pre)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4900" y="4901183"/>
            <a:ext cx="23774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rial"/>
              </a:rPr>
              <a:t>good     ·     bad    (post)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841248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+1.94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727448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-1.84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2770632"/>
            <a:ext cx="4114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411479" y="2606040"/>
            <a:ext cx="731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composite z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100584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5008" y="98755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 (pCR)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118872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5008" y="117043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 (poor)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