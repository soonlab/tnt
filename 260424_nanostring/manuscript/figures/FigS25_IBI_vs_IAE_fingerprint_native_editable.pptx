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22222"/>
                </a:solidFill>
                <a:latin typeface="Arial"/>
              </a:rPr>
              <a:t>Supp Fig S25. Inflamed-but-Ineffective (IBI, n=3 bad)
vs Inflamed-Active-Effective (IAE, n=2 good)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  <a:latin typeface="Arial"/>
              </a:rPr>
              <a:t>IAE = subjects 2, 4 (inflamed good pCR). IBI = subjects 10, 11, 13 (inflamed bad poor).
Inflamed = ΔAyers TIS &gt; 0 (regulatory-grade post-RT). IAE productive cascade (TCR → JAK-STAT → NF-κB → BATF → TAPBP)
vs IBI naive-B / NK-inhibitory / ARG2-suppression without productive signalling.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A  Composite-level IAE vs IBI fingerprint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Top 16 composites / ratios by |IAE − IBI|. Positive (teal) = IAE &gt; IBI; negative (coral) = IBI &gt; IAE.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841248"/>
            <a:ext cx="0" cy="3803904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144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Treg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950976"/>
            <a:ext cx="3200400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0920" y="9144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+1.26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Naive_B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2926" y="1179576"/>
            <a:ext cx="3001873" cy="155448"/>
          </a:xfrm>
          <a:prstGeom prst="rect">
            <a:avLst/>
          </a:prstGeom>
          <a:solidFill>
            <a:srgbClr val="C53E1F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006" y="11430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0" i="0">
                <a:solidFill>
                  <a:srgbClr val="888888"/>
                </a:solidFill>
                <a:latin typeface="Arial"/>
              </a:rPr>
              <a:t>-1.18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IFNg_10_Ayers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08176"/>
            <a:ext cx="2160779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1299" y="13716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002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IFNg_6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636776"/>
            <a:ext cx="2159377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9897" y="16002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8288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IMPRES_pos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865376"/>
            <a:ext cx="2156402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6922" y="18288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0574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NK_inhibiting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91544" y="2093976"/>
            <a:ext cx="2123255" cy="155448"/>
          </a:xfrm>
          <a:prstGeom prst="rect">
            <a:avLst/>
          </a:prstGeom>
          <a:solidFill>
            <a:srgbClr val="C53E1F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88624" y="20574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0" i="0">
                <a:solidFill>
                  <a:srgbClr val="888888"/>
                </a:solidFill>
                <a:latin typeface="Arial"/>
              </a:rPr>
              <a:t>-0.83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2860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CD8_exh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2322576"/>
            <a:ext cx="2046104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6624" y="22860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5146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Teff_over_Treg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56057" y="2551176"/>
            <a:ext cx="1958742" cy="155448"/>
          </a:xfrm>
          <a:prstGeom prst="rect">
            <a:avLst/>
          </a:prstGeom>
          <a:solidFill>
            <a:srgbClr val="C53E1F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53137" y="25146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0" i="0">
                <a:solidFill>
                  <a:srgbClr val="888888"/>
                </a:solidFill>
                <a:latin typeface="Arial"/>
              </a:rPr>
              <a:t>-0.77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7432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HLA_II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2779776"/>
            <a:ext cx="1950978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11498" y="27432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9718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NK_activ_over_inhib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3008376"/>
            <a:ext cx="1690186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0706" y="29718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+0.66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2004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Ayers_TIS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236976"/>
            <a:ext cx="1651442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11962" y="32004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+0.65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4290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DC_mature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3465576"/>
            <a:ext cx="1543767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04287" y="34290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+0.61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6576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HLA_I_machinery_narrow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3694176"/>
            <a:ext cx="1509983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70503" y="36576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+0.59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38862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HLA_I_axis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3922776"/>
            <a:ext cx="1509983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70503" y="38862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+0.59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1148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M1_macro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0" y="4151376"/>
            <a:ext cx="1504015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4535" y="41148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+0.59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4343400"/>
            <a:ext cx="338328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M2_macro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4379976"/>
            <a:ext cx="1452134" cy="15544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12654" y="4343400"/>
            <a:ext cx="5029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+0.57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0" y="4754880"/>
            <a:ext cx="3657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IAE − IBI (mean Δ z)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5029200"/>
            <a:ext cx="164592" cy="109728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15568" y="501091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IAE &gt; IBI (good inflamed)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91840" y="5029200"/>
            <a:ext cx="164592" cy="109728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93008" y="501091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IBI &gt; IAE (bad inflamed)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Arial"/>
              </a:rPr>
              <a:t>B  Gene-level top 24 discriminators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Arial"/>
              </a:rPr>
              <a:t>IAE productive: PLA2G6, JAK3, IKBKB, TAPBP, ZAP70, IFIH1, STAT6, PYCARD, BATF, LAG3, TLR8. IBI unproductive: KIR_Inh_Subgroup_2, ARG2, RAG1, MS4A1, XCL2.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841248"/>
            <a:ext cx="0" cy="4261104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1440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PLA2G6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950976"/>
            <a:ext cx="3200400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60920" y="91440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+3.38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8585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JAK3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122426"/>
            <a:ext cx="2928651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9171" y="108585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+3.09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5730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KIR_Inhibiting_Subgroup_2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38" y="1293876"/>
            <a:ext cx="2852961" cy="98298"/>
          </a:xfrm>
          <a:prstGeom prst="rect">
            <a:avLst/>
          </a:prstGeom>
          <a:solidFill>
            <a:srgbClr val="C53E1F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18" y="125730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0" i="0">
                <a:solidFill>
                  <a:srgbClr val="888888"/>
                </a:solidFill>
                <a:latin typeface="Arial"/>
              </a:rPr>
              <a:t>-3.01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42875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IKBKB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465326"/>
            <a:ext cx="2725880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6400" y="142875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60020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TAPBP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636776"/>
            <a:ext cx="2636243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6763" y="160020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77165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ARG2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43481" y="1808226"/>
            <a:ext cx="2571318" cy="98298"/>
          </a:xfrm>
          <a:prstGeom prst="rect">
            <a:avLst/>
          </a:prstGeom>
          <a:solidFill>
            <a:srgbClr val="C53E1F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0561" y="177165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0" i="0">
                <a:solidFill>
                  <a:srgbClr val="888888"/>
                </a:solidFill>
                <a:latin typeface="Arial"/>
              </a:rPr>
              <a:t>-2.71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94310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ZAP70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1979676"/>
            <a:ext cx="2568971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491" y="194310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11455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CCL24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151126"/>
            <a:ext cx="2516308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6828" y="211455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28600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IFIH1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2322576"/>
            <a:ext cx="2398245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8765" y="228600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+2.53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45745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XCL2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45095" y="2494026"/>
            <a:ext cx="2369704" cy="98298"/>
          </a:xfrm>
          <a:prstGeom prst="rect">
            <a:avLst/>
          </a:prstGeom>
          <a:solidFill>
            <a:srgbClr val="C53E1F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42175" y="245745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0" i="0">
                <a:solidFill>
                  <a:srgbClr val="888888"/>
                </a:solidFill>
                <a:latin typeface="Arial"/>
              </a:rPr>
              <a:t>-2.50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262890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STAT6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2665476"/>
            <a:ext cx="2311118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1638" y="262890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280035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PYCARD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2836926"/>
            <a:ext cx="2307029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67549" y="280035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+2.44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297180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LILRB3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3008376"/>
            <a:ext cx="2283900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4420" y="297180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+2.41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314325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RAG1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04870" y="3179826"/>
            <a:ext cx="2209929" cy="98298"/>
          </a:xfrm>
          <a:prstGeom prst="rect">
            <a:avLst/>
          </a:prstGeom>
          <a:solidFill>
            <a:srgbClr val="C53E1F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01950" y="314325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0" i="0">
                <a:solidFill>
                  <a:srgbClr val="888888"/>
                </a:solidFill>
                <a:latin typeface="Arial"/>
              </a:rPr>
              <a:t>-2.33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31470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MS4A1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12305" y="3351276"/>
            <a:ext cx="2202494" cy="98298"/>
          </a:xfrm>
          <a:prstGeom prst="rect">
            <a:avLst/>
          </a:prstGeom>
          <a:solidFill>
            <a:srgbClr val="C53E1F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09385" y="331470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0" i="0">
                <a:solidFill>
                  <a:srgbClr val="888888"/>
                </a:solidFill>
                <a:latin typeface="Arial"/>
              </a:rPr>
              <a:t>-2.32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48615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S100B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3522726"/>
            <a:ext cx="2199679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60199" y="348615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+2.32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365760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SELPLG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3694176"/>
            <a:ext cx="2190710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1230" y="365760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+2.31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382905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BATF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0" y="3865626"/>
            <a:ext cx="2118562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79082" y="382905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400050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LAG3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0" y="4037076"/>
            <a:ext cx="2084784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45304" y="400050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417195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TLR8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0" y="4208526"/>
            <a:ext cx="2080018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40538" y="417195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434340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CXCR4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0" y="4379976"/>
            <a:ext cx="2079558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40078" y="434340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451485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IL4R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0" y="4551426"/>
            <a:ext cx="2036347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96867" y="451485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+2.15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468630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CCL18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0" y="4722876"/>
            <a:ext cx="2009781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70301" y="468630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+2.12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4857750"/>
            <a:ext cx="338328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Courier New"/>
              </a:rPr>
              <a:t>CSF3R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0" y="4894326"/>
            <a:ext cx="2000124" cy="98298"/>
          </a:xfrm>
          <a:prstGeom prst="rect">
            <a:avLst/>
          </a:prstGeom>
          <a:solidFill>
            <a:srgbClr val="0A7D6E"/>
          </a:solidFill>
          <a:ln w="31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60644" y="4857750"/>
            <a:ext cx="50292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0" i="0">
                <a:solidFill>
                  <a:srgbClr val="888888"/>
                </a:solidFill>
                <a:latin typeface="Arial"/>
              </a:rPr>
              <a:t>+2.11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86000" y="5212080"/>
            <a:ext cx="36576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IAE − IBI (mean Δ z)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4400" y="5029200"/>
            <a:ext cx="164592" cy="109728"/>
          </a:xfrm>
          <a:prstGeom prst="rect">
            <a:avLst/>
          </a:prstGeom>
          <a:solidFill>
            <a:srgbClr val="0A7D6E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15568" y="501091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IAE &gt; IBI (good inflamed)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91840" y="5029200"/>
            <a:ext cx="164592" cy="109728"/>
          </a:xfrm>
          <a:prstGeom prst="rect">
            <a:avLst/>
          </a:prstGeom>
          <a:solidFill>
            <a:srgbClr val="C53E1F"/>
          </a:solidFill>
          <a:ln w="381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93008" y="501091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IBI &gt; IAE (bad inflamed)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