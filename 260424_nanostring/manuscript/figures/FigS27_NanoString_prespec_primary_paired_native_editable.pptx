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  <a:latin typeface="Arial"/>
              </a:rPr>
              <a:t>Supp Fig S27. Pre-registered Arrow 5 rescue primary paired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Arial"/>
              </a:rPr>
              <a:t>P1 CXCL13, P2 TLS-8, P3 Plasma-proxy, P4 GC-TF. One-sided good &gt; bad MW with 3-vs-3 ceiling P = 0.050.
All four primaries show bad ≥ good direction (ceiling not reached).
Pre-spec decision rule: NULL + direction flip — Fig 8F arrow 5 remains dashed / qualified.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P1_CXCL13   (single-gene CXCL13)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Good mean Δ = +0.52  ·  Bad mean Δ = +1.11  ·  MW one-sided P (good &gt; bad) = 0.800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914400"/>
            <a:ext cx="5303520" cy="402336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11680" y="2839489"/>
            <a:ext cx="530352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324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pre-RT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post-RT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337560" y="1489165"/>
            <a:ext cx="2651760" cy="1319045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55264" y="2725914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07024" y="1406869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397725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1896573"/>
            <a:ext cx="2651760" cy="1041271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55264" y="1814277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7024" y="2855548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846404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s4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337560" y="2491348"/>
            <a:ext cx="2651760" cy="1127105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55264" y="3536157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07024" y="2409052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39990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s14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37560" y="2477120"/>
            <a:ext cx="2651760" cy="1885874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55264" y="4280698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7024" y="2394824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238568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337560" y="1731721"/>
            <a:ext cx="2651760" cy="2454475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255264" y="4103900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07024" y="1649425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1640281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2379444"/>
            <a:ext cx="2651760" cy="1315362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55264" y="2297148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7024" y="3612510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3603366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54680" y="2774412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2306119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54680" y="3642878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06440" y="2634549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54480" y="841248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828032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-2.31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2748049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868680" y="265176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z-score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068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P2_TLS_8  (TLS_8 composite)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Good mean Δ = +0.93  ·  Bad mean Δ = +0.85  ·  MW one-sided P (good &gt; bad) = 0.800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914400"/>
            <a:ext cx="5303520" cy="402336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11680" y="3144165"/>
            <a:ext cx="530352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324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pre-RT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post-RT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337560" y="1489165"/>
            <a:ext cx="2651760" cy="2133901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55264" y="3540770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07024" y="1406869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397725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37560" y="2374378"/>
            <a:ext cx="2651760" cy="627640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55264" y="2919722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7024" y="2292082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28293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s4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337560" y="3144189"/>
            <a:ext cx="2651760" cy="484418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55264" y="3546311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07024" y="3061893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3052749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s14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37560" y="2943873"/>
            <a:ext cx="2651760" cy="1419121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55264" y="4280698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7024" y="2861577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2852433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337560" y="3377358"/>
            <a:ext cx="2651760" cy="675077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255264" y="3970139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07024" y="3295062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328591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s11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337560" y="2430793"/>
            <a:ext cx="2651760" cy="870315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55264" y="3218812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7024" y="2348497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2339353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54680" y="3417897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2335911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54680" y="3905512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06440" y="2917341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54480" y="841248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+1.91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828032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3052725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868680" y="265176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z-score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068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P3_Plasma_proxy  (Plasma_proxy composite)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Good mean Δ = +0.33  ·  Bad mean Δ = +0.46  ·  MW one-sided P (good &gt; bad) = 0.650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914400"/>
            <a:ext cx="5303520" cy="402336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11680" y="2895619"/>
            <a:ext cx="530352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324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pre-RT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post-RT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337560" y="1489165"/>
            <a:ext cx="2651760" cy="1208799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55264" y="2615668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07024" y="1406869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397725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37560" y="2415523"/>
            <a:ext cx="2651760" cy="85414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55264" y="2418641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7024" y="2333227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324083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2658011"/>
            <a:ext cx="2651760" cy="591974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55264" y="2575715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07024" y="3167689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3158545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s14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37560" y="3151519"/>
            <a:ext cx="2651760" cy="1211475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55264" y="4280698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7024" y="3069223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3060079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337560" y="2890985"/>
            <a:ext cx="2651760" cy="476454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255264" y="3285143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07024" y="2808689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799545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2622126"/>
            <a:ext cx="2651760" cy="718656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55264" y="2539830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7024" y="3258486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324934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54680" y="2618971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2384891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54680" y="3450853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06440" y="3127762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54480" y="841248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828032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-2.88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2804179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868680" y="265176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z-score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068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P4_GC_TF  (GC_TF composite)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Arial"/>
              </a:rPr>
              <a:t>Good mean Δ = +1.06  ·  Bad mean Δ = +1.31  ·  MW one-sided P (good &gt; bad) = 0.800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914400"/>
            <a:ext cx="5303520" cy="402336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11680" y="2821741"/>
            <a:ext cx="5303520" cy="0"/>
          </a:xfrm>
          <a:prstGeom prst="line">
            <a:avLst/>
          </a:prstGeom>
          <a:ln w="381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324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pre-RT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5010912"/>
            <a:ext cx="548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post-RT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337560" y="1489165"/>
            <a:ext cx="2651760" cy="1475899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55264" y="2882768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07024" y="1406869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397725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37560" y="1912328"/>
            <a:ext cx="2651760" cy="1001164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55264" y="2831196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7024" y="1830032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1820888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s4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337560" y="2682822"/>
            <a:ext cx="2651760" cy="307024"/>
          </a:xfrm>
          <a:prstGeom prst="line">
            <a:avLst/>
          </a:prstGeom>
          <a:ln w="152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55264" y="2907550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07024" y="2600526"/>
            <a:ext cx="164592" cy="164592"/>
          </a:xfrm>
          <a:prstGeom prst="ellipse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59138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s14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37560" y="2968041"/>
            <a:ext cx="2651760" cy="1394953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255264" y="4280698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7024" y="2885745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2876601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337560" y="3003360"/>
            <a:ext cx="2651760" cy="331161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255264" y="3252225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07024" y="2921064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911920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s11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337560" y="1759292"/>
            <a:ext cx="2651760" cy="1720672"/>
          </a:xfrm>
          <a:prstGeom prst="line">
            <a:avLst/>
          </a:prstGeom>
          <a:ln w="152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255264" y="3397668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07024" y="1676996"/>
            <a:ext cx="164592" cy="164592"/>
          </a:xfrm>
          <a:prstGeom prst="ellipse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166785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s13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54680" y="2956134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06440" y="2028105"/>
            <a:ext cx="365760" cy="0"/>
          </a:xfrm>
          <a:prstGeom prst="line">
            <a:avLst/>
          </a:prstGeom>
          <a:ln w="3810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54680" y="3725827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06440" y="2576898"/>
            <a:ext cx="365760" cy="0"/>
          </a:xfrm>
          <a:prstGeom prst="line">
            <a:avLst/>
          </a:prstGeom>
          <a:ln w="3810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554480" y="841248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+2.17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828032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-2.41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2730301"/>
            <a:ext cx="411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868680" y="2651760"/>
            <a:ext cx="731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z-score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100584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0688" y="9875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good (pCR)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118872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117043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bad (poor)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