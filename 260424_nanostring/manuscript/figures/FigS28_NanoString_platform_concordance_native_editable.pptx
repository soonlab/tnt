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48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222222"/>
                </a:solidFill>
                <a:latin typeface="Arial"/>
              </a:rPr>
              <a:t>Supp Fig S28. NanoString vs RNA-seq platform concordance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  <a:latin typeface="Arial"/>
              </a:rPr>
              <a:t>Per-gene Pearson correlation of NanoString Δ × RNA-seq Δ across 5 subjects (s2/4/14/10/13; subj 11 RNA-seq pre missing).
694 expressed shared genes. Median r = +0.754. 90.1 % of genes r &gt; 0.
Rules out platform artefact as explanation for the direction flip seen in the pre-spec Δ analysis.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A  Histogram of NanoString Δ × RNA-seq Δ Pearson r (n = 694 genes)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Arial"/>
              </a:rPr>
              <a:t>Median r = +0.754. Gold dashed line = median.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914400"/>
            <a:ext cx="6858000" cy="3931920"/>
          </a:xfrm>
          <a:prstGeom prst="rect">
            <a:avLst/>
          </a:prstGeom>
          <a:noFill/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43050" y="4817619"/>
            <a:ext cx="157734" cy="28700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14500" y="4817619"/>
            <a:ext cx="157734" cy="28700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0" y="4760219"/>
            <a:ext cx="157734" cy="86100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28850" y="4788919"/>
            <a:ext cx="157734" cy="57400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00300" y="4788919"/>
            <a:ext cx="157734" cy="57400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71750" y="4760219"/>
            <a:ext cx="157734" cy="86100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4760219"/>
            <a:ext cx="157734" cy="86100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14650" y="4731519"/>
            <a:ext cx="157734" cy="114800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86100" y="4674119"/>
            <a:ext cx="157734" cy="172200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57550" y="4788919"/>
            <a:ext cx="157734" cy="57400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4702819"/>
            <a:ext cx="157734" cy="143500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00450" y="4731519"/>
            <a:ext cx="157734" cy="114800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71900" y="4702819"/>
            <a:ext cx="157734" cy="143500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43350" y="4645418"/>
            <a:ext cx="157734" cy="200901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0" y="4588018"/>
            <a:ext cx="157734" cy="258301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86250" y="4817619"/>
            <a:ext cx="157734" cy="28700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57700" y="4645418"/>
            <a:ext cx="157734" cy="200901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29150" y="4731519"/>
            <a:ext cx="157734" cy="114800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00600" y="4559318"/>
            <a:ext cx="157734" cy="287001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72050" y="4588018"/>
            <a:ext cx="157734" cy="258301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43500" y="4501918"/>
            <a:ext cx="157734" cy="344401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14950" y="4616718"/>
            <a:ext cx="157734" cy="229601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0" y="4387117"/>
            <a:ext cx="157734" cy="459202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57850" y="4501918"/>
            <a:ext cx="157734" cy="344401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29300" y="4358417"/>
            <a:ext cx="157734" cy="487902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00750" y="4358417"/>
            <a:ext cx="157734" cy="487902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4272317"/>
            <a:ext cx="157734" cy="574002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43650" y="4157516"/>
            <a:ext cx="157734" cy="688803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15100" y="4272317"/>
            <a:ext cx="157734" cy="574002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86550" y="4014015"/>
            <a:ext cx="157734" cy="832304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0" y="4014015"/>
            <a:ext cx="157734" cy="832304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29450" y="4100116"/>
            <a:ext cx="157734" cy="746203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00900" y="4042715"/>
            <a:ext cx="157734" cy="803604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72350" y="3841814"/>
            <a:ext cx="157734" cy="1004505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43800" y="3640913"/>
            <a:ext cx="157734" cy="1205406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15250" y="3181711"/>
            <a:ext cx="157734" cy="1664608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86700" y="2665108"/>
            <a:ext cx="157734" cy="2181211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58150" y="914400"/>
            <a:ext cx="157734" cy="3931920"/>
          </a:xfrm>
          <a:prstGeom prst="rect">
            <a:avLst/>
          </a:prstGeom>
          <a:solidFill>
            <a:srgbClr val="0A7D6E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7387217" y="914400"/>
            <a:ext cx="0" cy="3931920"/>
          </a:xfrm>
          <a:prstGeom prst="line">
            <a:avLst/>
          </a:prstGeom>
          <a:ln w="19050">
            <a:solidFill>
              <a:srgbClr val="D4A3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747137" y="868680"/>
            <a:ext cx="12801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median = +0.75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800600" y="914400"/>
            <a:ext cx="0" cy="3931920"/>
          </a:xfrm>
          <a:prstGeom prst="line">
            <a:avLst/>
          </a:prstGeom>
          <a:ln w="381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371600" y="4846320"/>
            <a:ext cx="0" cy="73152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188720" y="4937759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Arial"/>
              </a:rPr>
              <a:t>−1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086100" y="4846320"/>
            <a:ext cx="0" cy="73152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903220" y="4937759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Arial"/>
              </a:rPr>
              <a:t>−0.5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800600" y="4846320"/>
            <a:ext cx="0" cy="73152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617720" y="4937759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Arial"/>
              </a:rPr>
              <a:t>0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515100" y="4846320"/>
            <a:ext cx="0" cy="73152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332220" y="4937759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Arial"/>
              </a:rPr>
              <a:t>0.5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229600" y="4846320"/>
            <a:ext cx="0" cy="73152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046720" y="4937759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Arial"/>
              </a:rPr>
              <a:t>+1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71600" y="5166359"/>
            <a:ext cx="6858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Pearson r (NanoString Δ × RNA-seq Δ, n = 5 subjects)</a:t>
            </a:r>
          </a:p>
        </p:txBody>
      </p:sp>
      <p:sp>
        <p:nvSpPr>
          <p:cNvPr id="57" name="TextBox 56"/>
          <p:cNvSpPr txBox="1"/>
          <p:nvPr/>
        </p:nvSpPr>
        <p:spPr>
          <a:xfrm rot="16200000">
            <a:off x="457200" y="2697479"/>
            <a:ext cx="73152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Gene count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B  Top 15 concordant genes by Pearson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Arial"/>
              </a:rPr>
              <a:t>Gene-level NanoString Δ and RNA-seq Δ agree for top cytokines, Ig markers, cell-cycle markers (BIRC5), and chemokines (CXCL5, CXCL3, CCL20).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804672"/>
            <a:ext cx="18288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Courier New"/>
              </a:rPr>
              <a:t>CXCL5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868680"/>
            <a:ext cx="3635148" cy="164592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67068" y="804672"/>
            <a:ext cx="457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Arial"/>
              </a:rPr>
              <a:t>0.999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060704"/>
            <a:ext cx="18288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Courier New"/>
              </a:rPr>
              <a:t>PPARG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124712"/>
            <a:ext cx="3607929" cy="164592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39849" y="1060704"/>
            <a:ext cx="457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Arial"/>
              </a:rPr>
              <a:t>0.999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316736"/>
            <a:ext cx="18288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Courier New"/>
              </a:rPr>
              <a:t>BIRC5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380744"/>
            <a:ext cx="3581417" cy="164592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3337" y="1316736"/>
            <a:ext cx="457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Arial"/>
              </a:rPr>
              <a:t>0.998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572768"/>
            <a:ext cx="18288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Courier New"/>
              </a:rPr>
              <a:t>ITGA4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1636776"/>
            <a:ext cx="3548317" cy="164592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80237" y="1572768"/>
            <a:ext cx="457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Arial"/>
              </a:rPr>
              <a:t>0.997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1828800"/>
            <a:ext cx="18288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Courier New"/>
              </a:rPr>
              <a:t>MME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892807"/>
            <a:ext cx="3546689" cy="164592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8609" y="1828800"/>
            <a:ext cx="457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Arial"/>
              </a:rPr>
              <a:t>0.997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084832"/>
            <a:ext cx="18288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Courier New"/>
              </a:rPr>
              <a:t>FN1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2148840"/>
            <a:ext cx="3542402" cy="164592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4322" y="2084832"/>
            <a:ext cx="457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Arial"/>
              </a:rPr>
              <a:t>0.997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2340864"/>
            <a:ext cx="18288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Courier New"/>
              </a:rPr>
              <a:t>CCL28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2404872"/>
            <a:ext cx="3540856" cy="164592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2776" y="2340864"/>
            <a:ext cx="457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Arial"/>
              </a:rPr>
              <a:t>0.997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2596896"/>
            <a:ext cx="18288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Courier New"/>
              </a:rPr>
              <a:t>SLC11A1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2660904"/>
            <a:ext cx="3528145" cy="164592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60065" y="2596896"/>
            <a:ext cx="457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Arial"/>
              </a:rPr>
              <a:t>0.996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2852928"/>
            <a:ext cx="18288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Courier New"/>
              </a:rPr>
              <a:t>CXCR1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0" y="2916936"/>
            <a:ext cx="3522364" cy="164592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4284" y="2852928"/>
            <a:ext cx="457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Arial"/>
              </a:rPr>
              <a:t>0.996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3108960"/>
            <a:ext cx="18288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Courier New"/>
              </a:rPr>
              <a:t>CCL20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3172968"/>
            <a:ext cx="3506305" cy="164592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38225" y="3108960"/>
            <a:ext cx="457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Arial"/>
              </a:rPr>
              <a:t>0.996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364992"/>
            <a:ext cx="18288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Courier New"/>
              </a:rPr>
              <a:t>CXCL3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0" y="3429000"/>
            <a:ext cx="3492890" cy="164592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24810" y="3364992"/>
            <a:ext cx="457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Arial"/>
              </a:rPr>
              <a:t>0.995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3621024"/>
            <a:ext cx="18288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Courier New"/>
              </a:rPr>
              <a:t>IL6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0" y="3685032"/>
            <a:ext cx="3490185" cy="164592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22105" y="3621024"/>
            <a:ext cx="457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Arial"/>
              </a:rPr>
              <a:t>0.995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3877056"/>
            <a:ext cx="18288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Courier New"/>
              </a:rPr>
              <a:t>CFI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3941064"/>
            <a:ext cx="3489466" cy="164592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21386" y="3877056"/>
            <a:ext cx="457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Arial"/>
              </a:rPr>
              <a:t>0.995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4133088"/>
            <a:ext cx="18288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Courier New"/>
              </a:rPr>
              <a:t>CASP3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0" y="4197096"/>
            <a:ext cx="3484626" cy="164592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16546" y="4133088"/>
            <a:ext cx="457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Arial"/>
              </a:rPr>
              <a:t>0.995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4389120"/>
            <a:ext cx="18288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Courier New"/>
              </a:rPr>
              <a:t>TNFRSF11A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0" y="4453128"/>
            <a:ext cx="3482042" cy="164592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13962" y="4389120"/>
            <a:ext cx="457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Arial"/>
              </a:rPr>
              <a:t>0.995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0" y="4754880"/>
            <a:ext cx="2286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Pearson r (zoomed to 0.9–1.0)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