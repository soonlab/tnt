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17520" y="594360"/>
            <a:ext cx="3364992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000000"/>
                </a:solidFill>
                <a:latin typeface="Arial"/>
              </a:rPr>
              <a:t>Cascade Δ features (radiation-phase dynamics)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17520" y="850392"/>
            <a:ext cx="841248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SBS5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58768" y="850392"/>
            <a:ext cx="841248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MHC-I neoantigen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binders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0016" y="850392"/>
            <a:ext cx="841248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Treg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1264" y="850392"/>
            <a:ext cx="841248" cy="777240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Δ IGH clonotypes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380744"/>
            <a:ext cx="192024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000" b="1">
                <a:solidFill>
                  <a:srgbClr val="000000"/>
                </a:solidFill>
                <a:latin typeface="Arial"/>
              </a:rPr>
              <a:t>Baseline tumor-intrinsic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916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DSB repair (Reactome)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488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DNA repair (Reactome)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HRR (Reactome)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E2F targets (Hallmark)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204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G2-M checkpoint (Hallmark)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776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Myc targets V2 (Hallmark)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4348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MHC-II (baseline)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MSI (%)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349240"/>
            <a:ext cx="1920240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>
                <a:solidFill>
                  <a:srgbClr val="000000"/>
                </a:solidFill>
                <a:latin typeface="Arial"/>
              </a:rPr>
              <a:t>Genomic amp fraction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691640"/>
            <a:ext cx="841248" cy="457200"/>
          </a:xfrm>
          <a:prstGeom prst="rect">
            <a:avLst/>
          </a:prstGeom>
          <a:solidFill>
            <a:srgbClr val="417CB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655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1965960"/>
            <a:ext cx="84124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P=0.074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58768" y="1691640"/>
            <a:ext cx="841248" cy="457200"/>
          </a:xfrm>
          <a:prstGeom prst="rect">
            <a:avLst/>
          </a:prstGeom>
          <a:solidFill>
            <a:srgbClr val="A3BFD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58768" y="1655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0016" y="1691640"/>
            <a:ext cx="841248" cy="457200"/>
          </a:xfrm>
          <a:prstGeom prst="rect">
            <a:avLst/>
          </a:prstGeom>
          <a:solidFill>
            <a:srgbClr val="CC687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0016" y="1655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1264" y="1691640"/>
            <a:ext cx="841248" cy="457200"/>
          </a:xfrm>
          <a:prstGeom prst="rect">
            <a:avLst/>
          </a:prstGeom>
          <a:solidFill>
            <a:srgbClr val="B82C3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1264" y="1655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1264" y="1965960"/>
            <a:ext cx="84124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P=0.067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2148840"/>
            <a:ext cx="841248" cy="457200"/>
          </a:xfrm>
          <a:prstGeom prst="rect">
            <a:avLst/>
          </a:prstGeom>
          <a:solidFill>
            <a:srgbClr val="3876B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17520" y="2112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2423160"/>
            <a:ext cx="84124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P=0.059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58768" y="2148840"/>
            <a:ext cx="841248" cy="457200"/>
          </a:xfrm>
          <a:prstGeom prst="rect">
            <a:avLst/>
          </a:prstGeom>
          <a:solidFill>
            <a:srgbClr val="88AD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8768" y="2112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0016" y="2148840"/>
            <a:ext cx="841248" cy="457200"/>
          </a:xfrm>
          <a:prstGeom prst="rect">
            <a:avLst/>
          </a:prstGeom>
          <a:solidFill>
            <a:srgbClr val="D27883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00016" y="2112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41264" y="2148840"/>
            <a:ext cx="841248" cy="457200"/>
          </a:xfrm>
          <a:prstGeom prst="rect">
            <a:avLst/>
          </a:prstGeom>
          <a:solidFill>
            <a:srgbClr val="B92F4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41264" y="2112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2423160"/>
            <a:ext cx="84124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P=0.071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17520" y="2606040"/>
            <a:ext cx="841248" cy="457200"/>
          </a:xfrm>
          <a:prstGeom prst="rect">
            <a:avLst/>
          </a:prstGeom>
          <a:solidFill>
            <a:srgbClr val="5288BE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2569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58768" y="2606040"/>
            <a:ext cx="841248" cy="457200"/>
          </a:xfrm>
          <a:prstGeom prst="rect">
            <a:avLst/>
          </a:prstGeom>
          <a:solidFill>
            <a:srgbClr val="BDD2E6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58768" y="2569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0016" y="2606040"/>
            <a:ext cx="841248" cy="457200"/>
          </a:xfrm>
          <a:prstGeom prst="rect">
            <a:avLst/>
          </a:prstGeom>
          <a:solidFill>
            <a:srgbClr val="E6B6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0016" y="2569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+0.19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41264" y="2606040"/>
            <a:ext cx="841248" cy="457200"/>
          </a:xfrm>
          <a:prstGeom prst="rect">
            <a:avLst/>
          </a:prstGeom>
          <a:solidFill>
            <a:srgbClr val="D6858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541264" y="2569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3063240"/>
            <a:ext cx="841248" cy="457200"/>
          </a:xfrm>
          <a:prstGeom prst="rect">
            <a:avLst/>
          </a:prstGeom>
          <a:solidFill>
            <a:srgbClr val="5A8D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0" y="3026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58768" y="3063240"/>
            <a:ext cx="841248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58768" y="3026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00016" y="3063240"/>
            <a:ext cx="841248" cy="457200"/>
          </a:xfrm>
          <a:prstGeom prst="rect">
            <a:avLst/>
          </a:prstGeom>
          <a:solidFill>
            <a:srgbClr val="EBC3C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0016" y="3026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41264" y="3063240"/>
            <a:ext cx="841248" cy="457200"/>
          </a:xfrm>
          <a:prstGeom prst="rect">
            <a:avLst/>
          </a:prstGeom>
          <a:solidFill>
            <a:srgbClr val="D788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41264" y="3026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017520" y="3520440"/>
            <a:ext cx="841248" cy="457200"/>
          </a:xfrm>
          <a:prstGeom prst="rect">
            <a:avLst/>
          </a:prstGeom>
          <a:solidFill>
            <a:srgbClr val="4D84B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17520" y="34838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−0.48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017520" y="3794760"/>
            <a:ext cx="84124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P=0.098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858768" y="3520440"/>
            <a:ext cx="841248" cy="457200"/>
          </a:xfrm>
          <a:prstGeom prst="rect">
            <a:avLst/>
          </a:prstGeom>
          <a:solidFill>
            <a:srgbClr val="D8E4F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58768" y="34838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00016" y="3520440"/>
            <a:ext cx="841248" cy="457200"/>
          </a:xfrm>
          <a:prstGeom prst="rect">
            <a:avLst/>
          </a:prstGeom>
          <a:solidFill>
            <a:srgbClr val="EBC3C8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00016" y="34838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41264" y="3520440"/>
            <a:ext cx="841248" cy="457200"/>
          </a:xfrm>
          <a:prstGeom prst="rect">
            <a:avLst/>
          </a:prstGeom>
          <a:solidFill>
            <a:srgbClr val="D7889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41264" y="34838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017520" y="3977640"/>
            <a:ext cx="841248" cy="457200"/>
          </a:xfrm>
          <a:prstGeom prst="rect">
            <a:avLst/>
          </a:prstGeom>
          <a:solidFill>
            <a:srgbClr val="719DC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017520" y="3941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−0.38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858768" y="3977640"/>
            <a:ext cx="841248" cy="457200"/>
          </a:xfrm>
          <a:prstGeom prst="rect">
            <a:avLst/>
          </a:prstGeom>
          <a:solidFill>
            <a:srgbClr val="B0C8E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858768" y="3941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00016" y="3977640"/>
            <a:ext cx="841248" cy="457200"/>
          </a:xfrm>
          <a:prstGeom prst="rect">
            <a:avLst/>
          </a:prstGeom>
          <a:solidFill>
            <a:srgbClr val="D5838D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00016" y="3941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+0.32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41264" y="3977640"/>
            <a:ext cx="841248" cy="457200"/>
          </a:xfrm>
          <a:prstGeom prst="rect">
            <a:avLst/>
          </a:prstGeom>
          <a:solidFill>
            <a:srgbClr val="B72739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541264" y="39410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+0.56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541264" y="4251960"/>
            <a:ext cx="841248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700" b="0">
                <a:solidFill>
                  <a:srgbClr val="FFFFFF"/>
                </a:solidFill>
                <a:latin typeface="Arial"/>
              </a:rPr>
              <a:t>P=0.059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017520" y="4434840"/>
            <a:ext cx="841248" cy="457200"/>
          </a:xfrm>
          <a:prstGeom prst="rect">
            <a:avLst/>
          </a:prstGeom>
          <a:solidFill>
            <a:srgbClr val="E4AEB5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017520" y="4398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858768" y="4434840"/>
            <a:ext cx="841248" cy="457200"/>
          </a:xfrm>
          <a:prstGeom prst="rect">
            <a:avLst/>
          </a:prstGeom>
          <a:solidFill>
            <a:srgbClr val="EECDD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858768" y="4398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00016" y="4434840"/>
            <a:ext cx="841248" cy="457200"/>
          </a:xfrm>
          <a:prstGeom prst="rect">
            <a:avLst/>
          </a:prstGeom>
          <a:solidFill>
            <a:srgbClr val="DDE7F2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00016" y="4398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−0.09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41264" y="4434840"/>
            <a:ext cx="841248" cy="457200"/>
          </a:xfrm>
          <a:prstGeom prst="rect">
            <a:avLst/>
          </a:prstGeom>
          <a:solidFill>
            <a:srgbClr val="E8BB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41264" y="43982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+0.17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017520" y="4892040"/>
            <a:ext cx="841248" cy="457200"/>
          </a:xfrm>
          <a:prstGeom prst="rect">
            <a:avLst/>
          </a:prstGeom>
          <a:solidFill>
            <a:srgbClr val="598CC1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017520" y="4855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−0.45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58768" y="4892040"/>
            <a:ext cx="841248" cy="457200"/>
          </a:xfrm>
          <a:prstGeom prst="rect">
            <a:avLst/>
          </a:prstGeom>
          <a:solidFill>
            <a:srgbClr val="A0BDD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858768" y="4855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−0.26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00016" y="4892040"/>
            <a:ext cx="841248" cy="457200"/>
          </a:xfrm>
          <a:prstGeom prst="rect">
            <a:avLst/>
          </a:prstGeom>
          <a:solidFill>
            <a:srgbClr val="C55260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00016" y="4855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+0.45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41264" y="4892040"/>
            <a:ext cx="841248" cy="457200"/>
          </a:xfrm>
          <a:prstGeom prst="rect">
            <a:avLst/>
          </a:prstGeom>
          <a:solidFill>
            <a:srgbClr val="E2A8AF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41264" y="48554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+0.22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017520" y="5349240"/>
            <a:ext cx="841248" cy="457200"/>
          </a:xfrm>
          <a:prstGeom prst="rect">
            <a:avLst/>
          </a:prstGeom>
          <a:solidFill>
            <a:srgbClr val="CBDBEB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017520" y="5312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858768" y="5349240"/>
            <a:ext cx="841248" cy="457200"/>
          </a:xfrm>
          <a:prstGeom prst="rect">
            <a:avLst/>
          </a:prstGeom>
          <a:solidFill>
            <a:srgbClr val="F9FBFC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858768" y="5312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00016" y="5349240"/>
            <a:ext cx="841248" cy="457200"/>
          </a:xfrm>
          <a:prstGeom prst="rect">
            <a:avLst/>
          </a:prstGeom>
          <a:solidFill>
            <a:srgbClr val="4780BA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00016" y="5312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Arial"/>
              </a:rPr>
              <a:t>−0.50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41264" y="5349240"/>
            <a:ext cx="841248" cy="457200"/>
          </a:xfrm>
          <a:prstGeom prst="rect">
            <a:avLst/>
          </a:prstGeom>
          <a:solidFill>
            <a:srgbClr val="E1EAF4"/>
          </a:solidFill>
          <a:ln w="6350">
            <a:solidFill>
              <a:srgbClr val="C8C8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41264" y="5312664"/>
            <a:ext cx="841248" cy="457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</a:rPr>
              <a:t>−0.08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11112" y="1380744"/>
            <a:ext cx="1554480" cy="23774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</a:rPr>
              <a:t>Plain Spearman 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793992" y="1691640"/>
            <a:ext cx="237744" cy="42048"/>
          </a:xfrm>
          <a:prstGeom prst="rect">
            <a:avLst/>
          </a:prstGeom>
          <a:solidFill>
            <a:srgbClr val="B21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793992" y="1732788"/>
            <a:ext cx="237744" cy="42048"/>
          </a:xfrm>
          <a:prstGeom prst="rect">
            <a:avLst/>
          </a:prstGeom>
          <a:solidFill>
            <a:srgbClr val="B31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93992" y="1773936"/>
            <a:ext cx="237744" cy="42048"/>
          </a:xfrm>
          <a:prstGeom prst="rect">
            <a:avLst/>
          </a:prstGeom>
          <a:solidFill>
            <a:srgbClr val="B521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793992" y="1815084"/>
            <a:ext cx="237744" cy="42048"/>
          </a:xfrm>
          <a:prstGeom prst="rect">
            <a:avLst/>
          </a:prstGeom>
          <a:solidFill>
            <a:srgbClr val="B62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793992" y="1856232"/>
            <a:ext cx="237744" cy="42048"/>
          </a:xfrm>
          <a:prstGeom prst="rect">
            <a:avLst/>
          </a:prstGeom>
          <a:solidFill>
            <a:srgbClr val="B8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793992" y="1897380"/>
            <a:ext cx="237744" cy="42048"/>
          </a:xfrm>
          <a:prstGeom prst="rect">
            <a:avLst/>
          </a:prstGeom>
          <a:solidFill>
            <a:srgbClr val="B92F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793992" y="1938528"/>
            <a:ext cx="237744" cy="42048"/>
          </a:xfrm>
          <a:prstGeom prst="rect">
            <a:avLst/>
          </a:prstGeom>
          <a:solidFill>
            <a:srgbClr val="BB3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793992" y="1979676"/>
            <a:ext cx="237744" cy="42048"/>
          </a:xfrm>
          <a:prstGeom prst="rect">
            <a:avLst/>
          </a:prstGeom>
          <a:solidFill>
            <a:srgbClr val="BC3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93992" y="2020824"/>
            <a:ext cx="237744" cy="42048"/>
          </a:xfrm>
          <a:prstGeom prst="rect">
            <a:avLst/>
          </a:prstGeom>
          <a:solidFill>
            <a:srgbClr val="BE3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793992" y="2061972"/>
            <a:ext cx="237744" cy="42048"/>
          </a:xfrm>
          <a:prstGeom prst="rect">
            <a:avLst/>
          </a:prstGeom>
          <a:solidFill>
            <a:srgbClr val="C042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793992" y="2103120"/>
            <a:ext cx="237744" cy="42048"/>
          </a:xfrm>
          <a:prstGeom prst="rect">
            <a:avLst/>
          </a:prstGeom>
          <a:solidFill>
            <a:srgbClr val="C1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793992" y="2144268"/>
            <a:ext cx="237744" cy="42048"/>
          </a:xfrm>
          <a:prstGeom prst="rect">
            <a:avLst/>
          </a:prstGeom>
          <a:solidFill>
            <a:srgbClr val="C34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793992" y="2185416"/>
            <a:ext cx="237744" cy="42048"/>
          </a:xfrm>
          <a:prstGeom prst="rect">
            <a:avLst/>
          </a:prstGeom>
          <a:solidFill>
            <a:srgbClr val="C45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793992" y="2226564"/>
            <a:ext cx="237744" cy="42048"/>
          </a:xfrm>
          <a:prstGeom prst="rect">
            <a:avLst/>
          </a:prstGeom>
          <a:solidFill>
            <a:srgbClr val="C654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793992" y="2267712"/>
            <a:ext cx="237744" cy="42048"/>
          </a:xfrm>
          <a:prstGeom prst="rect">
            <a:avLst/>
          </a:prstGeom>
          <a:solidFill>
            <a:srgbClr val="C759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793992" y="2308860"/>
            <a:ext cx="237744" cy="42048"/>
          </a:xfrm>
          <a:prstGeom prst="rect">
            <a:avLst/>
          </a:prstGeom>
          <a:solidFill>
            <a:srgbClr val="C95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793992" y="2350008"/>
            <a:ext cx="237744" cy="42048"/>
          </a:xfrm>
          <a:prstGeom prst="rect">
            <a:avLst/>
          </a:prstGeom>
          <a:solidFill>
            <a:srgbClr val="CA62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793992" y="2391156"/>
            <a:ext cx="237744" cy="42048"/>
          </a:xfrm>
          <a:prstGeom prst="rect">
            <a:avLst/>
          </a:prstGeom>
          <a:solidFill>
            <a:srgbClr val="CC67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793992" y="2432304"/>
            <a:ext cx="237744" cy="42048"/>
          </a:xfrm>
          <a:prstGeom prst="rect">
            <a:avLst/>
          </a:prstGeom>
          <a:solidFill>
            <a:srgbClr val="CE6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793992" y="2473452"/>
            <a:ext cx="237744" cy="42048"/>
          </a:xfrm>
          <a:prstGeom prst="rect">
            <a:avLst/>
          </a:prstGeom>
          <a:solidFill>
            <a:srgbClr val="CF7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793992" y="2514600"/>
            <a:ext cx="237744" cy="42048"/>
          </a:xfrm>
          <a:prstGeom prst="rect">
            <a:avLst/>
          </a:prstGeom>
          <a:solidFill>
            <a:srgbClr val="D175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6793992" y="2555748"/>
            <a:ext cx="237744" cy="42048"/>
          </a:xfrm>
          <a:prstGeom prst="rect">
            <a:avLst/>
          </a:prstGeom>
          <a:solidFill>
            <a:srgbClr val="D27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6793992" y="2596896"/>
            <a:ext cx="237744" cy="42048"/>
          </a:xfrm>
          <a:prstGeom prst="rect">
            <a:avLst/>
          </a:prstGeom>
          <a:solidFill>
            <a:srgbClr val="D47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6793992" y="2638044"/>
            <a:ext cx="237744" cy="42048"/>
          </a:xfrm>
          <a:prstGeom prst="rect">
            <a:avLst/>
          </a:prstGeom>
          <a:solidFill>
            <a:srgbClr val="D58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6793992" y="2679192"/>
            <a:ext cx="237744" cy="42048"/>
          </a:xfrm>
          <a:prstGeom prst="rect">
            <a:avLst/>
          </a:prstGeom>
          <a:solidFill>
            <a:srgbClr val="D788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793992" y="2720340"/>
            <a:ext cx="237744" cy="42048"/>
          </a:xfrm>
          <a:prstGeom prst="rect">
            <a:avLst/>
          </a:prstGeom>
          <a:solidFill>
            <a:srgbClr val="D88C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793992" y="2761488"/>
            <a:ext cx="237744" cy="42048"/>
          </a:xfrm>
          <a:prstGeom prst="rect">
            <a:avLst/>
          </a:prstGeom>
          <a:solidFill>
            <a:srgbClr val="DA91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793992" y="2802636"/>
            <a:ext cx="237744" cy="42048"/>
          </a:xfrm>
          <a:prstGeom prst="rect">
            <a:avLst/>
          </a:prstGeom>
          <a:solidFill>
            <a:srgbClr val="DC9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6793992" y="2843784"/>
            <a:ext cx="237744" cy="42048"/>
          </a:xfrm>
          <a:prstGeom prst="rect">
            <a:avLst/>
          </a:prstGeom>
          <a:solidFill>
            <a:srgbClr val="DD9A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6793992" y="2884932"/>
            <a:ext cx="237744" cy="42048"/>
          </a:xfrm>
          <a:prstGeom prst="rect">
            <a:avLst/>
          </a:prstGeom>
          <a:solidFill>
            <a:srgbClr val="DF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6793992" y="2926080"/>
            <a:ext cx="237744" cy="42048"/>
          </a:xfrm>
          <a:prstGeom prst="rect">
            <a:avLst/>
          </a:prstGeom>
          <a:solidFill>
            <a:srgbClr val="E0A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6793992" y="2967228"/>
            <a:ext cx="237744" cy="42048"/>
          </a:xfrm>
          <a:prstGeom prst="rect">
            <a:avLst/>
          </a:prstGeom>
          <a:solidFill>
            <a:srgbClr val="E2A8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793992" y="3008376"/>
            <a:ext cx="237744" cy="42048"/>
          </a:xfrm>
          <a:prstGeom prst="rect">
            <a:avLst/>
          </a:prstGeom>
          <a:solidFill>
            <a:srgbClr val="E3A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6793992" y="3049524"/>
            <a:ext cx="237744" cy="42048"/>
          </a:xfrm>
          <a:prstGeom prst="rect">
            <a:avLst/>
          </a:prstGeom>
          <a:solidFill>
            <a:srgbClr val="E5B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6793992" y="3090672"/>
            <a:ext cx="237744" cy="42048"/>
          </a:xfrm>
          <a:prstGeom prst="rect">
            <a:avLst/>
          </a:prstGeom>
          <a:solidFill>
            <a:srgbClr val="E6B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793992" y="3131820"/>
            <a:ext cx="237744" cy="42048"/>
          </a:xfrm>
          <a:prstGeom prst="rect">
            <a:avLst/>
          </a:prstGeom>
          <a:solidFill>
            <a:srgbClr val="E8B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793992" y="3172968"/>
            <a:ext cx="237744" cy="42048"/>
          </a:xfrm>
          <a:prstGeom prst="rect">
            <a:avLst/>
          </a:prstGeom>
          <a:solidFill>
            <a:srgbClr val="EAC0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793992" y="3214116"/>
            <a:ext cx="237744" cy="42048"/>
          </a:xfrm>
          <a:prstGeom prst="rect">
            <a:avLst/>
          </a:prstGeom>
          <a:solidFill>
            <a:srgbClr val="EBC4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793992" y="3255264"/>
            <a:ext cx="237744" cy="42048"/>
          </a:xfrm>
          <a:prstGeom prst="rect">
            <a:avLst/>
          </a:prstGeom>
          <a:solidFill>
            <a:srgbClr val="EDC9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793992" y="3296412"/>
            <a:ext cx="237744" cy="42048"/>
          </a:xfrm>
          <a:prstGeom prst="rect">
            <a:avLst/>
          </a:prstGeom>
          <a:solidFill>
            <a:srgbClr val="EE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793992" y="3337560"/>
            <a:ext cx="237744" cy="42048"/>
          </a:xfrm>
          <a:prstGeom prst="rect">
            <a:avLst/>
          </a:prstGeom>
          <a:solidFill>
            <a:srgbClr val="F0D2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793992" y="3378708"/>
            <a:ext cx="237744" cy="42048"/>
          </a:xfrm>
          <a:prstGeom prst="rect">
            <a:avLst/>
          </a:prstGeom>
          <a:solidFill>
            <a:srgbClr val="F1D7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793992" y="3419856"/>
            <a:ext cx="237744" cy="42048"/>
          </a:xfrm>
          <a:prstGeom prst="rect">
            <a:avLst/>
          </a:prstGeom>
          <a:solidFill>
            <a:srgbClr val="F3D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793992" y="3461004"/>
            <a:ext cx="237744" cy="42048"/>
          </a:xfrm>
          <a:prstGeom prst="rect">
            <a:avLst/>
          </a:prstGeom>
          <a:solidFill>
            <a:srgbClr val="F4E0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793992" y="3502152"/>
            <a:ext cx="237744" cy="42048"/>
          </a:xfrm>
          <a:prstGeom prst="rect">
            <a:avLst/>
          </a:prstGeom>
          <a:solidFill>
            <a:srgbClr val="F6E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793992" y="3543300"/>
            <a:ext cx="237744" cy="42048"/>
          </a:xfrm>
          <a:prstGeom prst="rect">
            <a:avLst/>
          </a:prstGeom>
          <a:solidFill>
            <a:srgbClr val="F8EA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793992" y="3584448"/>
            <a:ext cx="237744" cy="42048"/>
          </a:xfrm>
          <a:prstGeom prst="rect">
            <a:avLst/>
          </a:prstGeom>
          <a:solidFill>
            <a:srgbClr val="F9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793992" y="3625596"/>
            <a:ext cx="237744" cy="42048"/>
          </a:xfrm>
          <a:prstGeom prst="rect">
            <a:avLst/>
          </a:prstGeom>
          <a:solidFill>
            <a:srgbClr val="FB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793992" y="3666744"/>
            <a:ext cx="237744" cy="42048"/>
          </a:xfrm>
          <a:prstGeom prst="rect">
            <a:avLst/>
          </a:prstGeom>
          <a:solidFill>
            <a:srgbClr val="FC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793992" y="3707892"/>
            <a:ext cx="237744" cy="42048"/>
          </a:xfrm>
          <a:prstGeom prst="rect">
            <a:avLst/>
          </a:prstGeom>
          <a:solidFill>
            <a:srgbClr val="FE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793992" y="3749040"/>
            <a:ext cx="237744" cy="42048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793992" y="3790188"/>
            <a:ext cx="237744" cy="42048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793992" y="3831336"/>
            <a:ext cx="237744" cy="42048"/>
          </a:xfrm>
          <a:prstGeom prst="rect">
            <a:avLst/>
          </a:prstGeom>
          <a:solidFill>
            <a:srgbClr val="F3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793992" y="3872484"/>
            <a:ext cx="237744" cy="42048"/>
          </a:xfrm>
          <a:prstGeom prst="rect">
            <a:avLst/>
          </a:prstGeom>
          <a:solidFill>
            <a:srgbClr val="EF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793992" y="3913632"/>
            <a:ext cx="237744" cy="42048"/>
          </a:xfrm>
          <a:prstGeom prst="rect">
            <a:avLst/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793992" y="3954780"/>
            <a:ext cx="237744" cy="42048"/>
          </a:xfrm>
          <a:prstGeom prst="rect">
            <a:avLst/>
          </a:prstGeom>
          <a:solidFill>
            <a:srgbClr val="E6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793992" y="3995928"/>
            <a:ext cx="237744" cy="42048"/>
          </a:xfrm>
          <a:prstGeom prst="rect">
            <a:avLst/>
          </a:prstGeom>
          <a:solidFill>
            <a:srgbClr val="E1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793992" y="4037076"/>
            <a:ext cx="237744" cy="42048"/>
          </a:xfrm>
          <a:prstGeom prst="rect">
            <a:avLst/>
          </a:prstGeom>
          <a:solidFill>
            <a:srgbClr val="DDE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793992" y="4078224"/>
            <a:ext cx="237744" cy="42048"/>
          </a:xfrm>
          <a:prstGeom prst="rect">
            <a:avLst/>
          </a:prstGeom>
          <a:solidFill>
            <a:srgbClr val="D8E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793992" y="4119372"/>
            <a:ext cx="237744" cy="42048"/>
          </a:xfrm>
          <a:prstGeom prst="rect">
            <a:avLst/>
          </a:prstGeom>
          <a:solidFill>
            <a:srgbClr val="D4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793992" y="4160520"/>
            <a:ext cx="237744" cy="42048"/>
          </a:xfrm>
          <a:prstGeom prst="rect">
            <a:avLst/>
          </a:prstGeom>
          <a:solidFill>
            <a:srgbClr val="CFD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793992" y="4201668"/>
            <a:ext cx="237744" cy="42048"/>
          </a:xfrm>
          <a:prstGeom prst="rect">
            <a:avLst/>
          </a:prstGeom>
          <a:solidFill>
            <a:srgbClr val="CBD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793992" y="4242816"/>
            <a:ext cx="237744" cy="42048"/>
          </a:xfrm>
          <a:prstGeom prst="rect">
            <a:avLst/>
          </a:prstGeom>
          <a:solidFill>
            <a:srgbClr val="C6D8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793992" y="4283964"/>
            <a:ext cx="237744" cy="42048"/>
          </a:xfrm>
          <a:prstGeom prst="rect">
            <a:avLst/>
          </a:prstGeom>
          <a:solidFill>
            <a:srgbClr val="C2D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93992" y="4325112"/>
            <a:ext cx="237744" cy="42048"/>
          </a:xfrm>
          <a:prstGeom prst="rect">
            <a:avLst/>
          </a:prstGeom>
          <a:solidFill>
            <a:srgbClr val="BDD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93992" y="4366260"/>
            <a:ext cx="237744" cy="42048"/>
          </a:xfrm>
          <a:prstGeom prst="rect">
            <a:avLst/>
          </a:prstGeom>
          <a:solidFill>
            <a:srgbClr val="B9C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793992" y="4407408"/>
            <a:ext cx="237744" cy="42048"/>
          </a:xfrm>
          <a:prstGeom prst="rect">
            <a:avLst/>
          </a:prstGeom>
          <a:solidFill>
            <a:srgbClr val="B5C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793992" y="4448556"/>
            <a:ext cx="237744" cy="42048"/>
          </a:xfrm>
          <a:prstGeom prst="rect">
            <a:avLst/>
          </a:prstGeom>
          <a:solidFill>
            <a:srgbClr val="B0C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793992" y="4489704"/>
            <a:ext cx="237744" cy="42048"/>
          </a:xfrm>
          <a:prstGeom prst="rect">
            <a:avLst/>
          </a:prstGeom>
          <a:solidFill>
            <a:srgbClr val="ACC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793992" y="4530852"/>
            <a:ext cx="237744" cy="42048"/>
          </a:xfrm>
          <a:prstGeom prst="rect">
            <a:avLst/>
          </a:prstGeom>
          <a:solidFill>
            <a:srgbClr val="A7C2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793992" y="4572000"/>
            <a:ext cx="237744" cy="42048"/>
          </a:xfrm>
          <a:prstGeom prst="rect">
            <a:avLst/>
          </a:prstGeom>
          <a:solidFill>
            <a:srgbClr val="A3B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793992" y="4613148"/>
            <a:ext cx="237744" cy="42048"/>
          </a:xfrm>
          <a:prstGeom prst="rect">
            <a:avLst/>
          </a:prstGeom>
          <a:solidFill>
            <a:srgbClr val="9EB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6793992" y="4654296"/>
            <a:ext cx="237744" cy="42048"/>
          </a:xfrm>
          <a:prstGeom prst="rect">
            <a:avLst/>
          </a:prstGeom>
          <a:solidFill>
            <a:srgbClr val="9AB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793992" y="4695444"/>
            <a:ext cx="237744" cy="42048"/>
          </a:xfrm>
          <a:prstGeom prst="rect">
            <a:avLst/>
          </a:prstGeom>
          <a:solidFill>
            <a:srgbClr val="95B6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793992" y="4736592"/>
            <a:ext cx="237744" cy="42048"/>
          </a:xfrm>
          <a:prstGeom prst="rect">
            <a:avLst/>
          </a:prstGeom>
          <a:solidFill>
            <a:srgbClr val="91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793992" y="4777740"/>
            <a:ext cx="237744" cy="42048"/>
          </a:xfrm>
          <a:prstGeom prst="rect">
            <a:avLst/>
          </a:prstGeom>
          <a:solidFill>
            <a:srgbClr val="8CB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93992" y="4818888"/>
            <a:ext cx="237744" cy="42048"/>
          </a:xfrm>
          <a:prstGeom prst="rect">
            <a:avLst/>
          </a:prstGeom>
          <a:solidFill>
            <a:srgbClr val="88A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793992" y="4860036"/>
            <a:ext cx="237744" cy="42048"/>
          </a:xfrm>
          <a:prstGeom prst="rect">
            <a:avLst/>
          </a:prstGeom>
          <a:solidFill>
            <a:srgbClr val="83AA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6793992" y="4901184"/>
            <a:ext cx="237744" cy="42048"/>
          </a:xfrm>
          <a:prstGeom prst="rect">
            <a:avLst/>
          </a:prstGeom>
          <a:solidFill>
            <a:srgbClr val="7FA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6793992" y="4942332"/>
            <a:ext cx="237744" cy="42048"/>
          </a:xfrm>
          <a:prstGeom prst="rect">
            <a:avLst/>
          </a:prstGeom>
          <a:solidFill>
            <a:srgbClr val="7AA3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793992" y="4983480"/>
            <a:ext cx="237744" cy="42048"/>
          </a:xfrm>
          <a:prstGeom prst="rect">
            <a:avLst/>
          </a:prstGeom>
          <a:solidFill>
            <a:srgbClr val="76A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793992" y="5024628"/>
            <a:ext cx="237744" cy="42048"/>
          </a:xfrm>
          <a:prstGeom prst="rect">
            <a:avLst/>
          </a:prstGeom>
          <a:solidFill>
            <a:srgbClr val="719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793992" y="5065776"/>
            <a:ext cx="237744" cy="42048"/>
          </a:xfrm>
          <a:prstGeom prst="rect">
            <a:avLst/>
          </a:prstGeom>
          <a:solidFill>
            <a:srgbClr val="6D9A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6793992" y="5106924"/>
            <a:ext cx="237744" cy="42048"/>
          </a:xfrm>
          <a:prstGeom prst="rect">
            <a:avLst/>
          </a:prstGeom>
          <a:solidFill>
            <a:srgbClr val="689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6793992" y="5148072"/>
            <a:ext cx="237744" cy="42048"/>
          </a:xfrm>
          <a:prstGeom prst="rect">
            <a:avLst/>
          </a:prstGeom>
          <a:solidFill>
            <a:srgbClr val="6494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6793992" y="5189220"/>
            <a:ext cx="237744" cy="42048"/>
          </a:xfrm>
          <a:prstGeom prst="rect">
            <a:avLst/>
          </a:prstGeom>
          <a:solidFill>
            <a:srgbClr val="5F91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6793992" y="5230368"/>
            <a:ext cx="237744" cy="42048"/>
          </a:xfrm>
          <a:prstGeom prst="rect">
            <a:avLst/>
          </a:prstGeom>
          <a:solidFill>
            <a:srgbClr val="5B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793992" y="5271516"/>
            <a:ext cx="237744" cy="42048"/>
          </a:xfrm>
          <a:prstGeom prst="rect">
            <a:avLst/>
          </a:prstGeom>
          <a:solidFill>
            <a:srgbClr val="568B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793992" y="5312664"/>
            <a:ext cx="237744" cy="42048"/>
          </a:xfrm>
          <a:prstGeom prst="rect">
            <a:avLst/>
          </a:prstGeom>
          <a:solidFill>
            <a:srgbClr val="5288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793992" y="5353812"/>
            <a:ext cx="237744" cy="42048"/>
          </a:xfrm>
          <a:prstGeom prst="rect">
            <a:avLst/>
          </a:prstGeom>
          <a:solidFill>
            <a:srgbClr val="4D84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793992" y="5394960"/>
            <a:ext cx="237744" cy="42048"/>
          </a:xfrm>
          <a:prstGeom prst="rect">
            <a:avLst/>
          </a:prstGeom>
          <a:solidFill>
            <a:srgbClr val="4981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793992" y="5436108"/>
            <a:ext cx="237744" cy="42048"/>
          </a:xfrm>
          <a:prstGeom prst="rect">
            <a:avLst/>
          </a:prstGeom>
          <a:solidFill>
            <a:srgbClr val="447E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793992" y="5477256"/>
            <a:ext cx="237744" cy="42048"/>
          </a:xfrm>
          <a:prstGeom prst="rect">
            <a:avLst/>
          </a:prstGeom>
          <a:solidFill>
            <a:srgbClr val="407B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793992" y="5518404"/>
            <a:ext cx="237744" cy="42048"/>
          </a:xfrm>
          <a:prstGeom prst="rect">
            <a:avLst/>
          </a:prstGeom>
          <a:solidFill>
            <a:srgbClr val="3B78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793992" y="5559552"/>
            <a:ext cx="237744" cy="42048"/>
          </a:xfrm>
          <a:prstGeom prst="rect">
            <a:avLst/>
          </a:prstGeom>
          <a:solidFill>
            <a:srgbClr val="3775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793992" y="5600700"/>
            <a:ext cx="237744" cy="42048"/>
          </a:xfrm>
          <a:prstGeom prst="rect">
            <a:avLst/>
          </a:prstGeom>
          <a:solidFill>
            <a:srgbClr val="32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793992" y="5641848"/>
            <a:ext cx="237744" cy="42048"/>
          </a:xfrm>
          <a:prstGeom prst="rect">
            <a:avLst/>
          </a:prstGeom>
          <a:solidFill>
            <a:srgbClr val="2E6F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793992" y="5682996"/>
            <a:ext cx="237744" cy="42048"/>
          </a:xfrm>
          <a:prstGeom prst="rect">
            <a:avLst/>
          </a:prstGeom>
          <a:solidFill>
            <a:srgbClr val="296C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793992" y="5724144"/>
            <a:ext cx="237744" cy="42048"/>
          </a:xfrm>
          <a:prstGeom prst="rect">
            <a:avLst/>
          </a:prstGeom>
          <a:solidFill>
            <a:srgbClr val="2569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793992" y="5765292"/>
            <a:ext cx="237744" cy="4204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793992" y="1691640"/>
            <a:ext cx="237744" cy="4114800"/>
          </a:xfrm>
          <a:prstGeom prst="rect">
            <a:avLst/>
          </a:prstGeom>
          <a:noFill/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>
            <a:off x="7031736" y="16916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TextBox 197"/>
          <p:cNvSpPr txBox="1"/>
          <p:nvPr/>
        </p:nvSpPr>
        <p:spPr>
          <a:xfrm>
            <a:off x="7141464" y="16002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+0.60</a:t>
            </a:r>
          </a:p>
        </p:txBody>
      </p:sp>
      <p:cxnSp>
        <p:nvCxnSpPr>
          <p:cNvPr id="199" name="Connector 198"/>
          <p:cNvCxnSpPr/>
          <p:nvPr/>
        </p:nvCxnSpPr>
        <p:spPr>
          <a:xfrm>
            <a:off x="7031736" y="27203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7141464" y="26289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+0.30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7031736" y="37490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TextBox 201"/>
          <p:cNvSpPr txBox="1"/>
          <p:nvPr/>
        </p:nvSpPr>
        <p:spPr>
          <a:xfrm>
            <a:off x="7141464" y="36576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7031736" y="47777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7141464" y="46863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−0.30</a:t>
            </a:r>
          </a:p>
        </p:txBody>
      </p:sp>
      <p:cxnSp>
        <p:nvCxnSpPr>
          <p:cNvPr id="205" name="Connector 204"/>
          <p:cNvCxnSpPr/>
          <p:nvPr/>
        </p:nvCxnSpPr>
        <p:spPr>
          <a:xfrm>
            <a:off x="7031736" y="5806440.0"/>
            <a:ext cx="73152" cy="0.0"/>
          </a:xfrm>
          <a:prstGeom prst="line">
            <a:avLst/>
          </a:prstGeom>
          <a:ln w="6350">
            <a:solidFill>
              <a:srgbClr val="404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TextBox 205"/>
          <p:cNvSpPr txBox="1"/>
          <p:nvPr/>
        </p:nvSpPr>
        <p:spPr>
          <a:xfrm>
            <a:off x="7141464" y="5715000"/>
            <a:ext cx="5029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−0.60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1005840" y="6062472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Cell value = plain Spearman r;  BH-corrected across 36 pairs.   P value shown for cells with P &lt; 0.10.   * nominal P &lt; 0.05    ** BH q &lt; 0.05.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05840" y="6281928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0/36 nominal P &lt; 0.05   ·   0/36 BH q &lt; 0.05    (no individual baseline-cascade pair detected).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05840" y="6501384"/>
            <a:ext cx="77724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See Supp Fig S12 for omnibus block-wise sign-coherence test (12/12 cells in predicted direction, P = 2.4 × 10⁻⁴).   See Supp Fig S11 for partial-Spearman sensitivity (response-group adjusted).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6995160" y="274320"/>
            <a:ext cx="2011680" cy="1051560"/>
          </a:xfrm>
          <a:prstGeom prst="roundRect">
            <a:avLst/>
          </a:prstGeom>
          <a:solidFill>
            <a:srgbClr val="FCF7E8"/>
          </a:solidFill>
          <a:ln w="15875">
            <a:solidFill>
              <a:srgbClr val="DAA5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7068312" y="329184"/>
            <a:ext cx="1865376" cy="9418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Headline pair (manuscript-quoted)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DSB repair × Δ CD8-cytotoxic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r = −0.07,  P = 0.83 (n = 12)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[not in this 4-cascade panel;</a:t>
            </a:r>
          </a:p>
          <a:p>
            <a:pPr algn="l"/>
            <a:r>
              <a:rPr sz="800" b="0">
                <a:solidFill>
                  <a:srgbClr val="000000"/>
                </a:solidFill>
                <a:latin typeface="Arial"/>
              </a:rPr>
              <a:t>see Supp Fig S20A forest]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