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88920" y="594360"/>
            <a:ext cx="3072384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Cascade Δ features (radiation-phase dynamics)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88920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SBS5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7016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MHC-I neoantigen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binders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5112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Treg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IGH clonotypes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80744"/>
            <a:ext cx="192024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Baseline tumor-intrinsic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92024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DSB repair (Reactome)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0552"/>
            <a:ext cx="192024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DNA repair (Reactome)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9464"/>
            <a:ext cx="192024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HRR (Reactome)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08376"/>
            <a:ext cx="192024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E2F targets (Hallmark)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47288"/>
            <a:ext cx="192024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G2-M checkpoint (Hallmark)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192024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Myc targets V2 (Hallmark)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25112"/>
            <a:ext cx="192024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MHC-II (baseline)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64024"/>
            <a:ext cx="192024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MSI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02936"/>
            <a:ext cx="192024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Genomic amp fraction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1691640"/>
            <a:ext cx="768096" cy="438912"/>
          </a:xfrm>
          <a:prstGeom prst="rect">
            <a:avLst/>
          </a:prstGeom>
          <a:solidFill>
            <a:srgbClr val="759FC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655064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57016" y="1691640"/>
            <a:ext cx="768096" cy="438912"/>
          </a:xfrm>
          <a:prstGeom prst="rect">
            <a:avLst/>
          </a:prstGeom>
          <a:solidFill>
            <a:srgbClr val="D4E1E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7016" y="1655064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5112" y="1691640"/>
            <a:ext cx="768096" cy="438912"/>
          </a:xfrm>
          <a:prstGeom prst="rect">
            <a:avLst/>
          </a:prstGeom>
          <a:solidFill>
            <a:srgbClr val="DFE9F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1655064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3208" y="1691640"/>
            <a:ext cx="768096" cy="438912"/>
          </a:xfrm>
          <a:prstGeom prst="rect">
            <a:avLst/>
          </a:prstGeom>
          <a:solidFill>
            <a:srgbClr val="B2182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8" y="1655064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+0.42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2130552"/>
            <a:ext cx="768096" cy="438912"/>
          </a:xfrm>
          <a:prstGeom prst="rect">
            <a:avLst/>
          </a:prstGeom>
          <a:solidFill>
            <a:srgbClr val="4881B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2093976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57016" y="2130552"/>
            <a:ext cx="768096" cy="438912"/>
          </a:xfrm>
          <a:prstGeom prst="rect">
            <a:avLst/>
          </a:prstGeom>
          <a:solidFill>
            <a:srgbClr val="87ACD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7016" y="2093976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5112" y="2130552"/>
            <a:ext cx="768096" cy="438912"/>
          </a:xfrm>
          <a:prstGeom prst="rect">
            <a:avLst/>
          </a:prstGeom>
          <a:solidFill>
            <a:srgbClr val="F6F9F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5112" y="2093976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93208" y="2130552"/>
            <a:ext cx="768096" cy="438912"/>
          </a:xfrm>
          <a:prstGeom prst="rect">
            <a:avLst/>
          </a:prstGeom>
          <a:solidFill>
            <a:srgbClr val="B2182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3208" y="2093976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+0.43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2569464"/>
            <a:ext cx="768096" cy="438912"/>
          </a:xfrm>
          <a:prstGeom prst="rect">
            <a:avLst/>
          </a:prstGeom>
          <a:solidFill>
            <a:srgbClr val="6897C6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2532888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57016" y="2569464"/>
            <a:ext cx="768096" cy="438912"/>
          </a:xfrm>
          <a:prstGeom prst="rect">
            <a:avLst/>
          </a:prstGeom>
          <a:solidFill>
            <a:srgbClr val="E8EFF6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57016" y="2532888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5112" y="2569464"/>
            <a:ext cx="768096" cy="438912"/>
          </a:xfrm>
          <a:prstGeom prst="rect">
            <a:avLst/>
          </a:prstGeom>
          <a:solidFill>
            <a:srgbClr val="A7C2D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5112" y="2532888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93208" y="2569464"/>
            <a:ext cx="768096" cy="438912"/>
          </a:xfrm>
          <a:prstGeom prst="rect">
            <a:avLst/>
          </a:prstGeom>
          <a:solidFill>
            <a:srgbClr val="DC98A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93208" y="2532888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3008376"/>
            <a:ext cx="768096" cy="438912"/>
          </a:xfrm>
          <a:prstGeom prst="rect">
            <a:avLst/>
          </a:prstGeom>
          <a:solidFill>
            <a:srgbClr val="5D8FC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88920" y="2971800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57016" y="3008376"/>
            <a:ext cx="768096" cy="438912"/>
          </a:xfrm>
          <a:prstGeom prst="rect">
            <a:avLst/>
          </a:prstGeom>
          <a:solidFill>
            <a:srgbClr val="FDFAF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57016" y="2971800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5112" y="3008376"/>
            <a:ext cx="768096" cy="438912"/>
          </a:xfrm>
          <a:prstGeom prst="rect">
            <a:avLst/>
          </a:prstGeom>
          <a:solidFill>
            <a:srgbClr val="C3D5E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25112" y="2971800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3208" y="3008376"/>
            <a:ext cx="768096" cy="438912"/>
          </a:xfrm>
          <a:prstGeom prst="rect">
            <a:avLst/>
          </a:prstGeom>
          <a:solidFill>
            <a:srgbClr val="D7899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93208" y="2971800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88920" y="3447288"/>
            <a:ext cx="768096" cy="438912"/>
          </a:xfrm>
          <a:prstGeom prst="rect">
            <a:avLst/>
          </a:prstGeom>
          <a:solidFill>
            <a:srgbClr val="457EB9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88920" y="3410712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−0.33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57016" y="3447288"/>
            <a:ext cx="768096" cy="438912"/>
          </a:xfrm>
          <a:prstGeom prst="rect">
            <a:avLst/>
          </a:prstGeom>
          <a:solidFill>
            <a:srgbClr val="FDFAF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7016" y="3410712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+0.01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5112" y="3447288"/>
            <a:ext cx="768096" cy="438912"/>
          </a:xfrm>
          <a:prstGeom prst="rect">
            <a:avLst/>
          </a:prstGeom>
          <a:solidFill>
            <a:srgbClr val="C3D5E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25112" y="3410712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93208" y="3447288"/>
            <a:ext cx="768096" cy="438912"/>
          </a:xfrm>
          <a:prstGeom prst="rect">
            <a:avLst/>
          </a:prstGeom>
          <a:solidFill>
            <a:srgbClr val="D7899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3208" y="3410712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88920" y="3886200"/>
            <a:ext cx="768096" cy="438912"/>
          </a:xfrm>
          <a:prstGeom prst="rect">
            <a:avLst/>
          </a:prstGeom>
          <a:solidFill>
            <a:srgbClr val="B5CCE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8920" y="3849624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57016" y="3886200"/>
            <a:ext cx="768096" cy="438912"/>
          </a:xfrm>
          <a:prstGeom prst="rect">
            <a:avLst/>
          </a:prstGeom>
          <a:solidFill>
            <a:srgbClr val="D8E4F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57016" y="3849624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5112" y="3886200"/>
            <a:ext cx="768096" cy="438912"/>
          </a:xfrm>
          <a:prstGeom prst="rect">
            <a:avLst/>
          </a:prstGeom>
          <a:solidFill>
            <a:srgbClr val="FBFCFD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25112" y="3849624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93208" y="3886200"/>
            <a:ext cx="768096" cy="438912"/>
          </a:xfrm>
          <a:prstGeom prst="rect">
            <a:avLst/>
          </a:prstGeom>
          <a:solidFill>
            <a:srgbClr val="B2182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93208" y="3849624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+0.46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88920" y="4325112"/>
            <a:ext cx="768096" cy="438912"/>
          </a:xfrm>
          <a:prstGeom prst="rect">
            <a:avLst/>
          </a:prstGeom>
          <a:solidFill>
            <a:srgbClr val="E8BAB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88920" y="4288536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57016" y="4325112"/>
            <a:ext cx="768096" cy="438912"/>
          </a:xfrm>
          <a:prstGeom prst="rect">
            <a:avLst/>
          </a:prstGeom>
          <a:solidFill>
            <a:srgbClr val="EDCBC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57016" y="4288536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+0.09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25112" y="4325112"/>
            <a:ext cx="768096" cy="438912"/>
          </a:xfrm>
          <a:prstGeom prst="rect">
            <a:avLst/>
          </a:prstGeom>
          <a:solidFill>
            <a:srgbClr val="EBF1F7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25112" y="4288536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93208" y="4325112"/>
            <a:ext cx="768096" cy="438912"/>
          </a:xfrm>
          <a:prstGeom prst="rect">
            <a:avLst/>
          </a:prstGeom>
          <a:solidFill>
            <a:srgbClr val="D2798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93208" y="4288536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88920" y="4764024"/>
            <a:ext cx="768096" cy="438912"/>
          </a:xfrm>
          <a:prstGeom prst="rect">
            <a:avLst/>
          </a:prstGeom>
          <a:solidFill>
            <a:srgbClr val="77A1C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88920" y="4727448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57016" y="4764024"/>
            <a:ext cx="768096" cy="438912"/>
          </a:xfrm>
          <a:prstGeom prst="rect">
            <a:avLst/>
          </a:prstGeom>
          <a:solidFill>
            <a:srgbClr val="B6CCE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57016" y="4727448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25112" y="4764024"/>
            <a:ext cx="768096" cy="438912"/>
          </a:xfrm>
          <a:prstGeom prst="rect">
            <a:avLst/>
          </a:prstGeom>
          <a:solidFill>
            <a:srgbClr val="CE6E7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25112" y="4727448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93208" y="4764024"/>
            <a:ext cx="768096" cy="438912"/>
          </a:xfrm>
          <a:prstGeom prst="rect">
            <a:avLst/>
          </a:prstGeom>
          <a:solidFill>
            <a:srgbClr val="E8BCC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93208" y="4727448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88920" y="5202936"/>
            <a:ext cx="768096" cy="438912"/>
          </a:xfrm>
          <a:prstGeom prst="rect">
            <a:avLst/>
          </a:prstGeom>
          <a:solidFill>
            <a:srgbClr val="5288B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88920" y="5166360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−0.31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57016" y="5202936"/>
            <a:ext cx="768096" cy="438912"/>
          </a:xfrm>
          <a:prstGeom prst="rect">
            <a:avLst/>
          </a:prstGeom>
          <a:solidFill>
            <a:srgbClr val="DBE6F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557016" y="5166360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25112" y="5202936"/>
            <a:ext cx="768096" cy="438912"/>
          </a:xfrm>
          <a:prstGeom prst="rect">
            <a:avLst/>
          </a:prstGeom>
          <a:solidFill>
            <a:srgbClr val="3977B5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25112" y="5166360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−0.35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93208" y="5202936"/>
            <a:ext cx="768096" cy="438912"/>
          </a:xfrm>
          <a:prstGeom prst="rect">
            <a:avLst/>
          </a:prstGeom>
          <a:solidFill>
            <a:srgbClr val="F0D2D6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93208" y="5166360"/>
            <a:ext cx="76809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+0.08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52744" y="1380744"/>
            <a:ext cx="173736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Partial Spearman 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27064" y="1691640"/>
            <a:ext cx="237744" cy="40402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227064" y="1731142"/>
            <a:ext cx="237744" cy="40402"/>
          </a:xfrm>
          <a:prstGeom prst="rect">
            <a:avLst/>
          </a:prstGeom>
          <a:solidFill>
            <a:srgbClr val="B3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27064" y="1770644"/>
            <a:ext cx="237744" cy="40402"/>
          </a:xfrm>
          <a:prstGeom prst="rect">
            <a:avLst/>
          </a:prstGeom>
          <a:solidFill>
            <a:srgbClr val="B5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227064" y="1810146"/>
            <a:ext cx="237744" cy="40402"/>
          </a:xfrm>
          <a:prstGeom prst="rect">
            <a:avLst/>
          </a:prstGeom>
          <a:solidFill>
            <a:srgbClr val="B6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227064" y="1849648"/>
            <a:ext cx="237744" cy="40402"/>
          </a:xfrm>
          <a:prstGeom prst="rect">
            <a:avLst/>
          </a:prstGeom>
          <a:solidFill>
            <a:srgbClr val="B8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227064" y="1889150"/>
            <a:ext cx="237744" cy="40402"/>
          </a:xfrm>
          <a:prstGeom prst="rect">
            <a:avLst/>
          </a:prstGeom>
          <a:solidFill>
            <a:srgbClr val="B92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227064" y="1928652"/>
            <a:ext cx="237744" cy="40402"/>
          </a:xfrm>
          <a:prstGeom prst="rect">
            <a:avLst/>
          </a:prstGeom>
          <a:solidFill>
            <a:srgbClr val="B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227064" y="1968154"/>
            <a:ext cx="237744" cy="40402"/>
          </a:xfrm>
          <a:prstGeom prst="rect">
            <a:avLst/>
          </a:prstGeom>
          <a:solidFill>
            <a:srgbClr val="B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227064" y="2007656"/>
            <a:ext cx="237744" cy="40402"/>
          </a:xfrm>
          <a:prstGeom prst="rect">
            <a:avLst/>
          </a:prstGeom>
          <a:solidFill>
            <a:srgbClr val="BE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227064" y="2047158"/>
            <a:ext cx="237744" cy="40402"/>
          </a:xfrm>
          <a:prstGeom prst="rect">
            <a:avLst/>
          </a:prstGeom>
          <a:solidFill>
            <a:srgbClr val="C042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227064" y="2086660"/>
            <a:ext cx="237744" cy="40402"/>
          </a:xfrm>
          <a:prstGeom prst="rect">
            <a:avLst/>
          </a:prstGeom>
          <a:solidFill>
            <a:srgbClr val="C1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227064" y="2126162"/>
            <a:ext cx="237744" cy="40402"/>
          </a:xfrm>
          <a:prstGeom prst="rect">
            <a:avLst/>
          </a:prstGeom>
          <a:solidFill>
            <a:srgbClr val="C34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227064" y="2165664"/>
            <a:ext cx="237744" cy="40402"/>
          </a:xfrm>
          <a:prstGeom prst="rect">
            <a:avLst/>
          </a:prstGeom>
          <a:solidFill>
            <a:srgbClr val="C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227064" y="2205167"/>
            <a:ext cx="237744" cy="40402"/>
          </a:xfrm>
          <a:prstGeom prst="rect">
            <a:avLst/>
          </a:prstGeom>
          <a:solidFill>
            <a:srgbClr val="C6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227064" y="2244669"/>
            <a:ext cx="237744" cy="40402"/>
          </a:xfrm>
          <a:prstGeom prst="rect">
            <a:avLst/>
          </a:prstGeom>
          <a:solidFill>
            <a:srgbClr val="C75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227064" y="2284171"/>
            <a:ext cx="237744" cy="40402"/>
          </a:xfrm>
          <a:prstGeom prst="rect">
            <a:avLst/>
          </a:prstGeom>
          <a:solidFill>
            <a:srgbClr val="C9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227064" y="2323673"/>
            <a:ext cx="237744" cy="40402"/>
          </a:xfrm>
          <a:prstGeom prst="rect">
            <a:avLst/>
          </a:prstGeom>
          <a:solidFill>
            <a:srgbClr val="CA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227064" y="2363175"/>
            <a:ext cx="237744" cy="40402"/>
          </a:xfrm>
          <a:prstGeom prst="rect">
            <a:avLst/>
          </a:prstGeom>
          <a:solidFill>
            <a:srgbClr val="CC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227064" y="2402677"/>
            <a:ext cx="237744" cy="40402"/>
          </a:xfrm>
          <a:prstGeom prst="rect">
            <a:avLst/>
          </a:prstGeom>
          <a:solidFill>
            <a:srgbClr val="CE6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227064" y="2442179"/>
            <a:ext cx="237744" cy="40402"/>
          </a:xfrm>
          <a:prstGeom prst="rect">
            <a:avLst/>
          </a:prstGeom>
          <a:solidFill>
            <a:srgbClr val="CF7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227064" y="2481681"/>
            <a:ext cx="237744" cy="40402"/>
          </a:xfrm>
          <a:prstGeom prst="rect">
            <a:avLst/>
          </a:prstGeom>
          <a:solidFill>
            <a:srgbClr val="D1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227064" y="2521183"/>
            <a:ext cx="237744" cy="40402"/>
          </a:xfrm>
          <a:prstGeom prst="rect">
            <a:avLst/>
          </a:prstGeom>
          <a:solidFill>
            <a:srgbClr val="D2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227064" y="2560685"/>
            <a:ext cx="237744" cy="40402"/>
          </a:xfrm>
          <a:prstGeom prst="rect">
            <a:avLst/>
          </a:prstGeom>
          <a:solidFill>
            <a:srgbClr val="D4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227064" y="2600187"/>
            <a:ext cx="237744" cy="40402"/>
          </a:xfrm>
          <a:prstGeom prst="rect">
            <a:avLst/>
          </a:prstGeom>
          <a:solidFill>
            <a:srgbClr val="D58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227064" y="2639689"/>
            <a:ext cx="237744" cy="40402"/>
          </a:xfrm>
          <a:prstGeom prst="rect">
            <a:avLst/>
          </a:prstGeom>
          <a:solidFill>
            <a:srgbClr val="D7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227064" y="2679192"/>
            <a:ext cx="237744" cy="40402"/>
          </a:xfrm>
          <a:prstGeom prst="rect">
            <a:avLst/>
          </a:prstGeom>
          <a:solidFill>
            <a:srgbClr val="D88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227064" y="2718694"/>
            <a:ext cx="237744" cy="40402"/>
          </a:xfrm>
          <a:prstGeom prst="rect">
            <a:avLst/>
          </a:prstGeom>
          <a:solidFill>
            <a:srgbClr val="DA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227064" y="2758196"/>
            <a:ext cx="237744" cy="40402"/>
          </a:xfrm>
          <a:prstGeom prst="rect">
            <a:avLst/>
          </a:prstGeom>
          <a:solidFill>
            <a:srgbClr val="DC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27064" y="2797698"/>
            <a:ext cx="237744" cy="40402"/>
          </a:xfrm>
          <a:prstGeom prst="rect">
            <a:avLst/>
          </a:prstGeom>
          <a:solidFill>
            <a:srgbClr val="DD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227064" y="2837200"/>
            <a:ext cx="237744" cy="40402"/>
          </a:xfrm>
          <a:prstGeom prst="rect">
            <a:avLst/>
          </a:prstGeom>
          <a:solidFill>
            <a:srgbClr val="DF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227064" y="2876702"/>
            <a:ext cx="237744" cy="40402"/>
          </a:xfrm>
          <a:prstGeom prst="rect">
            <a:avLst/>
          </a:prstGeom>
          <a:solidFill>
            <a:srgbClr val="E0A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227064" y="2916204"/>
            <a:ext cx="237744" cy="40402"/>
          </a:xfrm>
          <a:prstGeom prst="rect">
            <a:avLst/>
          </a:prstGeom>
          <a:solidFill>
            <a:srgbClr val="E2A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227064" y="2955706"/>
            <a:ext cx="237744" cy="40402"/>
          </a:xfrm>
          <a:prstGeom prst="rect">
            <a:avLst/>
          </a:prstGeom>
          <a:solidFill>
            <a:srgbClr val="E3A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227064" y="2995208"/>
            <a:ext cx="237744" cy="40402"/>
          </a:xfrm>
          <a:prstGeom prst="rect">
            <a:avLst/>
          </a:prstGeom>
          <a:solidFill>
            <a:srgbClr val="E5B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227064" y="3034710"/>
            <a:ext cx="237744" cy="40402"/>
          </a:xfrm>
          <a:prstGeom prst="rect">
            <a:avLst/>
          </a:prstGeom>
          <a:solidFill>
            <a:srgbClr val="E6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227064" y="3074212"/>
            <a:ext cx="237744" cy="40402"/>
          </a:xfrm>
          <a:prstGeom prst="rect">
            <a:avLst/>
          </a:prstGeom>
          <a:solidFill>
            <a:srgbClr val="E8B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227064" y="3113714"/>
            <a:ext cx="237744" cy="40402"/>
          </a:xfrm>
          <a:prstGeom prst="rect">
            <a:avLst/>
          </a:prstGeom>
          <a:solidFill>
            <a:srgbClr val="EAC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227064" y="3153216"/>
            <a:ext cx="237744" cy="40402"/>
          </a:xfrm>
          <a:prstGeom prst="rect">
            <a:avLst/>
          </a:prstGeom>
          <a:solidFill>
            <a:srgbClr val="EB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227064" y="3192719"/>
            <a:ext cx="237744" cy="40402"/>
          </a:xfrm>
          <a:prstGeom prst="rect">
            <a:avLst/>
          </a:prstGeom>
          <a:solidFill>
            <a:srgbClr val="EDC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227064" y="3232221"/>
            <a:ext cx="237744" cy="40402"/>
          </a:xfrm>
          <a:prstGeom prst="rect">
            <a:avLst/>
          </a:prstGeom>
          <a:solidFill>
            <a:srgbClr val="EEC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227064" y="3271723"/>
            <a:ext cx="237744" cy="40402"/>
          </a:xfrm>
          <a:prstGeom prst="rect">
            <a:avLst/>
          </a:prstGeom>
          <a:solidFill>
            <a:srgbClr val="F0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227064" y="3311225"/>
            <a:ext cx="237744" cy="40402"/>
          </a:xfrm>
          <a:prstGeom prst="rect">
            <a:avLst/>
          </a:prstGeom>
          <a:solidFill>
            <a:srgbClr val="F1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227064" y="3350727"/>
            <a:ext cx="237744" cy="40402"/>
          </a:xfrm>
          <a:prstGeom prst="rect">
            <a:avLst/>
          </a:prstGeom>
          <a:solidFill>
            <a:srgbClr val="F3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227064" y="3390229"/>
            <a:ext cx="237744" cy="40402"/>
          </a:xfrm>
          <a:prstGeom prst="rect">
            <a:avLst/>
          </a:prstGeom>
          <a:solidFill>
            <a:srgbClr val="F4E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227064" y="3429731"/>
            <a:ext cx="237744" cy="40402"/>
          </a:xfrm>
          <a:prstGeom prst="rect">
            <a:avLst/>
          </a:prstGeom>
          <a:solidFill>
            <a:srgbClr val="F6E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227064" y="3469233"/>
            <a:ext cx="237744" cy="40402"/>
          </a:xfrm>
          <a:prstGeom prst="rect">
            <a:avLst/>
          </a:prstGeom>
          <a:solidFill>
            <a:srgbClr val="F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227064" y="3508735"/>
            <a:ext cx="237744" cy="40402"/>
          </a:xfrm>
          <a:prstGeom prst="rect">
            <a:avLst/>
          </a:prstGeom>
          <a:solidFill>
            <a:srgbClr val="F9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227064" y="3548237"/>
            <a:ext cx="237744" cy="40402"/>
          </a:xfrm>
          <a:prstGeom prst="rect">
            <a:avLst/>
          </a:prstGeom>
          <a:solidFill>
            <a:srgbClr val="FB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227064" y="3587739"/>
            <a:ext cx="237744" cy="40402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227064" y="3627241"/>
            <a:ext cx="237744" cy="40402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227064" y="3666744"/>
            <a:ext cx="237744" cy="40402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227064" y="3706246"/>
            <a:ext cx="237744" cy="4040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227064" y="3745748"/>
            <a:ext cx="237744" cy="40402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227064" y="3785250"/>
            <a:ext cx="237744" cy="40402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227064" y="3824752"/>
            <a:ext cx="237744" cy="40402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27064" y="3864254"/>
            <a:ext cx="237744" cy="40402"/>
          </a:xfrm>
          <a:prstGeom prst="rect">
            <a:avLst/>
          </a:prstGeom>
          <a:solidFill>
            <a:srgbClr val="E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227064" y="3903756"/>
            <a:ext cx="237744" cy="40402"/>
          </a:xfrm>
          <a:prstGeom prst="rect">
            <a:avLst/>
          </a:prstGeom>
          <a:solidFill>
            <a:srgbClr val="E1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227064" y="3943258"/>
            <a:ext cx="237744" cy="40402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227064" y="3982760"/>
            <a:ext cx="237744" cy="40402"/>
          </a:xfrm>
          <a:prstGeom prst="rect">
            <a:avLst/>
          </a:prstGeom>
          <a:solidFill>
            <a:srgbClr val="D8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227064" y="4022262"/>
            <a:ext cx="237744" cy="40402"/>
          </a:xfrm>
          <a:prstGeom prst="rect">
            <a:avLst/>
          </a:prstGeom>
          <a:solidFill>
            <a:srgbClr val="D4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227064" y="4061764"/>
            <a:ext cx="237744" cy="40402"/>
          </a:xfrm>
          <a:prstGeom prst="rect">
            <a:avLst/>
          </a:prstGeom>
          <a:solidFill>
            <a:srgbClr val="CFD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227064" y="4101266"/>
            <a:ext cx="237744" cy="40402"/>
          </a:xfrm>
          <a:prstGeom prst="rect">
            <a:avLst/>
          </a:prstGeom>
          <a:solidFill>
            <a:srgbClr val="CBD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227064" y="4140768"/>
            <a:ext cx="237744" cy="40402"/>
          </a:xfrm>
          <a:prstGeom prst="rect">
            <a:avLst/>
          </a:prstGeom>
          <a:solidFill>
            <a:srgbClr val="C6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7064" y="4180271"/>
            <a:ext cx="237744" cy="40402"/>
          </a:xfrm>
          <a:prstGeom prst="rect">
            <a:avLst/>
          </a:prstGeom>
          <a:solidFill>
            <a:srgbClr val="C2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7064" y="4219773"/>
            <a:ext cx="237744" cy="40402"/>
          </a:xfrm>
          <a:prstGeom prst="rect">
            <a:avLst/>
          </a:prstGeom>
          <a:solidFill>
            <a:srgbClr val="BD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7064" y="4259275"/>
            <a:ext cx="237744" cy="40402"/>
          </a:xfrm>
          <a:prstGeom prst="rect">
            <a:avLst/>
          </a:prstGeom>
          <a:solidFill>
            <a:srgbClr val="B9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7064" y="4298777"/>
            <a:ext cx="237744" cy="40402"/>
          </a:xfrm>
          <a:prstGeom prst="rect">
            <a:avLst/>
          </a:prstGeom>
          <a:solidFill>
            <a:srgbClr val="B5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27064" y="4338279"/>
            <a:ext cx="237744" cy="40402"/>
          </a:xfrm>
          <a:prstGeom prst="rect">
            <a:avLst/>
          </a:prstGeom>
          <a:solidFill>
            <a:srgbClr val="B0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7064" y="4377781"/>
            <a:ext cx="237744" cy="40402"/>
          </a:xfrm>
          <a:prstGeom prst="rect">
            <a:avLst/>
          </a:prstGeom>
          <a:solidFill>
            <a:srgbClr val="ACC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27064" y="4417283"/>
            <a:ext cx="237744" cy="40402"/>
          </a:xfrm>
          <a:prstGeom prst="rect">
            <a:avLst/>
          </a:prstGeom>
          <a:solidFill>
            <a:srgbClr val="A7C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227064" y="4456785"/>
            <a:ext cx="237744" cy="40402"/>
          </a:xfrm>
          <a:prstGeom prst="rect">
            <a:avLst/>
          </a:prstGeom>
          <a:solidFill>
            <a:srgbClr val="A3B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227064" y="4496287"/>
            <a:ext cx="237744" cy="40402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227064" y="4535789"/>
            <a:ext cx="237744" cy="40402"/>
          </a:xfrm>
          <a:prstGeom prst="rect">
            <a:avLst/>
          </a:prstGeom>
          <a:solidFill>
            <a:srgbClr val="9AB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227064" y="4575291"/>
            <a:ext cx="237744" cy="40402"/>
          </a:xfrm>
          <a:prstGeom prst="rect">
            <a:avLst/>
          </a:prstGeom>
          <a:solidFill>
            <a:srgbClr val="95B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227064" y="4614793"/>
            <a:ext cx="237744" cy="40402"/>
          </a:xfrm>
          <a:prstGeom prst="rect">
            <a:avLst/>
          </a:prstGeom>
          <a:solidFill>
            <a:srgbClr val="91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227064" y="4654296"/>
            <a:ext cx="237744" cy="40402"/>
          </a:xfrm>
          <a:prstGeom prst="rect">
            <a:avLst/>
          </a:prstGeom>
          <a:solidFill>
            <a:srgbClr val="8CB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227064" y="4693798"/>
            <a:ext cx="237744" cy="40402"/>
          </a:xfrm>
          <a:prstGeom prst="rect">
            <a:avLst/>
          </a:prstGeom>
          <a:solidFill>
            <a:srgbClr val="88A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227064" y="4733300"/>
            <a:ext cx="237744" cy="40402"/>
          </a:xfrm>
          <a:prstGeom prst="rect">
            <a:avLst/>
          </a:prstGeom>
          <a:solidFill>
            <a:srgbClr val="83A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227064" y="4772802"/>
            <a:ext cx="237744" cy="40402"/>
          </a:xfrm>
          <a:prstGeom prst="rect">
            <a:avLst/>
          </a:prstGeom>
          <a:solidFill>
            <a:srgbClr val="7F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227064" y="4812304"/>
            <a:ext cx="237744" cy="40402"/>
          </a:xfrm>
          <a:prstGeom prst="rect">
            <a:avLst/>
          </a:prstGeom>
          <a:solidFill>
            <a:srgbClr val="7AA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227064" y="4851806"/>
            <a:ext cx="237744" cy="40402"/>
          </a:xfrm>
          <a:prstGeom prst="rect">
            <a:avLst/>
          </a:prstGeom>
          <a:solidFill>
            <a:srgbClr val="76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227064" y="4891308"/>
            <a:ext cx="237744" cy="40402"/>
          </a:xfrm>
          <a:prstGeom prst="rect">
            <a:avLst/>
          </a:prstGeom>
          <a:solidFill>
            <a:srgbClr val="719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227064" y="4930810"/>
            <a:ext cx="237744" cy="40402"/>
          </a:xfrm>
          <a:prstGeom prst="rect">
            <a:avLst/>
          </a:prstGeom>
          <a:solidFill>
            <a:srgbClr val="6D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227064" y="4970312"/>
            <a:ext cx="237744" cy="40402"/>
          </a:xfrm>
          <a:prstGeom prst="rect">
            <a:avLst/>
          </a:prstGeom>
          <a:solidFill>
            <a:srgbClr val="689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227064" y="5009814"/>
            <a:ext cx="237744" cy="40402"/>
          </a:xfrm>
          <a:prstGeom prst="rect">
            <a:avLst/>
          </a:prstGeom>
          <a:solidFill>
            <a:srgbClr val="649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227064" y="5049316"/>
            <a:ext cx="237744" cy="40402"/>
          </a:xfrm>
          <a:prstGeom prst="rect">
            <a:avLst/>
          </a:prstGeom>
          <a:solidFill>
            <a:srgbClr val="5F91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227064" y="5088818"/>
            <a:ext cx="237744" cy="40402"/>
          </a:xfrm>
          <a:prstGeom prst="rect">
            <a:avLst/>
          </a:prstGeom>
          <a:solidFill>
            <a:srgbClr val="5B8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227064" y="5128320"/>
            <a:ext cx="237744" cy="40402"/>
          </a:xfrm>
          <a:prstGeom prst="rect">
            <a:avLst/>
          </a:prstGeom>
          <a:solidFill>
            <a:srgbClr val="56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227064" y="5167823"/>
            <a:ext cx="237744" cy="40402"/>
          </a:xfrm>
          <a:prstGeom prst="rect">
            <a:avLst/>
          </a:prstGeom>
          <a:solidFill>
            <a:srgbClr val="528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227064" y="5207325"/>
            <a:ext cx="237744" cy="40402"/>
          </a:xfrm>
          <a:prstGeom prst="rect">
            <a:avLst/>
          </a:prstGeom>
          <a:solidFill>
            <a:srgbClr val="4D8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227064" y="5246827"/>
            <a:ext cx="237744" cy="40402"/>
          </a:xfrm>
          <a:prstGeom prst="rect">
            <a:avLst/>
          </a:prstGeom>
          <a:solidFill>
            <a:srgbClr val="498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227064" y="5286329"/>
            <a:ext cx="237744" cy="40402"/>
          </a:xfrm>
          <a:prstGeom prst="rect">
            <a:avLst/>
          </a:prstGeom>
          <a:solidFill>
            <a:srgbClr val="447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227064" y="5325831"/>
            <a:ext cx="237744" cy="40402"/>
          </a:xfrm>
          <a:prstGeom prst="rect">
            <a:avLst/>
          </a:prstGeom>
          <a:solidFill>
            <a:srgbClr val="407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227064" y="5365333"/>
            <a:ext cx="237744" cy="40402"/>
          </a:xfrm>
          <a:prstGeom prst="rect">
            <a:avLst/>
          </a:prstGeom>
          <a:solidFill>
            <a:srgbClr val="3B78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227064" y="5404835"/>
            <a:ext cx="237744" cy="40402"/>
          </a:xfrm>
          <a:prstGeom prst="rect">
            <a:avLst/>
          </a:prstGeom>
          <a:solidFill>
            <a:srgbClr val="377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227064" y="5444337"/>
            <a:ext cx="237744" cy="40402"/>
          </a:xfrm>
          <a:prstGeom prst="rect">
            <a:avLst/>
          </a:prstGeom>
          <a:solidFill>
            <a:srgbClr val="32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227064" y="5483839"/>
            <a:ext cx="237744" cy="40402"/>
          </a:xfrm>
          <a:prstGeom prst="rect">
            <a:avLst/>
          </a:prstGeom>
          <a:solidFill>
            <a:srgbClr val="2E6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227064" y="5523341"/>
            <a:ext cx="237744" cy="40402"/>
          </a:xfrm>
          <a:prstGeom prst="rect">
            <a:avLst/>
          </a:prstGeom>
          <a:solidFill>
            <a:srgbClr val="296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227064" y="5562843"/>
            <a:ext cx="237744" cy="40402"/>
          </a:xfrm>
          <a:prstGeom prst="rect">
            <a:avLst/>
          </a:prstGeom>
          <a:solidFill>
            <a:srgbClr val="2569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227064" y="5602345"/>
            <a:ext cx="237744" cy="40402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227064" y="1691640"/>
            <a:ext cx="237744" cy="3950208"/>
          </a:xfrm>
          <a:prstGeom prst="rect">
            <a:avLst/>
          </a:prstGeom>
          <a:noFill/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6464808" y="16916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6574536" y="16002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+0.40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6464808" y="2679192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6574536" y="2587752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+0.20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6464808" y="3666744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6574536" y="3575304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6464808" y="4654296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6574536" y="4562856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−0.20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6464808" y="5641848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6574536" y="5550408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−0.40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77240" y="5843016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Sensitivity analysis — partial Spearman with response-group adjustment.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77240" y="6044184"/>
            <a:ext cx="7772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Partial Spearman ρ · BH-corrected across 36 pairs.   P value shown for cells with P &lt; 0.10.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77240" y="6227064"/>
            <a:ext cx="7772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Partial r range [−0.48, +0.46]  (plain Spearman range [−0.54, +0.56] compressed by group adjustment).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77240" y="6409944"/>
            <a:ext cx="7772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0/36 partial P &lt; 0.05   ·   0/36 BH q &lt; 0.05    (robust to group adjustment).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777240" y="6647688"/>
            <a:ext cx="7772400" cy="457200"/>
          </a:xfrm>
          <a:prstGeom prst="roundRect">
            <a:avLst/>
          </a:prstGeom>
          <a:solidFill>
            <a:srgbClr val="FCF0E6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50392" y="6684264"/>
            <a:ext cx="7626096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Caveat: Conditioning on response group (an outcome variable in our analytical design) may introduce collider bias under some causal structures. This sensitivity analysis is presented as supportive pair-level null evidence, not the primary test.  Primary analysis: Fig 7C (plain Spearman).  Omnibus pattern test: Supp Fig S12.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