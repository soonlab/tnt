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4572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48640"/>
            <a:ext cx="283464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Cascade Δ feature  ·  predicted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804672"/>
            <a:ext cx="141732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SBS5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↓ predicted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804672"/>
            <a:ext cx="1417320" cy="50292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IGH clonotypes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↑ predicted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60704"/>
            <a:ext cx="246888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Tumor-intrinsic baseline feature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24688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DSB repair (Reactome)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4688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DNA repair (Reactome)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4688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HRR (Reactome)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24688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E2F targets (Hallmark)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24688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G2-M checkpoint (Hallmark)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246888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Myc targets V2 (Hallmark)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371600"/>
            <a:ext cx="1417320" cy="548640"/>
          </a:xfrm>
          <a:prstGeom prst="rect">
            <a:avLst/>
          </a:prstGeom>
          <a:solidFill>
            <a:srgbClr val="2E908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35331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−0.51  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17720" y="1371600"/>
            <a:ext cx="1417320" cy="548640"/>
          </a:xfrm>
          <a:prstGeom prst="rect">
            <a:avLst/>
          </a:prstGeom>
          <a:solidFill>
            <a:srgbClr val="20887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35331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+0.55  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920240"/>
            <a:ext cx="1417320" cy="548640"/>
          </a:xfrm>
          <a:prstGeom prst="rect">
            <a:avLst/>
          </a:prstGeom>
          <a:solidFill>
            <a:srgbClr val="238A7D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190195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−0.54  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1920240"/>
            <a:ext cx="1417320" cy="548640"/>
          </a:xfrm>
          <a:prstGeom prst="rect">
            <a:avLst/>
          </a:prstGeom>
          <a:solidFill>
            <a:srgbClr val="238A7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90195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+0.54  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468880"/>
            <a:ext cx="1417320" cy="548640"/>
          </a:xfrm>
          <a:prstGeom prst="rect">
            <a:avLst/>
          </a:prstGeom>
          <a:solidFill>
            <a:srgbClr val="419A8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245059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−0.46  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2468880"/>
            <a:ext cx="1417320" cy="548640"/>
          </a:xfrm>
          <a:prstGeom prst="rect">
            <a:avLst/>
          </a:prstGeom>
          <a:solidFill>
            <a:srgbClr val="7EBAB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245059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+0.31  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017520"/>
            <a:ext cx="1417320" cy="548640"/>
          </a:xfrm>
          <a:prstGeom prst="rect">
            <a:avLst/>
          </a:prstGeom>
          <a:solidFill>
            <a:srgbClr val="499E9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299923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−0.45  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3017520"/>
            <a:ext cx="1417320" cy="548640"/>
          </a:xfrm>
          <a:prstGeom prst="rect">
            <a:avLst/>
          </a:prstGeom>
          <a:solidFill>
            <a:srgbClr val="81BCB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299923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+0.31  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566160"/>
            <a:ext cx="1417320" cy="548640"/>
          </a:xfrm>
          <a:prstGeom prst="rect">
            <a:avLst/>
          </a:prstGeom>
          <a:solidFill>
            <a:srgbClr val="3B978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354787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−0.48  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3566160"/>
            <a:ext cx="1417320" cy="548640"/>
          </a:xfrm>
          <a:prstGeom prst="rect">
            <a:avLst/>
          </a:prstGeom>
          <a:solidFill>
            <a:srgbClr val="81BCB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354787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+0.31  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4114800"/>
            <a:ext cx="1417320" cy="548640"/>
          </a:xfrm>
          <a:prstGeom prst="rect">
            <a:avLst/>
          </a:prstGeom>
          <a:solidFill>
            <a:srgbClr val="62ACA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0" y="409651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−0.38  ↓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4114800"/>
            <a:ext cx="1417320" cy="548640"/>
          </a:xfrm>
          <a:prstGeom prst="rect">
            <a:avLst/>
          </a:prstGeom>
          <a:solidFill>
            <a:srgbClr val="1A8577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4096512"/>
            <a:ext cx="1417320" cy="5486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+0.56  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1280160"/>
            <a:ext cx="246888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Arial"/>
              </a:rPr>
              <a:t>Cell-fill legend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1554480"/>
            <a:ext cx="256032" cy="164592"/>
          </a:xfrm>
          <a:prstGeom prst="rect">
            <a:avLst/>
          </a:prstGeom>
          <a:solidFill>
            <a:srgbClr val="2E908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21424" y="1536192"/>
            <a:ext cx="2121408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Teal = observed sign matches a priori prediction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1920240"/>
            <a:ext cx="246888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Fill intensity ∝ |Spearman r|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121408"/>
            <a:ext cx="62622" cy="182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53962" y="2121408"/>
            <a:ext cx="62622" cy="182880"/>
          </a:xfrm>
          <a:prstGeom prst="rect">
            <a:avLst/>
          </a:prstGeom>
          <a:solidFill>
            <a:srgbClr val="F8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15684" y="2121408"/>
            <a:ext cx="62622" cy="182880"/>
          </a:xfrm>
          <a:prstGeom prst="rect">
            <a:avLst/>
          </a:prstGeom>
          <a:solidFill>
            <a:srgbClr val="F2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77406" y="2121408"/>
            <a:ext cx="62622" cy="182880"/>
          </a:xfrm>
          <a:prstGeom prst="rect">
            <a:avLst/>
          </a:prstGeom>
          <a:solidFill>
            <a:srgbClr val="EC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39128" y="2121408"/>
            <a:ext cx="62622" cy="182880"/>
          </a:xfrm>
          <a:prstGeom prst="rect">
            <a:avLst/>
          </a:prstGeom>
          <a:solidFill>
            <a:srgbClr val="E5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800850" y="2121408"/>
            <a:ext cx="62622" cy="182880"/>
          </a:xfrm>
          <a:prstGeom prst="rect">
            <a:avLst/>
          </a:prstGeom>
          <a:solidFill>
            <a:srgbClr val="DFE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62572" y="2121408"/>
            <a:ext cx="62622" cy="182880"/>
          </a:xfrm>
          <a:prstGeom prst="rect">
            <a:avLst/>
          </a:prstGeom>
          <a:solidFill>
            <a:srgbClr val="D9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24294" y="2121408"/>
            <a:ext cx="62622" cy="182880"/>
          </a:xfrm>
          <a:prstGeom prst="rect">
            <a:avLst/>
          </a:prstGeom>
          <a:solidFill>
            <a:srgbClr val="D3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986016" y="2121408"/>
            <a:ext cx="62622" cy="182880"/>
          </a:xfrm>
          <a:prstGeom prst="rect">
            <a:avLst/>
          </a:prstGeom>
          <a:solidFill>
            <a:srgbClr val="CCE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047738" y="2121408"/>
            <a:ext cx="62622" cy="182880"/>
          </a:xfrm>
          <a:prstGeom prst="rect">
            <a:avLst/>
          </a:prstGeom>
          <a:solidFill>
            <a:srgbClr val="C6E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109460" y="2121408"/>
            <a:ext cx="62622" cy="182880"/>
          </a:xfrm>
          <a:prstGeom prst="rect">
            <a:avLst/>
          </a:prstGeom>
          <a:solidFill>
            <a:srgbClr val="C0DD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71182" y="2121408"/>
            <a:ext cx="62622" cy="182880"/>
          </a:xfrm>
          <a:prstGeom prst="rect">
            <a:avLst/>
          </a:prstGeom>
          <a:solidFill>
            <a:srgbClr val="B9DA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32904" y="2121408"/>
            <a:ext cx="62622" cy="182880"/>
          </a:xfrm>
          <a:prstGeom prst="rect">
            <a:avLst/>
          </a:prstGeom>
          <a:solidFill>
            <a:srgbClr val="B3D7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94626" y="2121408"/>
            <a:ext cx="62622" cy="182880"/>
          </a:xfrm>
          <a:prstGeom prst="rect">
            <a:avLst/>
          </a:prstGeom>
          <a:solidFill>
            <a:srgbClr val="ADD3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356348" y="2121408"/>
            <a:ext cx="62622" cy="182880"/>
          </a:xfrm>
          <a:prstGeom prst="rect">
            <a:avLst/>
          </a:prstGeom>
          <a:solidFill>
            <a:srgbClr val="A7D0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18070" y="2121408"/>
            <a:ext cx="62622" cy="182880"/>
          </a:xfrm>
          <a:prstGeom prst="rect">
            <a:avLst/>
          </a:prstGeom>
          <a:solidFill>
            <a:srgbClr val="A0CD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79792" y="2121408"/>
            <a:ext cx="62622" cy="182880"/>
          </a:xfrm>
          <a:prstGeom prst="rect">
            <a:avLst/>
          </a:prstGeom>
          <a:solidFill>
            <a:srgbClr val="9AC9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541514" y="2121408"/>
            <a:ext cx="62622" cy="182880"/>
          </a:xfrm>
          <a:prstGeom prst="rect">
            <a:avLst/>
          </a:prstGeom>
          <a:solidFill>
            <a:srgbClr val="94C6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603236" y="2121408"/>
            <a:ext cx="62622" cy="182880"/>
          </a:xfrm>
          <a:prstGeom prst="rect">
            <a:avLst/>
          </a:prstGeom>
          <a:solidFill>
            <a:srgbClr val="8D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64958" y="2121408"/>
            <a:ext cx="62622" cy="182880"/>
          </a:xfrm>
          <a:prstGeom prst="rect">
            <a:avLst/>
          </a:prstGeom>
          <a:solidFill>
            <a:srgbClr val="87B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26680" y="2121408"/>
            <a:ext cx="62622" cy="182880"/>
          </a:xfrm>
          <a:prstGeom prst="rect">
            <a:avLst/>
          </a:prstGeom>
          <a:solidFill>
            <a:srgbClr val="81B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88402" y="2121408"/>
            <a:ext cx="62622" cy="182880"/>
          </a:xfrm>
          <a:prstGeom prst="rect">
            <a:avLst/>
          </a:prstGeom>
          <a:solidFill>
            <a:srgbClr val="7BB9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850124" y="2121408"/>
            <a:ext cx="62622" cy="182880"/>
          </a:xfrm>
          <a:prstGeom prst="rect">
            <a:avLst/>
          </a:prstGeom>
          <a:solidFill>
            <a:srgbClr val="74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911846" y="2121408"/>
            <a:ext cx="62622" cy="182880"/>
          </a:xfrm>
          <a:prstGeom prst="rect">
            <a:avLst/>
          </a:prstGeom>
          <a:solidFill>
            <a:srgbClr val="6EB2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973568" y="2121408"/>
            <a:ext cx="62622" cy="182880"/>
          </a:xfrm>
          <a:prstGeom prst="rect">
            <a:avLst/>
          </a:prstGeom>
          <a:solidFill>
            <a:srgbClr val="68A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35290" y="2121408"/>
            <a:ext cx="62622" cy="182880"/>
          </a:xfrm>
          <a:prstGeom prst="rect">
            <a:avLst/>
          </a:prstGeom>
          <a:solidFill>
            <a:srgbClr val="61AB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097012" y="2121408"/>
            <a:ext cx="62622" cy="182880"/>
          </a:xfrm>
          <a:prstGeom prst="rect">
            <a:avLst/>
          </a:prstGeom>
          <a:solidFill>
            <a:srgbClr val="5BA8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58734" y="2121408"/>
            <a:ext cx="62622" cy="182880"/>
          </a:xfrm>
          <a:prstGeom prst="rect">
            <a:avLst/>
          </a:prstGeom>
          <a:solidFill>
            <a:srgbClr val="55A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20456" y="2121408"/>
            <a:ext cx="62622" cy="182880"/>
          </a:xfrm>
          <a:prstGeom prst="rect">
            <a:avLst/>
          </a:prstGeom>
          <a:solidFill>
            <a:srgbClr val="4FA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282178" y="2121408"/>
            <a:ext cx="62622" cy="182880"/>
          </a:xfrm>
          <a:prstGeom prst="rect">
            <a:avLst/>
          </a:prstGeom>
          <a:solidFill>
            <a:srgbClr val="489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343900" y="2121408"/>
            <a:ext cx="62622" cy="182880"/>
          </a:xfrm>
          <a:prstGeom prst="rect">
            <a:avLst/>
          </a:prstGeom>
          <a:solidFill>
            <a:srgbClr val="429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405622" y="2121408"/>
            <a:ext cx="62622" cy="182880"/>
          </a:xfrm>
          <a:prstGeom prst="rect">
            <a:avLst/>
          </a:prstGeom>
          <a:solidFill>
            <a:srgbClr val="3C97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467344" y="2121408"/>
            <a:ext cx="62622" cy="182880"/>
          </a:xfrm>
          <a:prstGeom prst="rect">
            <a:avLst/>
          </a:prstGeom>
          <a:solidFill>
            <a:srgbClr val="35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529066" y="2121408"/>
            <a:ext cx="62622" cy="182880"/>
          </a:xfrm>
          <a:prstGeom prst="rect">
            <a:avLst/>
          </a:prstGeom>
          <a:solidFill>
            <a:srgbClr val="2F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590788" y="2121408"/>
            <a:ext cx="62622" cy="182880"/>
          </a:xfrm>
          <a:prstGeom prst="rect">
            <a:avLst/>
          </a:prstGeom>
          <a:solidFill>
            <a:srgbClr val="298D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652510" y="2121408"/>
            <a:ext cx="62622" cy="182880"/>
          </a:xfrm>
          <a:prstGeom prst="rect">
            <a:avLst/>
          </a:prstGeom>
          <a:solidFill>
            <a:srgbClr val="238A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714232" y="2121408"/>
            <a:ext cx="62622" cy="182880"/>
          </a:xfrm>
          <a:prstGeom prst="rect">
            <a:avLst/>
          </a:prstGeom>
          <a:solidFill>
            <a:srgbClr val="1C8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75954" y="2121408"/>
            <a:ext cx="62622" cy="182880"/>
          </a:xfrm>
          <a:prstGeom prst="rect">
            <a:avLst/>
          </a:prstGeom>
          <a:solidFill>
            <a:srgbClr val="1683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837676" y="2121408"/>
            <a:ext cx="62622" cy="182880"/>
          </a:xfrm>
          <a:prstGeom prst="rect">
            <a:avLst/>
          </a:prstGeom>
          <a:solidFill>
            <a:srgbClr val="1080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899398" y="2121408"/>
            <a:ext cx="62622" cy="182880"/>
          </a:xfrm>
          <a:prstGeom prst="rect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92240" y="2121408"/>
            <a:ext cx="2468880" cy="182880"/>
          </a:xfrm>
          <a:prstGeom prst="rect">
            <a:avLst/>
          </a:prstGeom>
          <a:noFill/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17920" y="2322576"/>
            <a:ext cx="5486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|r| = 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452360" y="2322576"/>
            <a:ext cx="5486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0.30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800" y="2322576"/>
            <a:ext cx="54864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≥ 0.60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0400" y="4846320"/>
            <a:ext cx="1417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Block 1: 6/6 concordant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binomial P = 0.0156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17720" y="4846320"/>
            <a:ext cx="141732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Block 2: 6/6 concordant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binomial P = 0.0156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40080" y="5440680"/>
            <a:ext cx="7772400" cy="566928"/>
          </a:xfrm>
          <a:prstGeom prst="roundRect">
            <a:avLst/>
          </a:prstGeom>
          <a:solidFill>
            <a:srgbClr val="D2E7E4"/>
          </a:solidFill>
          <a:ln w="1905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9808" y="5477256"/>
            <a:ext cx="7552944" cy="49377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Combined block:  12/12 cells in predicted direction.  One-sided binomial P = 0.000244  (= 1/4096 ≈ 2.4 × 10⁻⁴).  Cross-validated by 1000-iter sign-permutation in Panel B.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190488"/>
            <a:ext cx="7772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Pre-specification (a priori from thesis, not post-hoc): 6 baselines are the tumor-intrinsic proliferation/repair components defined in §3.3.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0080" y="6373368"/>
            <a:ext cx="7772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Δ SBS5 predicted ↓: radiation kills proliferating cells → their SBS5 mutations clear (higher baseline → more clearance).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6556248"/>
            <a:ext cx="77724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Δ IGH clonotypes predicted ↑: radiation-released antigen drives B-cell repertoire expansion (higher baseline → larger antigen pulse → larger Δ IGH).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4572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2468880"/>
            <a:ext cx="109728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Permutation</a:t>
            </a:r>
          </a:p>
          <a:p>
            <a:pPr algn="r"/>
            <a:r>
              <a:rPr sz="900" b="1">
                <a:solidFill>
                  <a:srgbClr val="000000"/>
                </a:solidFill>
                <a:latin typeface="Arial"/>
              </a:rPr>
              <a:t>iterations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166360"/>
            <a:ext cx="7223760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Cells matching predicted direction (out of 12)  —  sign-flip permutation null (1000 iters)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71600" y="4754880"/>
            <a:ext cx="7223760" cy="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71600" y="1188720"/>
            <a:ext cx="0" cy="3566160"/>
          </a:xfrm>
          <a:prstGeom prst="line">
            <a:avLst/>
          </a:prstGeom>
          <a:ln w="952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16736" y="4754880.0"/>
            <a:ext cx="54864" cy="0.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04672" y="466344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16736" y="4041648.0"/>
            <a:ext cx="54864" cy="0.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3950208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16736" y="3328416.0"/>
            <a:ext cx="54864" cy="0.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2" y="3236976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16736" y="2615184.0"/>
            <a:ext cx="54864" cy="0.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04672" y="2523744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16736" y="1901952.0"/>
            <a:ext cx="54864" cy="0.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04672" y="1810512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16736" y="1188720.0"/>
            <a:ext cx="54864" cy="0.0"/>
          </a:xfrm>
          <a:prstGeom prst="line">
            <a:avLst/>
          </a:prstGeom>
          <a:ln w="635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4672" y="109728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08176" y="4754880"/>
            <a:ext cx="482521" cy="0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3849" y="4683557"/>
            <a:ext cx="482521" cy="71323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7273" y="4500677"/>
            <a:ext cx="555673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7273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19523" y="4483852"/>
            <a:ext cx="482521" cy="271028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82947" y="4300972"/>
            <a:ext cx="555673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82947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75197" y="4112972"/>
            <a:ext cx="482521" cy="641908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38621" y="3930092"/>
            <a:ext cx="555673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38621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0871" y="2829154"/>
            <a:ext cx="482521" cy="1925726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94295" y="2646274"/>
            <a:ext cx="555673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135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94295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6545" y="1901952"/>
            <a:ext cx="482521" cy="2852928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9969" y="1719072"/>
            <a:ext cx="555673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49969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42219" y="1716512"/>
            <a:ext cx="482521" cy="3038368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5643" y="1533632"/>
            <a:ext cx="555673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5643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97892" y="1987540"/>
            <a:ext cx="482521" cy="2767340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61316" y="1804660"/>
            <a:ext cx="555673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61316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3566" y="3028859"/>
            <a:ext cx="482521" cy="1726021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16990" y="2845979"/>
            <a:ext cx="555673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16990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9240" y="4041648"/>
            <a:ext cx="482521" cy="713232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72664" y="3858768"/>
            <a:ext cx="555673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72664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964914" y="4540911"/>
            <a:ext cx="482521" cy="213969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28338" y="4358031"/>
            <a:ext cx="555673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28338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520588" y="4712087"/>
            <a:ext cx="482521" cy="42793"/>
          </a:xfrm>
          <a:prstGeom prst="rect">
            <a:avLst/>
          </a:prstGeom>
          <a:solidFill>
            <a:srgbClr val="7890B0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84012" y="4529207"/>
            <a:ext cx="555673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84012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76262" y="4754880"/>
            <a:ext cx="482521" cy="0"/>
          </a:xfrm>
          <a:prstGeom prst="rect">
            <a:avLst/>
          </a:prstGeom>
          <a:solidFill>
            <a:srgbClr val="C53E1F"/>
          </a:solidFill>
          <a:ln w="635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39686" y="4800600"/>
            <a:ext cx="555673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71600" y="5623560"/>
            <a:ext cx="7223760" cy="777240"/>
          </a:xfrm>
          <a:prstGeom prst="roundRect">
            <a:avLst/>
          </a:prstGeom>
          <a:solidFill>
            <a:srgbClr val="E6F2F0"/>
          </a:solidFill>
          <a:ln w="15875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81328" y="5669280"/>
            <a:ext cx="7004304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Analytical binomial sign test (one-sided):  P = 0.000244   (= 1/4096 = 2.44 × 10⁻⁴).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Sign-flip permutation null (1000 iterations, seed = 20260527):  P_empirical = &lt; 0.0010  (0 of 1000 perms reached ≥ 12 concordant; max in null = 11).</a:t>
            </a:r>
          </a:p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Both methods agree to within sampling resolution of 10⁻³; the analytical value is the formal P quoted in the manuscript.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