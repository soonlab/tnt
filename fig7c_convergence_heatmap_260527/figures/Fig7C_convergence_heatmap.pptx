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594360"/>
            <a:ext cx="3364992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features (radiation-phase dynamics)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96112"/>
            <a:ext cx="84124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CD8-cytotoxic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8768" y="896112"/>
            <a:ext cx="84124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16" y="896112"/>
            <a:ext cx="84124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MHC-II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1264" y="896112"/>
            <a:ext cx="841248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Treg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43584"/>
            <a:ext cx="19202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Baseline tumor-intrinsic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MHC-II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MSI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Genomic amp fraction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554480"/>
            <a:ext cx="841248" cy="457200"/>
          </a:xfrm>
          <a:prstGeom prst="rect">
            <a:avLst/>
          </a:prstGeom>
          <a:solidFill>
            <a:srgbClr val="B4CBE3"/>
          </a:solidFill>
          <a:ln w="31750">
            <a:solidFill>
              <a:srgbClr val="DAA5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554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1554480"/>
            <a:ext cx="841248" cy="457200"/>
          </a:xfrm>
          <a:prstGeom prst="rect">
            <a:avLst/>
          </a:prstGeom>
          <a:solidFill>
            <a:srgbClr val="BE3C4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1554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+0.42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0016" y="1554480"/>
            <a:ext cx="841248" cy="457200"/>
          </a:xfrm>
          <a:prstGeom prst="rect">
            <a:avLst/>
          </a:prstGeom>
          <a:solidFill>
            <a:srgbClr val="CEDDE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0016" y="1554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41264" y="1554480"/>
            <a:ext cx="841248" cy="457200"/>
          </a:xfrm>
          <a:prstGeom prst="rect">
            <a:avLst/>
          </a:prstGeom>
          <a:solidFill>
            <a:srgbClr val="E5EDF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1264" y="1554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011680"/>
            <a:ext cx="841248" cy="457200"/>
          </a:xfrm>
          <a:prstGeom prst="rect">
            <a:avLst/>
          </a:prstGeom>
          <a:solidFill>
            <a:srgbClr val="E0E9F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011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58768" y="2011680"/>
            <a:ext cx="841248" cy="457200"/>
          </a:xfrm>
          <a:prstGeom prst="rect">
            <a:avLst/>
          </a:prstGeom>
          <a:solidFill>
            <a:srgbClr val="BD3A4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011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+0.43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0016" y="2011680"/>
            <a:ext cx="841248" cy="457200"/>
          </a:xfrm>
          <a:prstGeom prst="rect">
            <a:avLst/>
          </a:prstGeom>
          <a:solidFill>
            <a:srgbClr val="F1F5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2011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41264" y="2011680"/>
            <a:ext cx="841248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2011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2468880"/>
            <a:ext cx="841248" cy="457200"/>
          </a:xfrm>
          <a:prstGeom prst="rect">
            <a:avLst/>
          </a:prstGeom>
          <a:solidFill>
            <a:srgbClr val="F0D3D7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468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+0.09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58768" y="2468880"/>
            <a:ext cx="841248" cy="457200"/>
          </a:xfrm>
          <a:prstGeom prst="rect">
            <a:avLst/>
          </a:prstGeom>
          <a:solidFill>
            <a:srgbClr val="E3ADB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8768" y="2468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0016" y="2468880"/>
            <a:ext cx="841248" cy="457200"/>
          </a:xfrm>
          <a:prstGeom prst="rect">
            <a:avLst/>
          </a:prstGeom>
          <a:solidFill>
            <a:srgbClr val="9DBBD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0016" y="2468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41264" y="2468880"/>
            <a:ext cx="841248" cy="457200"/>
          </a:xfrm>
          <a:prstGeom prst="rect">
            <a:avLst/>
          </a:prstGeom>
          <a:solidFill>
            <a:srgbClr val="B8CEE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41264" y="2468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926080"/>
            <a:ext cx="841248" cy="457200"/>
          </a:xfrm>
          <a:prstGeom prst="rect">
            <a:avLst/>
          </a:prstGeom>
          <a:solidFill>
            <a:srgbClr val="EFD0D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2926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58768" y="2926080"/>
            <a:ext cx="841248" cy="457200"/>
          </a:xfrm>
          <a:prstGeom prst="rect">
            <a:avLst/>
          </a:prstGeom>
          <a:solidFill>
            <a:srgbClr val="DFA0A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58768" y="2926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0016" y="2926080"/>
            <a:ext cx="841248" cy="457200"/>
          </a:xfrm>
          <a:prstGeom prst="rect">
            <a:avLst/>
          </a:prstGeom>
          <a:solidFill>
            <a:srgbClr val="99B9D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2926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−0.23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26080"/>
            <a:ext cx="841248" cy="457200"/>
          </a:xfrm>
          <a:prstGeom prst="rect">
            <a:avLst/>
          </a:prstGeom>
          <a:solidFill>
            <a:srgbClr val="CFDDE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1264" y="2926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383280"/>
            <a:ext cx="841248" cy="457200"/>
          </a:xfrm>
          <a:prstGeom prst="rect">
            <a:avLst/>
          </a:prstGeom>
          <a:solidFill>
            <a:srgbClr val="EFD0D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33832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58768" y="3383280"/>
            <a:ext cx="841248" cy="457200"/>
          </a:xfrm>
          <a:prstGeom prst="rect">
            <a:avLst/>
          </a:prstGeom>
          <a:solidFill>
            <a:srgbClr val="DFA0A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58768" y="33832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00016" y="3383280"/>
            <a:ext cx="841248" cy="457200"/>
          </a:xfrm>
          <a:prstGeom prst="rect">
            <a:avLst/>
          </a:prstGeom>
          <a:solidFill>
            <a:srgbClr val="99B9D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00016" y="33832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41264" y="3383280"/>
            <a:ext cx="841248" cy="457200"/>
          </a:xfrm>
          <a:prstGeom prst="rect">
            <a:avLst/>
          </a:prstGeom>
          <a:solidFill>
            <a:srgbClr val="CFDDE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1264" y="33832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3840480"/>
            <a:ext cx="841248" cy="457200"/>
          </a:xfrm>
          <a:prstGeom prst="rect">
            <a:avLst/>
          </a:prstGeom>
          <a:solidFill>
            <a:srgbClr val="F5F8F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3840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58768" y="3840480"/>
            <a:ext cx="841248" cy="457200"/>
          </a:xfrm>
          <a:prstGeom prst="rect">
            <a:avLst/>
          </a:prstGeom>
          <a:solidFill>
            <a:srgbClr val="B7293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58768" y="3840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+0.46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00016" y="3840480"/>
            <a:ext cx="841248" cy="457200"/>
          </a:xfrm>
          <a:prstGeom prst="rect">
            <a:avLst/>
          </a:prstGeom>
          <a:solidFill>
            <a:srgbClr val="E9F0F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00016" y="3840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41264" y="3840480"/>
            <a:ext cx="841248" cy="457200"/>
          </a:xfrm>
          <a:prstGeom prst="rect">
            <a:avLst/>
          </a:prstGeom>
          <a:solidFill>
            <a:srgbClr val="FBFCF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41264" y="38404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4297680"/>
            <a:ext cx="841248" cy="457200"/>
          </a:xfrm>
          <a:prstGeom prst="rect">
            <a:avLst/>
          </a:prstGeom>
          <a:solidFill>
            <a:srgbClr val="2A6CA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0" y="4297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−0.48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58768" y="4297680"/>
            <a:ext cx="841248" cy="457200"/>
          </a:xfrm>
          <a:prstGeom prst="rect">
            <a:avLst/>
          </a:prstGeom>
          <a:solidFill>
            <a:srgbClr val="DB949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58768" y="4297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0016" y="4297680"/>
            <a:ext cx="841248" cy="457200"/>
          </a:xfrm>
          <a:prstGeom prst="rect">
            <a:avLst/>
          </a:prstGeom>
          <a:solidFill>
            <a:srgbClr val="568BC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00016" y="4297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−0.38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297680"/>
            <a:ext cx="841248" cy="457200"/>
          </a:xfrm>
          <a:prstGeom prst="rect">
            <a:avLst/>
          </a:prstGeom>
          <a:solidFill>
            <a:srgbClr val="EFF4F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41264" y="42976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754880"/>
            <a:ext cx="841248" cy="457200"/>
          </a:xfrm>
          <a:prstGeom prst="rect">
            <a:avLst/>
          </a:prstGeom>
          <a:solidFill>
            <a:srgbClr val="4780B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7520" y="4754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−0.41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58768" y="4754880"/>
            <a:ext cx="841248" cy="457200"/>
          </a:xfrm>
          <a:prstGeom prst="rect">
            <a:avLst/>
          </a:prstGeom>
          <a:solidFill>
            <a:srgbClr val="EDC9C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58768" y="4754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00016" y="4754880"/>
            <a:ext cx="841248" cy="457200"/>
          </a:xfrm>
          <a:prstGeom prst="rect">
            <a:avLst/>
          </a:prstGeom>
          <a:solidFill>
            <a:srgbClr val="D3E1E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00016" y="4754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41264" y="4754880"/>
            <a:ext cx="841248" cy="457200"/>
          </a:xfrm>
          <a:prstGeom prst="rect">
            <a:avLst/>
          </a:prstGeom>
          <a:solidFill>
            <a:srgbClr val="D88B9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41264" y="47548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+0.25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5212080"/>
            <a:ext cx="841248" cy="457200"/>
          </a:xfrm>
          <a:prstGeom prst="rect">
            <a:avLst/>
          </a:prstGeom>
          <a:solidFill>
            <a:srgbClr val="DB959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20" y="5212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+0.23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58768" y="5212080"/>
            <a:ext cx="841248" cy="457200"/>
          </a:xfrm>
          <a:prstGeom prst="rect">
            <a:avLst/>
          </a:prstGeom>
          <a:solidFill>
            <a:srgbClr val="F3DBD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58768" y="5212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+0.08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00016" y="5212080"/>
            <a:ext cx="841248" cy="457200"/>
          </a:xfrm>
          <a:prstGeom prst="rect">
            <a:avLst/>
          </a:prstGeom>
          <a:solidFill>
            <a:srgbClr val="F8EAE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00016" y="5212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+0.04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41264" y="5212080"/>
            <a:ext cx="841248" cy="457200"/>
          </a:xfrm>
          <a:prstGeom prst="rect">
            <a:avLst/>
          </a:prstGeom>
          <a:solidFill>
            <a:srgbClr val="6192C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41264" y="5212080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−0.35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56832" y="1243584"/>
            <a:ext cx="14630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Partial Spearman 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85432" y="1554480"/>
            <a:ext cx="237744" cy="42048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885432" y="1595628"/>
            <a:ext cx="237744" cy="42048"/>
          </a:xfrm>
          <a:prstGeom prst="rect">
            <a:avLst/>
          </a:prstGeom>
          <a:solidFill>
            <a:srgbClr val="B3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85432" y="1636776"/>
            <a:ext cx="237744" cy="42048"/>
          </a:xfrm>
          <a:prstGeom prst="rect">
            <a:avLst/>
          </a:prstGeom>
          <a:solidFill>
            <a:srgbClr val="B5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885432" y="1677924"/>
            <a:ext cx="237744" cy="42048"/>
          </a:xfrm>
          <a:prstGeom prst="rect">
            <a:avLst/>
          </a:prstGeom>
          <a:solidFill>
            <a:srgbClr val="B6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885432" y="1719072"/>
            <a:ext cx="237744" cy="42048"/>
          </a:xfrm>
          <a:prstGeom prst="rect">
            <a:avLst/>
          </a:prstGeom>
          <a:solidFill>
            <a:srgbClr val="B8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85432" y="1760220"/>
            <a:ext cx="237744" cy="42048"/>
          </a:xfrm>
          <a:prstGeom prst="rect">
            <a:avLst/>
          </a:prstGeom>
          <a:solidFill>
            <a:srgbClr val="B9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85432" y="1801368"/>
            <a:ext cx="237744" cy="42048"/>
          </a:xfrm>
          <a:prstGeom prst="rect">
            <a:avLst/>
          </a:prstGeom>
          <a:solidFill>
            <a:srgbClr val="BB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885432" y="1842516"/>
            <a:ext cx="237744" cy="42048"/>
          </a:xfrm>
          <a:prstGeom prst="rect">
            <a:avLst/>
          </a:prstGeom>
          <a:solidFill>
            <a:srgbClr val="B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885432" y="1883664"/>
            <a:ext cx="237744" cy="42048"/>
          </a:xfrm>
          <a:prstGeom prst="rect">
            <a:avLst/>
          </a:prstGeom>
          <a:solidFill>
            <a:srgbClr val="BE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885432" y="1924812"/>
            <a:ext cx="237744" cy="42048"/>
          </a:xfrm>
          <a:prstGeom prst="rect">
            <a:avLst/>
          </a:prstGeom>
          <a:solidFill>
            <a:srgbClr val="C04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885432" y="1965960"/>
            <a:ext cx="237744" cy="42048"/>
          </a:xfrm>
          <a:prstGeom prst="rect">
            <a:avLst/>
          </a:prstGeom>
          <a:solidFill>
            <a:srgbClr val="C1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885432" y="2007108"/>
            <a:ext cx="237744" cy="42048"/>
          </a:xfrm>
          <a:prstGeom prst="rect">
            <a:avLst/>
          </a:prstGeom>
          <a:solidFill>
            <a:srgbClr val="C34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885432" y="2048256"/>
            <a:ext cx="237744" cy="42048"/>
          </a:xfrm>
          <a:prstGeom prst="rect">
            <a:avLst/>
          </a:prstGeom>
          <a:solidFill>
            <a:srgbClr val="C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885432" y="2089404"/>
            <a:ext cx="237744" cy="42048"/>
          </a:xfrm>
          <a:prstGeom prst="rect">
            <a:avLst/>
          </a:prstGeom>
          <a:solidFill>
            <a:srgbClr val="C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85432" y="2130552"/>
            <a:ext cx="237744" cy="42048"/>
          </a:xfrm>
          <a:prstGeom prst="rect">
            <a:avLst/>
          </a:prstGeom>
          <a:solidFill>
            <a:srgbClr val="C75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885432" y="2171700"/>
            <a:ext cx="237744" cy="42048"/>
          </a:xfrm>
          <a:prstGeom prst="rect">
            <a:avLst/>
          </a:prstGeom>
          <a:solidFill>
            <a:srgbClr val="C9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885432" y="2212848"/>
            <a:ext cx="237744" cy="42048"/>
          </a:xfrm>
          <a:prstGeom prst="rect">
            <a:avLst/>
          </a:prstGeom>
          <a:solidFill>
            <a:srgbClr val="CA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85432" y="2253996"/>
            <a:ext cx="237744" cy="42048"/>
          </a:xfrm>
          <a:prstGeom prst="rect">
            <a:avLst/>
          </a:prstGeom>
          <a:solidFill>
            <a:srgbClr val="C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885432" y="2295144"/>
            <a:ext cx="237744" cy="42048"/>
          </a:xfrm>
          <a:prstGeom prst="rect">
            <a:avLst/>
          </a:prstGeom>
          <a:solidFill>
            <a:srgbClr val="CE6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885432" y="2336292"/>
            <a:ext cx="237744" cy="42048"/>
          </a:xfrm>
          <a:prstGeom prst="rect">
            <a:avLst/>
          </a:prstGeom>
          <a:solidFill>
            <a:srgbClr val="CF7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885432" y="2377440"/>
            <a:ext cx="237744" cy="42048"/>
          </a:xfrm>
          <a:prstGeom prst="rect">
            <a:avLst/>
          </a:prstGeom>
          <a:solidFill>
            <a:srgbClr val="D1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885432" y="2418588"/>
            <a:ext cx="237744" cy="42048"/>
          </a:xfrm>
          <a:prstGeom prst="rect">
            <a:avLst/>
          </a:prstGeom>
          <a:solidFill>
            <a:srgbClr val="D2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885432" y="2459736"/>
            <a:ext cx="237744" cy="42048"/>
          </a:xfrm>
          <a:prstGeom prst="rect">
            <a:avLst/>
          </a:prstGeom>
          <a:solidFill>
            <a:srgbClr val="D4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85432" y="2500884"/>
            <a:ext cx="237744" cy="42048"/>
          </a:xfrm>
          <a:prstGeom prst="rect">
            <a:avLst/>
          </a:prstGeom>
          <a:solidFill>
            <a:srgbClr val="D58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885432" y="2542032"/>
            <a:ext cx="237744" cy="42048"/>
          </a:xfrm>
          <a:prstGeom prst="rect">
            <a:avLst/>
          </a:prstGeom>
          <a:solidFill>
            <a:srgbClr val="D7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885432" y="2583180"/>
            <a:ext cx="237744" cy="42048"/>
          </a:xfrm>
          <a:prstGeom prst="rect">
            <a:avLst/>
          </a:prstGeom>
          <a:solidFill>
            <a:srgbClr val="D8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885432" y="2624328"/>
            <a:ext cx="237744" cy="42048"/>
          </a:xfrm>
          <a:prstGeom prst="rect">
            <a:avLst/>
          </a:prstGeom>
          <a:solidFill>
            <a:srgbClr val="DA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885432" y="2665476"/>
            <a:ext cx="237744" cy="42048"/>
          </a:xfrm>
          <a:prstGeom prst="rect">
            <a:avLst/>
          </a:prstGeom>
          <a:solidFill>
            <a:srgbClr val="DC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885432" y="2706624"/>
            <a:ext cx="237744" cy="42048"/>
          </a:xfrm>
          <a:prstGeom prst="rect">
            <a:avLst/>
          </a:prstGeom>
          <a:solidFill>
            <a:srgbClr val="DD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885432" y="2747772"/>
            <a:ext cx="237744" cy="42048"/>
          </a:xfrm>
          <a:prstGeom prst="rect">
            <a:avLst/>
          </a:prstGeom>
          <a:solidFill>
            <a:srgbClr val="DF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885432" y="2788920"/>
            <a:ext cx="237744" cy="42048"/>
          </a:xfrm>
          <a:prstGeom prst="rect">
            <a:avLst/>
          </a:prstGeom>
          <a:solidFill>
            <a:srgbClr val="E0A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885432" y="2830068"/>
            <a:ext cx="237744" cy="42048"/>
          </a:xfrm>
          <a:prstGeom prst="rect">
            <a:avLst/>
          </a:prstGeom>
          <a:solidFill>
            <a:srgbClr val="E2A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885432" y="2871216"/>
            <a:ext cx="237744" cy="42048"/>
          </a:xfrm>
          <a:prstGeom prst="rect">
            <a:avLst/>
          </a:prstGeom>
          <a:solidFill>
            <a:srgbClr val="E3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885432" y="2912364"/>
            <a:ext cx="237744" cy="42048"/>
          </a:xfrm>
          <a:prstGeom prst="rect">
            <a:avLst/>
          </a:prstGeom>
          <a:solidFill>
            <a:srgbClr val="E5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885432" y="2953512"/>
            <a:ext cx="237744" cy="42048"/>
          </a:xfrm>
          <a:prstGeom prst="rect">
            <a:avLst/>
          </a:prstGeom>
          <a:solidFill>
            <a:srgbClr val="E6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885432" y="2994660"/>
            <a:ext cx="237744" cy="42048"/>
          </a:xfrm>
          <a:prstGeom prst="rect">
            <a:avLst/>
          </a:prstGeom>
          <a:solidFill>
            <a:srgbClr val="E8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885432" y="3035808"/>
            <a:ext cx="237744" cy="42048"/>
          </a:xfrm>
          <a:prstGeom prst="rect">
            <a:avLst/>
          </a:prstGeom>
          <a:solidFill>
            <a:srgbClr val="EAC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85432" y="3076956"/>
            <a:ext cx="237744" cy="42048"/>
          </a:xfrm>
          <a:prstGeom prst="rect">
            <a:avLst/>
          </a:prstGeom>
          <a:solidFill>
            <a:srgbClr val="EB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885432" y="3118104"/>
            <a:ext cx="237744" cy="42048"/>
          </a:xfrm>
          <a:prstGeom prst="rect">
            <a:avLst/>
          </a:prstGeom>
          <a:solidFill>
            <a:srgbClr val="EDC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885432" y="3159252"/>
            <a:ext cx="237744" cy="42048"/>
          </a:xfrm>
          <a:prstGeom prst="rect">
            <a:avLst/>
          </a:prstGeom>
          <a:solidFill>
            <a:srgbClr val="EEC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885432" y="3200400"/>
            <a:ext cx="237744" cy="42048"/>
          </a:xfrm>
          <a:prstGeom prst="rect">
            <a:avLst/>
          </a:prstGeom>
          <a:solidFill>
            <a:srgbClr val="F0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885432" y="3241548"/>
            <a:ext cx="237744" cy="42048"/>
          </a:xfrm>
          <a:prstGeom prst="rect">
            <a:avLst/>
          </a:prstGeom>
          <a:solidFill>
            <a:srgbClr val="F1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85432" y="3282696"/>
            <a:ext cx="237744" cy="42048"/>
          </a:xfrm>
          <a:prstGeom prst="rect">
            <a:avLst/>
          </a:prstGeom>
          <a:solidFill>
            <a:srgbClr val="F3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885432" y="3323844"/>
            <a:ext cx="237744" cy="42048"/>
          </a:xfrm>
          <a:prstGeom prst="rect">
            <a:avLst/>
          </a:prstGeom>
          <a:solidFill>
            <a:srgbClr val="F4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885432" y="3364992"/>
            <a:ext cx="237744" cy="42048"/>
          </a:xfrm>
          <a:prstGeom prst="rect">
            <a:avLst/>
          </a:prstGeom>
          <a:solidFill>
            <a:srgbClr val="F6E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885432" y="3406140"/>
            <a:ext cx="237744" cy="42048"/>
          </a:xfrm>
          <a:prstGeom prst="rect">
            <a:avLst/>
          </a:prstGeom>
          <a:solidFill>
            <a:srgbClr val="F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885432" y="3447288"/>
            <a:ext cx="237744" cy="42048"/>
          </a:xfrm>
          <a:prstGeom prst="rect">
            <a:avLst/>
          </a:prstGeom>
          <a:solidFill>
            <a:srgbClr val="F9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885432" y="3488436"/>
            <a:ext cx="237744" cy="42048"/>
          </a:xfrm>
          <a:prstGeom prst="rect">
            <a:avLst/>
          </a:prstGeom>
          <a:solidFill>
            <a:srgbClr val="FB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885432" y="3529584"/>
            <a:ext cx="237744" cy="42048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85432" y="3570732"/>
            <a:ext cx="237744" cy="4204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885432" y="3611880"/>
            <a:ext cx="237744" cy="42048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885432" y="3653028"/>
            <a:ext cx="237744" cy="42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885432" y="3694176"/>
            <a:ext cx="237744" cy="4204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885432" y="3735324"/>
            <a:ext cx="237744" cy="42048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885432" y="3776472"/>
            <a:ext cx="237744" cy="4204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85432" y="3817620"/>
            <a:ext cx="237744" cy="42048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885432" y="3858768"/>
            <a:ext cx="237744" cy="42048"/>
          </a:xfrm>
          <a:prstGeom prst="rect">
            <a:avLst/>
          </a:prstGeom>
          <a:solidFill>
            <a:srgbClr val="E1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885432" y="3899916"/>
            <a:ext cx="237744" cy="42048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885432" y="3941064"/>
            <a:ext cx="237744" cy="42048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885432" y="3982212"/>
            <a:ext cx="237744" cy="42048"/>
          </a:xfrm>
          <a:prstGeom prst="rect">
            <a:avLst/>
          </a:prstGeom>
          <a:solidFill>
            <a:srgbClr val="D4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885432" y="4023360"/>
            <a:ext cx="237744" cy="42048"/>
          </a:xfrm>
          <a:prstGeom prst="rect">
            <a:avLst/>
          </a:prstGeom>
          <a:solidFill>
            <a:srgbClr val="CF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85432" y="4064508"/>
            <a:ext cx="237744" cy="42048"/>
          </a:xfrm>
          <a:prstGeom prst="rect">
            <a:avLst/>
          </a:prstGeom>
          <a:solidFill>
            <a:srgbClr val="CB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885432" y="4105656"/>
            <a:ext cx="237744" cy="42048"/>
          </a:xfrm>
          <a:prstGeom prst="rect">
            <a:avLst/>
          </a:prstGeom>
          <a:solidFill>
            <a:srgbClr val="C6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885432" y="4146804"/>
            <a:ext cx="237744" cy="42048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885432" y="4187952"/>
            <a:ext cx="237744" cy="42048"/>
          </a:xfrm>
          <a:prstGeom prst="rect">
            <a:avLst/>
          </a:prstGeom>
          <a:solidFill>
            <a:srgbClr val="BD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885432" y="4229100"/>
            <a:ext cx="237744" cy="42048"/>
          </a:xfrm>
          <a:prstGeom prst="rect">
            <a:avLst/>
          </a:prstGeom>
          <a:solidFill>
            <a:srgbClr val="B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885432" y="4270248"/>
            <a:ext cx="237744" cy="42048"/>
          </a:xfrm>
          <a:prstGeom prst="rect">
            <a:avLst/>
          </a:prstGeom>
          <a:solidFill>
            <a:srgbClr val="B5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85432" y="4311396"/>
            <a:ext cx="237744" cy="42048"/>
          </a:xfrm>
          <a:prstGeom prst="rect">
            <a:avLst/>
          </a:prstGeom>
          <a:solidFill>
            <a:srgbClr val="B0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885432" y="4352544"/>
            <a:ext cx="237744" cy="42048"/>
          </a:xfrm>
          <a:prstGeom prst="rect">
            <a:avLst/>
          </a:prstGeom>
          <a:solidFill>
            <a:srgbClr val="AC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885432" y="4393692"/>
            <a:ext cx="237744" cy="42048"/>
          </a:xfrm>
          <a:prstGeom prst="rect">
            <a:avLst/>
          </a:prstGeom>
          <a:solidFill>
            <a:srgbClr val="A7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885432" y="4434840"/>
            <a:ext cx="237744" cy="42048"/>
          </a:xfrm>
          <a:prstGeom prst="rect">
            <a:avLst/>
          </a:prstGeom>
          <a:solidFill>
            <a:srgbClr val="A3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85432" y="4475988"/>
            <a:ext cx="237744" cy="42048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85432" y="4517136"/>
            <a:ext cx="237744" cy="42048"/>
          </a:xfrm>
          <a:prstGeom prst="rect">
            <a:avLst/>
          </a:prstGeom>
          <a:solidFill>
            <a:srgbClr val="9A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85432" y="4558284"/>
            <a:ext cx="237744" cy="42048"/>
          </a:xfrm>
          <a:prstGeom prst="rect">
            <a:avLst/>
          </a:prstGeom>
          <a:solidFill>
            <a:srgbClr val="95B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85432" y="4599432"/>
            <a:ext cx="237744" cy="42048"/>
          </a:xfrm>
          <a:prstGeom prst="rect">
            <a:avLst/>
          </a:prstGeom>
          <a:solidFill>
            <a:srgbClr val="91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885432" y="4640580"/>
            <a:ext cx="237744" cy="42048"/>
          </a:xfrm>
          <a:prstGeom prst="rect">
            <a:avLst/>
          </a:prstGeom>
          <a:solidFill>
            <a:srgbClr val="8C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85432" y="4681728"/>
            <a:ext cx="237744" cy="42048"/>
          </a:xfrm>
          <a:prstGeom prst="rect">
            <a:avLst/>
          </a:prstGeom>
          <a:solidFill>
            <a:srgbClr val="88A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885432" y="4722876"/>
            <a:ext cx="237744" cy="42048"/>
          </a:xfrm>
          <a:prstGeom prst="rect">
            <a:avLst/>
          </a:prstGeom>
          <a:solidFill>
            <a:srgbClr val="83A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885432" y="4764024"/>
            <a:ext cx="237744" cy="42048"/>
          </a:xfrm>
          <a:prstGeom prst="rect">
            <a:avLst/>
          </a:prstGeom>
          <a:solidFill>
            <a:srgbClr val="7F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885432" y="4805172"/>
            <a:ext cx="237744" cy="42048"/>
          </a:xfrm>
          <a:prstGeom prst="rect">
            <a:avLst/>
          </a:prstGeom>
          <a:solidFill>
            <a:srgbClr val="7A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885432" y="4846320"/>
            <a:ext cx="237744" cy="42048"/>
          </a:xfrm>
          <a:prstGeom prst="rect">
            <a:avLst/>
          </a:prstGeom>
          <a:solidFill>
            <a:srgbClr val="76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885432" y="4887468"/>
            <a:ext cx="237744" cy="42048"/>
          </a:xfrm>
          <a:prstGeom prst="rect">
            <a:avLst/>
          </a:prstGeom>
          <a:solidFill>
            <a:srgbClr val="71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85432" y="4928616"/>
            <a:ext cx="237744" cy="42048"/>
          </a:xfrm>
          <a:prstGeom prst="rect">
            <a:avLst/>
          </a:prstGeom>
          <a:solidFill>
            <a:srgbClr val="6D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85432" y="4969764"/>
            <a:ext cx="237744" cy="42048"/>
          </a:xfrm>
          <a:prstGeom prst="rect">
            <a:avLst/>
          </a:prstGeom>
          <a:solidFill>
            <a:srgbClr val="689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885432" y="5010912"/>
            <a:ext cx="237744" cy="42048"/>
          </a:xfrm>
          <a:prstGeom prst="rect">
            <a:avLst/>
          </a:prstGeom>
          <a:solidFill>
            <a:srgbClr val="64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885432" y="5052060"/>
            <a:ext cx="237744" cy="42048"/>
          </a:xfrm>
          <a:prstGeom prst="rect">
            <a:avLst/>
          </a:prstGeom>
          <a:solidFill>
            <a:srgbClr val="5F9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885432" y="5093208"/>
            <a:ext cx="237744" cy="42048"/>
          </a:xfrm>
          <a:prstGeom prst="rect">
            <a:avLst/>
          </a:prstGeom>
          <a:solidFill>
            <a:srgbClr val="5B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885432" y="5134356"/>
            <a:ext cx="237744" cy="42048"/>
          </a:xfrm>
          <a:prstGeom prst="rect">
            <a:avLst/>
          </a:prstGeom>
          <a:solidFill>
            <a:srgbClr val="56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885432" y="5175504"/>
            <a:ext cx="237744" cy="42048"/>
          </a:xfrm>
          <a:prstGeom prst="rect">
            <a:avLst/>
          </a:prstGeom>
          <a:solidFill>
            <a:srgbClr val="528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885432" y="5216652"/>
            <a:ext cx="237744" cy="42048"/>
          </a:xfrm>
          <a:prstGeom prst="rect">
            <a:avLst/>
          </a:prstGeom>
          <a:solidFill>
            <a:srgbClr val="4D8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885432" y="5257800"/>
            <a:ext cx="237744" cy="42048"/>
          </a:xfrm>
          <a:prstGeom prst="rect">
            <a:avLst/>
          </a:prstGeom>
          <a:solidFill>
            <a:srgbClr val="498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885432" y="5298948"/>
            <a:ext cx="237744" cy="42048"/>
          </a:xfrm>
          <a:prstGeom prst="rect">
            <a:avLst/>
          </a:prstGeom>
          <a:solidFill>
            <a:srgbClr val="44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885432" y="5340096"/>
            <a:ext cx="237744" cy="42048"/>
          </a:xfrm>
          <a:prstGeom prst="rect">
            <a:avLst/>
          </a:prstGeom>
          <a:solidFill>
            <a:srgbClr val="40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885432" y="5381244"/>
            <a:ext cx="237744" cy="42048"/>
          </a:xfrm>
          <a:prstGeom prst="rect">
            <a:avLst/>
          </a:prstGeom>
          <a:solidFill>
            <a:srgbClr val="3B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885432" y="5422392"/>
            <a:ext cx="237744" cy="42048"/>
          </a:xfrm>
          <a:prstGeom prst="rect">
            <a:avLst/>
          </a:prstGeom>
          <a:solidFill>
            <a:srgbClr val="377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885432" y="5463540"/>
            <a:ext cx="237744" cy="42048"/>
          </a:xfrm>
          <a:prstGeom prst="rect">
            <a:avLst/>
          </a:prstGeom>
          <a:solidFill>
            <a:srgbClr val="32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885432" y="5504688"/>
            <a:ext cx="237744" cy="42048"/>
          </a:xfrm>
          <a:prstGeom prst="rect">
            <a:avLst/>
          </a:prstGeom>
          <a:solidFill>
            <a:srgbClr val="2E6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885432" y="5545836"/>
            <a:ext cx="237744" cy="42048"/>
          </a:xfrm>
          <a:prstGeom prst="rect">
            <a:avLst/>
          </a:prstGeom>
          <a:solidFill>
            <a:srgbClr val="29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885432" y="5586984"/>
            <a:ext cx="237744" cy="42048"/>
          </a:xfrm>
          <a:prstGeom prst="rect">
            <a:avLst/>
          </a:prstGeom>
          <a:solidFill>
            <a:srgbClr val="256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885432" y="5628132"/>
            <a:ext cx="237744" cy="4204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885432" y="1554480"/>
            <a:ext cx="237744" cy="4114800"/>
          </a:xfrm>
          <a:prstGeom prst="rect">
            <a:avLst/>
          </a:prstGeom>
          <a:noFill/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7123176" y="155448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7232904" y="146304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+0.50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7123176" y="258318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7232904" y="249174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+0.25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7123176" y="361188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7232904" y="352044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7123176" y="464058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7232904" y="454914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−0.25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7123176" y="566928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7232904" y="557784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−0.50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5840" y="5943600"/>
            <a:ext cx="7589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n = 11–12 paired subjects · partial Spearman, response-group adjusted · BH-corrected across 36 pairs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5840" y="6163056"/>
            <a:ext cx="7589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Cell value = partial Spearman r.   * nominal P &lt; 0.05    ** BH q &lt; 0.05    Gold border: headline pair (DSB repair × Δ CD8-cytotoxic).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05840" y="6382512"/>
            <a:ext cx="7589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Convergence result: 0/36 partial P &lt; 0.05    ·    0/36 BH q &lt; 0.05    (static and dynamic layers observationally independent).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