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548640"/>
            <a:ext cx="3364992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features (radiation-phase dynamics)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22960"/>
            <a:ext cx="841248" cy="71323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SBS5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8768" y="822960"/>
            <a:ext cx="841248" cy="71323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MHC-I neoantigen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16" y="822960"/>
            <a:ext cx="841248" cy="71323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Treg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1264" y="822960"/>
            <a:ext cx="841248" cy="71323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9304"/>
            <a:ext cx="19202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Baseline tumor-intrinsic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MHC-II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MSI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5780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Genomic amp fraction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600200"/>
            <a:ext cx="841248" cy="457200"/>
          </a:xfrm>
          <a:prstGeom prst="rect">
            <a:avLst/>
          </a:prstGeom>
          <a:solidFill>
            <a:srgbClr val="417CB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563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1892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1600200"/>
            <a:ext cx="841248" cy="457200"/>
          </a:xfrm>
          <a:prstGeom prst="rect">
            <a:avLst/>
          </a:prstGeom>
          <a:solidFill>
            <a:srgbClr val="A3BFD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768" y="1563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1892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0016" y="1600200"/>
            <a:ext cx="841248" cy="457200"/>
          </a:xfrm>
          <a:prstGeom prst="rect">
            <a:avLst/>
          </a:prstGeom>
          <a:solidFill>
            <a:srgbClr val="CC687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563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892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41264" y="1600200"/>
            <a:ext cx="841248" cy="457200"/>
          </a:xfrm>
          <a:prstGeom prst="rect">
            <a:avLst/>
          </a:prstGeom>
          <a:solidFill>
            <a:srgbClr val="B82C3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1264" y="1563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1892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2057400"/>
            <a:ext cx="841248" cy="457200"/>
          </a:xfrm>
          <a:prstGeom prst="rect">
            <a:avLst/>
          </a:prstGeom>
          <a:solidFill>
            <a:srgbClr val="3876B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2020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2350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2057400"/>
            <a:ext cx="841248" cy="457200"/>
          </a:xfrm>
          <a:prstGeom prst="rect">
            <a:avLst/>
          </a:prstGeom>
          <a:solidFill>
            <a:srgbClr val="88AD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2020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2350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0016" y="2057400"/>
            <a:ext cx="841248" cy="457200"/>
          </a:xfrm>
          <a:prstGeom prst="rect">
            <a:avLst/>
          </a:prstGeom>
          <a:solidFill>
            <a:srgbClr val="D2788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6" y="2020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2350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41264" y="2057400"/>
            <a:ext cx="841248" cy="457200"/>
          </a:xfrm>
          <a:prstGeom prst="rect">
            <a:avLst/>
          </a:prstGeom>
          <a:solidFill>
            <a:srgbClr val="B92F4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41264" y="2020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2350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514600"/>
            <a:ext cx="841248" cy="457200"/>
          </a:xfrm>
          <a:prstGeom prst="rect">
            <a:avLst/>
          </a:prstGeom>
          <a:solidFill>
            <a:srgbClr val="5288B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2478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2807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8768" y="2514600"/>
            <a:ext cx="841248" cy="457200"/>
          </a:xfrm>
          <a:prstGeom prst="rect">
            <a:avLst/>
          </a:prstGeom>
          <a:solidFill>
            <a:srgbClr val="BDD2E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58768" y="2478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2807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0016" y="2514600"/>
            <a:ext cx="841248" cy="457200"/>
          </a:xfrm>
          <a:prstGeom prst="rect">
            <a:avLst/>
          </a:prstGeom>
          <a:solidFill>
            <a:srgbClr val="E6B6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0016" y="2478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6944" y="2807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41264" y="2514600"/>
            <a:ext cx="841248" cy="457200"/>
          </a:xfrm>
          <a:prstGeom prst="rect">
            <a:avLst/>
          </a:prstGeom>
          <a:solidFill>
            <a:srgbClr val="D6858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41264" y="2478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08192" y="2807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2971800"/>
            <a:ext cx="841248" cy="457200"/>
          </a:xfrm>
          <a:prstGeom prst="rect">
            <a:avLst/>
          </a:prstGeom>
          <a:solidFill>
            <a:srgbClr val="5A8D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2935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3264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58768" y="2971800"/>
            <a:ext cx="841248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58768" y="2935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25696" y="3264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0016" y="2971800"/>
            <a:ext cx="841248" cy="457200"/>
          </a:xfrm>
          <a:prstGeom prst="rect">
            <a:avLst/>
          </a:prstGeom>
          <a:solidFill>
            <a:srgbClr val="EBC3C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0016" y="2935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66944" y="3264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41264" y="2971800"/>
            <a:ext cx="841248" cy="457200"/>
          </a:xfrm>
          <a:prstGeom prst="rect">
            <a:avLst/>
          </a:prstGeom>
          <a:solidFill>
            <a:srgbClr val="D788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41264" y="2935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8192" y="3264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3429000"/>
            <a:ext cx="841248" cy="457200"/>
          </a:xfrm>
          <a:prstGeom prst="rect">
            <a:avLst/>
          </a:prstGeom>
          <a:solidFill>
            <a:srgbClr val="4D84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0" y="33924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84448" y="37216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58768" y="3429000"/>
            <a:ext cx="841248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58768" y="33924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25696" y="37216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00016" y="3429000"/>
            <a:ext cx="841248" cy="457200"/>
          </a:xfrm>
          <a:prstGeom prst="rect">
            <a:avLst/>
          </a:prstGeom>
          <a:solidFill>
            <a:srgbClr val="EBC3C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00016" y="33924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6944" y="37216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41264" y="3429000"/>
            <a:ext cx="841248" cy="457200"/>
          </a:xfrm>
          <a:prstGeom prst="rect">
            <a:avLst/>
          </a:prstGeom>
          <a:solidFill>
            <a:srgbClr val="D788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41264" y="33924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08192" y="37216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3886200"/>
            <a:ext cx="841248" cy="457200"/>
          </a:xfrm>
          <a:prstGeom prst="rect">
            <a:avLst/>
          </a:prstGeom>
          <a:solidFill>
            <a:srgbClr val="719DC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17520" y="3849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4448" y="4178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58768" y="3886200"/>
            <a:ext cx="841248" cy="457200"/>
          </a:xfrm>
          <a:prstGeom prst="rect">
            <a:avLst/>
          </a:prstGeom>
          <a:solidFill>
            <a:srgbClr val="B0C8E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58768" y="3849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25696" y="4178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00016" y="3886200"/>
            <a:ext cx="841248" cy="457200"/>
          </a:xfrm>
          <a:prstGeom prst="rect">
            <a:avLst/>
          </a:prstGeom>
          <a:solidFill>
            <a:srgbClr val="D5838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00016" y="3849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66944" y="4178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41264" y="3886200"/>
            <a:ext cx="841248" cy="457200"/>
          </a:xfrm>
          <a:prstGeom prst="rect">
            <a:avLst/>
          </a:prstGeom>
          <a:solidFill>
            <a:srgbClr val="B7273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41264" y="38496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08192" y="41788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17520" y="4343400"/>
            <a:ext cx="841248" cy="457200"/>
          </a:xfrm>
          <a:prstGeom prst="rect">
            <a:avLst/>
          </a:prstGeom>
          <a:solidFill>
            <a:srgbClr val="E4AEB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17520" y="4306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84448" y="4636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58768" y="4343400"/>
            <a:ext cx="841248" cy="457200"/>
          </a:xfrm>
          <a:prstGeom prst="rect">
            <a:avLst/>
          </a:prstGeom>
          <a:solidFill>
            <a:srgbClr val="EECD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58768" y="4306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25696" y="4636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0016" y="4343400"/>
            <a:ext cx="841248" cy="457200"/>
          </a:xfrm>
          <a:prstGeom prst="rect">
            <a:avLst/>
          </a:prstGeom>
          <a:solidFill>
            <a:srgbClr val="DDE7F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00016" y="4306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66944" y="4636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41264" y="4343400"/>
            <a:ext cx="841248" cy="457200"/>
          </a:xfrm>
          <a:prstGeom prst="rect">
            <a:avLst/>
          </a:prstGeom>
          <a:solidFill>
            <a:srgbClr val="E8BB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41264" y="43068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08192" y="46360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17520" y="4800600"/>
            <a:ext cx="841248" cy="457200"/>
          </a:xfrm>
          <a:prstGeom prst="rect">
            <a:avLst/>
          </a:prstGeom>
          <a:solidFill>
            <a:srgbClr val="598C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17520" y="4764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−0.45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84448" y="5093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58768" y="4800600"/>
            <a:ext cx="841248" cy="457200"/>
          </a:xfrm>
          <a:prstGeom prst="rect">
            <a:avLst/>
          </a:prstGeom>
          <a:solidFill>
            <a:srgbClr val="A0BDD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58768" y="4764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25696" y="5093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00016" y="4800600"/>
            <a:ext cx="841248" cy="457200"/>
          </a:xfrm>
          <a:prstGeom prst="rect">
            <a:avLst/>
          </a:prstGeom>
          <a:solidFill>
            <a:srgbClr val="C5526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00016" y="4764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+0.45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66944" y="5093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41264" y="4800600"/>
            <a:ext cx="841248" cy="457200"/>
          </a:xfrm>
          <a:prstGeom prst="rect">
            <a:avLst/>
          </a:prstGeom>
          <a:solidFill>
            <a:srgbClr val="E2A8A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41264" y="47640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08192" y="50932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017520" y="5257800"/>
            <a:ext cx="841248" cy="457200"/>
          </a:xfrm>
          <a:prstGeom prst="rect">
            <a:avLst/>
          </a:prstGeom>
          <a:solidFill>
            <a:srgbClr val="CBDBE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017520" y="5221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84448" y="5550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858768" y="5257800"/>
            <a:ext cx="841248" cy="457200"/>
          </a:xfrm>
          <a:prstGeom prst="rect">
            <a:avLst/>
          </a:prstGeom>
          <a:solidFill>
            <a:srgbClr val="F9FBF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858768" y="5221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25696" y="5550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00016" y="5257800"/>
            <a:ext cx="841248" cy="457200"/>
          </a:xfrm>
          <a:prstGeom prst="rect">
            <a:avLst/>
          </a:prstGeom>
          <a:solidFill>
            <a:srgbClr val="4780B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700016" y="5221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66944" y="5550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541264" y="5257800"/>
            <a:ext cx="841248" cy="457200"/>
          </a:xfrm>
          <a:prstGeom prst="rect">
            <a:avLst/>
          </a:prstGeom>
          <a:solidFill>
            <a:srgbClr val="E1EAF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541264" y="522122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08192" y="555040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56832" y="1289304"/>
            <a:ext cx="155448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Plain Spearman 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885432" y="1600200"/>
            <a:ext cx="237744" cy="42048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85432" y="1641348"/>
            <a:ext cx="237744" cy="42048"/>
          </a:xfrm>
          <a:prstGeom prst="rect">
            <a:avLst/>
          </a:prstGeom>
          <a:solidFill>
            <a:srgbClr val="B3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885432" y="1682496"/>
            <a:ext cx="237744" cy="42048"/>
          </a:xfrm>
          <a:prstGeom prst="rect">
            <a:avLst/>
          </a:prstGeom>
          <a:solidFill>
            <a:srgbClr val="B5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885432" y="1723644"/>
            <a:ext cx="237744" cy="42048"/>
          </a:xfrm>
          <a:prstGeom prst="rect">
            <a:avLst/>
          </a:prstGeom>
          <a:solidFill>
            <a:srgbClr val="B6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885432" y="1764792"/>
            <a:ext cx="237744" cy="42048"/>
          </a:xfrm>
          <a:prstGeom prst="rect">
            <a:avLst/>
          </a:prstGeom>
          <a:solidFill>
            <a:srgbClr val="B8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885432" y="1805940"/>
            <a:ext cx="237744" cy="42048"/>
          </a:xfrm>
          <a:prstGeom prst="rect">
            <a:avLst/>
          </a:prstGeom>
          <a:solidFill>
            <a:srgbClr val="B9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85432" y="1847088"/>
            <a:ext cx="237744" cy="42048"/>
          </a:xfrm>
          <a:prstGeom prst="rect">
            <a:avLst/>
          </a:prstGeom>
          <a:solidFill>
            <a:srgbClr val="BB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885432" y="1888236"/>
            <a:ext cx="237744" cy="42048"/>
          </a:xfrm>
          <a:prstGeom prst="rect">
            <a:avLst/>
          </a:prstGeom>
          <a:solidFill>
            <a:srgbClr val="B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885432" y="1929384"/>
            <a:ext cx="237744" cy="42048"/>
          </a:xfrm>
          <a:prstGeom prst="rect">
            <a:avLst/>
          </a:prstGeom>
          <a:solidFill>
            <a:srgbClr val="BE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885432" y="1970532"/>
            <a:ext cx="237744" cy="42048"/>
          </a:xfrm>
          <a:prstGeom prst="rect">
            <a:avLst/>
          </a:prstGeom>
          <a:solidFill>
            <a:srgbClr val="C04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885432" y="2011680"/>
            <a:ext cx="237744" cy="42048"/>
          </a:xfrm>
          <a:prstGeom prst="rect">
            <a:avLst/>
          </a:prstGeom>
          <a:solidFill>
            <a:srgbClr val="C1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885432" y="2052828"/>
            <a:ext cx="237744" cy="42048"/>
          </a:xfrm>
          <a:prstGeom prst="rect">
            <a:avLst/>
          </a:prstGeom>
          <a:solidFill>
            <a:srgbClr val="C34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885432" y="2093976"/>
            <a:ext cx="237744" cy="42048"/>
          </a:xfrm>
          <a:prstGeom prst="rect">
            <a:avLst/>
          </a:prstGeom>
          <a:solidFill>
            <a:srgbClr val="C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85432" y="2135124"/>
            <a:ext cx="237744" cy="42048"/>
          </a:xfrm>
          <a:prstGeom prst="rect">
            <a:avLst/>
          </a:prstGeom>
          <a:solidFill>
            <a:srgbClr val="C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885432" y="2176272"/>
            <a:ext cx="237744" cy="42048"/>
          </a:xfrm>
          <a:prstGeom prst="rect">
            <a:avLst/>
          </a:prstGeom>
          <a:solidFill>
            <a:srgbClr val="C75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885432" y="2217420"/>
            <a:ext cx="237744" cy="42048"/>
          </a:xfrm>
          <a:prstGeom prst="rect">
            <a:avLst/>
          </a:prstGeom>
          <a:solidFill>
            <a:srgbClr val="C9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885432" y="2258568"/>
            <a:ext cx="237744" cy="42048"/>
          </a:xfrm>
          <a:prstGeom prst="rect">
            <a:avLst/>
          </a:prstGeom>
          <a:solidFill>
            <a:srgbClr val="CA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885432" y="2299716"/>
            <a:ext cx="237744" cy="42048"/>
          </a:xfrm>
          <a:prstGeom prst="rect">
            <a:avLst/>
          </a:prstGeom>
          <a:solidFill>
            <a:srgbClr val="C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885432" y="2340864"/>
            <a:ext cx="237744" cy="42048"/>
          </a:xfrm>
          <a:prstGeom prst="rect">
            <a:avLst/>
          </a:prstGeom>
          <a:solidFill>
            <a:srgbClr val="C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85432" y="2382012"/>
            <a:ext cx="237744" cy="42048"/>
          </a:xfrm>
          <a:prstGeom prst="rect">
            <a:avLst/>
          </a:prstGeom>
          <a:solidFill>
            <a:srgbClr val="CF7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885432" y="2423160"/>
            <a:ext cx="237744" cy="42048"/>
          </a:xfrm>
          <a:prstGeom prst="rect">
            <a:avLst/>
          </a:prstGeom>
          <a:solidFill>
            <a:srgbClr val="D1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885432" y="2464308"/>
            <a:ext cx="237744" cy="42048"/>
          </a:xfrm>
          <a:prstGeom prst="rect">
            <a:avLst/>
          </a:prstGeom>
          <a:solidFill>
            <a:srgbClr val="D2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885432" y="2505456"/>
            <a:ext cx="237744" cy="42048"/>
          </a:xfrm>
          <a:prstGeom prst="rect">
            <a:avLst/>
          </a:prstGeom>
          <a:solidFill>
            <a:srgbClr val="D4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885432" y="2546604"/>
            <a:ext cx="237744" cy="42048"/>
          </a:xfrm>
          <a:prstGeom prst="rect">
            <a:avLst/>
          </a:prstGeom>
          <a:solidFill>
            <a:srgbClr val="D58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885432" y="2587752"/>
            <a:ext cx="237744" cy="42048"/>
          </a:xfrm>
          <a:prstGeom prst="rect">
            <a:avLst/>
          </a:prstGeom>
          <a:solidFill>
            <a:srgbClr val="D7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85432" y="2628900"/>
            <a:ext cx="237744" cy="42048"/>
          </a:xfrm>
          <a:prstGeom prst="rect">
            <a:avLst/>
          </a:prstGeom>
          <a:solidFill>
            <a:srgbClr val="D8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885432" y="2670048"/>
            <a:ext cx="237744" cy="42048"/>
          </a:xfrm>
          <a:prstGeom prst="rect">
            <a:avLst/>
          </a:prstGeom>
          <a:solidFill>
            <a:srgbClr val="DA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885432" y="2711196"/>
            <a:ext cx="237744" cy="42048"/>
          </a:xfrm>
          <a:prstGeom prst="rect">
            <a:avLst/>
          </a:prstGeom>
          <a:solidFill>
            <a:srgbClr val="DC9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885432" y="2752344"/>
            <a:ext cx="237744" cy="42048"/>
          </a:xfrm>
          <a:prstGeom prst="rect">
            <a:avLst/>
          </a:prstGeom>
          <a:solidFill>
            <a:srgbClr val="DD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885432" y="2793492"/>
            <a:ext cx="237744" cy="42048"/>
          </a:xfrm>
          <a:prstGeom prst="rect">
            <a:avLst/>
          </a:prstGeom>
          <a:solidFill>
            <a:srgbClr val="DF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885432" y="2834640"/>
            <a:ext cx="237744" cy="42048"/>
          </a:xfrm>
          <a:prstGeom prst="rect">
            <a:avLst/>
          </a:prstGeom>
          <a:solidFill>
            <a:srgbClr val="E0A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85432" y="2875788"/>
            <a:ext cx="237744" cy="42048"/>
          </a:xfrm>
          <a:prstGeom prst="rect">
            <a:avLst/>
          </a:prstGeom>
          <a:solidFill>
            <a:srgbClr val="E2A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885432" y="2916936"/>
            <a:ext cx="237744" cy="42048"/>
          </a:xfrm>
          <a:prstGeom prst="rect">
            <a:avLst/>
          </a:prstGeom>
          <a:solidFill>
            <a:srgbClr val="E3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885432" y="2958084"/>
            <a:ext cx="237744" cy="42048"/>
          </a:xfrm>
          <a:prstGeom prst="rect">
            <a:avLst/>
          </a:prstGeom>
          <a:solidFill>
            <a:srgbClr val="E5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885432" y="2999232"/>
            <a:ext cx="237744" cy="42048"/>
          </a:xfrm>
          <a:prstGeom prst="rect">
            <a:avLst/>
          </a:prstGeom>
          <a:solidFill>
            <a:srgbClr val="E6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85432" y="3040380"/>
            <a:ext cx="237744" cy="42048"/>
          </a:xfrm>
          <a:prstGeom prst="rect">
            <a:avLst/>
          </a:prstGeom>
          <a:solidFill>
            <a:srgbClr val="E8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85432" y="3081528"/>
            <a:ext cx="237744" cy="42048"/>
          </a:xfrm>
          <a:prstGeom prst="rect">
            <a:avLst/>
          </a:prstGeom>
          <a:solidFill>
            <a:srgbClr val="EAC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85432" y="3122676"/>
            <a:ext cx="237744" cy="42048"/>
          </a:xfrm>
          <a:prstGeom prst="rect">
            <a:avLst/>
          </a:prstGeom>
          <a:solidFill>
            <a:srgbClr val="EB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85432" y="3163824"/>
            <a:ext cx="237744" cy="42048"/>
          </a:xfrm>
          <a:prstGeom prst="rect">
            <a:avLst/>
          </a:prstGeom>
          <a:solidFill>
            <a:srgbClr val="EDC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885432" y="3204972"/>
            <a:ext cx="237744" cy="42048"/>
          </a:xfrm>
          <a:prstGeom prst="rect">
            <a:avLst/>
          </a:prstGeom>
          <a:solidFill>
            <a:srgbClr val="EE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85432" y="3246120"/>
            <a:ext cx="237744" cy="42048"/>
          </a:xfrm>
          <a:prstGeom prst="rect">
            <a:avLst/>
          </a:prstGeom>
          <a:solidFill>
            <a:srgbClr val="F0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885432" y="3287268"/>
            <a:ext cx="237744" cy="42048"/>
          </a:xfrm>
          <a:prstGeom prst="rect">
            <a:avLst/>
          </a:prstGeom>
          <a:solidFill>
            <a:srgbClr val="F1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885432" y="3328416"/>
            <a:ext cx="237744" cy="42048"/>
          </a:xfrm>
          <a:prstGeom prst="rect">
            <a:avLst/>
          </a:prstGeom>
          <a:solidFill>
            <a:srgbClr val="F3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885432" y="3369564"/>
            <a:ext cx="237744" cy="42048"/>
          </a:xfrm>
          <a:prstGeom prst="rect">
            <a:avLst/>
          </a:prstGeom>
          <a:solidFill>
            <a:srgbClr val="F4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885432" y="3410712"/>
            <a:ext cx="237744" cy="42048"/>
          </a:xfrm>
          <a:prstGeom prst="rect">
            <a:avLst/>
          </a:prstGeom>
          <a:solidFill>
            <a:srgbClr val="F6E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885432" y="3451860"/>
            <a:ext cx="237744" cy="42048"/>
          </a:xfrm>
          <a:prstGeom prst="rect">
            <a:avLst/>
          </a:prstGeom>
          <a:solidFill>
            <a:srgbClr val="F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85432" y="3493008"/>
            <a:ext cx="237744" cy="42048"/>
          </a:xfrm>
          <a:prstGeom prst="rect">
            <a:avLst/>
          </a:prstGeom>
          <a:solidFill>
            <a:srgbClr val="F9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85432" y="3534156"/>
            <a:ext cx="237744" cy="42048"/>
          </a:xfrm>
          <a:prstGeom prst="rect">
            <a:avLst/>
          </a:prstGeom>
          <a:solidFill>
            <a:srgbClr val="FB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885432" y="3575304"/>
            <a:ext cx="237744" cy="42048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885432" y="3616452"/>
            <a:ext cx="237744" cy="4204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885432" y="3657600"/>
            <a:ext cx="237744" cy="42048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885432" y="3698748"/>
            <a:ext cx="237744" cy="42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885432" y="3739896"/>
            <a:ext cx="237744" cy="4204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885432" y="3781044"/>
            <a:ext cx="237744" cy="42048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885432" y="3822192"/>
            <a:ext cx="237744" cy="4204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885432" y="3863340"/>
            <a:ext cx="237744" cy="42048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885432" y="3904488"/>
            <a:ext cx="237744" cy="42048"/>
          </a:xfrm>
          <a:prstGeom prst="rect">
            <a:avLst/>
          </a:prstGeom>
          <a:solidFill>
            <a:srgbClr val="E1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885432" y="3945636"/>
            <a:ext cx="237744" cy="42048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885432" y="3986784"/>
            <a:ext cx="237744" cy="42048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885432" y="4027932"/>
            <a:ext cx="237744" cy="42048"/>
          </a:xfrm>
          <a:prstGeom prst="rect">
            <a:avLst/>
          </a:prstGeom>
          <a:solidFill>
            <a:srgbClr val="D4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885432" y="4069080"/>
            <a:ext cx="237744" cy="42048"/>
          </a:xfrm>
          <a:prstGeom prst="rect">
            <a:avLst/>
          </a:prstGeom>
          <a:solidFill>
            <a:srgbClr val="CF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885432" y="4110228"/>
            <a:ext cx="237744" cy="42048"/>
          </a:xfrm>
          <a:prstGeom prst="rect">
            <a:avLst/>
          </a:prstGeom>
          <a:solidFill>
            <a:srgbClr val="CB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885432" y="4151376"/>
            <a:ext cx="237744" cy="42048"/>
          </a:xfrm>
          <a:prstGeom prst="rect">
            <a:avLst/>
          </a:prstGeom>
          <a:solidFill>
            <a:srgbClr val="C6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885432" y="4192524"/>
            <a:ext cx="237744" cy="42048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885432" y="4233672"/>
            <a:ext cx="237744" cy="42048"/>
          </a:xfrm>
          <a:prstGeom prst="rect">
            <a:avLst/>
          </a:prstGeom>
          <a:solidFill>
            <a:srgbClr val="BD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885432" y="4274820"/>
            <a:ext cx="237744" cy="42048"/>
          </a:xfrm>
          <a:prstGeom prst="rect">
            <a:avLst/>
          </a:prstGeom>
          <a:solidFill>
            <a:srgbClr val="B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885432" y="4315968"/>
            <a:ext cx="237744" cy="42048"/>
          </a:xfrm>
          <a:prstGeom prst="rect">
            <a:avLst/>
          </a:prstGeom>
          <a:solidFill>
            <a:srgbClr val="B5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885432" y="4357116"/>
            <a:ext cx="237744" cy="42048"/>
          </a:xfrm>
          <a:prstGeom prst="rect">
            <a:avLst/>
          </a:prstGeom>
          <a:solidFill>
            <a:srgbClr val="B0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885432" y="4398264"/>
            <a:ext cx="237744" cy="42048"/>
          </a:xfrm>
          <a:prstGeom prst="rect">
            <a:avLst/>
          </a:prstGeom>
          <a:solidFill>
            <a:srgbClr val="AC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885432" y="4439412"/>
            <a:ext cx="237744" cy="42048"/>
          </a:xfrm>
          <a:prstGeom prst="rect">
            <a:avLst/>
          </a:prstGeom>
          <a:solidFill>
            <a:srgbClr val="A7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885432" y="4480560"/>
            <a:ext cx="237744" cy="42048"/>
          </a:xfrm>
          <a:prstGeom prst="rect">
            <a:avLst/>
          </a:prstGeom>
          <a:solidFill>
            <a:srgbClr val="A3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885432" y="4521708"/>
            <a:ext cx="237744" cy="42048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885432" y="4562856"/>
            <a:ext cx="237744" cy="42048"/>
          </a:xfrm>
          <a:prstGeom prst="rect">
            <a:avLst/>
          </a:prstGeom>
          <a:solidFill>
            <a:srgbClr val="9A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885432" y="4604004"/>
            <a:ext cx="237744" cy="42048"/>
          </a:xfrm>
          <a:prstGeom prst="rect">
            <a:avLst/>
          </a:prstGeom>
          <a:solidFill>
            <a:srgbClr val="95B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885432" y="4645152"/>
            <a:ext cx="237744" cy="42048"/>
          </a:xfrm>
          <a:prstGeom prst="rect">
            <a:avLst/>
          </a:prstGeom>
          <a:solidFill>
            <a:srgbClr val="91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885432" y="4686300"/>
            <a:ext cx="237744" cy="42048"/>
          </a:xfrm>
          <a:prstGeom prst="rect">
            <a:avLst/>
          </a:prstGeom>
          <a:solidFill>
            <a:srgbClr val="8C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885432" y="4727448"/>
            <a:ext cx="237744" cy="42048"/>
          </a:xfrm>
          <a:prstGeom prst="rect">
            <a:avLst/>
          </a:prstGeom>
          <a:solidFill>
            <a:srgbClr val="88A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885432" y="4768596"/>
            <a:ext cx="237744" cy="42048"/>
          </a:xfrm>
          <a:prstGeom prst="rect">
            <a:avLst/>
          </a:prstGeom>
          <a:solidFill>
            <a:srgbClr val="83A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885432" y="4809744"/>
            <a:ext cx="237744" cy="42048"/>
          </a:xfrm>
          <a:prstGeom prst="rect">
            <a:avLst/>
          </a:prstGeom>
          <a:solidFill>
            <a:srgbClr val="7F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885432" y="4850892"/>
            <a:ext cx="237744" cy="42048"/>
          </a:xfrm>
          <a:prstGeom prst="rect">
            <a:avLst/>
          </a:prstGeom>
          <a:solidFill>
            <a:srgbClr val="7A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885432" y="4892040"/>
            <a:ext cx="237744" cy="42048"/>
          </a:xfrm>
          <a:prstGeom prst="rect">
            <a:avLst/>
          </a:prstGeom>
          <a:solidFill>
            <a:srgbClr val="76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885432" y="4933188"/>
            <a:ext cx="237744" cy="42048"/>
          </a:xfrm>
          <a:prstGeom prst="rect">
            <a:avLst/>
          </a:prstGeom>
          <a:solidFill>
            <a:srgbClr val="71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885432" y="4974336"/>
            <a:ext cx="237744" cy="42048"/>
          </a:xfrm>
          <a:prstGeom prst="rect">
            <a:avLst/>
          </a:prstGeom>
          <a:solidFill>
            <a:srgbClr val="6D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885432" y="5015484"/>
            <a:ext cx="237744" cy="42048"/>
          </a:xfrm>
          <a:prstGeom prst="rect">
            <a:avLst/>
          </a:prstGeom>
          <a:solidFill>
            <a:srgbClr val="689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885432" y="5056632"/>
            <a:ext cx="237744" cy="42048"/>
          </a:xfrm>
          <a:prstGeom prst="rect">
            <a:avLst/>
          </a:prstGeom>
          <a:solidFill>
            <a:srgbClr val="64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885432" y="5097780"/>
            <a:ext cx="237744" cy="42048"/>
          </a:xfrm>
          <a:prstGeom prst="rect">
            <a:avLst/>
          </a:prstGeom>
          <a:solidFill>
            <a:srgbClr val="5F9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885432" y="5138928"/>
            <a:ext cx="237744" cy="42048"/>
          </a:xfrm>
          <a:prstGeom prst="rect">
            <a:avLst/>
          </a:prstGeom>
          <a:solidFill>
            <a:srgbClr val="5B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885432" y="5180076"/>
            <a:ext cx="237744" cy="42048"/>
          </a:xfrm>
          <a:prstGeom prst="rect">
            <a:avLst/>
          </a:prstGeom>
          <a:solidFill>
            <a:srgbClr val="56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885432" y="5221224"/>
            <a:ext cx="237744" cy="42048"/>
          </a:xfrm>
          <a:prstGeom prst="rect">
            <a:avLst/>
          </a:prstGeom>
          <a:solidFill>
            <a:srgbClr val="528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885432" y="5262372"/>
            <a:ext cx="237744" cy="42048"/>
          </a:xfrm>
          <a:prstGeom prst="rect">
            <a:avLst/>
          </a:prstGeom>
          <a:solidFill>
            <a:srgbClr val="4D8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85432" y="5303520"/>
            <a:ext cx="237744" cy="42048"/>
          </a:xfrm>
          <a:prstGeom prst="rect">
            <a:avLst/>
          </a:prstGeom>
          <a:solidFill>
            <a:srgbClr val="498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5432" y="5344668"/>
            <a:ext cx="237744" cy="42048"/>
          </a:xfrm>
          <a:prstGeom prst="rect">
            <a:avLst/>
          </a:prstGeom>
          <a:solidFill>
            <a:srgbClr val="44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5432" y="5385816"/>
            <a:ext cx="237744" cy="42048"/>
          </a:xfrm>
          <a:prstGeom prst="rect">
            <a:avLst/>
          </a:prstGeom>
          <a:solidFill>
            <a:srgbClr val="40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5432" y="5426964"/>
            <a:ext cx="237744" cy="42048"/>
          </a:xfrm>
          <a:prstGeom prst="rect">
            <a:avLst/>
          </a:prstGeom>
          <a:solidFill>
            <a:srgbClr val="3B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5432" y="5468112"/>
            <a:ext cx="237744" cy="42048"/>
          </a:xfrm>
          <a:prstGeom prst="rect">
            <a:avLst/>
          </a:prstGeom>
          <a:solidFill>
            <a:srgbClr val="377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85432" y="5509260"/>
            <a:ext cx="237744" cy="42048"/>
          </a:xfrm>
          <a:prstGeom prst="rect">
            <a:avLst/>
          </a:prstGeom>
          <a:solidFill>
            <a:srgbClr val="32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5432" y="5550408"/>
            <a:ext cx="237744" cy="42048"/>
          </a:xfrm>
          <a:prstGeom prst="rect">
            <a:avLst/>
          </a:prstGeom>
          <a:solidFill>
            <a:srgbClr val="2E6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885432" y="5591556"/>
            <a:ext cx="237744" cy="42048"/>
          </a:xfrm>
          <a:prstGeom prst="rect">
            <a:avLst/>
          </a:prstGeom>
          <a:solidFill>
            <a:srgbClr val="29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885432" y="5632704"/>
            <a:ext cx="237744" cy="42048"/>
          </a:xfrm>
          <a:prstGeom prst="rect">
            <a:avLst/>
          </a:prstGeom>
          <a:solidFill>
            <a:srgbClr val="256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885432" y="5673852"/>
            <a:ext cx="237744" cy="4204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85432" y="1600200"/>
            <a:ext cx="237744" cy="4114800"/>
          </a:xfrm>
          <a:prstGeom prst="rect">
            <a:avLst/>
          </a:prstGeom>
          <a:noFill/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7123176" y="160020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7232904" y="150876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+0.60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7123176" y="262890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7232904" y="253746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+0.30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7123176" y="365760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7232904" y="356616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7123176" y="468630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7232904" y="459486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−0.30</a:t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7123176" y="571500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7232904" y="562356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−0.60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05840" y="5989320"/>
            <a:ext cx="7589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n = 10–14 paired subjects (varies by cascade Δ type) · plain Spearman ρ (manuscript-quoted convention) · BH-corrected across 36 pairs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05840" y="6190488"/>
            <a:ext cx="7589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Cell value = plain Spearman r;  small n=… in lower-right corner of each cell.   * nominal P &lt; 0.05    ** BH q &lt; 0.05.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005840" y="6391656"/>
            <a:ext cx="7589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Convergence result: 0/36 plain P &lt; 0.05    ·    0/36 BH q &lt; 0.05    (static and dynamic layers observationally independent).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005840" y="6702552"/>
            <a:ext cx="7589520" cy="384048"/>
          </a:xfrm>
          <a:prstGeom prst="roundRect">
            <a:avLst/>
          </a:prstGeom>
          <a:solidFill>
            <a:srgbClr val="FCF7E8"/>
          </a:solidFill>
          <a:ln w="15875">
            <a:solidFill>
              <a:srgbClr val="DAA5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097280" y="6729984"/>
            <a:ext cx="740664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Manuscript headline pair (§3.10, plain Spearman, n = 12):  DSB repair × Δ CD8-cytotoxic,  r = −0.07,  P = 0.83.   Δ CD8-cytotoxic is not one of the four v2 cascade columns; see Supp Fig S20A for the full 36-pair forest including CD8-cytotoxic 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