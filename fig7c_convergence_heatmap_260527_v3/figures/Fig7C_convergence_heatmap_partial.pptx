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88920" y="548640"/>
            <a:ext cx="384048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rial"/>
              </a:rPr>
              <a:t>Cascade Δ features (radiation-phase dynamics)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861304" y="850392"/>
            <a:ext cx="768096" cy="777240"/>
          </a:xfrm>
          <a:prstGeom prst="rect">
            <a:avLst/>
          </a:prstGeom>
          <a:solidFill>
            <a:srgbClr val="EEEEEE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88920" y="850392"/>
            <a:ext cx="768096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Δ SBS5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7016" y="850392"/>
            <a:ext cx="768096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Δ MHC-I neoantigen</a:t>
            </a:r>
          </a:p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binders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5112" y="850392"/>
            <a:ext cx="768096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Δ Treg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93208" y="850392"/>
            <a:ext cx="768096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Δ IGH clonotypes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1304" y="850392"/>
            <a:ext cx="768096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Δ CD8-cytotoxic</a:t>
            </a:r>
          </a:p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(ref.)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80744"/>
            <a:ext cx="1920240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1">
                <a:solidFill>
                  <a:srgbClr val="000000"/>
                </a:solidFill>
                <a:latin typeface="Arial"/>
              </a:rPr>
              <a:t>Baseline tumor-intrinsic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DSB repair (Reactome)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DNA repair (Reactome)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0604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HRR (Reactome)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6324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E2F targets (Hallmark)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G2-M checkpoint (Hallmark)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7764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Myc targets V2 (Hallmark)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MHC-II (baseline)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MSI (%)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4924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Genomic amp fraction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88920" y="1691640"/>
            <a:ext cx="768096" cy="457200"/>
          </a:xfrm>
          <a:prstGeom prst="rect">
            <a:avLst/>
          </a:prstGeom>
          <a:solidFill>
            <a:srgbClr val="759FCB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16550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82696" y="19842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57016" y="1691640"/>
            <a:ext cx="768096" cy="457200"/>
          </a:xfrm>
          <a:prstGeom prst="rect">
            <a:avLst/>
          </a:prstGeom>
          <a:solidFill>
            <a:srgbClr val="D4E1EF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57016" y="16550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50792" y="19842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5112" y="1691640"/>
            <a:ext cx="768096" cy="457200"/>
          </a:xfrm>
          <a:prstGeom prst="rect">
            <a:avLst/>
          </a:prstGeom>
          <a:solidFill>
            <a:srgbClr val="DFE9F3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25112" y="16550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8888" y="19842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93208" y="1691640"/>
            <a:ext cx="768096" cy="457200"/>
          </a:xfrm>
          <a:prstGeom prst="rect">
            <a:avLst/>
          </a:prstGeom>
          <a:solidFill>
            <a:srgbClr val="B2182B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93208" y="16550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+0.42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86984" y="19842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FFFFFF"/>
                </a:solidFill>
                <a:latin typeface="Arial"/>
              </a:rPr>
              <a:t>n=12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61304" y="1691640"/>
            <a:ext cx="768096" cy="457200"/>
          </a:xfrm>
          <a:prstGeom prst="rect">
            <a:avLst/>
          </a:prstGeom>
          <a:solidFill>
            <a:srgbClr val="A1BEDC"/>
          </a:solidFill>
          <a:ln w="31750">
            <a:solidFill>
              <a:srgbClr val="DAA5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61304" y="16550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−0.17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19842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88920" y="2148840"/>
            <a:ext cx="768096" cy="457200"/>
          </a:xfrm>
          <a:prstGeom prst="rect">
            <a:avLst/>
          </a:prstGeom>
          <a:solidFill>
            <a:srgbClr val="4881BA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88920" y="21122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−0.33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82696" y="24414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FFFFFF"/>
                </a:solidFill>
                <a:latin typeface="Arial"/>
              </a:rPr>
              <a:t>n=13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57016" y="2148840"/>
            <a:ext cx="768096" cy="457200"/>
          </a:xfrm>
          <a:prstGeom prst="rect">
            <a:avLst/>
          </a:prstGeom>
          <a:solidFill>
            <a:srgbClr val="87ACD2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57016" y="21122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−0.22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50792" y="24414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5112" y="2148840"/>
            <a:ext cx="768096" cy="457200"/>
          </a:xfrm>
          <a:prstGeom prst="rect">
            <a:avLst/>
          </a:prstGeom>
          <a:solidFill>
            <a:srgbClr val="F6F9FB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25112" y="21122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18888" y="24414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93208" y="2148840"/>
            <a:ext cx="768096" cy="457200"/>
          </a:xfrm>
          <a:prstGeom prst="rect">
            <a:avLst/>
          </a:prstGeom>
          <a:solidFill>
            <a:srgbClr val="B2182B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93208" y="21122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+0.43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86984" y="24414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FFFFFF"/>
                </a:solidFill>
                <a:latin typeface="Arial"/>
              </a:rPr>
              <a:t>n=12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61304" y="2148840"/>
            <a:ext cx="768096" cy="457200"/>
          </a:xfrm>
          <a:prstGeom prst="rect">
            <a:avLst/>
          </a:prstGeom>
          <a:solidFill>
            <a:srgbClr val="D8E4F0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61304" y="21122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24414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88920" y="2606040"/>
            <a:ext cx="768096" cy="457200"/>
          </a:xfrm>
          <a:prstGeom prst="rect">
            <a:avLst/>
          </a:prstGeom>
          <a:solidFill>
            <a:srgbClr val="6897C6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88920" y="25694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−0.27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82696" y="28986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57016" y="2606040"/>
            <a:ext cx="768096" cy="457200"/>
          </a:xfrm>
          <a:prstGeom prst="rect">
            <a:avLst/>
          </a:prstGeom>
          <a:solidFill>
            <a:srgbClr val="E8EFF6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57016" y="25694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−0.04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50792" y="28986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25112" y="2606040"/>
            <a:ext cx="768096" cy="457200"/>
          </a:xfrm>
          <a:prstGeom prst="rect">
            <a:avLst/>
          </a:prstGeom>
          <a:solidFill>
            <a:srgbClr val="A7C2DE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25112" y="25694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−0.16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18888" y="28986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93208" y="2606040"/>
            <a:ext cx="768096" cy="457200"/>
          </a:xfrm>
          <a:prstGeom prst="rect">
            <a:avLst/>
          </a:prstGeom>
          <a:solidFill>
            <a:srgbClr val="DC98A1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93208" y="25694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+0.18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86984" y="28986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61304" y="2606040"/>
            <a:ext cx="768096" cy="457200"/>
          </a:xfrm>
          <a:prstGeom prst="rect">
            <a:avLst/>
          </a:prstGeom>
          <a:solidFill>
            <a:srgbClr val="ECC8CD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61304" y="25694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+0.09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55080" y="28986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88920" y="3063240"/>
            <a:ext cx="768096" cy="457200"/>
          </a:xfrm>
          <a:prstGeom prst="rect">
            <a:avLst/>
          </a:prstGeom>
          <a:solidFill>
            <a:srgbClr val="5D8FC2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88920" y="30266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−0.29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82696" y="33558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557016" y="3063240"/>
            <a:ext cx="768096" cy="457200"/>
          </a:xfrm>
          <a:prstGeom prst="rect">
            <a:avLst/>
          </a:prstGeom>
          <a:solidFill>
            <a:srgbClr val="FDFAFA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557016" y="30266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+0.01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50792" y="33558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325112" y="3063240"/>
            <a:ext cx="768096" cy="457200"/>
          </a:xfrm>
          <a:prstGeom prst="rect">
            <a:avLst/>
          </a:prstGeom>
          <a:solidFill>
            <a:srgbClr val="C3D5E8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25112" y="30266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−0.11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18888" y="33558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93208" y="3063240"/>
            <a:ext cx="768096" cy="457200"/>
          </a:xfrm>
          <a:prstGeom prst="rect">
            <a:avLst/>
          </a:prstGeom>
          <a:solidFill>
            <a:srgbClr val="D78992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93208" y="30266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+0.20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86984" y="33558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861304" y="3063240"/>
            <a:ext cx="768096" cy="457200"/>
          </a:xfrm>
          <a:prstGeom prst="rect">
            <a:avLst/>
          </a:prstGeom>
          <a:solidFill>
            <a:srgbClr val="EBC5CA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861304" y="30266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+0.10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55080" y="33558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88920" y="3520440"/>
            <a:ext cx="768096" cy="457200"/>
          </a:xfrm>
          <a:prstGeom prst="rect">
            <a:avLst/>
          </a:prstGeom>
          <a:solidFill>
            <a:srgbClr val="457EB9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88920" y="34838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−0.33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282696" y="38130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FFFFFF"/>
                </a:solidFill>
                <a:latin typeface="Arial"/>
              </a:rPr>
              <a:t>n=13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557016" y="3520440"/>
            <a:ext cx="768096" cy="457200"/>
          </a:xfrm>
          <a:prstGeom prst="rect">
            <a:avLst/>
          </a:prstGeom>
          <a:solidFill>
            <a:srgbClr val="FDFAFA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557016" y="34838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+0.01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050792" y="38130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325112" y="3520440"/>
            <a:ext cx="768096" cy="457200"/>
          </a:xfrm>
          <a:prstGeom prst="rect">
            <a:avLst/>
          </a:prstGeom>
          <a:solidFill>
            <a:srgbClr val="C3D5E8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325112" y="34838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−0.11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818888" y="38130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093208" y="3520440"/>
            <a:ext cx="768096" cy="457200"/>
          </a:xfrm>
          <a:prstGeom prst="rect">
            <a:avLst/>
          </a:prstGeom>
          <a:solidFill>
            <a:srgbClr val="D78992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093208" y="34838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+0.20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586984" y="38130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861304" y="3520440"/>
            <a:ext cx="768096" cy="457200"/>
          </a:xfrm>
          <a:prstGeom prst="rect">
            <a:avLst/>
          </a:prstGeom>
          <a:solidFill>
            <a:srgbClr val="EBC5CA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861304" y="34838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+0.10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55080" y="38130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788920" y="3977640"/>
            <a:ext cx="768096" cy="457200"/>
          </a:xfrm>
          <a:prstGeom prst="rect">
            <a:avLst/>
          </a:prstGeom>
          <a:solidFill>
            <a:srgbClr val="B5CCE3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788920" y="39410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−0.13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282696" y="42702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n=13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557016" y="3977640"/>
            <a:ext cx="768096" cy="457200"/>
          </a:xfrm>
          <a:prstGeom prst="rect">
            <a:avLst/>
          </a:prstGeom>
          <a:solidFill>
            <a:srgbClr val="D8E4F0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557016" y="39410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−0.07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050792" y="42702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325112" y="3977640"/>
            <a:ext cx="768096" cy="457200"/>
          </a:xfrm>
          <a:prstGeom prst="rect">
            <a:avLst/>
          </a:prstGeom>
          <a:solidFill>
            <a:srgbClr val="FBFCFD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325112" y="39410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−0.01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818888" y="42702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093208" y="3977640"/>
            <a:ext cx="768096" cy="457200"/>
          </a:xfrm>
          <a:prstGeom prst="rect">
            <a:avLst/>
          </a:prstGeom>
          <a:solidFill>
            <a:srgbClr val="B2182B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93208" y="39410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+0.46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586984" y="42702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FFFFFF"/>
                </a:solidFill>
                <a:latin typeface="Arial"/>
              </a:rPr>
              <a:t>n=12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861304" y="3977640"/>
            <a:ext cx="768096" cy="457200"/>
          </a:xfrm>
          <a:prstGeom prst="rect">
            <a:avLst/>
          </a:prstGeom>
          <a:solidFill>
            <a:srgbClr val="F3F6FA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861304" y="39410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−0.02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355080" y="42702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788920" y="4434840"/>
            <a:ext cx="768096" cy="457200"/>
          </a:xfrm>
          <a:prstGeom prst="rect">
            <a:avLst/>
          </a:prstGeom>
          <a:solidFill>
            <a:srgbClr val="E8BABF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788920" y="43982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+0.12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282696" y="47274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557016" y="4434840"/>
            <a:ext cx="768096" cy="457200"/>
          </a:xfrm>
          <a:prstGeom prst="rect">
            <a:avLst/>
          </a:prstGeom>
          <a:solidFill>
            <a:srgbClr val="EDCBCF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557016" y="43982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+0.09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050792" y="47274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325112" y="4434840"/>
            <a:ext cx="768096" cy="457200"/>
          </a:xfrm>
          <a:prstGeom prst="rect">
            <a:avLst/>
          </a:prstGeom>
          <a:solidFill>
            <a:srgbClr val="EBF1F7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325112" y="43982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−0.04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818888" y="47274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093208" y="4434840"/>
            <a:ext cx="768096" cy="457200"/>
          </a:xfrm>
          <a:prstGeom prst="rect">
            <a:avLst/>
          </a:prstGeom>
          <a:solidFill>
            <a:srgbClr val="D27984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093208" y="43982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+0.23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586984" y="47274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861304" y="4434840"/>
            <a:ext cx="768096" cy="457200"/>
          </a:xfrm>
          <a:prstGeom prst="rect">
            <a:avLst/>
          </a:prstGeom>
          <a:solidFill>
            <a:srgbClr val="2166AC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861304" y="43982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−0.48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355080" y="47274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FFFFFF"/>
                </a:solidFill>
                <a:latin typeface="Arial"/>
              </a:rPr>
              <a:t>n=12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788920" y="4892040"/>
            <a:ext cx="768096" cy="457200"/>
          </a:xfrm>
          <a:prstGeom prst="rect">
            <a:avLst/>
          </a:prstGeom>
          <a:solidFill>
            <a:srgbClr val="77A1CC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788920" y="48554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−0.24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282696" y="51846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n=13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557016" y="4892040"/>
            <a:ext cx="768096" cy="457200"/>
          </a:xfrm>
          <a:prstGeom prst="rect">
            <a:avLst/>
          </a:prstGeom>
          <a:solidFill>
            <a:srgbClr val="B6CCE3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557016" y="48554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−0.13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050792" y="51846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n=11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325112" y="4892040"/>
            <a:ext cx="768096" cy="457200"/>
          </a:xfrm>
          <a:prstGeom prst="rect">
            <a:avLst/>
          </a:prstGeom>
          <a:solidFill>
            <a:srgbClr val="CE6E7A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325112" y="48554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+0.25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818888" y="51846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093208" y="4892040"/>
            <a:ext cx="768096" cy="457200"/>
          </a:xfrm>
          <a:prstGeom prst="rect">
            <a:avLst/>
          </a:prstGeom>
          <a:solidFill>
            <a:srgbClr val="E8BCC2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093208" y="48554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+0.12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586984" y="51846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n=11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861304" y="4892040"/>
            <a:ext cx="768096" cy="457200"/>
          </a:xfrm>
          <a:prstGeom prst="rect">
            <a:avLst/>
          </a:prstGeom>
          <a:solidFill>
            <a:srgbClr val="2166AC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861304" y="48554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−0.41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355080" y="51846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FFFFFF"/>
                </a:solidFill>
                <a:latin typeface="Arial"/>
              </a:rPr>
              <a:t>n=11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788920" y="5349240"/>
            <a:ext cx="768096" cy="457200"/>
          </a:xfrm>
          <a:prstGeom prst="rect">
            <a:avLst/>
          </a:prstGeom>
          <a:solidFill>
            <a:srgbClr val="5288BE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788920" y="53126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−0.31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282696" y="56418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FFFFFF"/>
                </a:solidFill>
                <a:latin typeface="Arial"/>
              </a:rPr>
              <a:t>n=14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557016" y="5349240"/>
            <a:ext cx="768096" cy="457200"/>
          </a:xfrm>
          <a:prstGeom prst="rect">
            <a:avLst/>
          </a:prstGeom>
          <a:solidFill>
            <a:srgbClr val="DBE6F1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3557016" y="53126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−0.06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050792" y="56418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n=11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4325112" y="5349240"/>
            <a:ext cx="768096" cy="457200"/>
          </a:xfrm>
          <a:prstGeom prst="rect">
            <a:avLst/>
          </a:prstGeom>
          <a:solidFill>
            <a:srgbClr val="3977B5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325112" y="53126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−0.35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818888" y="56418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FFFFFF"/>
                </a:solidFill>
                <a:latin typeface="Arial"/>
              </a:rPr>
              <a:t>n=12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093208" y="5349240"/>
            <a:ext cx="768096" cy="457200"/>
          </a:xfrm>
          <a:prstGeom prst="rect">
            <a:avLst/>
          </a:prstGeom>
          <a:solidFill>
            <a:srgbClr val="F0D2D6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5093208" y="53126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+0.08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586984" y="56418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861304" y="5349240"/>
            <a:ext cx="768096" cy="457200"/>
          </a:xfrm>
          <a:prstGeom prst="rect">
            <a:avLst/>
          </a:prstGeom>
          <a:solidFill>
            <a:srgbClr val="D37B86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5861304" y="5312664"/>
            <a:ext cx="768096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+0.23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355080" y="5641848"/>
            <a:ext cx="256032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600" b="0">
                <a:solidFill>
                  <a:srgbClr val="000000"/>
                </a:solidFill>
                <a:latin typeface="Arial"/>
              </a:rPr>
              <a:t>n=12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766560" y="1380744"/>
            <a:ext cx="1737360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Partial Spearman r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040880" y="1691640"/>
            <a:ext cx="237744" cy="42048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7040880" y="1732788"/>
            <a:ext cx="237744" cy="42048"/>
          </a:xfrm>
          <a:prstGeom prst="rect">
            <a:avLst/>
          </a:prstGeom>
          <a:solidFill>
            <a:srgbClr val="B31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7040880" y="1773936"/>
            <a:ext cx="237744" cy="42048"/>
          </a:xfrm>
          <a:prstGeom prst="rect">
            <a:avLst/>
          </a:prstGeom>
          <a:solidFill>
            <a:srgbClr val="B52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7040880" y="1815084"/>
            <a:ext cx="237744" cy="42048"/>
          </a:xfrm>
          <a:prstGeom prst="rect">
            <a:avLst/>
          </a:prstGeom>
          <a:solidFill>
            <a:srgbClr val="B626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7040880" y="1856232"/>
            <a:ext cx="237744" cy="42048"/>
          </a:xfrm>
          <a:prstGeom prst="rect">
            <a:avLst/>
          </a:prstGeom>
          <a:solidFill>
            <a:srgbClr val="B8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7040880" y="1897380"/>
            <a:ext cx="237744" cy="42048"/>
          </a:xfrm>
          <a:prstGeom prst="rect">
            <a:avLst/>
          </a:prstGeom>
          <a:solidFill>
            <a:srgbClr val="B92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7040880" y="1938528"/>
            <a:ext cx="237744" cy="42048"/>
          </a:xfrm>
          <a:prstGeom prst="rect">
            <a:avLst/>
          </a:prstGeom>
          <a:solidFill>
            <a:srgbClr val="BB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7040880" y="1979676"/>
            <a:ext cx="237744" cy="42048"/>
          </a:xfrm>
          <a:prstGeom prst="rect">
            <a:avLst/>
          </a:prstGeom>
          <a:solidFill>
            <a:srgbClr val="BC3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7040880" y="2020824"/>
            <a:ext cx="237744" cy="42048"/>
          </a:xfrm>
          <a:prstGeom prst="rect">
            <a:avLst/>
          </a:prstGeom>
          <a:solidFill>
            <a:srgbClr val="BE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40880" y="2061972"/>
            <a:ext cx="237744" cy="42048"/>
          </a:xfrm>
          <a:prstGeom prst="rect">
            <a:avLst/>
          </a:prstGeom>
          <a:solidFill>
            <a:srgbClr val="C042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040880" y="2103120"/>
            <a:ext cx="237744" cy="42048"/>
          </a:xfrm>
          <a:prstGeom prst="rect">
            <a:avLst/>
          </a:prstGeom>
          <a:solidFill>
            <a:srgbClr val="C1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40880" y="2144268"/>
            <a:ext cx="237744" cy="42048"/>
          </a:xfrm>
          <a:prstGeom prst="rect">
            <a:avLst/>
          </a:prstGeom>
          <a:solidFill>
            <a:srgbClr val="C34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040880" y="2185416"/>
            <a:ext cx="237744" cy="42048"/>
          </a:xfrm>
          <a:prstGeom prst="rect">
            <a:avLst/>
          </a:prstGeom>
          <a:solidFill>
            <a:srgbClr val="C45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040880" y="2226564"/>
            <a:ext cx="237744" cy="42048"/>
          </a:xfrm>
          <a:prstGeom prst="rect">
            <a:avLst/>
          </a:prstGeom>
          <a:solidFill>
            <a:srgbClr val="C65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040880" y="2267712"/>
            <a:ext cx="237744" cy="42048"/>
          </a:xfrm>
          <a:prstGeom prst="rect">
            <a:avLst/>
          </a:prstGeom>
          <a:solidFill>
            <a:srgbClr val="C75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040880" y="2308860"/>
            <a:ext cx="237744" cy="42048"/>
          </a:xfrm>
          <a:prstGeom prst="rect">
            <a:avLst/>
          </a:prstGeom>
          <a:solidFill>
            <a:srgbClr val="C95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040880" y="2350008"/>
            <a:ext cx="237744" cy="42048"/>
          </a:xfrm>
          <a:prstGeom prst="rect">
            <a:avLst/>
          </a:prstGeom>
          <a:solidFill>
            <a:srgbClr val="CA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040880" y="2391156"/>
            <a:ext cx="237744" cy="42048"/>
          </a:xfrm>
          <a:prstGeom prst="rect">
            <a:avLst/>
          </a:prstGeom>
          <a:solidFill>
            <a:srgbClr val="CC6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040880" y="2432304"/>
            <a:ext cx="237744" cy="42048"/>
          </a:xfrm>
          <a:prstGeom prst="rect">
            <a:avLst/>
          </a:prstGeom>
          <a:solidFill>
            <a:srgbClr val="CE6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040880" y="2473452"/>
            <a:ext cx="237744" cy="42048"/>
          </a:xfrm>
          <a:prstGeom prst="rect">
            <a:avLst/>
          </a:prstGeom>
          <a:solidFill>
            <a:srgbClr val="CF7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040880" y="2514600"/>
            <a:ext cx="237744" cy="42048"/>
          </a:xfrm>
          <a:prstGeom prst="rect">
            <a:avLst/>
          </a:prstGeom>
          <a:solidFill>
            <a:srgbClr val="D17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040880" y="2555748"/>
            <a:ext cx="237744" cy="42048"/>
          </a:xfrm>
          <a:prstGeom prst="rect">
            <a:avLst/>
          </a:prstGeom>
          <a:solidFill>
            <a:srgbClr val="D27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040880" y="2596896"/>
            <a:ext cx="237744" cy="42048"/>
          </a:xfrm>
          <a:prstGeom prst="rect">
            <a:avLst/>
          </a:prstGeom>
          <a:solidFill>
            <a:srgbClr val="D47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040880" y="2638044"/>
            <a:ext cx="237744" cy="42048"/>
          </a:xfrm>
          <a:prstGeom prst="rect">
            <a:avLst/>
          </a:prstGeom>
          <a:solidFill>
            <a:srgbClr val="D58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040880" y="2679192"/>
            <a:ext cx="237744" cy="42048"/>
          </a:xfrm>
          <a:prstGeom prst="rect">
            <a:avLst/>
          </a:prstGeom>
          <a:solidFill>
            <a:srgbClr val="D78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040880" y="2720340"/>
            <a:ext cx="237744" cy="42048"/>
          </a:xfrm>
          <a:prstGeom prst="rect">
            <a:avLst/>
          </a:prstGeom>
          <a:solidFill>
            <a:srgbClr val="D88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040880" y="2761488"/>
            <a:ext cx="237744" cy="42048"/>
          </a:xfrm>
          <a:prstGeom prst="rect">
            <a:avLst/>
          </a:prstGeom>
          <a:solidFill>
            <a:srgbClr val="DA9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7040880" y="2802636"/>
            <a:ext cx="237744" cy="42048"/>
          </a:xfrm>
          <a:prstGeom prst="rect">
            <a:avLst/>
          </a:prstGeom>
          <a:solidFill>
            <a:srgbClr val="DC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7040880" y="2843784"/>
            <a:ext cx="237744" cy="42048"/>
          </a:xfrm>
          <a:prstGeom prst="rect">
            <a:avLst/>
          </a:prstGeom>
          <a:solidFill>
            <a:srgbClr val="DD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7040880" y="2884932"/>
            <a:ext cx="237744" cy="42048"/>
          </a:xfrm>
          <a:prstGeom prst="rect">
            <a:avLst/>
          </a:prstGeom>
          <a:solidFill>
            <a:srgbClr val="DF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7040880" y="2926080"/>
            <a:ext cx="237744" cy="42048"/>
          </a:xfrm>
          <a:prstGeom prst="rect">
            <a:avLst/>
          </a:prstGeom>
          <a:solidFill>
            <a:srgbClr val="E0A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7040880" y="2967228"/>
            <a:ext cx="237744" cy="42048"/>
          </a:xfrm>
          <a:prstGeom prst="rect">
            <a:avLst/>
          </a:prstGeom>
          <a:solidFill>
            <a:srgbClr val="E2A8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7040880" y="3008376"/>
            <a:ext cx="237744" cy="42048"/>
          </a:xfrm>
          <a:prstGeom prst="rect">
            <a:avLst/>
          </a:prstGeom>
          <a:solidFill>
            <a:srgbClr val="E3A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040880" y="3049524"/>
            <a:ext cx="237744" cy="42048"/>
          </a:xfrm>
          <a:prstGeom prst="rect">
            <a:avLst/>
          </a:prstGeom>
          <a:solidFill>
            <a:srgbClr val="E5B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040880" y="3090672"/>
            <a:ext cx="237744" cy="42048"/>
          </a:xfrm>
          <a:prstGeom prst="rect">
            <a:avLst/>
          </a:prstGeom>
          <a:solidFill>
            <a:srgbClr val="E6B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040880" y="3131820"/>
            <a:ext cx="237744" cy="42048"/>
          </a:xfrm>
          <a:prstGeom prst="rect">
            <a:avLst/>
          </a:prstGeom>
          <a:solidFill>
            <a:srgbClr val="E8B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040880" y="3172968"/>
            <a:ext cx="237744" cy="42048"/>
          </a:xfrm>
          <a:prstGeom prst="rect">
            <a:avLst/>
          </a:prstGeom>
          <a:solidFill>
            <a:srgbClr val="EAC0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7040880" y="3214116"/>
            <a:ext cx="237744" cy="42048"/>
          </a:xfrm>
          <a:prstGeom prst="rect">
            <a:avLst/>
          </a:prstGeom>
          <a:solidFill>
            <a:srgbClr val="EB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040880" y="3255264"/>
            <a:ext cx="237744" cy="42048"/>
          </a:xfrm>
          <a:prstGeom prst="rect">
            <a:avLst/>
          </a:prstGeom>
          <a:solidFill>
            <a:srgbClr val="EDC9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7040880" y="3296412"/>
            <a:ext cx="237744" cy="42048"/>
          </a:xfrm>
          <a:prstGeom prst="rect">
            <a:avLst/>
          </a:prstGeom>
          <a:solidFill>
            <a:srgbClr val="EEC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7040880" y="3337560"/>
            <a:ext cx="237744" cy="42048"/>
          </a:xfrm>
          <a:prstGeom prst="rect">
            <a:avLst/>
          </a:prstGeom>
          <a:solidFill>
            <a:srgbClr val="F0D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7040880" y="3378708"/>
            <a:ext cx="237744" cy="42048"/>
          </a:xfrm>
          <a:prstGeom prst="rect">
            <a:avLst/>
          </a:prstGeom>
          <a:solidFill>
            <a:srgbClr val="F1D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7040880" y="3419856"/>
            <a:ext cx="237744" cy="42048"/>
          </a:xfrm>
          <a:prstGeom prst="rect">
            <a:avLst/>
          </a:prstGeom>
          <a:solidFill>
            <a:srgbClr val="F3D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7040880" y="3461004"/>
            <a:ext cx="237744" cy="42048"/>
          </a:xfrm>
          <a:prstGeom prst="rect">
            <a:avLst/>
          </a:prstGeom>
          <a:solidFill>
            <a:srgbClr val="F4E0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7040880" y="3502152"/>
            <a:ext cx="237744" cy="42048"/>
          </a:xfrm>
          <a:prstGeom prst="rect">
            <a:avLst/>
          </a:prstGeom>
          <a:solidFill>
            <a:srgbClr val="F6E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7040880" y="3543300"/>
            <a:ext cx="237744" cy="42048"/>
          </a:xfrm>
          <a:prstGeom prst="rect">
            <a:avLst/>
          </a:prstGeom>
          <a:solidFill>
            <a:srgbClr val="F8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7040880" y="3584448"/>
            <a:ext cx="237744" cy="42048"/>
          </a:xfrm>
          <a:prstGeom prst="rect">
            <a:avLst/>
          </a:prstGeom>
          <a:solidFill>
            <a:srgbClr val="F9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7040880" y="3625596"/>
            <a:ext cx="237744" cy="42048"/>
          </a:xfrm>
          <a:prstGeom prst="rect">
            <a:avLst/>
          </a:prstGeom>
          <a:solidFill>
            <a:srgbClr val="FB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7040880" y="3666744"/>
            <a:ext cx="237744" cy="42048"/>
          </a:xfrm>
          <a:prstGeom prst="rect">
            <a:avLst/>
          </a:prstGeom>
          <a:solidFill>
            <a:srgbClr val="FC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7040880" y="3707892"/>
            <a:ext cx="237744" cy="42048"/>
          </a:xfrm>
          <a:prstGeom prst="rect">
            <a:avLst/>
          </a:prstGeom>
          <a:solidFill>
            <a:srgbClr val="FE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7040880" y="3749040"/>
            <a:ext cx="237744" cy="42048"/>
          </a:xfrm>
          <a:prstGeom prst="rect">
            <a:avLst/>
          </a:prstGeom>
          <a:solidFill>
            <a:srgbClr val="FCF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7040880" y="3790188"/>
            <a:ext cx="237744" cy="42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7040880" y="3831336"/>
            <a:ext cx="237744" cy="42048"/>
          </a:xfrm>
          <a:prstGeom prst="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7040880" y="3872484"/>
            <a:ext cx="237744" cy="42048"/>
          </a:xfrm>
          <a:prstGeom prst="rect">
            <a:avLst/>
          </a:prstGeom>
          <a:solidFill>
            <a:srgbClr val="EF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7040880" y="3913632"/>
            <a:ext cx="237744" cy="42048"/>
          </a:xfrm>
          <a:prstGeom prst="rect">
            <a:avLst/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7040880" y="3954780"/>
            <a:ext cx="237744" cy="42048"/>
          </a:xfrm>
          <a:prstGeom prst="rect">
            <a:avLst/>
          </a:prstGeom>
          <a:solidFill>
            <a:srgbClr val="E6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7040880" y="3995928"/>
            <a:ext cx="237744" cy="42048"/>
          </a:xfrm>
          <a:prstGeom prst="rect">
            <a:avLst/>
          </a:prstGeom>
          <a:solidFill>
            <a:srgbClr val="E1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7040880" y="4037076"/>
            <a:ext cx="237744" cy="42048"/>
          </a:xfrm>
          <a:prstGeom prst="rect">
            <a:avLst/>
          </a:prstGeom>
          <a:solidFill>
            <a:srgbClr val="DD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7040880" y="4078224"/>
            <a:ext cx="237744" cy="42048"/>
          </a:xfrm>
          <a:prstGeom prst="rect">
            <a:avLst/>
          </a:prstGeom>
          <a:solidFill>
            <a:srgbClr val="D8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7040880" y="4119372"/>
            <a:ext cx="237744" cy="42048"/>
          </a:xfrm>
          <a:prstGeom prst="rect">
            <a:avLst/>
          </a:prstGeom>
          <a:solidFill>
            <a:srgbClr val="D4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7040880" y="4160520"/>
            <a:ext cx="237744" cy="42048"/>
          </a:xfrm>
          <a:prstGeom prst="rect">
            <a:avLst/>
          </a:prstGeom>
          <a:solidFill>
            <a:srgbClr val="CFD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7040880" y="4201668"/>
            <a:ext cx="237744" cy="42048"/>
          </a:xfrm>
          <a:prstGeom prst="rect">
            <a:avLst/>
          </a:prstGeom>
          <a:solidFill>
            <a:srgbClr val="CBD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7040880" y="4242816"/>
            <a:ext cx="237744" cy="42048"/>
          </a:xfrm>
          <a:prstGeom prst="rect">
            <a:avLst/>
          </a:prstGeom>
          <a:solidFill>
            <a:srgbClr val="C6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7040880" y="4283964"/>
            <a:ext cx="237744" cy="42048"/>
          </a:xfrm>
          <a:prstGeom prst="rect">
            <a:avLst/>
          </a:prstGeom>
          <a:solidFill>
            <a:srgbClr val="C2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40880" y="4325112"/>
            <a:ext cx="237744" cy="42048"/>
          </a:xfrm>
          <a:prstGeom prst="rect">
            <a:avLst/>
          </a:prstGeom>
          <a:solidFill>
            <a:srgbClr val="BDD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040880" y="4366260"/>
            <a:ext cx="237744" cy="42048"/>
          </a:xfrm>
          <a:prstGeom prst="rect">
            <a:avLst/>
          </a:prstGeom>
          <a:solidFill>
            <a:srgbClr val="B9C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040880" y="4407408"/>
            <a:ext cx="237744" cy="42048"/>
          </a:xfrm>
          <a:prstGeom prst="rect">
            <a:avLst/>
          </a:prstGeom>
          <a:solidFill>
            <a:srgbClr val="B5C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040880" y="4448556"/>
            <a:ext cx="237744" cy="42048"/>
          </a:xfrm>
          <a:prstGeom prst="rect">
            <a:avLst/>
          </a:prstGeom>
          <a:solidFill>
            <a:srgbClr val="B0C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040880" y="4489704"/>
            <a:ext cx="237744" cy="42048"/>
          </a:xfrm>
          <a:prstGeom prst="rect">
            <a:avLst/>
          </a:prstGeom>
          <a:solidFill>
            <a:srgbClr val="ACC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040880" y="4530852"/>
            <a:ext cx="237744" cy="42048"/>
          </a:xfrm>
          <a:prstGeom prst="rect">
            <a:avLst/>
          </a:prstGeom>
          <a:solidFill>
            <a:srgbClr val="A7C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040880" y="4572000"/>
            <a:ext cx="237744" cy="42048"/>
          </a:xfrm>
          <a:prstGeom prst="rect">
            <a:avLst/>
          </a:prstGeom>
          <a:solidFill>
            <a:srgbClr val="A3B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040880" y="4613148"/>
            <a:ext cx="237744" cy="42048"/>
          </a:xfrm>
          <a:prstGeom prst="rect">
            <a:avLst/>
          </a:prstGeom>
          <a:solidFill>
            <a:srgbClr val="9EB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040880" y="4654296"/>
            <a:ext cx="237744" cy="42048"/>
          </a:xfrm>
          <a:prstGeom prst="rect">
            <a:avLst/>
          </a:prstGeom>
          <a:solidFill>
            <a:srgbClr val="9AB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040880" y="4695444"/>
            <a:ext cx="237744" cy="42048"/>
          </a:xfrm>
          <a:prstGeom prst="rect">
            <a:avLst/>
          </a:prstGeom>
          <a:solidFill>
            <a:srgbClr val="95B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040880" y="4736592"/>
            <a:ext cx="237744" cy="42048"/>
          </a:xfrm>
          <a:prstGeom prst="rect">
            <a:avLst/>
          </a:prstGeom>
          <a:solidFill>
            <a:srgbClr val="91B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040880" y="4777740"/>
            <a:ext cx="237744" cy="42048"/>
          </a:xfrm>
          <a:prstGeom prst="rect">
            <a:avLst/>
          </a:prstGeom>
          <a:solidFill>
            <a:srgbClr val="8CB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040880" y="4818888"/>
            <a:ext cx="237744" cy="42048"/>
          </a:xfrm>
          <a:prstGeom prst="rect">
            <a:avLst/>
          </a:prstGeom>
          <a:solidFill>
            <a:srgbClr val="88A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7040880" y="4860036"/>
            <a:ext cx="237744" cy="42048"/>
          </a:xfrm>
          <a:prstGeom prst="rect">
            <a:avLst/>
          </a:prstGeom>
          <a:solidFill>
            <a:srgbClr val="83A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040880" y="4901184"/>
            <a:ext cx="237744" cy="42048"/>
          </a:xfrm>
          <a:prstGeom prst="rect">
            <a:avLst/>
          </a:prstGeom>
          <a:solidFill>
            <a:srgbClr val="7FA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7040880" y="4942332"/>
            <a:ext cx="237744" cy="42048"/>
          </a:xfrm>
          <a:prstGeom prst="rect">
            <a:avLst/>
          </a:prstGeom>
          <a:solidFill>
            <a:srgbClr val="7AA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7040880" y="4983480"/>
            <a:ext cx="237744" cy="42048"/>
          </a:xfrm>
          <a:prstGeom prst="rect">
            <a:avLst/>
          </a:prstGeom>
          <a:solidFill>
            <a:srgbClr val="76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7040880" y="5024628"/>
            <a:ext cx="237744" cy="42048"/>
          </a:xfrm>
          <a:prstGeom prst="rect">
            <a:avLst/>
          </a:prstGeom>
          <a:solidFill>
            <a:srgbClr val="719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7040880" y="5065776"/>
            <a:ext cx="237744" cy="42048"/>
          </a:xfrm>
          <a:prstGeom prst="rect">
            <a:avLst/>
          </a:prstGeom>
          <a:solidFill>
            <a:srgbClr val="6D9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7040880" y="5106924"/>
            <a:ext cx="237744" cy="42048"/>
          </a:xfrm>
          <a:prstGeom prst="rect">
            <a:avLst/>
          </a:prstGeom>
          <a:solidFill>
            <a:srgbClr val="689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7040880" y="5148072"/>
            <a:ext cx="237744" cy="42048"/>
          </a:xfrm>
          <a:prstGeom prst="rect">
            <a:avLst/>
          </a:prstGeom>
          <a:solidFill>
            <a:srgbClr val="649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7040880" y="5189220"/>
            <a:ext cx="237744" cy="42048"/>
          </a:xfrm>
          <a:prstGeom prst="rect">
            <a:avLst/>
          </a:prstGeom>
          <a:solidFill>
            <a:srgbClr val="5F91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7040880" y="5230368"/>
            <a:ext cx="237744" cy="42048"/>
          </a:xfrm>
          <a:prstGeom prst="rect">
            <a:avLst/>
          </a:prstGeom>
          <a:solidFill>
            <a:srgbClr val="5B8E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7040880" y="5271516"/>
            <a:ext cx="237744" cy="42048"/>
          </a:xfrm>
          <a:prstGeom prst="rect">
            <a:avLst/>
          </a:prstGeom>
          <a:solidFill>
            <a:srgbClr val="56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7040880" y="5312664"/>
            <a:ext cx="237744" cy="42048"/>
          </a:xfrm>
          <a:prstGeom prst="rect">
            <a:avLst/>
          </a:prstGeom>
          <a:solidFill>
            <a:srgbClr val="528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7040880" y="5353812"/>
            <a:ext cx="237744" cy="42048"/>
          </a:xfrm>
          <a:prstGeom prst="rect">
            <a:avLst/>
          </a:prstGeom>
          <a:solidFill>
            <a:srgbClr val="4D8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7040880" y="5394960"/>
            <a:ext cx="237744" cy="42048"/>
          </a:xfrm>
          <a:prstGeom prst="rect">
            <a:avLst/>
          </a:prstGeom>
          <a:solidFill>
            <a:srgbClr val="4981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7040880" y="5436108"/>
            <a:ext cx="237744" cy="42048"/>
          </a:xfrm>
          <a:prstGeom prst="rect">
            <a:avLst/>
          </a:prstGeom>
          <a:solidFill>
            <a:srgbClr val="447E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7040880" y="5477256"/>
            <a:ext cx="237744" cy="42048"/>
          </a:xfrm>
          <a:prstGeom prst="rect">
            <a:avLst/>
          </a:prstGeom>
          <a:solidFill>
            <a:srgbClr val="407B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7040880" y="5518404"/>
            <a:ext cx="237744" cy="42048"/>
          </a:xfrm>
          <a:prstGeom prst="rect">
            <a:avLst/>
          </a:prstGeom>
          <a:solidFill>
            <a:srgbClr val="3B78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7040880" y="5559552"/>
            <a:ext cx="237744" cy="42048"/>
          </a:xfrm>
          <a:prstGeom prst="rect">
            <a:avLst/>
          </a:prstGeom>
          <a:solidFill>
            <a:srgbClr val="377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7040880" y="5600700"/>
            <a:ext cx="237744" cy="42048"/>
          </a:xfrm>
          <a:prstGeom prst="rect">
            <a:avLst/>
          </a:prstGeom>
          <a:solidFill>
            <a:srgbClr val="32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7040880" y="5641848"/>
            <a:ext cx="237744" cy="42048"/>
          </a:xfrm>
          <a:prstGeom prst="rect">
            <a:avLst/>
          </a:prstGeom>
          <a:solidFill>
            <a:srgbClr val="2E6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7040880" y="5682996"/>
            <a:ext cx="237744" cy="42048"/>
          </a:xfrm>
          <a:prstGeom prst="rect">
            <a:avLst/>
          </a:prstGeom>
          <a:solidFill>
            <a:srgbClr val="296C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7040880" y="5724144"/>
            <a:ext cx="237744" cy="42048"/>
          </a:xfrm>
          <a:prstGeom prst="rect">
            <a:avLst/>
          </a:prstGeom>
          <a:solidFill>
            <a:srgbClr val="2569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7040880" y="5765292"/>
            <a:ext cx="237744" cy="42048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7040880" y="1691640"/>
            <a:ext cx="237744" cy="4114800"/>
          </a:xfrm>
          <a:prstGeom prst="rect">
            <a:avLst/>
          </a:prstGeom>
          <a:noFill/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6" name="Connector 255"/>
          <p:cNvCxnSpPr/>
          <p:nvPr/>
        </p:nvCxnSpPr>
        <p:spPr>
          <a:xfrm>
            <a:off x="7278624" y="1691640.0"/>
            <a:ext cx="73152" cy="0.0"/>
          </a:xfrm>
          <a:prstGeom prst="line">
            <a:avLst/>
          </a:prstGeom>
          <a:ln w="63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7" name="TextBox 256"/>
          <p:cNvSpPr txBox="1"/>
          <p:nvPr/>
        </p:nvSpPr>
        <p:spPr>
          <a:xfrm>
            <a:off x="7388352" y="1600200"/>
            <a:ext cx="502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+0.40</a:t>
            </a:r>
          </a:p>
        </p:txBody>
      </p:sp>
      <p:cxnSp>
        <p:nvCxnSpPr>
          <p:cNvPr id="258" name="Connector 257"/>
          <p:cNvCxnSpPr/>
          <p:nvPr/>
        </p:nvCxnSpPr>
        <p:spPr>
          <a:xfrm>
            <a:off x="7278624" y="2720340.0"/>
            <a:ext cx="73152" cy="0.0"/>
          </a:xfrm>
          <a:prstGeom prst="line">
            <a:avLst/>
          </a:prstGeom>
          <a:ln w="63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9" name="TextBox 258"/>
          <p:cNvSpPr txBox="1"/>
          <p:nvPr/>
        </p:nvSpPr>
        <p:spPr>
          <a:xfrm>
            <a:off x="7388352" y="2628900"/>
            <a:ext cx="502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+0.20</a:t>
            </a:r>
          </a:p>
        </p:txBody>
      </p:sp>
      <p:cxnSp>
        <p:nvCxnSpPr>
          <p:cNvPr id="260" name="Connector 259"/>
          <p:cNvCxnSpPr/>
          <p:nvPr/>
        </p:nvCxnSpPr>
        <p:spPr>
          <a:xfrm>
            <a:off x="7278624" y="3749040.0"/>
            <a:ext cx="73152" cy="0.0"/>
          </a:xfrm>
          <a:prstGeom prst="line">
            <a:avLst/>
          </a:prstGeom>
          <a:ln w="63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1" name="TextBox 260"/>
          <p:cNvSpPr txBox="1"/>
          <p:nvPr/>
        </p:nvSpPr>
        <p:spPr>
          <a:xfrm>
            <a:off x="7388352" y="3657600"/>
            <a:ext cx="502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262" name="Connector 261"/>
          <p:cNvCxnSpPr/>
          <p:nvPr/>
        </p:nvCxnSpPr>
        <p:spPr>
          <a:xfrm>
            <a:off x="7278624" y="4777740.0"/>
            <a:ext cx="73152" cy="0.0"/>
          </a:xfrm>
          <a:prstGeom prst="line">
            <a:avLst/>
          </a:prstGeom>
          <a:ln w="63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TextBox 262"/>
          <p:cNvSpPr txBox="1"/>
          <p:nvPr/>
        </p:nvSpPr>
        <p:spPr>
          <a:xfrm>
            <a:off x="7388352" y="4686300"/>
            <a:ext cx="502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−0.20</a:t>
            </a:r>
          </a:p>
        </p:txBody>
      </p:sp>
      <p:cxnSp>
        <p:nvCxnSpPr>
          <p:cNvPr id="264" name="Connector 263"/>
          <p:cNvCxnSpPr/>
          <p:nvPr/>
        </p:nvCxnSpPr>
        <p:spPr>
          <a:xfrm>
            <a:off x="7278624" y="5806440.0"/>
            <a:ext cx="73152" cy="0.0"/>
          </a:xfrm>
          <a:prstGeom prst="line">
            <a:avLst/>
          </a:prstGeom>
          <a:ln w="63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5" name="TextBox 264"/>
          <p:cNvSpPr txBox="1"/>
          <p:nvPr/>
        </p:nvSpPr>
        <p:spPr>
          <a:xfrm>
            <a:off x="7388352" y="5715000"/>
            <a:ext cx="502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−0.40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777240" y="6062472"/>
            <a:ext cx="7772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n = 10–14 paired subjects (varies by cascade Δ type) · partial Spearman ρ (response-group-adjusted; manuscript-consistent) · BH-corrected across 36 pairs (4 user-specified cascades)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777240" y="6263640"/>
            <a:ext cx="7772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Cell value = partial Spearman r;  small n=… in lower-right corner of each cell.   * nominal P &lt; 0.05    ** BH q &lt; 0.05.   5th column (grey header) shown for headline-pair cross-reference; outside the 36-pair test.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777240" y="6464808"/>
            <a:ext cx="7772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Convergence result: 0/36 partial P &lt; 0.05   ·   0/36 BH q &lt; 0.05    (baseline level and radiation-phase dynamics statistically independent).</a:t>
            </a:r>
          </a:p>
        </p:txBody>
      </p:sp>
      <p:sp>
        <p:nvSpPr>
          <p:cNvPr id="269" name="Rounded Rectangle 268"/>
          <p:cNvSpPr/>
          <p:nvPr/>
        </p:nvSpPr>
        <p:spPr>
          <a:xfrm>
            <a:off x="777240" y="6775704"/>
            <a:ext cx="7772400" cy="384048"/>
          </a:xfrm>
          <a:prstGeom prst="roundRect">
            <a:avLst/>
          </a:prstGeom>
          <a:solidFill>
            <a:srgbClr val="FCF7E8"/>
          </a:solidFill>
          <a:ln w="15875">
            <a:solidFill>
              <a:srgbClr val="DAA5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868680" y="6803136"/>
            <a:ext cx="7589520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Headline pair (gold-bordered cell, 5th col.): DSB repair × Δ CD8-cytotoxic.   Partial Spearman r = −0.17, P = 0.60 (n = 12).   Manuscript text §3.8 quotes the plain-Spearman value r = −0.07, P = 0.83 (see Supp Fig S20A forest, and v3 diagnostic plain heatmap).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