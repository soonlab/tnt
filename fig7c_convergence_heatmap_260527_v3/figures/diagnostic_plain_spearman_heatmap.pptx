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8C4600"/>
                </a:solidFill>
                <a:latin typeface="Arial"/>
              </a:rPr>
              <a:t>DIAGNOSTIC ONLY — plain (unadjusted) Spearman. Manuscript convergence test uses partial (response-adjusted) Spearman (see main Fig 7C v3).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88920" y="548640"/>
            <a:ext cx="384048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Cascade Δ features (radiation-phase dynamics)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861304" y="850392"/>
            <a:ext cx="768096" cy="777240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88920" y="850392"/>
            <a:ext cx="768096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SBS5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7016" y="850392"/>
            <a:ext cx="768096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MHC-I neoantigen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binders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5112" y="850392"/>
            <a:ext cx="768096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Treg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850392"/>
            <a:ext cx="768096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IGH clonotypes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1304" y="850392"/>
            <a:ext cx="768096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Δ CD8-cytotoxic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(ref.)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0744"/>
            <a:ext cx="192024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Arial"/>
              </a:rPr>
              <a:t>Baseline tumor-intrinsic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DSB repair (Reactome)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DNA repair (Reactome)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HRR (Reactome)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E2F targets (Hallmark)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G2-M checkpoint (Hallmark)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776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Myc targets V2 (Hallmark)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348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MHC-II (baseline)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MSI (%)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492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Genomic amp fraction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1691640"/>
            <a:ext cx="768096" cy="457200"/>
          </a:xfrm>
          <a:prstGeom prst="rect">
            <a:avLst/>
          </a:prstGeom>
          <a:solidFill>
            <a:srgbClr val="417CB8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16550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2696" y="19842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57016" y="1691640"/>
            <a:ext cx="768096" cy="457200"/>
          </a:xfrm>
          <a:prstGeom prst="rect">
            <a:avLst/>
          </a:prstGeom>
          <a:solidFill>
            <a:srgbClr val="A3BFDC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57016" y="16550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50792" y="19842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5112" y="1691640"/>
            <a:ext cx="768096" cy="457200"/>
          </a:xfrm>
          <a:prstGeom prst="rect">
            <a:avLst/>
          </a:prstGeom>
          <a:solidFill>
            <a:srgbClr val="CC6874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5112" y="16550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19842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93208" y="1691640"/>
            <a:ext cx="768096" cy="457200"/>
          </a:xfrm>
          <a:prstGeom prst="rect">
            <a:avLst/>
          </a:prstGeom>
          <a:solidFill>
            <a:srgbClr val="B82C3E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93208" y="16550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+0.55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86984" y="19842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61304" y="1691640"/>
            <a:ext cx="768096" cy="457200"/>
          </a:xfrm>
          <a:prstGeom prst="rect">
            <a:avLst/>
          </a:prstGeom>
          <a:solidFill>
            <a:srgbClr val="E5EDF5"/>
          </a:solidFill>
          <a:ln w="31750">
            <a:solidFill>
              <a:srgbClr val="DAA5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61304" y="16550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19842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2148840"/>
            <a:ext cx="768096" cy="457200"/>
          </a:xfrm>
          <a:prstGeom prst="rect">
            <a:avLst/>
          </a:prstGeom>
          <a:solidFill>
            <a:srgbClr val="3876B4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88920" y="21122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−0.54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82696" y="24414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57016" y="2148840"/>
            <a:ext cx="768096" cy="457200"/>
          </a:xfrm>
          <a:prstGeom prst="rect">
            <a:avLst/>
          </a:prstGeom>
          <a:solidFill>
            <a:srgbClr val="88ADD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57016" y="21122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−0.32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50792" y="24414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5112" y="2148840"/>
            <a:ext cx="768096" cy="457200"/>
          </a:xfrm>
          <a:prstGeom prst="rect">
            <a:avLst/>
          </a:prstGeom>
          <a:solidFill>
            <a:srgbClr val="D27883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25112" y="21122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+0.35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24414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93208" y="2148840"/>
            <a:ext cx="768096" cy="457200"/>
          </a:xfrm>
          <a:prstGeom prst="rect">
            <a:avLst/>
          </a:prstGeom>
          <a:solidFill>
            <a:srgbClr val="B92F40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93208" y="21122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+0.54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86984" y="24414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61304" y="2148840"/>
            <a:ext cx="768096" cy="457200"/>
          </a:xfrm>
          <a:prstGeom prst="rect">
            <a:avLst/>
          </a:prstGeom>
          <a:solidFill>
            <a:srgbClr val="FCFDFE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61304" y="21122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24414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88920" y="2606040"/>
            <a:ext cx="768096" cy="457200"/>
          </a:xfrm>
          <a:prstGeom prst="rect">
            <a:avLst/>
          </a:prstGeom>
          <a:solidFill>
            <a:srgbClr val="5288BE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88920" y="25694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−0.46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82696" y="28986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57016" y="2606040"/>
            <a:ext cx="768096" cy="457200"/>
          </a:xfrm>
          <a:prstGeom prst="rect">
            <a:avLst/>
          </a:prstGeom>
          <a:solidFill>
            <a:srgbClr val="BDD2E6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57016" y="25694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50792" y="28986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25112" y="2606040"/>
            <a:ext cx="768096" cy="457200"/>
          </a:xfrm>
          <a:prstGeom prst="rect">
            <a:avLst/>
          </a:prstGeom>
          <a:solidFill>
            <a:srgbClr val="E6B6BC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25112" y="25694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18888" y="28986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93208" y="2606040"/>
            <a:ext cx="768096" cy="457200"/>
          </a:xfrm>
          <a:prstGeom prst="rect">
            <a:avLst/>
          </a:prstGeom>
          <a:solidFill>
            <a:srgbClr val="D6858F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93208" y="25694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+0.31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86984" y="28986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61304" y="2606040"/>
            <a:ext cx="768096" cy="457200"/>
          </a:xfrm>
          <a:prstGeom prst="rect">
            <a:avLst/>
          </a:prstGeom>
          <a:solidFill>
            <a:srgbClr val="EECED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61304" y="25694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55080" y="28986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88920" y="3063240"/>
            <a:ext cx="768096" cy="457200"/>
          </a:xfrm>
          <a:prstGeom prst="rect">
            <a:avLst/>
          </a:prstGeom>
          <a:solidFill>
            <a:srgbClr val="5A8DC1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88920" y="30266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−0.45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82696" y="33558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57016" y="3063240"/>
            <a:ext cx="768096" cy="457200"/>
          </a:xfrm>
          <a:prstGeom prst="rect">
            <a:avLst/>
          </a:prstGeom>
          <a:solidFill>
            <a:srgbClr val="D8E4F0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57016" y="30266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50792" y="33558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25112" y="3063240"/>
            <a:ext cx="768096" cy="457200"/>
          </a:xfrm>
          <a:prstGeom prst="rect">
            <a:avLst/>
          </a:prstGeom>
          <a:solidFill>
            <a:srgbClr val="EBC3C8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25112" y="30266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18888" y="33558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93208" y="3063240"/>
            <a:ext cx="768096" cy="457200"/>
          </a:xfrm>
          <a:prstGeom prst="rect">
            <a:avLst/>
          </a:prstGeom>
          <a:solidFill>
            <a:srgbClr val="D7889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93208" y="30266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86984" y="33558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61304" y="3063240"/>
            <a:ext cx="768096" cy="457200"/>
          </a:xfrm>
          <a:prstGeom prst="rect">
            <a:avLst/>
          </a:prstGeom>
          <a:solidFill>
            <a:srgbClr val="EECED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861304" y="30266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55080" y="33558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88920" y="3520440"/>
            <a:ext cx="768096" cy="457200"/>
          </a:xfrm>
          <a:prstGeom prst="rect">
            <a:avLst/>
          </a:prstGeom>
          <a:solidFill>
            <a:srgbClr val="4D84BC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88920" y="34838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−0.48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82696" y="38130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557016" y="3520440"/>
            <a:ext cx="768096" cy="457200"/>
          </a:xfrm>
          <a:prstGeom prst="rect">
            <a:avLst/>
          </a:prstGeom>
          <a:solidFill>
            <a:srgbClr val="D8E4F0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557016" y="34838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50792" y="38130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325112" y="3520440"/>
            <a:ext cx="768096" cy="457200"/>
          </a:xfrm>
          <a:prstGeom prst="rect">
            <a:avLst/>
          </a:prstGeom>
          <a:solidFill>
            <a:srgbClr val="EBC3C8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325112" y="34838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18888" y="38130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093208" y="3520440"/>
            <a:ext cx="768096" cy="457200"/>
          </a:xfrm>
          <a:prstGeom prst="rect">
            <a:avLst/>
          </a:prstGeom>
          <a:solidFill>
            <a:srgbClr val="D7889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093208" y="34838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+0.31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586984" y="38130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861304" y="3520440"/>
            <a:ext cx="768096" cy="457200"/>
          </a:xfrm>
          <a:prstGeom prst="rect">
            <a:avLst/>
          </a:prstGeom>
          <a:solidFill>
            <a:srgbClr val="EECED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861304" y="34838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55080" y="38130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88920" y="3977640"/>
            <a:ext cx="768096" cy="457200"/>
          </a:xfrm>
          <a:prstGeom prst="rect">
            <a:avLst/>
          </a:prstGeom>
          <a:solidFill>
            <a:srgbClr val="719DC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788920" y="39410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−0.38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282696" y="42702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557016" y="3977640"/>
            <a:ext cx="768096" cy="457200"/>
          </a:xfrm>
          <a:prstGeom prst="rect">
            <a:avLst/>
          </a:prstGeom>
          <a:solidFill>
            <a:srgbClr val="B0C8E1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557016" y="39410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−0.21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050792" y="42702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325112" y="3977640"/>
            <a:ext cx="768096" cy="457200"/>
          </a:xfrm>
          <a:prstGeom prst="rect">
            <a:avLst/>
          </a:prstGeom>
          <a:solidFill>
            <a:srgbClr val="D5838D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325112" y="39410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+0.32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18888" y="42702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093208" y="3977640"/>
            <a:ext cx="768096" cy="457200"/>
          </a:xfrm>
          <a:prstGeom prst="rect">
            <a:avLst/>
          </a:prstGeom>
          <a:solidFill>
            <a:srgbClr val="B72739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093208" y="39410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+0.56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586984" y="42702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861304" y="3977640"/>
            <a:ext cx="768096" cy="457200"/>
          </a:xfrm>
          <a:prstGeom prst="rect">
            <a:avLst/>
          </a:prstGeom>
          <a:solidFill>
            <a:srgbClr val="FBF4F5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861304" y="39410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+0.03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55080" y="42702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88920" y="4434840"/>
            <a:ext cx="768096" cy="457200"/>
          </a:xfrm>
          <a:prstGeom prst="rect">
            <a:avLst/>
          </a:prstGeom>
          <a:solidFill>
            <a:srgbClr val="E4AEB5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788920" y="43982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+0.21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282696" y="47274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557016" y="4434840"/>
            <a:ext cx="768096" cy="457200"/>
          </a:xfrm>
          <a:prstGeom prst="rect">
            <a:avLst/>
          </a:prstGeom>
          <a:solidFill>
            <a:srgbClr val="EECDD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557016" y="43982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050792" y="47274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325112" y="4434840"/>
            <a:ext cx="768096" cy="457200"/>
          </a:xfrm>
          <a:prstGeom prst="rect">
            <a:avLst/>
          </a:prstGeom>
          <a:solidFill>
            <a:srgbClr val="DDE7F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325112" y="43982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−0.09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818888" y="47274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093208" y="4434840"/>
            <a:ext cx="768096" cy="457200"/>
          </a:xfrm>
          <a:prstGeom prst="rect">
            <a:avLst/>
          </a:prstGeom>
          <a:solidFill>
            <a:srgbClr val="E8BBC1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093208" y="43982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+0.17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586984" y="47274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861304" y="4434840"/>
            <a:ext cx="768096" cy="457200"/>
          </a:xfrm>
          <a:prstGeom prst="rect">
            <a:avLst/>
          </a:prstGeom>
          <a:solidFill>
            <a:srgbClr val="4C83BC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861304" y="43982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−0.48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355080" y="47274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n=12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788920" y="4892040"/>
            <a:ext cx="768096" cy="457200"/>
          </a:xfrm>
          <a:prstGeom prst="rect">
            <a:avLst/>
          </a:prstGeom>
          <a:solidFill>
            <a:srgbClr val="598CC1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788920" y="48554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−0.45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282696" y="51846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n=13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557016" y="4892040"/>
            <a:ext cx="768096" cy="457200"/>
          </a:xfrm>
          <a:prstGeom prst="rect">
            <a:avLst/>
          </a:prstGeom>
          <a:solidFill>
            <a:srgbClr val="A0BDDB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557016" y="48554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−0.26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050792" y="51846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325112" y="4892040"/>
            <a:ext cx="768096" cy="457200"/>
          </a:xfrm>
          <a:prstGeom prst="rect">
            <a:avLst/>
          </a:prstGeom>
          <a:solidFill>
            <a:srgbClr val="C55260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325112" y="48554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+0.45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818888" y="51846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093208" y="4892040"/>
            <a:ext cx="768096" cy="457200"/>
          </a:xfrm>
          <a:prstGeom prst="rect">
            <a:avLst/>
          </a:prstGeom>
          <a:solidFill>
            <a:srgbClr val="E2A8AF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093208" y="48554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+0.22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586984" y="51846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861304" y="4892040"/>
            <a:ext cx="768096" cy="457200"/>
          </a:xfrm>
          <a:prstGeom prst="rect">
            <a:avLst/>
          </a:prstGeom>
          <a:solidFill>
            <a:srgbClr val="759FCB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861304" y="48554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−0.37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355080" y="51846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n=11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788920" y="5349240"/>
            <a:ext cx="768096" cy="457200"/>
          </a:xfrm>
          <a:prstGeom prst="rect">
            <a:avLst/>
          </a:prstGeom>
          <a:solidFill>
            <a:srgbClr val="CBDBEB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788920" y="53126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282696" y="56418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n=14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557016" y="5349240"/>
            <a:ext cx="768096" cy="457200"/>
          </a:xfrm>
          <a:prstGeom prst="rect">
            <a:avLst/>
          </a:prstGeom>
          <a:solidFill>
            <a:srgbClr val="F9FBFC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557016" y="53126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050792" y="56418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325112" y="5349240"/>
            <a:ext cx="768096" cy="457200"/>
          </a:xfrm>
          <a:prstGeom prst="rect">
            <a:avLst/>
          </a:prstGeom>
          <a:solidFill>
            <a:srgbClr val="4780B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325112" y="53126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−0.50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818888" y="56418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n=12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093208" y="5349240"/>
            <a:ext cx="768096" cy="457200"/>
          </a:xfrm>
          <a:prstGeom prst="rect">
            <a:avLst/>
          </a:prstGeom>
          <a:solidFill>
            <a:srgbClr val="E1EAF4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093208" y="53126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−0.08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86984" y="56418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5861304" y="5349240"/>
            <a:ext cx="768096" cy="457200"/>
          </a:xfrm>
          <a:prstGeom prst="rect">
            <a:avLst/>
          </a:prstGeom>
          <a:solidFill>
            <a:srgbClr val="E8BBC1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861304" y="53126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+0.17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355080" y="56418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766560" y="1380744"/>
            <a:ext cx="182880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Plain Spearman r (DIAG)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040880" y="1691640"/>
            <a:ext cx="237744" cy="42048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7040880" y="1732788"/>
            <a:ext cx="237744" cy="42048"/>
          </a:xfrm>
          <a:prstGeom prst="rect">
            <a:avLst/>
          </a:prstGeom>
          <a:solidFill>
            <a:srgbClr val="B31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7040880" y="1773936"/>
            <a:ext cx="237744" cy="42048"/>
          </a:xfrm>
          <a:prstGeom prst="rect">
            <a:avLst/>
          </a:prstGeom>
          <a:solidFill>
            <a:srgbClr val="B5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040880" y="1815084"/>
            <a:ext cx="237744" cy="42048"/>
          </a:xfrm>
          <a:prstGeom prst="rect">
            <a:avLst/>
          </a:prstGeom>
          <a:solidFill>
            <a:srgbClr val="B62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040880" y="1856232"/>
            <a:ext cx="237744" cy="42048"/>
          </a:xfrm>
          <a:prstGeom prst="rect">
            <a:avLst/>
          </a:prstGeom>
          <a:solidFill>
            <a:srgbClr val="B8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7040880" y="1897380"/>
            <a:ext cx="237744" cy="42048"/>
          </a:xfrm>
          <a:prstGeom prst="rect">
            <a:avLst/>
          </a:prstGeom>
          <a:solidFill>
            <a:srgbClr val="B92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7040880" y="1938528"/>
            <a:ext cx="237744" cy="42048"/>
          </a:xfrm>
          <a:prstGeom prst="rect">
            <a:avLst/>
          </a:prstGeom>
          <a:solidFill>
            <a:srgbClr val="BB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040880" y="1979676"/>
            <a:ext cx="237744" cy="42048"/>
          </a:xfrm>
          <a:prstGeom prst="rect">
            <a:avLst/>
          </a:prstGeom>
          <a:solidFill>
            <a:srgbClr val="BC3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40880" y="2020824"/>
            <a:ext cx="237744" cy="42048"/>
          </a:xfrm>
          <a:prstGeom prst="rect">
            <a:avLst/>
          </a:prstGeom>
          <a:solidFill>
            <a:srgbClr val="BE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40880" y="2061972"/>
            <a:ext cx="237744" cy="42048"/>
          </a:xfrm>
          <a:prstGeom prst="rect">
            <a:avLst/>
          </a:prstGeom>
          <a:solidFill>
            <a:srgbClr val="C042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40880" y="2103120"/>
            <a:ext cx="237744" cy="42048"/>
          </a:xfrm>
          <a:prstGeom prst="rect">
            <a:avLst/>
          </a:prstGeom>
          <a:solidFill>
            <a:srgbClr val="C1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40880" y="2144268"/>
            <a:ext cx="237744" cy="42048"/>
          </a:xfrm>
          <a:prstGeom prst="rect">
            <a:avLst/>
          </a:prstGeom>
          <a:solidFill>
            <a:srgbClr val="C34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040880" y="2185416"/>
            <a:ext cx="237744" cy="42048"/>
          </a:xfrm>
          <a:prstGeom prst="rect">
            <a:avLst/>
          </a:prstGeom>
          <a:solidFill>
            <a:srgbClr val="C45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40880" y="2226564"/>
            <a:ext cx="237744" cy="42048"/>
          </a:xfrm>
          <a:prstGeom prst="rect">
            <a:avLst/>
          </a:prstGeom>
          <a:solidFill>
            <a:srgbClr val="C65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040880" y="2267712"/>
            <a:ext cx="237744" cy="42048"/>
          </a:xfrm>
          <a:prstGeom prst="rect">
            <a:avLst/>
          </a:prstGeom>
          <a:solidFill>
            <a:srgbClr val="C75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040880" y="2308860"/>
            <a:ext cx="237744" cy="42048"/>
          </a:xfrm>
          <a:prstGeom prst="rect">
            <a:avLst/>
          </a:prstGeom>
          <a:solidFill>
            <a:srgbClr val="C95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040880" y="2350008"/>
            <a:ext cx="237744" cy="42048"/>
          </a:xfrm>
          <a:prstGeom prst="rect">
            <a:avLst/>
          </a:prstGeom>
          <a:solidFill>
            <a:srgbClr val="CA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040880" y="2391156"/>
            <a:ext cx="237744" cy="42048"/>
          </a:xfrm>
          <a:prstGeom prst="rect">
            <a:avLst/>
          </a:prstGeom>
          <a:solidFill>
            <a:srgbClr val="CC6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040880" y="2432304"/>
            <a:ext cx="237744" cy="42048"/>
          </a:xfrm>
          <a:prstGeom prst="rect">
            <a:avLst/>
          </a:prstGeom>
          <a:solidFill>
            <a:srgbClr val="C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040880" y="2473452"/>
            <a:ext cx="237744" cy="42048"/>
          </a:xfrm>
          <a:prstGeom prst="rect">
            <a:avLst/>
          </a:prstGeom>
          <a:solidFill>
            <a:srgbClr val="CF7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040880" y="2514600"/>
            <a:ext cx="237744" cy="42048"/>
          </a:xfrm>
          <a:prstGeom prst="rect">
            <a:avLst/>
          </a:prstGeom>
          <a:solidFill>
            <a:srgbClr val="D17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040880" y="2555748"/>
            <a:ext cx="237744" cy="42048"/>
          </a:xfrm>
          <a:prstGeom prst="rect">
            <a:avLst/>
          </a:prstGeom>
          <a:solidFill>
            <a:srgbClr val="D2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040880" y="2596896"/>
            <a:ext cx="237744" cy="42048"/>
          </a:xfrm>
          <a:prstGeom prst="rect">
            <a:avLst/>
          </a:prstGeom>
          <a:solidFill>
            <a:srgbClr val="D47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040880" y="2638044"/>
            <a:ext cx="237744" cy="42048"/>
          </a:xfrm>
          <a:prstGeom prst="rect">
            <a:avLst/>
          </a:prstGeom>
          <a:solidFill>
            <a:srgbClr val="D58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040880" y="2679192"/>
            <a:ext cx="237744" cy="42048"/>
          </a:xfrm>
          <a:prstGeom prst="rect">
            <a:avLst/>
          </a:prstGeom>
          <a:solidFill>
            <a:srgbClr val="D7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040880" y="2720340"/>
            <a:ext cx="237744" cy="42048"/>
          </a:xfrm>
          <a:prstGeom prst="rect">
            <a:avLst/>
          </a:prstGeom>
          <a:solidFill>
            <a:srgbClr val="D88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040880" y="2761488"/>
            <a:ext cx="237744" cy="42048"/>
          </a:xfrm>
          <a:prstGeom prst="rect">
            <a:avLst/>
          </a:prstGeom>
          <a:solidFill>
            <a:srgbClr val="DA9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7040880" y="2802636"/>
            <a:ext cx="237744" cy="42048"/>
          </a:xfrm>
          <a:prstGeom prst="rect">
            <a:avLst/>
          </a:prstGeom>
          <a:solidFill>
            <a:srgbClr val="DC9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7040880" y="2843784"/>
            <a:ext cx="237744" cy="42048"/>
          </a:xfrm>
          <a:prstGeom prst="rect">
            <a:avLst/>
          </a:prstGeom>
          <a:solidFill>
            <a:srgbClr val="DD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7040880" y="2884932"/>
            <a:ext cx="237744" cy="42048"/>
          </a:xfrm>
          <a:prstGeom prst="rect">
            <a:avLst/>
          </a:prstGeom>
          <a:solidFill>
            <a:srgbClr val="DF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7040880" y="2926080"/>
            <a:ext cx="237744" cy="42048"/>
          </a:xfrm>
          <a:prstGeom prst="rect">
            <a:avLst/>
          </a:prstGeom>
          <a:solidFill>
            <a:srgbClr val="E0A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7040880" y="2967228"/>
            <a:ext cx="237744" cy="42048"/>
          </a:xfrm>
          <a:prstGeom prst="rect">
            <a:avLst/>
          </a:prstGeom>
          <a:solidFill>
            <a:srgbClr val="E2A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040880" y="3008376"/>
            <a:ext cx="237744" cy="42048"/>
          </a:xfrm>
          <a:prstGeom prst="rect">
            <a:avLst/>
          </a:prstGeom>
          <a:solidFill>
            <a:srgbClr val="E3A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040880" y="3049524"/>
            <a:ext cx="237744" cy="42048"/>
          </a:xfrm>
          <a:prstGeom prst="rect">
            <a:avLst/>
          </a:prstGeom>
          <a:solidFill>
            <a:srgbClr val="E5B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040880" y="3090672"/>
            <a:ext cx="237744" cy="42048"/>
          </a:xfrm>
          <a:prstGeom prst="rect">
            <a:avLst/>
          </a:prstGeom>
          <a:solidFill>
            <a:srgbClr val="E6B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040880" y="3131820"/>
            <a:ext cx="237744" cy="42048"/>
          </a:xfrm>
          <a:prstGeom prst="rect">
            <a:avLst/>
          </a:prstGeom>
          <a:solidFill>
            <a:srgbClr val="E8B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7040880" y="3172968"/>
            <a:ext cx="237744" cy="42048"/>
          </a:xfrm>
          <a:prstGeom prst="rect">
            <a:avLst/>
          </a:prstGeom>
          <a:solidFill>
            <a:srgbClr val="EAC0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040880" y="3214116"/>
            <a:ext cx="237744" cy="42048"/>
          </a:xfrm>
          <a:prstGeom prst="rect">
            <a:avLst/>
          </a:prstGeom>
          <a:solidFill>
            <a:srgbClr val="EB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040880" y="3255264"/>
            <a:ext cx="237744" cy="42048"/>
          </a:xfrm>
          <a:prstGeom prst="rect">
            <a:avLst/>
          </a:prstGeom>
          <a:solidFill>
            <a:srgbClr val="EDC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7040880" y="3296412"/>
            <a:ext cx="237744" cy="42048"/>
          </a:xfrm>
          <a:prstGeom prst="rect">
            <a:avLst/>
          </a:prstGeom>
          <a:solidFill>
            <a:srgbClr val="EE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040880" y="3337560"/>
            <a:ext cx="237744" cy="42048"/>
          </a:xfrm>
          <a:prstGeom prst="rect">
            <a:avLst/>
          </a:prstGeom>
          <a:solidFill>
            <a:srgbClr val="F0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7040880" y="3378708"/>
            <a:ext cx="237744" cy="42048"/>
          </a:xfrm>
          <a:prstGeom prst="rect">
            <a:avLst/>
          </a:prstGeom>
          <a:solidFill>
            <a:srgbClr val="F1D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7040880" y="3419856"/>
            <a:ext cx="237744" cy="42048"/>
          </a:xfrm>
          <a:prstGeom prst="rect">
            <a:avLst/>
          </a:prstGeom>
          <a:solidFill>
            <a:srgbClr val="F3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7040880" y="3461004"/>
            <a:ext cx="237744" cy="42048"/>
          </a:xfrm>
          <a:prstGeom prst="rect">
            <a:avLst/>
          </a:prstGeom>
          <a:solidFill>
            <a:srgbClr val="F4E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7040880" y="3502152"/>
            <a:ext cx="237744" cy="42048"/>
          </a:xfrm>
          <a:prstGeom prst="rect">
            <a:avLst/>
          </a:prstGeom>
          <a:solidFill>
            <a:srgbClr val="F6E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7040880" y="3543300"/>
            <a:ext cx="237744" cy="42048"/>
          </a:xfrm>
          <a:prstGeom prst="rect">
            <a:avLst/>
          </a:prstGeom>
          <a:solidFill>
            <a:srgbClr val="F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7040880" y="3584448"/>
            <a:ext cx="237744" cy="42048"/>
          </a:xfrm>
          <a:prstGeom prst="rect">
            <a:avLst/>
          </a:prstGeom>
          <a:solidFill>
            <a:srgbClr val="F9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7040880" y="3625596"/>
            <a:ext cx="237744" cy="42048"/>
          </a:xfrm>
          <a:prstGeom prst="rect">
            <a:avLst/>
          </a:prstGeom>
          <a:solidFill>
            <a:srgbClr val="FB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7040880" y="3666744"/>
            <a:ext cx="237744" cy="42048"/>
          </a:xfrm>
          <a:prstGeom prst="rect">
            <a:avLst/>
          </a:prstGeom>
          <a:solidFill>
            <a:srgbClr val="FC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7040880" y="3707892"/>
            <a:ext cx="237744" cy="42048"/>
          </a:xfrm>
          <a:prstGeom prst="rect">
            <a:avLst/>
          </a:prstGeom>
          <a:solidFill>
            <a:srgbClr val="FE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7040880" y="3749040"/>
            <a:ext cx="237744" cy="42048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7040880" y="3790188"/>
            <a:ext cx="237744" cy="42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7040880" y="3831336"/>
            <a:ext cx="237744" cy="42048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040880" y="3872484"/>
            <a:ext cx="237744" cy="42048"/>
          </a:xfrm>
          <a:prstGeom prst="rect">
            <a:avLst/>
          </a:prstGeom>
          <a:solidFill>
            <a:srgbClr val="EF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040880" y="3913632"/>
            <a:ext cx="237744" cy="42048"/>
          </a:xfrm>
          <a:prstGeom prst="rect">
            <a:avLst/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7040880" y="3954780"/>
            <a:ext cx="237744" cy="42048"/>
          </a:xfrm>
          <a:prstGeom prst="rect">
            <a:avLst/>
          </a:prstGeom>
          <a:solidFill>
            <a:srgbClr val="E6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7040880" y="3995928"/>
            <a:ext cx="237744" cy="42048"/>
          </a:xfrm>
          <a:prstGeom prst="rect">
            <a:avLst/>
          </a:prstGeom>
          <a:solidFill>
            <a:srgbClr val="E1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7040880" y="4037076"/>
            <a:ext cx="237744" cy="42048"/>
          </a:xfrm>
          <a:prstGeom prst="rect">
            <a:avLst/>
          </a:prstGeom>
          <a:solidFill>
            <a:srgbClr val="DD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7040880" y="4078224"/>
            <a:ext cx="237744" cy="42048"/>
          </a:xfrm>
          <a:prstGeom prst="rect">
            <a:avLst/>
          </a:prstGeom>
          <a:solidFill>
            <a:srgbClr val="D8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7040880" y="4119372"/>
            <a:ext cx="237744" cy="42048"/>
          </a:xfrm>
          <a:prstGeom prst="rect">
            <a:avLst/>
          </a:prstGeom>
          <a:solidFill>
            <a:srgbClr val="D4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7040880" y="4160520"/>
            <a:ext cx="237744" cy="42048"/>
          </a:xfrm>
          <a:prstGeom prst="rect">
            <a:avLst/>
          </a:prstGeom>
          <a:solidFill>
            <a:srgbClr val="CFD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7040880" y="4201668"/>
            <a:ext cx="237744" cy="42048"/>
          </a:xfrm>
          <a:prstGeom prst="rect">
            <a:avLst/>
          </a:prstGeom>
          <a:solidFill>
            <a:srgbClr val="CBD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7040880" y="4242816"/>
            <a:ext cx="237744" cy="42048"/>
          </a:xfrm>
          <a:prstGeom prst="rect">
            <a:avLst/>
          </a:prstGeom>
          <a:solidFill>
            <a:srgbClr val="C6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40880" y="4283964"/>
            <a:ext cx="237744" cy="42048"/>
          </a:xfrm>
          <a:prstGeom prst="rect">
            <a:avLst/>
          </a:prstGeom>
          <a:solidFill>
            <a:srgbClr val="C2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40880" y="4325112"/>
            <a:ext cx="237744" cy="42048"/>
          </a:xfrm>
          <a:prstGeom prst="rect">
            <a:avLst/>
          </a:prstGeom>
          <a:solidFill>
            <a:srgbClr val="BDD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40880" y="4366260"/>
            <a:ext cx="237744" cy="42048"/>
          </a:xfrm>
          <a:prstGeom prst="rect">
            <a:avLst/>
          </a:prstGeom>
          <a:solidFill>
            <a:srgbClr val="B9C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40880" y="4407408"/>
            <a:ext cx="237744" cy="42048"/>
          </a:xfrm>
          <a:prstGeom prst="rect">
            <a:avLst/>
          </a:prstGeom>
          <a:solidFill>
            <a:srgbClr val="B5C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040880" y="4448556"/>
            <a:ext cx="237744" cy="42048"/>
          </a:xfrm>
          <a:prstGeom prst="rect">
            <a:avLst/>
          </a:prstGeom>
          <a:solidFill>
            <a:srgbClr val="B0C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40880" y="4489704"/>
            <a:ext cx="237744" cy="42048"/>
          </a:xfrm>
          <a:prstGeom prst="rect">
            <a:avLst/>
          </a:prstGeom>
          <a:solidFill>
            <a:srgbClr val="ACC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040880" y="4530852"/>
            <a:ext cx="237744" cy="42048"/>
          </a:xfrm>
          <a:prstGeom prst="rect">
            <a:avLst/>
          </a:prstGeom>
          <a:solidFill>
            <a:srgbClr val="A7C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040880" y="4572000"/>
            <a:ext cx="237744" cy="42048"/>
          </a:xfrm>
          <a:prstGeom prst="rect">
            <a:avLst/>
          </a:prstGeom>
          <a:solidFill>
            <a:srgbClr val="A3B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040880" y="4613148"/>
            <a:ext cx="237744" cy="42048"/>
          </a:xfrm>
          <a:prstGeom prst="rect">
            <a:avLst/>
          </a:prstGeom>
          <a:solidFill>
            <a:srgbClr val="9EB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040880" y="4654296"/>
            <a:ext cx="237744" cy="42048"/>
          </a:xfrm>
          <a:prstGeom prst="rect">
            <a:avLst/>
          </a:prstGeom>
          <a:solidFill>
            <a:srgbClr val="9AB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040880" y="4695444"/>
            <a:ext cx="237744" cy="42048"/>
          </a:xfrm>
          <a:prstGeom prst="rect">
            <a:avLst/>
          </a:prstGeom>
          <a:solidFill>
            <a:srgbClr val="95B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040880" y="4736592"/>
            <a:ext cx="237744" cy="42048"/>
          </a:xfrm>
          <a:prstGeom prst="rect">
            <a:avLst/>
          </a:prstGeom>
          <a:solidFill>
            <a:srgbClr val="91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040880" y="4777740"/>
            <a:ext cx="237744" cy="42048"/>
          </a:xfrm>
          <a:prstGeom prst="rect">
            <a:avLst/>
          </a:prstGeom>
          <a:solidFill>
            <a:srgbClr val="8CB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7040880" y="4818888"/>
            <a:ext cx="237744" cy="42048"/>
          </a:xfrm>
          <a:prstGeom prst="rect">
            <a:avLst/>
          </a:prstGeom>
          <a:solidFill>
            <a:srgbClr val="88A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040880" y="4860036"/>
            <a:ext cx="237744" cy="42048"/>
          </a:xfrm>
          <a:prstGeom prst="rect">
            <a:avLst/>
          </a:prstGeom>
          <a:solidFill>
            <a:srgbClr val="83A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7040880" y="4901184"/>
            <a:ext cx="237744" cy="42048"/>
          </a:xfrm>
          <a:prstGeom prst="rect">
            <a:avLst/>
          </a:prstGeom>
          <a:solidFill>
            <a:srgbClr val="7F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7040880" y="4942332"/>
            <a:ext cx="237744" cy="42048"/>
          </a:xfrm>
          <a:prstGeom prst="rect">
            <a:avLst/>
          </a:prstGeom>
          <a:solidFill>
            <a:srgbClr val="7AA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7040880" y="4983480"/>
            <a:ext cx="237744" cy="42048"/>
          </a:xfrm>
          <a:prstGeom prst="rect">
            <a:avLst/>
          </a:prstGeom>
          <a:solidFill>
            <a:srgbClr val="76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7040880" y="5024628"/>
            <a:ext cx="237744" cy="42048"/>
          </a:xfrm>
          <a:prstGeom prst="rect">
            <a:avLst/>
          </a:prstGeom>
          <a:solidFill>
            <a:srgbClr val="719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7040880" y="5065776"/>
            <a:ext cx="237744" cy="42048"/>
          </a:xfrm>
          <a:prstGeom prst="rect">
            <a:avLst/>
          </a:prstGeom>
          <a:solidFill>
            <a:srgbClr val="6D9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7040880" y="5106924"/>
            <a:ext cx="237744" cy="42048"/>
          </a:xfrm>
          <a:prstGeom prst="rect">
            <a:avLst/>
          </a:prstGeom>
          <a:solidFill>
            <a:srgbClr val="689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7040880" y="5148072"/>
            <a:ext cx="237744" cy="42048"/>
          </a:xfrm>
          <a:prstGeom prst="rect">
            <a:avLst/>
          </a:prstGeom>
          <a:solidFill>
            <a:srgbClr val="649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7040880" y="5189220"/>
            <a:ext cx="237744" cy="42048"/>
          </a:xfrm>
          <a:prstGeom prst="rect">
            <a:avLst/>
          </a:prstGeom>
          <a:solidFill>
            <a:srgbClr val="5F91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7040880" y="5230368"/>
            <a:ext cx="237744" cy="42048"/>
          </a:xfrm>
          <a:prstGeom prst="rect">
            <a:avLst/>
          </a:prstGeom>
          <a:solidFill>
            <a:srgbClr val="5B8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7040880" y="5271516"/>
            <a:ext cx="237744" cy="42048"/>
          </a:xfrm>
          <a:prstGeom prst="rect">
            <a:avLst/>
          </a:prstGeom>
          <a:solidFill>
            <a:srgbClr val="56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7040880" y="5312664"/>
            <a:ext cx="237744" cy="42048"/>
          </a:xfrm>
          <a:prstGeom prst="rect">
            <a:avLst/>
          </a:prstGeom>
          <a:solidFill>
            <a:srgbClr val="528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7040880" y="5353812"/>
            <a:ext cx="237744" cy="42048"/>
          </a:xfrm>
          <a:prstGeom prst="rect">
            <a:avLst/>
          </a:prstGeom>
          <a:solidFill>
            <a:srgbClr val="4D8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7040880" y="5394960"/>
            <a:ext cx="237744" cy="42048"/>
          </a:xfrm>
          <a:prstGeom prst="rect">
            <a:avLst/>
          </a:prstGeom>
          <a:solidFill>
            <a:srgbClr val="4981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7040880" y="5436108"/>
            <a:ext cx="237744" cy="42048"/>
          </a:xfrm>
          <a:prstGeom prst="rect">
            <a:avLst/>
          </a:prstGeom>
          <a:solidFill>
            <a:srgbClr val="447E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7040880" y="5477256"/>
            <a:ext cx="237744" cy="42048"/>
          </a:xfrm>
          <a:prstGeom prst="rect">
            <a:avLst/>
          </a:prstGeom>
          <a:solidFill>
            <a:srgbClr val="407B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7040880" y="5518404"/>
            <a:ext cx="237744" cy="42048"/>
          </a:xfrm>
          <a:prstGeom prst="rect">
            <a:avLst/>
          </a:prstGeom>
          <a:solidFill>
            <a:srgbClr val="3B78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7040880" y="5559552"/>
            <a:ext cx="237744" cy="42048"/>
          </a:xfrm>
          <a:prstGeom prst="rect">
            <a:avLst/>
          </a:prstGeom>
          <a:solidFill>
            <a:srgbClr val="377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7040880" y="5600700"/>
            <a:ext cx="237744" cy="42048"/>
          </a:xfrm>
          <a:prstGeom prst="rect">
            <a:avLst/>
          </a:prstGeom>
          <a:solidFill>
            <a:srgbClr val="32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7040880" y="5641848"/>
            <a:ext cx="237744" cy="42048"/>
          </a:xfrm>
          <a:prstGeom prst="rect">
            <a:avLst/>
          </a:prstGeom>
          <a:solidFill>
            <a:srgbClr val="2E6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7040880" y="5682996"/>
            <a:ext cx="237744" cy="42048"/>
          </a:xfrm>
          <a:prstGeom prst="rect">
            <a:avLst/>
          </a:prstGeom>
          <a:solidFill>
            <a:srgbClr val="296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7040880" y="5724144"/>
            <a:ext cx="237744" cy="42048"/>
          </a:xfrm>
          <a:prstGeom prst="rect">
            <a:avLst/>
          </a:prstGeom>
          <a:solidFill>
            <a:srgbClr val="2569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7040880" y="5765292"/>
            <a:ext cx="237744" cy="42048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7040880" y="1691640"/>
            <a:ext cx="237744" cy="4114800"/>
          </a:xfrm>
          <a:prstGeom prst="rect">
            <a:avLst/>
          </a:prstGeom>
          <a:noFill/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7" name="Connector 256"/>
          <p:cNvCxnSpPr/>
          <p:nvPr/>
        </p:nvCxnSpPr>
        <p:spPr>
          <a:xfrm>
            <a:off x="7278624" y="169164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7388352" y="160020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+0.60</a:t>
            </a:r>
          </a:p>
        </p:txBody>
      </p:sp>
      <p:cxnSp>
        <p:nvCxnSpPr>
          <p:cNvPr id="259" name="Connector 258"/>
          <p:cNvCxnSpPr/>
          <p:nvPr/>
        </p:nvCxnSpPr>
        <p:spPr>
          <a:xfrm>
            <a:off x="7278624" y="272034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TextBox 259"/>
          <p:cNvSpPr txBox="1"/>
          <p:nvPr/>
        </p:nvSpPr>
        <p:spPr>
          <a:xfrm>
            <a:off x="7388352" y="262890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+0.30</a:t>
            </a:r>
          </a:p>
        </p:txBody>
      </p:sp>
      <p:cxnSp>
        <p:nvCxnSpPr>
          <p:cNvPr id="261" name="Connector 260"/>
          <p:cNvCxnSpPr/>
          <p:nvPr/>
        </p:nvCxnSpPr>
        <p:spPr>
          <a:xfrm>
            <a:off x="7278624" y="374904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TextBox 261"/>
          <p:cNvSpPr txBox="1"/>
          <p:nvPr/>
        </p:nvSpPr>
        <p:spPr>
          <a:xfrm>
            <a:off x="7388352" y="365760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263" name="Connector 262"/>
          <p:cNvCxnSpPr/>
          <p:nvPr/>
        </p:nvCxnSpPr>
        <p:spPr>
          <a:xfrm>
            <a:off x="7278624" y="477774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TextBox 263"/>
          <p:cNvSpPr txBox="1"/>
          <p:nvPr/>
        </p:nvSpPr>
        <p:spPr>
          <a:xfrm>
            <a:off x="7388352" y="468630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−0.30</a:t>
            </a:r>
          </a:p>
        </p:txBody>
      </p:sp>
      <p:cxnSp>
        <p:nvCxnSpPr>
          <p:cNvPr id="265" name="Connector 264"/>
          <p:cNvCxnSpPr/>
          <p:nvPr/>
        </p:nvCxnSpPr>
        <p:spPr>
          <a:xfrm>
            <a:off x="7278624" y="580644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TextBox 265"/>
          <p:cNvSpPr txBox="1"/>
          <p:nvPr/>
        </p:nvSpPr>
        <p:spPr>
          <a:xfrm>
            <a:off x="7388352" y="571500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−0.60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777240" y="6062472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n = 10–14 paired subjects · plain Spearman ρ (NO group adjustment — diagnostic only) · BH-corrected across 36 pairs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777240" y="6263640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Cell value = plain Spearman r.   * nominal P &lt; 0.05    ** BH q &lt; 0.05.   Gold border = manuscript headline pair (DSB × Δ CD8-cytotoxic, plain r = −0.07).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777240" y="6464808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Diagnostic result: 0/36 plain P &lt; 0.05   ·   0/36 BH q &lt; 0.05  (top 2 cells P = 0.0586, 0.0588 just above the threshold).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