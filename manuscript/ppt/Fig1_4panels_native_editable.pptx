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43779" y="137160"/>
            <a:ext cx="731337" cy="48006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/>
            <a:r>
              <a:rPr sz="2200" b="1" i="0">
                <a:solidFill>
                  <a:srgbClr val="1F3B5C"/>
                </a:solidFill>
                <a:latin typeface="Arial"/>
              </a:rPr>
              <a:t>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5116" y="274320"/>
            <a:ext cx="10604388" cy="41148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/>
            <a:r>
              <a:rPr sz="1400" b="1" i="0">
                <a:solidFill>
                  <a:srgbClr val="1F3B5C"/>
                </a:solidFill>
                <a:latin typeface="Arial"/>
              </a:rPr>
              <a:t>35 MSS LARC patients  |  good n = 18  |  bad n = 17  |  14 paired pre/post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668" y="2263140"/>
            <a:ext cx="1218895" cy="960120"/>
          </a:xfrm>
          <a:prstGeom prst="roundRect">
            <a:avLst/>
          </a:prstGeom>
          <a:solidFill>
            <a:srgbClr val="EAF2F8"/>
          </a:solidFill>
          <a:ln w="1016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5668" y="2303140"/>
            <a:ext cx="1098895" cy="88012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Arial"/>
              </a:rPr>
              <a:t>Baseline</a:t>
            </a:r>
          </a:p>
          <a:p>
            <a:pPr algn="ctr"/>
            <a:r>
              <a:rPr sz="1100" b="0" i="0">
                <a:solidFill>
                  <a:srgbClr val="333333"/>
                </a:solidFill>
                <a:latin typeface="Arial"/>
              </a:rPr>
              <a:t>(pre-CRT)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06453" y="2263140"/>
            <a:ext cx="2437790" cy="960120"/>
          </a:xfrm>
          <a:prstGeom prst="roundRect">
            <a:avLst/>
          </a:prstGeom>
          <a:solidFill>
            <a:srgbClr val="F5E6A8"/>
          </a:solidFill>
          <a:ln w="1016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66453" y="2303140"/>
            <a:ext cx="2317790" cy="88012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Arial"/>
              </a:rPr>
              <a:t>Radiation phase</a:t>
            </a:r>
          </a:p>
          <a:p>
            <a:pPr algn="ctr"/>
            <a:r>
              <a:rPr sz="1100" b="0" i="0">
                <a:solidFill>
                  <a:srgbClr val="333333"/>
                </a:solidFill>
                <a:latin typeface="Arial"/>
              </a:rPr>
              <a:t>long-course CRT</a:t>
            </a:r>
          </a:p>
          <a:p>
            <a:pPr algn="ctr"/>
            <a:r>
              <a:rPr sz="1100" b="0" i="0">
                <a:solidFill>
                  <a:srgbClr val="333333"/>
                </a:solidFill>
                <a:latin typeface="Arial"/>
              </a:rPr>
              <a:t>50.4 Gy + capecitabine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66133" y="2263140"/>
            <a:ext cx="1340784" cy="960120"/>
          </a:xfrm>
          <a:prstGeom prst="roundRect">
            <a:avLst/>
          </a:prstGeom>
          <a:solidFill>
            <a:srgbClr val="FDEBD0"/>
          </a:solidFill>
          <a:ln w="1016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26133" y="2303140"/>
            <a:ext cx="1220784" cy="88012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Arial"/>
              </a:rPr>
              <a:t>Post-CRT</a:t>
            </a:r>
          </a:p>
          <a:p>
            <a:pPr algn="ctr"/>
            <a:r>
              <a:rPr sz="1100" b="0" i="0">
                <a:solidFill>
                  <a:srgbClr val="333333"/>
                </a:solidFill>
                <a:latin typeface="Arial"/>
              </a:rPr>
              <a:t>(before consolidation)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28807" y="2263140"/>
            <a:ext cx="2681569" cy="960120"/>
          </a:xfrm>
          <a:prstGeom prst="roundRect">
            <a:avLst/>
          </a:prstGeom>
          <a:solidFill>
            <a:srgbClr val="D6EAF8"/>
          </a:solidFill>
          <a:ln w="1016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88807" y="2303140"/>
            <a:ext cx="2561569" cy="88012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Arial"/>
              </a:rPr>
              <a:t>Consolidation chemotherapy</a:t>
            </a:r>
          </a:p>
          <a:p>
            <a:pPr algn="ctr"/>
            <a:r>
              <a:rPr sz="1100" b="0" i="0">
                <a:solidFill>
                  <a:srgbClr val="333333"/>
                </a:solidFill>
                <a:latin typeface="Arial"/>
              </a:rPr>
              <a:t>FOLFOX / CAPOX / Xeloda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32266" y="2263140"/>
            <a:ext cx="3291017" cy="960120"/>
          </a:xfrm>
          <a:prstGeom prst="roundRect">
            <a:avLst/>
          </a:prstGeom>
          <a:solidFill>
            <a:srgbClr val="FADBD8"/>
          </a:solidFill>
          <a:ln w="1016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2266" y="2303140"/>
            <a:ext cx="3171017" cy="88012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Arial"/>
              </a:rPr>
              <a:t>Surgery  or  Watch-and-Wait</a:t>
            </a:r>
          </a:p>
          <a:p>
            <a:pPr algn="ctr"/>
            <a:r>
              <a:rPr sz="1100" b="0" i="0">
                <a:solidFill>
                  <a:srgbClr val="333333"/>
                </a:solidFill>
                <a:latin typeface="Arial"/>
              </a:rPr>
              <a:t>(final TNT response by Dworak TRG)</a:t>
            </a:r>
          </a:p>
        </p:txBody>
      </p:sp>
      <p:sp>
        <p:nvSpPr>
          <p:cNvPr id="14" name="Isosceles Triangle 13"/>
          <p:cNvSpPr/>
          <p:nvPr/>
        </p:nvSpPr>
        <p:spPr>
          <a:xfrm rot="10800000">
            <a:off x="835116" y="2003140"/>
            <a:ext cx="280000" cy="260000"/>
          </a:xfrm>
          <a:prstGeom prst="triangle">
            <a:avLst/>
          </a:prstGeom>
          <a:solidFill>
            <a:srgbClr val="1F3B5C"/>
          </a:solidFill>
          <a:ln w="1016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116" y="1703140"/>
            <a:ext cx="1800000" cy="2600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/>
            <a:r>
              <a:rPr sz="1000" b="1" i="0">
                <a:solidFill>
                  <a:srgbClr val="1F3B5C"/>
                </a:solidFill>
                <a:latin typeface="Arial"/>
              </a:rPr>
              <a:t>Pre-CRT biopsy</a:t>
            </a:r>
          </a:p>
        </p:txBody>
      </p:sp>
      <p:sp>
        <p:nvSpPr>
          <p:cNvPr id="16" name="Isosceles Triangle 15"/>
          <p:cNvSpPr/>
          <p:nvPr/>
        </p:nvSpPr>
        <p:spPr>
          <a:xfrm rot="10800000">
            <a:off x="4796525" y="2003140"/>
            <a:ext cx="280000" cy="260000"/>
          </a:xfrm>
          <a:prstGeom prst="triangle">
            <a:avLst/>
          </a:prstGeom>
          <a:solidFill>
            <a:srgbClr val="1F3B5C"/>
          </a:solidFill>
          <a:ln w="1016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36525" y="1703140"/>
            <a:ext cx="1800000" cy="2600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/>
            <a:r>
              <a:rPr sz="1000" b="1" i="0">
                <a:solidFill>
                  <a:srgbClr val="1F3B5C"/>
                </a:solidFill>
                <a:latin typeface="Arial"/>
              </a:rPr>
              <a:t>Post-CRT biopsy</a:t>
            </a:r>
          </a:p>
        </p:txBody>
      </p:sp>
      <p:sp>
        <p:nvSpPr>
          <p:cNvPr id="18" name="Oval 17"/>
          <p:cNvSpPr/>
          <p:nvPr/>
        </p:nvSpPr>
        <p:spPr>
          <a:xfrm>
            <a:off x="10318120" y="2123140"/>
            <a:ext cx="280000" cy="280000"/>
          </a:xfrm>
          <a:prstGeom prst="ellipse">
            <a:avLst/>
          </a:prstGeom>
          <a:solidFill>
            <a:srgbClr val="E63946"/>
          </a:solidFill>
          <a:ln w="1016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58120" y="1863140"/>
            <a:ext cx="2000000" cy="2400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/>
            <a:r>
              <a:rPr sz="1000" b="1" i="0">
                <a:solidFill>
                  <a:srgbClr val="E63946"/>
                </a:solidFill>
                <a:latin typeface="Arial"/>
              </a:rPr>
              <a:t>Response endpoint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43779" y="3263260"/>
            <a:ext cx="11579504" cy="0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ight Triangle 20"/>
          <p:cNvSpPr/>
          <p:nvPr/>
        </p:nvSpPr>
        <p:spPr>
          <a:xfrm>
            <a:off x="11762338" y="3233260"/>
            <a:ext cx="80000" cy="120000"/>
          </a:xfrm>
          <a:prstGeom prst="rtTriangl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335725" y="3323260"/>
            <a:ext cx="731337" cy="2200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/>
            <a:r>
              <a:rPr sz="900" b="0" i="1">
                <a:solidFill>
                  <a:srgbClr val="333333"/>
                </a:solidFill>
                <a:latin typeface="Arial"/>
              </a:rPr>
              <a:t>Time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75116" y="3773260"/>
            <a:ext cx="4022354" cy="0"/>
          </a:xfrm>
          <a:prstGeom prst="line">
            <a:avLst/>
          </a:prstGeom>
          <a:ln w="27940">
            <a:solidFill>
              <a:srgbClr val="1F3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75116" y="3703260"/>
            <a:ext cx="0" cy="140000"/>
          </a:xfrm>
          <a:prstGeom prst="line">
            <a:avLst/>
          </a:prstGeom>
          <a:ln w="27940">
            <a:solidFill>
              <a:srgbClr val="1F3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997470" y="3703260"/>
            <a:ext cx="0" cy="140000"/>
          </a:xfrm>
          <a:prstGeom prst="line">
            <a:avLst/>
          </a:prstGeom>
          <a:ln w="27940">
            <a:solidFill>
              <a:srgbClr val="1F3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75116" y="3853260"/>
            <a:ext cx="4022354" cy="3000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/>
            <a:r>
              <a:rPr sz="1100" b="1" i="0">
                <a:solidFill>
                  <a:srgbClr val="1F3B5C"/>
                </a:solidFill>
                <a:latin typeface="Arial"/>
              </a:rPr>
              <a:t>Radiation-phase sampling window (this study)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3779" y="5897880"/>
            <a:ext cx="11701393" cy="6858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rial"/>
              </a:rPr>
              <a:t>Final TNT response (Dworak TRG 0–1 vs 2–3) is assessed after surgery, after the full TNT regimen.</a:t>
            </a:r>
          </a:p>
          <a:p>
            <a:pPr algn="l"/>
            <a:r>
              <a:rPr sz="1000" b="0" i="1">
                <a:solidFill>
                  <a:srgbClr val="555555"/>
                </a:solidFill>
                <a:latin typeface="Arial"/>
              </a:rPr>
              <a:t>Molecular profiling is powered by the pre-CRT / post-CRT biopsy pair — the mid-treatment decision window.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43779" y="137160"/>
            <a:ext cx="731337" cy="48006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/>
            <a:r>
              <a:rPr sz="2200" b="1" i="0">
                <a:solidFill>
                  <a:srgbClr val="1F3B5C"/>
                </a:solidFill>
                <a:latin typeface="Arial"/>
              </a:rPr>
              <a:t>B</a:t>
            </a:r>
          </a:p>
        </p:txBody>
      </p:sp>
      <p:sp>
        <p:nvSpPr>
          <p:cNvPr id="3" name="Rectangle 2"/>
          <p:cNvSpPr/>
          <p:nvPr/>
        </p:nvSpPr>
        <p:spPr>
          <a:xfrm>
            <a:off x="975116" y="822960"/>
            <a:ext cx="1218895" cy="3820885"/>
          </a:xfrm>
          <a:prstGeom prst="rect">
            <a:avLst/>
          </a:prstGeom>
          <a:solidFill>
            <a:srgbClr val="4E79A7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5116" y="822960"/>
            <a:ext cx="1218895" cy="3820885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M</a:t>
            </a:r>
          </a:p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(n=25)</a:t>
            </a:r>
          </a:p>
        </p:txBody>
      </p:sp>
      <p:sp>
        <p:nvSpPr>
          <p:cNvPr id="5" name="Rectangle 4"/>
          <p:cNvSpPr/>
          <p:nvPr/>
        </p:nvSpPr>
        <p:spPr>
          <a:xfrm>
            <a:off x="975116" y="4643845"/>
            <a:ext cx="1218895" cy="1528354"/>
          </a:xfrm>
          <a:prstGeom prst="rect">
            <a:avLst/>
          </a:prstGeom>
          <a:solidFill>
            <a:srgbClr val="E15859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5116" y="4643845"/>
            <a:ext cx="1218895" cy="1528354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F</a:t>
            </a:r>
          </a:p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(n=10)</a:t>
            </a:r>
          </a:p>
        </p:txBody>
      </p:sp>
      <p:sp>
        <p:nvSpPr>
          <p:cNvPr id="7" name="Rectangle 6"/>
          <p:cNvSpPr/>
          <p:nvPr/>
        </p:nvSpPr>
        <p:spPr>
          <a:xfrm>
            <a:off x="4875580" y="822960"/>
            <a:ext cx="1218895" cy="764177"/>
          </a:xfrm>
          <a:prstGeom prst="rect">
            <a:avLst/>
          </a:prstGeom>
          <a:solidFill>
            <a:srgbClr val="8CC5E3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75580" y="822960"/>
            <a:ext cx="1218895" cy="764177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T2</a:t>
            </a:r>
          </a:p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(n=5)</a:t>
            </a:r>
          </a:p>
        </p:txBody>
      </p:sp>
      <p:sp>
        <p:nvSpPr>
          <p:cNvPr id="9" name="Rectangle 8"/>
          <p:cNvSpPr/>
          <p:nvPr/>
        </p:nvSpPr>
        <p:spPr>
          <a:xfrm>
            <a:off x="4875580" y="1587137"/>
            <a:ext cx="1218895" cy="305670"/>
          </a:xfrm>
          <a:prstGeom prst="rect">
            <a:avLst/>
          </a:prstGeom>
          <a:solidFill>
            <a:srgbClr val="5FA8D3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75580" y="1587137"/>
            <a:ext cx="1218895" cy="30567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T2/T3</a:t>
            </a:r>
          </a:p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(n=2)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75580" y="1892807"/>
            <a:ext cx="1218895" cy="2903873"/>
          </a:xfrm>
          <a:prstGeom prst="rect">
            <a:avLst/>
          </a:prstGeom>
          <a:solidFill>
            <a:srgbClr val="3A8AB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75580" y="1892807"/>
            <a:ext cx="1218895" cy="2903873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T3</a:t>
            </a:r>
          </a:p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(n=19)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75580" y="4796680"/>
            <a:ext cx="1218895" cy="1375518"/>
          </a:xfrm>
          <a:prstGeom prst="rect">
            <a:avLst/>
          </a:prstGeom>
          <a:solidFill>
            <a:srgbClr val="1F3B5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75580" y="4796680"/>
            <a:ext cx="1218895" cy="1375518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T4</a:t>
            </a:r>
          </a:p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(n=9)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76045" y="822960"/>
            <a:ext cx="1218895" cy="2751037"/>
          </a:xfrm>
          <a:prstGeom prst="rect">
            <a:avLst/>
          </a:prstGeom>
          <a:solidFill>
            <a:srgbClr val="2E86A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6045" y="822960"/>
            <a:ext cx="1218895" cy="2751037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good</a:t>
            </a:r>
          </a:p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(n=18)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76045" y="3573997"/>
            <a:ext cx="1218895" cy="2598202"/>
          </a:xfrm>
          <a:prstGeom prst="rect">
            <a:avLst/>
          </a:prstGeom>
          <a:solidFill>
            <a:srgbClr val="E6394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6045" y="3573997"/>
            <a:ext cx="1218895" cy="2598202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bad</a:t>
            </a:r>
          </a:p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(n=17)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116" y="411480"/>
            <a:ext cx="2218895" cy="3000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/>
            <a:r>
              <a:rPr sz="1200" b="1" i="0">
                <a:solidFill>
                  <a:srgbClr val="1F3B5C"/>
                </a:solidFill>
                <a:latin typeface="Arial"/>
              </a:rPr>
              <a:t>Sex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5580" y="411480"/>
            <a:ext cx="2218895" cy="3000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/>
            <a:r>
              <a:rPr sz="1200" b="1" i="0">
                <a:solidFill>
                  <a:srgbClr val="1F3B5C"/>
                </a:solidFill>
                <a:latin typeface="Arial"/>
              </a:rPr>
              <a:t>Clinical T stage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6045" y="411480"/>
            <a:ext cx="2218895" cy="3000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/>
            <a:r>
              <a:rPr sz="1200" b="1" i="0">
                <a:solidFill>
                  <a:srgbClr val="1F3B5C"/>
                </a:solidFill>
                <a:latin typeface="Arial"/>
              </a:rPr>
              <a:t>Final TNT response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18895" y="137160"/>
            <a:ext cx="9751161" cy="27432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/>
            <a:r>
              <a:rPr sz="1300" b="1" i="0">
                <a:solidFill>
                  <a:srgbClr val="1F3B5C"/>
                </a:solidFill>
                <a:latin typeface="Arial"/>
              </a:rPr>
              <a:t>Cohort flow — N = 35 MSS LARC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81569" y="2057400"/>
            <a:ext cx="1950232" cy="2743200"/>
          </a:xfrm>
          <a:prstGeom prst="rect">
            <a:avLst/>
          </a:prstGeom>
          <a:solidFill>
            <a:srgbClr val="F8F8F8"/>
          </a:solidFill>
          <a:ln w="9525">
            <a:solidFill>
              <a:srgbClr val="CCCCCC"/>
            </a:solidFill>
          </a:ln>
        </p:spPr>
        <p:txBody>
          <a:bodyPr wrap="square" tIns="12700" bIns="12700" lIns="25400" rIns="25400" anchor="ctr">
            <a:spAutoFit/>
          </a:bodyPr>
          <a:lstStyle/>
          <a:p>
            <a:pPr algn="l"/>
            <a:r>
              <a:rPr sz="1000" b="0" i="0">
                <a:solidFill>
                  <a:srgbClr val="1F3B5C"/>
                </a:solidFill>
                <a:latin typeface="Arial"/>
              </a:rPr>
              <a:t>Breakdown (editable):</a:t>
            </a:r>
          </a:p>
          <a:p>
            <a:pPr algn="l"/>
            <a:r>
              <a:rPr sz="1000" b="0" i="0">
                <a:solidFill>
                  <a:srgbClr val="1F3B5C"/>
                </a:solidFill>
                <a:latin typeface="Arial"/>
              </a:rPr>
              <a:t>  Sex: M 25 / F 10</a:t>
            </a:r>
          </a:p>
          <a:p>
            <a:pPr algn="l"/>
            <a:r>
              <a:rPr sz="1000" b="0" i="0">
                <a:solidFill>
                  <a:srgbClr val="1F3B5C"/>
                </a:solidFill>
                <a:latin typeface="Arial"/>
              </a:rPr>
              <a:t>  cT: T2 5 / T2/T3 2 / T3 19 / T4 9</a:t>
            </a:r>
          </a:p>
          <a:p>
            <a:pPr algn="l"/>
            <a:r>
              <a:rPr sz="1000" b="0" i="0">
                <a:solidFill>
                  <a:srgbClr val="1F3B5C"/>
                </a:solidFill>
                <a:latin typeface="Arial"/>
              </a:rPr>
              <a:t>  Response: good 18 / bad 17</a:t>
            </a:r>
          </a:p>
          <a:p>
            <a:pPr algn="l"/>
            <a:r>
              <a:rPr sz="1000" b="0" i="0">
                <a:solidFill>
                  <a:srgbClr val="1F3B5C"/>
                </a:solidFill>
                <a:latin typeface="Arial"/>
              </a:rPr>
              <a:t>  Paired pre/post: 14</a:t>
            </a:r>
          </a:p>
          <a:p>
            <a:pPr algn="l"/>
            <a:r>
              <a:rPr sz="1000" b="0" i="0">
                <a:solidFill>
                  <a:srgbClr val="1F3B5C"/>
                </a:solidFill>
                <a:latin typeface="Arial"/>
              </a:rPr>
              <a:t>  All MSS (MSI &lt; 0.19 %), TMB median 1.6 /Mb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43779" y="137160"/>
            <a:ext cx="731337" cy="48006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/>
            <a:r>
              <a:rPr sz="2200" b="1" i="0">
                <a:solidFill>
                  <a:srgbClr val="1F3B5C"/>
                </a:solidFill>
                <a:latin typeface="Arial"/>
              </a:rPr>
              <a:t>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5116" y="205740"/>
            <a:ext cx="10238719" cy="3429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/>
            <a:r>
              <a:rPr sz="1300" b="1" i="0">
                <a:solidFill>
                  <a:srgbClr val="1F3B5C"/>
                </a:solidFill>
                <a:latin typeface="Arial"/>
              </a:rPr>
              <a:t>Sample × assay matrix</a:t>
            </a:r>
          </a:p>
        </p:txBody>
      </p:sp>
      <p:sp>
        <p:nvSpPr>
          <p:cNvPr id="4" name="Rectangle 3"/>
          <p:cNvSpPr/>
          <p:nvPr/>
        </p:nvSpPr>
        <p:spPr>
          <a:xfrm>
            <a:off x="2194011" y="1371600"/>
            <a:ext cx="1950232" cy="960120"/>
          </a:xfrm>
          <a:prstGeom prst="rect">
            <a:avLst/>
          </a:prstGeom>
          <a:solidFill>
            <a:srgbClr val="1F3B5C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94011" y="1371600"/>
            <a:ext cx="1950232" cy="96012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Assay</a:t>
            </a:r>
          </a:p>
        </p:txBody>
      </p:sp>
      <p:sp>
        <p:nvSpPr>
          <p:cNvPr id="6" name="Rectangle 5"/>
          <p:cNvSpPr/>
          <p:nvPr/>
        </p:nvSpPr>
        <p:spPr>
          <a:xfrm>
            <a:off x="4144243" y="1371600"/>
            <a:ext cx="1950232" cy="960120"/>
          </a:xfrm>
          <a:prstGeom prst="rect">
            <a:avLst/>
          </a:prstGeom>
          <a:solidFill>
            <a:srgbClr val="1F3B5C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44243" y="1371600"/>
            <a:ext cx="1950232" cy="96012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Normal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4475" y="1371600"/>
            <a:ext cx="1950232" cy="960120"/>
          </a:xfrm>
          <a:prstGeom prst="rect">
            <a:avLst/>
          </a:prstGeom>
          <a:solidFill>
            <a:srgbClr val="1F3B5C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94475" y="1371600"/>
            <a:ext cx="1950232" cy="96012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Pre-CRT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4707" y="1371600"/>
            <a:ext cx="1950232" cy="960120"/>
          </a:xfrm>
          <a:prstGeom prst="rect">
            <a:avLst/>
          </a:prstGeom>
          <a:solidFill>
            <a:srgbClr val="1F3B5C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4707" y="1371600"/>
            <a:ext cx="1950232" cy="96012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Post-CRT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94939" y="1371600"/>
            <a:ext cx="1950232" cy="960120"/>
          </a:xfrm>
          <a:prstGeom prst="rect">
            <a:avLst/>
          </a:prstGeom>
          <a:solidFill>
            <a:srgbClr val="1F3B5C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94939" y="1371600"/>
            <a:ext cx="1950232" cy="96012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Total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94011" y="2331720"/>
            <a:ext cx="1950232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94011" y="2331720"/>
            <a:ext cx="1950232" cy="96012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/>
            <a:r>
              <a:rPr sz="1300" b="1" i="0">
                <a:solidFill>
                  <a:srgbClr val="1F3B5C"/>
                </a:solidFill>
                <a:latin typeface="Arial"/>
              </a:rPr>
              <a:t>WES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44243" y="2331720"/>
            <a:ext cx="1950232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44243" y="2331720"/>
            <a:ext cx="1950232" cy="96012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Arial"/>
              </a:rPr>
              <a:t>29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94475" y="2331720"/>
            <a:ext cx="1950232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94475" y="2331720"/>
            <a:ext cx="1950232" cy="96012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Arial"/>
              </a:rPr>
              <a:t>35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4707" y="2331720"/>
            <a:ext cx="1950232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4707" y="2331720"/>
            <a:ext cx="1950232" cy="96012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Arial"/>
              </a:rPr>
              <a:t>14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94939" y="2331720"/>
            <a:ext cx="1950232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94939" y="2331720"/>
            <a:ext cx="1950232" cy="96012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Arial"/>
              </a:rPr>
              <a:t>78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194011" y="3291840"/>
            <a:ext cx="1950232" cy="96012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94011" y="3291840"/>
            <a:ext cx="1950232" cy="96012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/>
            <a:r>
              <a:rPr sz="1300" b="1" i="0">
                <a:solidFill>
                  <a:srgbClr val="1F3B5C"/>
                </a:solidFill>
                <a:latin typeface="Arial"/>
              </a:rPr>
              <a:t>RNA-seq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44243" y="3291840"/>
            <a:ext cx="1950232" cy="96012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44243" y="3291840"/>
            <a:ext cx="1950232" cy="96012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Arial"/>
              </a:rPr>
              <a:t>10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94475" y="3291840"/>
            <a:ext cx="1950232" cy="96012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94475" y="3291840"/>
            <a:ext cx="1950232" cy="96012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Arial"/>
              </a:rPr>
              <a:t>33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44707" y="3291840"/>
            <a:ext cx="1950232" cy="96012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4707" y="3291840"/>
            <a:ext cx="1950232" cy="96012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Arial"/>
              </a:rPr>
              <a:t>13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994939" y="3291840"/>
            <a:ext cx="1950232" cy="96012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994939" y="3291840"/>
            <a:ext cx="1950232" cy="96012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Arial"/>
              </a:rPr>
              <a:t>56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5116" y="4114800"/>
            <a:ext cx="10238719" cy="150876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/>
            <a:r>
              <a:rPr sz="1100" b="0" i="1">
                <a:solidFill>
                  <a:srgbClr val="555555"/>
                </a:solidFill>
                <a:latin typeface="Arial"/>
              </a:rPr>
              <a:t>WES: 77 samples physically sequenced (subj 13-N missing); 78 in metadata. Tumors = 49 PASS Mutect2 VCFs.</a:t>
            </a:r>
          </a:p>
          <a:p>
            <a:pPr algn="ctr"/>
            <a:r>
              <a:rPr sz="1100" b="0" i="1">
                <a:solidFill>
                  <a:srgbClr val="555555"/>
                </a:solidFill>
                <a:latin typeface="Arial"/>
              </a:rPr>
              <a:t>RNA-seq: all 56 samples profiled. 14 subjects contributed paired pre-CRT + post-CRT; 21 subjects single-timepoint.</a:t>
            </a:r>
          </a:p>
          <a:p>
            <a:pPr algn="ctr"/>
            <a:r>
              <a:rPr sz="1100" b="0" i="1">
                <a:solidFill>
                  <a:srgbClr val="555555"/>
                </a:solidFill>
                <a:latin typeface="Arial"/>
              </a:rPr>
              <a:t>Detailed per-analysis sample flow in Supp Fig S12 (CONSORT).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43779" y="137160"/>
            <a:ext cx="731337" cy="48006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/>
            <a:r>
              <a:rPr sz="2200" b="1" i="0">
                <a:solidFill>
                  <a:srgbClr val="1F3B5C"/>
                </a:solidFill>
                <a:latin typeface="Arial"/>
              </a:rPr>
              <a:t>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5116" y="205740"/>
            <a:ext cx="10238719" cy="3429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/>
            <a:r>
              <a:rPr sz="1300" b="1" i="0">
                <a:solidFill>
                  <a:srgbClr val="1F3B5C"/>
                </a:solidFill>
                <a:latin typeface="Arial"/>
              </a:rPr>
              <a:t>Headline summary of results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6685" y="5349240"/>
            <a:ext cx="4875580" cy="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656685" y="1234440"/>
            <a:ext cx="0" cy="411480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306762" y="5349240"/>
            <a:ext cx="0" cy="3000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066762" y="5389240"/>
            <a:ext cx="480000" cy="1800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Arial"/>
              </a:rPr>
              <a:t>-2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956839" y="5349240"/>
            <a:ext cx="0" cy="3000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716839" y="5389240"/>
            <a:ext cx="480000" cy="1800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Arial"/>
              </a:rPr>
              <a:t>-1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606917" y="5349240"/>
            <a:ext cx="0" cy="3000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366917" y="5389240"/>
            <a:ext cx="480000" cy="1800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Arial"/>
              </a:rPr>
              <a:t>0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256994" y="5349240"/>
            <a:ext cx="0" cy="3000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016994" y="5389240"/>
            <a:ext cx="480000" cy="1800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Arial"/>
              </a:rPr>
              <a:t>1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907071" y="5349240"/>
            <a:ext cx="0" cy="3000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667071" y="5389240"/>
            <a:ext cx="480000" cy="1800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Arial"/>
              </a:rPr>
              <a:t>2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557149" y="5349240"/>
            <a:ext cx="0" cy="3000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317149" y="5389240"/>
            <a:ext cx="480000" cy="1800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Arial"/>
              </a:rPr>
              <a:t>3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207226" y="5349240"/>
            <a:ext cx="0" cy="3000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967226" y="5389240"/>
            <a:ext cx="480000" cy="1800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6685" y="5609240"/>
            <a:ext cx="4875580" cy="2600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/>
            <a:r>
              <a:rPr sz="1000" b="1" i="0">
                <a:solidFill>
                  <a:srgbClr val="333333"/>
                </a:solidFill>
                <a:latin typeface="Arial"/>
              </a:rPr>
              <a:t>Standardized effect (see per-row annotation)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606917" y="1234440"/>
            <a:ext cx="0" cy="4114800"/>
          </a:xfrm>
          <a:prstGeom prst="line">
            <a:avLst/>
          </a:prstGeom>
          <a:ln w="1016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281878" y="4526280"/>
            <a:ext cx="2470294" cy="0"/>
          </a:xfrm>
          <a:prstGeom prst="line">
            <a:avLst/>
          </a:prstGeom>
          <a:ln w="22860">
            <a:solidFill>
              <a:srgbClr val="2E8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281878" y="4476280"/>
            <a:ext cx="0" cy="100000"/>
          </a:xfrm>
          <a:prstGeom prst="line">
            <a:avLst/>
          </a:prstGeom>
          <a:ln w="22860">
            <a:solidFill>
              <a:srgbClr val="2E8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752172" y="4476280"/>
            <a:ext cx="0" cy="100000"/>
          </a:xfrm>
          <a:prstGeom prst="line">
            <a:avLst/>
          </a:prstGeom>
          <a:ln w="22860">
            <a:solidFill>
              <a:srgbClr val="2E8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6452033" y="4396280"/>
            <a:ext cx="260000" cy="260000"/>
          </a:xfrm>
          <a:prstGeom prst="ellipse">
            <a:avLst/>
          </a:prstGeom>
          <a:solidFill>
            <a:srgbClr val="2E86AB"/>
          </a:solidFill>
          <a:ln w="762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6685" y="4246280"/>
            <a:ext cx="3000000" cy="5600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r"/>
            <a:r>
              <a:rPr sz="1000" b="1" i="0">
                <a:solidFill>
                  <a:srgbClr val="1F3B5C"/>
                </a:solidFill>
                <a:latin typeface="Arial"/>
              </a:rPr>
              <a:t>Narrative 1</a:t>
            </a:r>
          </a:p>
          <a:p>
            <a:pPr algn="r"/>
            <a:r>
              <a:rPr sz="1000" b="1" i="0">
                <a:solidFill>
                  <a:srgbClr val="1F3B5C"/>
                </a:solidFill>
                <a:latin typeface="Arial"/>
              </a:rPr>
              <a:t>Pre-CRT tumor-intrinsic</a:t>
            </a:r>
          </a:p>
          <a:p>
            <a:pPr algn="r"/>
            <a:r>
              <a:rPr sz="1000" b="1" i="0">
                <a:solidFill>
                  <a:srgbClr val="1F3B5C"/>
                </a:solidFill>
                <a:latin typeface="Arial"/>
              </a:rPr>
              <a:t>predictor (DSB/HDR/E2F)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52265" y="4306280"/>
            <a:ext cx="3500000" cy="4400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/>
            <a:r>
              <a:rPr sz="1000" b="1" i="0">
                <a:solidFill>
                  <a:srgbClr val="2E86AB"/>
                </a:solidFill>
                <a:latin typeface="Arial"/>
              </a:rPr>
              <a:t>LASSO AUC = 0.650 [0.45, 0.83]   nested LOOCV, n = 35</a:t>
            </a:r>
          </a:p>
          <a:p>
            <a:pPr algn="l"/>
            <a:r>
              <a:rPr sz="1000" b="1" i="0">
                <a:solidFill>
                  <a:srgbClr val="2E86AB"/>
                </a:solidFill>
                <a:latin typeface="Arial"/>
              </a:rPr>
              <a:t>ElasticNet AUC = 0.686 [0.49, 0.85]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645921" y="3291840"/>
            <a:ext cx="1241648" cy="0"/>
          </a:xfrm>
          <a:prstGeom prst="line">
            <a:avLst/>
          </a:prstGeom>
          <a:ln w="22860">
            <a:solidFill>
              <a:srgbClr val="2A9D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645921" y="3241840"/>
            <a:ext cx="0" cy="100000"/>
          </a:xfrm>
          <a:prstGeom prst="line">
            <a:avLst/>
          </a:prstGeom>
          <a:ln w="22860">
            <a:solidFill>
              <a:srgbClr val="2A9D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887569" y="3241840"/>
            <a:ext cx="0" cy="100000"/>
          </a:xfrm>
          <a:prstGeom prst="line">
            <a:avLst/>
          </a:prstGeom>
          <a:ln w="22860">
            <a:solidFill>
              <a:srgbClr val="2A9D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6263510" y="3161840"/>
            <a:ext cx="260000" cy="260000"/>
          </a:xfrm>
          <a:prstGeom prst="ellipse">
            <a:avLst/>
          </a:prstGeom>
          <a:solidFill>
            <a:srgbClr val="2A9D8F"/>
          </a:solidFill>
          <a:ln w="762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5411893" y="2777490"/>
            <a:ext cx="1235147" cy="0"/>
          </a:xfrm>
          <a:prstGeom prst="line">
            <a:avLst/>
          </a:prstGeom>
          <a:ln w="20320">
            <a:solidFill>
              <a:srgbClr val="B0B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Diamond 32"/>
          <p:cNvSpPr/>
          <p:nvPr/>
        </p:nvSpPr>
        <p:spPr>
          <a:xfrm>
            <a:off x="5939467" y="2687490"/>
            <a:ext cx="180000" cy="180000"/>
          </a:xfrm>
          <a:prstGeom prst="diamond">
            <a:avLst/>
          </a:prstGeom>
          <a:solidFill>
            <a:srgbClr val="B0B0B0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6685" y="3191840"/>
            <a:ext cx="3000000" cy="7600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r"/>
            <a:r>
              <a:rPr sz="1000" b="1" i="0">
                <a:solidFill>
                  <a:srgbClr val="1F3B5C"/>
                </a:solidFill>
                <a:latin typeface="Arial"/>
              </a:rPr>
              <a:t>Narrative 2</a:t>
            </a:r>
          </a:p>
          <a:p>
            <a:pPr algn="r"/>
            <a:r>
              <a:rPr sz="1000" b="1" i="0">
                <a:solidFill>
                  <a:srgbClr val="1F3B5C"/>
                </a:solidFill>
                <a:latin typeface="Arial"/>
              </a:rPr>
              <a:t>Radiation-induced</a:t>
            </a:r>
          </a:p>
          <a:p>
            <a:pPr algn="r"/>
            <a:r>
              <a:rPr sz="1000" b="1" i="0">
                <a:solidFill>
                  <a:srgbClr val="1F3B5C"/>
                </a:solidFill>
                <a:latin typeface="Arial"/>
              </a:rPr>
              <a:t>cascade</a:t>
            </a:r>
          </a:p>
          <a:p>
            <a:pPr algn="r"/>
            <a:r>
              <a:rPr sz="1000" b="1" i="0">
                <a:solidFill>
                  <a:srgbClr val="1F3B5C"/>
                </a:solidFill>
                <a:latin typeface="Arial"/>
              </a:rPr>
              <a:t>(exploratory, n = 14)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52265" y="3131840"/>
            <a:ext cx="4800000" cy="2800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/>
            <a:r>
              <a:rPr sz="1000" b="1" i="0">
                <a:solidFill>
                  <a:srgbClr val="2A9D8F"/>
                </a:solidFill>
                <a:latin typeface="Arial"/>
              </a:rPr>
              <a:t>Treg Δ = +1.21 [+0.06, +1.97]   robust, MW P = 0.026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52265" y="2637490"/>
            <a:ext cx="4800000" cy="2400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  <a:latin typeface="Arial"/>
              </a:rPr>
              <a:t>Other cascade features — CIs span 0 (exploratory)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639420" y="1954530"/>
            <a:ext cx="182022" cy="0"/>
          </a:xfrm>
          <a:prstGeom prst="line">
            <a:avLst/>
          </a:prstGeom>
          <a:ln w="22860">
            <a:solidFill>
              <a:srgbClr val="E639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5639420" y="1904530"/>
            <a:ext cx="0" cy="100000"/>
          </a:xfrm>
          <a:prstGeom prst="line">
            <a:avLst/>
          </a:prstGeom>
          <a:ln w="22860">
            <a:solidFill>
              <a:srgbClr val="E639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5821442" y="1904530"/>
            <a:ext cx="0" cy="100000"/>
          </a:xfrm>
          <a:prstGeom prst="line">
            <a:avLst/>
          </a:prstGeom>
          <a:ln w="22860">
            <a:solidFill>
              <a:srgbClr val="E639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5600431" y="1824530"/>
            <a:ext cx="260000" cy="260000"/>
          </a:xfrm>
          <a:prstGeom prst="ellipse">
            <a:avLst/>
          </a:prstGeom>
          <a:solidFill>
            <a:srgbClr val="E63946"/>
          </a:solidFill>
          <a:ln w="762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5645921" y="1491615"/>
            <a:ext cx="156019" cy="0"/>
          </a:xfrm>
          <a:prstGeom prst="line">
            <a:avLst/>
          </a:prstGeom>
          <a:ln w="20320">
            <a:solidFill>
              <a:srgbClr val="6A4C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Diamond 41"/>
          <p:cNvSpPr/>
          <p:nvPr/>
        </p:nvSpPr>
        <p:spPr>
          <a:xfrm>
            <a:off x="5603930" y="1371615"/>
            <a:ext cx="240000" cy="240000"/>
          </a:xfrm>
          <a:prstGeom prst="diamond">
            <a:avLst/>
          </a:prstGeom>
          <a:solidFill>
            <a:srgbClr val="FFFFFF"/>
          </a:solidFill>
          <a:ln w="22860">
            <a:solidFill>
              <a:srgbClr val="6A4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Diamond 42"/>
          <p:cNvSpPr/>
          <p:nvPr/>
        </p:nvSpPr>
        <p:spPr>
          <a:xfrm>
            <a:off x="5520431" y="1834530"/>
            <a:ext cx="420000" cy="240000"/>
          </a:xfrm>
          <a:prstGeom prst="diamond">
            <a:avLst/>
          </a:prstGeom>
          <a:solidFill>
            <a:srgbClr val="E63946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6685" y="1854530"/>
            <a:ext cx="3000000" cy="5600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r"/>
            <a:r>
              <a:rPr sz="1000" b="1" i="0">
                <a:solidFill>
                  <a:srgbClr val="1F3B5C"/>
                </a:solidFill>
                <a:latin typeface="Arial"/>
              </a:rPr>
              <a:t>Narrative 3</a:t>
            </a:r>
          </a:p>
          <a:p>
            <a:pPr algn="r"/>
            <a:r>
              <a:rPr sz="1000" b="1" i="0">
                <a:solidFill>
                  <a:srgbClr val="1F3B5C"/>
                </a:solidFill>
                <a:latin typeface="Arial"/>
              </a:rPr>
              <a:t>External CD8-cytotoxic</a:t>
            </a:r>
          </a:p>
          <a:p>
            <a:pPr algn="r"/>
            <a:r>
              <a:rPr sz="1000" b="1" i="0">
                <a:solidFill>
                  <a:srgbClr val="1F3B5C"/>
                </a:solidFill>
                <a:latin typeface="Arial"/>
              </a:rPr>
              <a:t>reproducibility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52265" y="1794530"/>
            <a:ext cx="5200000" cy="2800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/>
            <a:r>
              <a:rPr sz="1000" b="1" i="0">
                <a:solidFill>
                  <a:srgbClr val="E63946"/>
                </a:solidFill>
                <a:latin typeface="Arial"/>
              </a:rPr>
              <a:t>9-cohort meta Stouffer Z = +2.74, P = 0.006   (N = 721, 8/9 concordant)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52265" y="1351615"/>
            <a:ext cx="5200000" cy="2400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/>
            <a:r>
              <a:rPr sz="950" b="0" i="0">
                <a:solidFill>
                  <a:srgbClr val="6A4C93"/>
                </a:solidFill>
                <a:latin typeface="Arial"/>
              </a:rPr>
              <a:t>Akiyoshi 2023  n = 298, OR = 3.81 [1.82, 7.97] → &gt; 1,000 patients / 10 cohorts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5116" y="5829300"/>
            <a:ext cx="10238719" cy="6858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/>
            <a:r>
              <a:rPr sz="900" b="0" i="1">
                <a:solidFill>
                  <a:srgbClr val="666666"/>
                </a:solidFill>
                <a:latin typeface="Arial"/>
              </a:rPr>
              <a:t>x-axis: standardized effect size. Narrative 1: AUC encoded as (AUC − 0.5) × 10. Narrative 2: between-group Δ (good − bad). Narrative 3: Δ (good − bad) signature score.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