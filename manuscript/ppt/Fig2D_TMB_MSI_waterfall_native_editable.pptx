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13716000" cy="36576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200" b="1" i="0">
                <a:solidFill>
                  <a:srgbClr val="1D3557"/>
                </a:solidFill>
                <a:latin typeface="Arial"/>
              </a:rPr>
              <a:t>Sample-level MSI and TMB waterfall — Poor (left) vs Good (right); paired PR/PO adjacent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365760" cy="36576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2200" b="1" i="0">
                <a:solidFill>
                  <a:srgbClr val="1D3557"/>
                </a:solidFill>
                <a:latin typeface="Arial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868680" cy="164592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r"/>
            <a:r>
              <a:rPr sz="900" b="1" i="0">
                <a:solidFill>
                  <a:srgbClr val="1D3557"/>
                </a:solidFill>
                <a:latin typeface="Arial"/>
              </a:rPr>
              <a:t>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868680" cy="164592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r"/>
            <a:r>
              <a:rPr sz="900" b="1" i="0">
                <a:solidFill>
                  <a:srgbClr val="1D3557"/>
                </a:solidFill>
                <a:latin typeface="Arial"/>
              </a:rPr>
              <a:t>Timepoint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88687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88687" y="777240"/>
            <a:ext cx="299967" cy="164592"/>
          </a:xfrm>
          <a:prstGeom prst="rect">
            <a:avLst/>
          </a:prstGeom>
          <a:solidFill>
            <a:srgbClr val="F4A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88654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88654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88621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88621" y="777240"/>
            <a:ext cx="299967" cy="164592"/>
          </a:xfrm>
          <a:prstGeom prst="rect">
            <a:avLst/>
          </a:prstGeom>
          <a:solidFill>
            <a:srgbClr val="F4A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88588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88588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88555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88555" y="777240"/>
            <a:ext cx="299967" cy="164592"/>
          </a:xfrm>
          <a:prstGeom prst="rect">
            <a:avLst/>
          </a:prstGeom>
          <a:solidFill>
            <a:srgbClr val="F4A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88522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88522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88489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88489" y="777240"/>
            <a:ext cx="299967" cy="164592"/>
          </a:xfrm>
          <a:prstGeom prst="rect">
            <a:avLst/>
          </a:prstGeom>
          <a:solidFill>
            <a:srgbClr val="F4A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88456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88456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8423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88423" y="777240"/>
            <a:ext cx="299967" cy="164592"/>
          </a:xfrm>
          <a:prstGeom prst="rect">
            <a:avLst/>
          </a:prstGeom>
          <a:solidFill>
            <a:srgbClr val="F4A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88390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88390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8357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8357" y="777240"/>
            <a:ext cx="299967" cy="164592"/>
          </a:xfrm>
          <a:prstGeom prst="rect">
            <a:avLst/>
          </a:prstGeom>
          <a:solidFill>
            <a:srgbClr val="F4A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88324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88324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88291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88291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88258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88258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88225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88225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88192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88192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88159" y="594360"/>
            <a:ext cx="299967" cy="164592"/>
          </a:xfrm>
          <a:prstGeom prst="rect">
            <a:avLst/>
          </a:prstGeom>
          <a:solidFill>
            <a:srgbClr val="E63946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88159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8126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8126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88093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88093" y="777240"/>
            <a:ext cx="299967" cy="164592"/>
          </a:xfrm>
          <a:prstGeom prst="rect">
            <a:avLst/>
          </a:prstGeom>
          <a:solidFill>
            <a:srgbClr val="F4A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88060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88060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88027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88027" y="777240"/>
            <a:ext cx="299967" cy="164592"/>
          </a:xfrm>
          <a:prstGeom prst="rect">
            <a:avLst/>
          </a:prstGeom>
          <a:solidFill>
            <a:srgbClr val="F4A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87994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87994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87961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87961" y="777240"/>
            <a:ext cx="299967" cy="164592"/>
          </a:xfrm>
          <a:prstGeom prst="rect">
            <a:avLst/>
          </a:prstGeom>
          <a:solidFill>
            <a:srgbClr val="F4A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87928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87928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687895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687895" y="777240"/>
            <a:ext cx="299967" cy="164592"/>
          </a:xfrm>
          <a:prstGeom prst="rect">
            <a:avLst/>
          </a:prstGeom>
          <a:solidFill>
            <a:srgbClr val="F4A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87862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987862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87829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87829" y="777240"/>
            <a:ext cx="299967" cy="164592"/>
          </a:xfrm>
          <a:prstGeom prst="rect">
            <a:avLst/>
          </a:prstGeom>
          <a:solidFill>
            <a:srgbClr val="F4A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87796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87796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887763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887763" y="777240"/>
            <a:ext cx="299967" cy="164592"/>
          </a:xfrm>
          <a:prstGeom prst="rect">
            <a:avLst/>
          </a:prstGeom>
          <a:solidFill>
            <a:srgbClr val="F4A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187730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187730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87697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487697" y="777240"/>
            <a:ext cx="299967" cy="164592"/>
          </a:xfrm>
          <a:prstGeom prst="rect">
            <a:avLst/>
          </a:prstGeom>
          <a:solidFill>
            <a:srgbClr val="F4A261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87664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787664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087631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087631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387598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387598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687565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687565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987532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1987532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2287499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2287499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2587466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587466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2887433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2887433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3187400" y="594360"/>
            <a:ext cx="299967" cy="164592"/>
          </a:xfrm>
          <a:prstGeom prst="rect">
            <a:avLst/>
          </a:prstGeom>
          <a:solidFill>
            <a:srgbClr val="2E86AB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3187400" y="777240"/>
            <a:ext cx="299967" cy="164592"/>
          </a:xfrm>
          <a:prstGeom prst="rect">
            <a:avLst/>
          </a:prstGeom>
          <a:solidFill>
            <a:srgbClr val="457B9D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1188720" y="1014984"/>
            <a:ext cx="0" cy="4572000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188720" y="5586984"/>
            <a:ext cx="12298680" cy="0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3487400" y="1014984"/>
            <a:ext cx="0" cy="4572000"/>
          </a:xfrm>
          <a:prstGeom prst="line">
            <a:avLst/>
          </a:prstGeom>
          <a:ln w="1143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43720" y="5586984"/>
            <a:ext cx="45000" cy="0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685800" y="5477256"/>
            <a:ext cx="457200" cy="219456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r"/>
            <a:r>
              <a:rPr sz="900" b="0" i="0">
                <a:solidFill>
                  <a:srgbClr val="1D3557"/>
                </a:solidFill>
                <a:latin typeface="Arial"/>
              </a:rPr>
              <a:t>0.00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143720" y="4672584"/>
            <a:ext cx="45000" cy="0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85800" y="4562856"/>
            <a:ext cx="457200" cy="219456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r"/>
            <a:r>
              <a:rPr sz="900" b="0" i="0">
                <a:solidFill>
                  <a:srgbClr val="1D3557"/>
                </a:solidFill>
                <a:latin typeface="Arial"/>
              </a:rPr>
              <a:t>0.05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143720" y="3758184"/>
            <a:ext cx="45000" cy="0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85800" y="3648456"/>
            <a:ext cx="457200" cy="219456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r"/>
            <a:r>
              <a:rPr sz="900" b="0" i="0">
                <a:solidFill>
                  <a:srgbClr val="1D3557"/>
                </a:solidFill>
                <a:latin typeface="Arial"/>
              </a:rPr>
              <a:t>0.10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143720" y="2843784"/>
            <a:ext cx="45000" cy="0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685800" y="2734056"/>
            <a:ext cx="457200" cy="219456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r"/>
            <a:r>
              <a:rPr sz="900" b="0" i="0">
                <a:solidFill>
                  <a:srgbClr val="1D3557"/>
                </a:solidFill>
                <a:latin typeface="Arial"/>
              </a:rPr>
              <a:t>0.15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143720" y="1929384"/>
            <a:ext cx="45000" cy="0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685800" y="1819656"/>
            <a:ext cx="457200" cy="219456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r"/>
            <a:r>
              <a:rPr sz="900" b="0" i="0">
                <a:solidFill>
                  <a:srgbClr val="1D3557"/>
                </a:solidFill>
                <a:latin typeface="Arial"/>
              </a:rPr>
              <a:t>0.20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143720" y="1014984"/>
            <a:ext cx="45000" cy="0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85800" y="905256"/>
            <a:ext cx="457200" cy="219456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r"/>
            <a:r>
              <a:rPr sz="900" b="0" i="0">
                <a:solidFill>
                  <a:srgbClr val="1D3557"/>
                </a:solidFill>
                <a:latin typeface="Arial"/>
              </a:rPr>
              <a:t>0.25</a:t>
            </a:r>
          </a:p>
        </p:txBody>
      </p:sp>
      <p:sp>
        <p:nvSpPr>
          <p:cNvPr id="103" name="TextBox 102"/>
          <p:cNvSpPr txBox="1"/>
          <p:nvPr/>
        </p:nvSpPr>
        <p:spPr>
          <a:xfrm rot="16200000">
            <a:off x="-365760" y="3163824"/>
            <a:ext cx="1371600" cy="2743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50" b="1" i="0">
                <a:solidFill>
                  <a:srgbClr val="1D3557"/>
                </a:solidFill>
                <a:latin typeface="Arial"/>
              </a:rPr>
              <a:t>MSI percentage (%)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3487400" y="5586984"/>
            <a:ext cx="45000" cy="0"/>
          </a:xfrm>
          <a:prstGeom prst="line">
            <a:avLst/>
          </a:prstGeom>
          <a:ln w="1143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3542264" y="5477256"/>
            <a:ext cx="365760" cy="219456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00" b="0" i="0">
                <a:solidFill>
                  <a:srgbClr val="6A4C93"/>
                </a:solidFill>
                <a:latin typeface="Arial"/>
              </a:rPr>
              <a:t>0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13487400" y="4755712"/>
            <a:ext cx="45000" cy="0"/>
          </a:xfrm>
          <a:prstGeom prst="line">
            <a:avLst/>
          </a:prstGeom>
          <a:ln w="1143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3542264" y="4645984"/>
            <a:ext cx="365760" cy="219456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00" b="0" i="0">
                <a:solidFill>
                  <a:srgbClr val="6A4C93"/>
                </a:solidFill>
                <a:latin typeface="Arial"/>
              </a:rPr>
              <a:t>2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3487400" y="3924439"/>
            <a:ext cx="45000" cy="0"/>
          </a:xfrm>
          <a:prstGeom prst="line">
            <a:avLst/>
          </a:prstGeom>
          <a:ln w="1143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3542264" y="3814711"/>
            <a:ext cx="365760" cy="219456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00" b="0" i="0">
                <a:solidFill>
                  <a:srgbClr val="6A4C93"/>
                </a:solidFill>
                <a:latin typeface="Arial"/>
              </a:rPr>
              <a:t>4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13487400" y="3093166"/>
            <a:ext cx="45000" cy="0"/>
          </a:xfrm>
          <a:prstGeom prst="line">
            <a:avLst/>
          </a:prstGeom>
          <a:ln w="1143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13542264" y="2983438"/>
            <a:ext cx="365760" cy="219456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00" b="0" i="0">
                <a:solidFill>
                  <a:srgbClr val="6A4C93"/>
                </a:solidFill>
                <a:latin typeface="Arial"/>
              </a:rPr>
              <a:t>6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3487400" y="2261894"/>
            <a:ext cx="45000" cy="0"/>
          </a:xfrm>
          <a:prstGeom prst="line">
            <a:avLst/>
          </a:prstGeom>
          <a:ln w="1143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13542264" y="2152166"/>
            <a:ext cx="365760" cy="219456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00" b="0" i="0">
                <a:solidFill>
                  <a:srgbClr val="6A4C93"/>
                </a:solidFill>
                <a:latin typeface="Arial"/>
              </a:rPr>
              <a:t>8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3487400" y="1430621"/>
            <a:ext cx="45000" cy="0"/>
          </a:xfrm>
          <a:prstGeom prst="line">
            <a:avLst/>
          </a:prstGeom>
          <a:ln w="1143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13542264" y="1320893"/>
            <a:ext cx="365760" cy="219456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00" b="0" i="0">
                <a:solidFill>
                  <a:srgbClr val="6A4C93"/>
                </a:solidFill>
                <a:latin typeface="Arial"/>
              </a:rPr>
              <a:t>10</a:t>
            </a:r>
          </a:p>
        </p:txBody>
      </p:sp>
      <p:sp>
        <p:nvSpPr>
          <p:cNvPr id="116" name="TextBox 115"/>
          <p:cNvSpPr txBox="1"/>
          <p:nvPr/>
        </p:nvSpPr>
        <p:spPr>
          <a:xfrm rot="5400000">
            <a:off x="13395960" y="3163824"/>
            <a:ext cx="1828800" cy="27432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50" b="1" i="0">
                <a:solidFill>
                  <a:srgbClr val="6A4C93"/>
                </a:solidFill>
                <a:latin typeface="Arial"/>
              </a:rPr>
              <a:t>TMB (nonsyn / Mb)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188720" y="1430621"/>
            <a:ext cx="12298680" cy="0"/>
          </a:xfrm>
          <a:prstGeom prst="line">
            <a:avLst/>
          </a:prstGeom>
          <a:ln w="10160">
            <a:solidFill>
              <a:srgbClr val="6A4C9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234440" y="1202021"/>
            <a:ext cx="1463040" cy="20116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850" b="0" i="0">
                <a:solidFill>
                  <a:srgbClr val="6A4C93"/>
                </a:solidFill>
                <a:latin typeface="Arial"/>
              </a:rPr>
              <a:t>TMB 10/Mb cutoff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98720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498687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798654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098621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398588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698555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998522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298489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598456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898423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98390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98357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798324" y="5404104"/>
            <a:ext cx="279967" cy="182880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661164" y="5175504"/>
            <a:ext cx="411480" cy="20116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750" b="0" i="0">
                <a:solidFill>
                  <a:srgbClr val="1D3557"/>
                </a:solidFill>
                <a:latin typeface="Arial"/>
              </a:rPr>
              <a:t>0.01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098291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398258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698225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998192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298159" y="5532120"/>
            <a:ext cx="279967" cy="54864"/>
          </a:xfrm>
          <a:prstGeom prst="rect">
            <a:avLst/>
          </a:prstGeom>
          <a:solidFill>
            <a:srgbClr val="E63946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598126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898093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198060" y="2112264"/>
            <a:ext cx="279967" cy="3474720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060900" y="1883664"/>
            <a:ext cx="411480" cy="20116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750" b="0" i="0">
                <a:solidFill>
                  <a:srgbClr val="1D3557"/>
                </a:solidFill>
                <a:latin typeface="Arial"/>
              </a:rPr>
              <a:t>0.19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498027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797994" y="5404104"/>
            <a:ext cx="279967" cy="182880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660834" y="5175504"/>
            <a:ext cx="411480" cy="20116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750" b="0" i="0">
                <a:solidFill>
                  <a:srgbClr val="1D3557"/>
                </a:solidFill>
                <a:latin typeface="Arial"/>
              </a:rPr>
              <a:t>0.01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097961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397928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697895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97862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297829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597796" y="5404104"/>
            <a:ext cx="279967" cy="182880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460636" y="5175504"/>
            <a:ext cx="411480" cy="20116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750" b="0" i="0">
                <a:solidFill>
                  <a:srgbClr val="1D3557"/>
                </a:solidFill>
                <a:latin typeface="Arial"/>
              </a:rPr>
              <a:t>0.01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897763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0197730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497697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0797664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1097631" y="5404104"/>
            <a:ext cx="279967" cy="182880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960471" y="5175504"/>
            <a:ext cx="411480" cy="20116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750" b="0" i="0">
                <a:solidFill>
                  <a:srgbClr val="1D3557"/>
                </a:solidFill>
                <a:latin typeface="Arial"/>
              </a:rPr>
              <a:t>0.01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1397598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1697565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1997532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2297499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2597466" y="4306824"/>
            <a:ext cx="279967" cy="1280160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2460306" y="4078224"/>
            <a:ext cx="411480" cy="20116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750" b="0" i="0">
                <a:solidFill>
                  <a:srgbClr val="1D3557"/>
                </a:solidFill>
                <a:latin typeface="Arial"/>
              </a:rPr>
              <a:t>0.07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2897433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3197400" y="5532120"/>
            <a:ext cx="279967" cy="54864"/>
          </a:xfrm>
          <a:prstGeom prst="rect">
            <a:avLst/>
          </a:prstGeom>
          <a:solidFill>
            <a:srgbClr val="2E86AB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283703" y="4742275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583670" y="4908530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883637" y="5465483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183604" y="5457170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2483571" y="516622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2783538" y="5482108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3083505" y="4908530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383472" y="4900217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3683439" y="489190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3983406" y="4900217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283373" y="4700712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4583340" y="4883592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883307" y="4991657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5183274" y="5108035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5483241" y="4625897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783208" y="4775526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6083175" y="5490421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6383142" y="525766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6683109" y="470902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983076" y="5398981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283043" y="525766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583010" y="504153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882977" y="498334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182944" y="553198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482911" y="449289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782878" y="544054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082845" y="485865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9382812" y="553198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9682779" y="4684086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9982746" y="5490421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0282713" y="4517832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0582680" y="4368203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0882647" y="549873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1182614" y="4758901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1482581" y="3412239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1782548" y="4650835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2082515" y="5490421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2382482" y="4767214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2682449" y="4576021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2982416" y="4958406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282383" y="5157912"/>
            <a:ext cx="110000" cy="110000"/>
          </a:xfrm>
          <a:prstGeom prst="ellipse">
            <a:avLst/>
          </a:prstGeom>
          <a:solidFill>
            <a:srgbClr val="6A4C9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7" name="Connector 206"/>
          <p:cNvCxnSpPr/>
          <p:nvPr/>
        </p:nvCxnSpPr>
        <p:spPr>
          <a:xfrm>
            <a:off x="6588126" y="1014984"/>
            <a:ext cx="0" cy="457200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4788324" y="1014984"/>
            <a:ext cx="0" cy="4572000"/>
          </a:xfrm>
          <a:prstGeom prst="line">
            <a:avLst/>
          </a:prstGeom>
          <a:ln w="10160">
            <a:solidFill>
              <a:srgbClr val="1D35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87664" y="1014984"/>
            <a:ext cx="0" cy="4572000"/>
          </a:xfrm>
          <a:prstGeom prst="line">
            <a:avLst/>
          </a:prstGeom>
          <a:ln w="10160">
            <a:solidFill>
              <a:srgbClr val="1D35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3088323" y="1124712"/>
            <a:ext cx="16002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63946"/>
            </a:solidFill>
          </a:ln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100" b="1" i="0">
                <a:solidFill>
                  <a:srgbClr val="E63946"/>
                </a:solidFill>
                <a:latin typeface="Arial"/>
              </a:rPr>
              <a:t>Poor (TRG 2–3)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237646" y="1124712"/>
            <a:ext cx="16002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2E86AB"/>
            </a:solidFill>
          </a:ln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100" b="1" i="0">
                <a:solidFill>
                  <a:srgbClr val="2E86AB"/>
                </a:solidFill>
                <a:latin typeface="Arial"/>
              </a:rPr>
              <a:t>Good (TRG 0–1)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137660" y="2432304"/>
            <a:ext cx="64008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2828"/>
            </a:solidFill>
          </a:ln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1000" b="1" i="0">
                <a:solidFill>
                  <a:srgbClr val="D62828"/>
                </a:solidFill>
                <a:latin typeface="Arial"/>
              </a:rPr>
              <a:t>MSI-H clinical cutoff = 20 %   (all samples shown ≤ 0.19 %; axis rescaled)</a:t>
            </a:r>
          </a:p>
        </p:txBody>
      </p:sp>
      <p:sp>
        <p:nvSpPr>
          <p:cNvPr id="213" name="TextBox 212"/>
          <p:cNvSpPr txBox="1"/>
          <p:nvPr/>
        </p:nvSpPr>
        <p:spPr>
          <a:xfrm rot="16200000">
            <a:off x="1082671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1-PR</a:t>
            </a:r>
          </a:p>
        </p:txBody>
      </p:sp>
      <p:sp>
        <p:nvSpPr>
          <p:cNvPr id="214" name="TextBox 213"/>
          <p:cNvSpPr txBox="1"/>
          <p:nvPr/>
        </p:nvSpPr>
        <p:spPr>
          <a:xfrm rot="16200000">
            <a:off x="1382638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1-PO</a:t>
            </a:r>
          </a:p>
        </p:txBody>
      </p:sp>
      <p:sp>
        <p:nvSpPr>
          <p:cNvPr id="215" name="TextBox 214"/>
          <p:cNvSpPr txBox="1"/>
          <p:nvPr/>
        </p:nvSpPr>
        <p:spPr>
          <a:xfrm rot="16200000">
            <a:off x="1682605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5-PR</a:t>
            </a:r>
          </a:p>
        </p:txBody>
      </p:sp>
      <p:sp>
        <p:nvSpPr>
          <p:cNvPr id="216" name="TextBox 215"/>
          <p:cNvSpPr txBox="1"/>
          <p:nvPr/>
        </p:nvSpPr>
        <p:spPr>
          <a:xfrm rot="16200000">
            <a:off x="1982572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5-PO</a:t>
            </a:r>
          </a:p>
        </p:txBody>
      </p:sp>
      <p:sp>
        <p:nvSpPr>
          <p:cNvPr id="217" name="TextBox 216"/>
          <p:cNvSpPr txBox="1"/>
          <p:nvPr/>
        </p:nvSpPr>
        <p:spPr>
          <a:xfrm rot="16200000">
            <a:off x="2282539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7-PR</a:t>
            </a:r>
          </a:p>
        </p:txBody>
      </p:sp>
      <p:sp>
        <p:nvSpPr>
          <p:cNvPr id="218" name="TextBox 217"/>
          <p:cNvSpPr txBox="1"/>
          <p:nvPr/>
        </p:nvSpPr>
        <p:spPr>
          <a:xfrm rot="16200000">
            <a:off x="2582506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7-PO</a:t>
            </a:r>
          </a:p>
        </p:txBody>
      </p:sp>
      <p:sp>
        <p:nvSpPr>
          <p:cNvPr id="219" name="TextBox 218"/>
          <p:cNvSpPr txBox="1"/>
          <p:nvPr/>
        </p:nvSpPr>
        <p:spPr>
          <a:xfrm rot="16200000">
            <a:off x="2882473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10-PR</a:t>
            </a:r>
          </a:p>
        </p:txBody>
      </p:sp>
      <p:sp>
        <p:nvSpPr>
          <p:cNvPr id="220" name="TextBox 219"/>
          <p:cNvSpPr txBox="1"/>
          <p:nvPr/>
        </p:nvSpPr>
        <p:spPr>
          <a:xfrm rot="16200000">
            <a:off x="3182440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10-PO</a:t>
            </a:r>
          </a:p>
        </p:txBody>
      </p:sp>
      <p:sp>
        <p:nvSpPr>
          <p:cNvPr id="221" name="TextBox 220"/>
          <p:cNvSpPr txBox="1"/>
          <p:nvPr/>
        </p:nvSpPr>
        <p:spPr>
          <a:xfrm rot="16200000">
            <a:off x="3482407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11-PR</a:t>
            </a:r>
          </a:p>
        </p:txBody>
      </p:sp>
      <p:sp>
        <p:nvSpPr>
          <p:cNvPr id="222" name="TextBox 221"/>
          <p:cNvSpPr txBox="1"/>
          <p:nvPr/>
        </p:nvSpPr>
        <p:spPr>
          <a:xfrm rot="16200000">
            <a:off x="3782374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11-PO</a:t>
            </a:r>
          </a:p>
        </p:txBody>
      </p:sp>
      <p:sp>
        <p:nvSpPr>
          <p:cNvPr id="223" name="TextBox 222"/>
          <p:cNvSpPr txBox="1"/>
          <p:nvPr/>
        </p:nvSpPr>
        <p:spPr>
          <a:xfrm rot="16200000">
            <a:off x="4082341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12-PR</a:t>
            </a:r>
          </a:p>
        </p:txBody>
      </p:sp>
      <p:sp>
        <p:nvSpPr>
          <p:cNvPr id="224" name="TextBox 223"/>
          <p:cNvSpPr txBox="1"/>
          <p:nvPr/>
        </p:nvSpPr>
        <p:spPr>
          <a:xfrm rot="16200000">
            <a:off x="4382308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12-PO</a:t>
            </a:r>
          </a:p>
        </p:txBody>
      </p:sp>
      <p:sp>
        <p:nvSpPr>
          <p:cNvPr id="225" name="TextBox 224"/>
          <p:cNvSpPr txBox="1"/>
          <p:nvPr/>
        </p:nvSpPr>
        <p:spPr>
          <a:xfrm rot="16200000">
            <a:off x="4682275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21-P</a:t>
            </a:r>
          </a:p>
        </p:txBody>
      </p:sp>
      <p:sp>
        <p:nvSpPr>
          <p:cNvPr id="226" name="TextBox 225"/>
          <p:cNvSpPr txBox="1"/>
          <p:nvPr/>
        </p:nvSpPr>
        <p:spPr>
          <a:xfrm rot="16200000">
            <a:off x="4982242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22-P</a:t>
            </a:r>
          </a:p>
        </p:txBody>
      </p:sp>
      <p:sp>
        <p:nvSpPr>
          <p:cNvPr id="227" name="TextBox 226"/>
          <p:cNvSpPr txBox="1"/>
          <p:nvPr/>
        </p:nvSpPr>
        <p:spPr>
          <a:xfrm rot="16200000">
            <a:off x="5282209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26-P</a:t>
            </a:r>
          </a:p>
        </p:txBody>
      </p:sp>
      <p:sp>
        <p:nvSpPr>
          <p:cNvPr id="228" name="TextBox 227"/>
          <p:cNvSpPr txBox="1"/>
          <p:nvPr/>
        </p:nvSpPr>
        <p:spPr>
          <a:xfrm rot="16200000">
            <a:off x="5582176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32-P</a:t>
            </a:r>
          </a:p>
        </p:txBody>
      </p:sp>
      <p:sp>
        <p:nvSpPr>
          <p:cNvPr id="229" name="TextBox 228"/>
          <p:cNvSpPr txBox="1"/>
          <p:nvPr/>
        </p:nvSpPr>
        <p:spPr>
          <a:xfrm rot="16200000">
            <a:off x="5882143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34-P</a:t>
            </a:r>
          </a:p>
        </p:txBody>
      </p:sp>
      <p:sp>
        <p:nvSpPr>
          <p:cNvPr id="230" name="TextBox 229"/>
          <p:cNvSpPr txBox="1"/>
          <p:nvPr/>
        </p:nvSpPr>
        <p:spPr>
          <a:xfrm rot="16200000">
            <a:off x="6182110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35-P</a:t>
            </a:r>
          </a:p>
        </p:txBody>
      </p:sp>
      <p:sp>
        <p:nvSpPr>
          <p:cNvPr id="231" name="TextBox 230"/>
          <p:cNvSpPr txBox="1"/>
          <p:nvPr/>
        </p:nvSpPr>
        <p:spPr>
          <a:xfrm rot="16200000">
            <a:off x="6482077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2-PR</a:t>
            </a:r>
          </a:p>
        </p:txBody>
      </p:sp>
      <p:sp>
        <p:nvSpPr>
          <p:cNvPr id="232" name="TextBox 231"/>
          <p:cNvSpPr txBox="1"/>
          <p:nvPr/>
        </p:nvSpPr>
        <p:spPr>
          <a:xfrm rot="16200000">
            <a:off x="6782044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2-PO</a:t>
            </a:r>
          </a:p>
        </p:txBody>
      </p:sp>
      <p:sp>
        <p:nvSpPr>
          <p:cNvPr id="233" name="TextBox 232"/>
          <p:cNvSpPr txBox="1"/>
          <p:nvPr/>
        </p:nvSpPr>
        <p:spPr>
          <a:xfrm rot="16200000">
            <a:off x="7082011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3-PR</a:t>
            </a:r>
          </a:p>
        </p:txBody>
      </p:sp>
      <p:sp>
        <p:nvSpPr>
          <p:cNvPr id="234" name="TextBox 233"/>
          <p:cNvSpPr txBox="1"/>
          <p:nvPr/>
        </p:nvSpPr>
        <p:spPr>
          <a:xfrm rot="16200000">
            <a:off x="7381978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3-PO</a:t>
            </a:r>
          </a:p>
        </p:txBody>
      </p:sp>
      <p:sp>
        <p:nvSpPr>
          <p:cNvPr id="235" name="TextBox 234"/>
          <p:cNvSpPr txBox="1"/>
          <p:nvPr/>
        </p:nvSpPr>
        <p:spPr>
          <a:xfrm rot="16200000">
            <a:off x="7681945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4-PR</a:t>
            </a:r>
          </a:p>
        </p:txBody>
      </p:sp>
      <p:sp>
        <p:nvSpPr>
          <p:cNvPr id="236" name="TextBox 235"/>
          <p:cNvSpPr txBox="1"/>
          <p:nvPr/>
        </p:nvSpPr>
        <p:spPr>
          <a:xfrm rot="16200000">
            <a:off x="7981912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4-PO</a:t>
            </a:r>
          </a:p>
        </p:txBody>
      </p:sp>
      <p:sp>
        <p:nvSpPr>
          <p:cNvPr id="237" name="TextBox 236"/>
          <p:cNvSpPr txBox="1"/>
          <p:nvPr/>
        </p:nvSpPr>
        <p:spPr>
          <a:xfrm rot="16200000">
            <a:off x="8281879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6-PR</a:t>
            </a:r>
          </a:p>
        </p:txBody>
      </p:sp>
      <p:sp>
        <p:nvSpPr>
          <p:cNvPr id="238" name="TextBox 237"/>
          <p:cNvSpPr txBox="1"/>
          <p:nvPr/>
        </p:nvSpPr>
        <p:spPr>
          <a:xfrm rot="16200000">
            <a:off x="8581846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6-PO</a:t>
            </a:r>
          </a:p>
        </p:txBody>
      </p:sp>
      <p:sp>
        <p:nvSpPr>
          <p:cNvPr id="239" name="TextBox 238"/>
          <p:cNvSpPr txBox="1"/>
          <p:nvPr/>
        </p:nvSpPr>
        <p:spPr>
          <a:xfrm rot="16200000">
            <a:off x="8881813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8-PR</a:t>
            </a:r>
          </a:p>
        </p:txBody>
      </p:sp>
      <p:sp>
        <p:nvSpPr>
          <p:cNvPr id="240" name="TextBox 239"/>
          <p:cNvSpPr txBox="1"/>
          <p:nvPr/>
        </p:nvSpPr>
        <p:spPr>
          <a:xfrm rot="16200000">
            <a:off x="9181780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8-PO</a:t>
            </a:r>
          </a:p>
        </p:txBody>
      </p:sp>
      <p:sp>
        <p:nvSpPr>
          <p:cNvPr id="241" name="TextBox 240"/>
          <p:cNvSpPr txBox="1"/>
          <p:nvPr/>
        </p:nvSpPr>
        <p:spPr>
          <a:xfrm rot="16200000">
            <a:off x="9481747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9-PR</a:t>
            </a:r>
          </a:p>
        </p:txBody>
      </p:sp>
      <p:sp>
        <p:nvSpPr>
          <p:cNvPr id="242" name="TextBox 241"/>
          <p:cNvSpPr txBox="1"/>
          <p:nvPr/>
        </p:nvSpPr>
        <p:spPr>
          <a:xfrm rot="16200000">
            <a:off x="9781714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9-PO</a:t>
            </a:r>
          </a:p>
        </p:txBody>
      </p:sp>
      <p:sp>
        <p:nvSpPr>
          <p:cNvPr id="243" name="TextBox 242"/>
          <p:cNvSpPr txBox="1"/>
          <p:nvPr/>
        </p:nvSpPr>
        <p:spPr>
          <a:xfrm rot="16200000">
            <a:off x="10081681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14-PR</a:t>
            </a:r>
          </a:p>
        </p:txBody>
      </p:sp>
      <p:sp>
        <p:nvSpPr>
          <p:cNvPr id="244" name="TextBox 243"/>
          <p:cNvSpPr txBox="1"/>
          <p:nvPr/>
        </p:nvSpPr>
        <p:spPr>
          <a:xfrm rot="16200000">
            <a:off x="10381648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14-PO</a:t>
            </a:r>
          </a:p>
        </p:txBody>
      </p:sp>
      <p:sp>
        <p:nvSpPr>
          <p:cNvPr id="245" name="TextBox 244"/>
          <p:cNvSpPr txBox="1"/>
          <p:nvPr/>
        </p:nvSpPr>
        <p:spPr>
          <a:xfrm rot="16200000">
            <a:off x="10681615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20-P</a:t>
            </a:r>
          </a:p>
        </p:txBody>
      </p:sp>
      <p:sp>
        <p:nvSpPr>
          <p:cNvPr id="246" name="TextBox 245"/>
          <p:cNvSpPr txBox="1"/>
          <p:nvPr/>
        </p:nvSpPr>
        <p:spPr>
          <a:xfrm rot="16200000">
            <a:off x="10981582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23-P</a:t>
            </a:r>
          </a:p>
        </p:txBody>
      </p:sp>
      <p:sp>
        <p:nvSpPr>
          <p:cNvPr id="247" name="TextBox 246"/>
          <p:cNvSpPr txBox="1"/>
          <p:nvPr/>
        </p:nvSpPr>
        <p:spPr>
          <a:xfrm rot="16200000">
            <a:off x="11281549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24-P</a:t>
            </a:r>
          </a:p>
        </p:txBody>
      </p:sp>
      <p:sp>
        <p:nvSpPr>
          <p:cNvPr id="248" name="TextBox 247"/>
          <p:cNvSpPr txBox="1"/>
          <p:nvPr/>
        </p:nvSpPr>
        <p:spPr>
          <a:xfrm rot="16200000">
            <a:off x="11581516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25-P</a:t>
            </a:r>
          </a:p>
        </p:txBody>
      </p:sp>
      <p:sp>
        <p:nvSpPr>
          <p:cNvPr id="249" name="TextBox 248"/>
          <p:cNvSpPr txBox="1"/>
          <p:nvPr/>
        </p:nvSpPr>
        <p:spPr>
          <a:xfrm rot="16200000">
            <a:off x="11881483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27-P</a:t>
            </a:r>
          </a:p>
        </p:txBody>
      </p:sp>
      <p:sp>
        <p:nvSpPr>
          <p:cNvPr id="250" name="TextBox 249"/>
          <p:cNvSpPr txBox="1"/>
          <p:nvPr/>
        </p:nvSpPr>
        <p:spPr>
          <a:xfrm rot="16200000">
            <a:off x="12181450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28-P</a:t>
            </a:r>
          </a:p>
        </p:txBody>
      </p:sp>
      <p:sp>
        <p:nvSpPr>
          <p:cNvPr id="251" name="TextBox 250"/>
          <p:cNvSpPr txBox="1"/>
          <p:nvPr/>
        </p:nvSpPr>
        <p:spPr>
          <a:xfrm rot="16200000">
            <a:off x="12481417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29-P</a:t>
            </a:r>
          </a:p>
        </p:txBody>
      </p:sp>
      <p:sp>
        <p:nvSpPr>
          <p:cNvPr id="252" name="TextBox 251"/>
          <p:cNvSpPr txBox="1"/>
          <p:nvPr/>
        </p:nvSpPr>
        <p:spPr>
          <a:xfrm rot="16200000">
            <a:off x="12781384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30-P</a:t>
            </a:r>
          </a:p>
        </p:txBody>
      </p:sp>
      <p:sp>
        <p:nvSpPr>
          <p:cNvPr id="253" name="TextBox 252"/>
          <p:cNvSpPr txBox="1"/>
          <p:nvPr/>
        </p:nvSpPr>
        <p:spPr>
          <a:xfrm rot="16200000">
            <a:off x="13081351" y="5632704"/>
            <a:ext cx="512064" cy="54864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/>
            <a:r>
              <a:rPr sz="850" b="0" i="0">
                <a:solidFill>
                  <a:srgbClr val="1D3557"/>
                </a:solidFill>
                <a:latin typeface="Arial"/>
              </a:rPr>
              <a:t>31-P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640080" y="6312784"/>
            <a:ext cx="182880" cy="182880"/>
          </a:xfrm>
          <a:prstGeom prst="rect">
            <a:avLst/>
          </a:prstGeom>
          <a:solidFill>
            <a:srgbClr val="2E86A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868680" y="6272784"/>
            <a:ext cx="1737360" cy="29260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50" b="0" i="0">
                <a:solidFill>
                  <a:srgbClr val="1D3557"/>
                </a:solidFill>
                <a:latin typeface="Arial"/>
              </a:rPr>
              <a:t>Good (TRG 0–1)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2286000" y="6312784"/>
            <a:ext cx="182880" cy="182880"/>
          </a:xfrm>
          <a:prstGeom prst="rect">
            <a:avLst/>
          </a:prstGeom>
          <a:solidFill>
            <a:srgbClr val="E6394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2514600" y="6272784"/>
            <a:ext cx="1737360" cy="29260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50" b="0" i="0">
                <a:solidFill>
                  <a:srgbClr val="1D3557"/>
                </a:solidFill>
                <a:latin typeface="Arial"/>
              </a:rPr>
              <a:t>Poor (TRG 2–3)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3931920" y="6312784"/>
            <a:ext cx="182880" cy="182880"/>
          </a:xfrm>
          <a:prstGeom prst="rect">
            <a:avLst/>
          </a:prstGeom>
          <a:solidFill>
            <a:srgbClr val="457B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4160520" y="6272784"/>
            <a:ext cx="1737360" cy="29260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50" b="0" i="0">
                <a:solidFill>
                  <a:srgbClr val="1D3557"/>
                </a:solidFill>
                <a:latin typeface="Arial"/>
              </a:rPr>
              <a:t>Pre-CRT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5577840" y="6312784"/>
            <a:ext cx="182880" cy="182880"/>
          </a:xfrm>
          <a:prstGeom prst="rect">
            <a:avLst/>
          </a:prstGeom>
          <a:solidFill>
            <a:srgbClr val="F4A26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5806440" y="6272784"/>
            <a:ext cx="1737360" cy="29260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50" b="0" i="0">
                <a:solidFill>
                  <a:srgbClr val="1D3557"/>
                </a:solidFill>
                <a:latin typeface="Arial"/>
              </a:rPr>
              <a:t>Post-CRT</a:t>
            </a:r>
          </a:p>
        </p:txBody>
      </p:sp>
      <p:sp>
        <p:nvSpPr>
          <p:cNvPr id="262" name="Oval 261"/>
          <p:cNvSpPr/>
          <p:nvPr/>
        </p:nvSpPr>
        <p:spPr>
          <a:xfrm>
            <a:off x="7223760" y="6312784"/>
            <a:ext cx="182880" cy="182880"/>
          </a:xfrm>
          <a:prstGeom prst="ellipse">
            <a:avLst/>
          </a:prstGeom>
          <a:solidFill>
            <a:srgbClr val="6A4C9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7452360" y="6272784"/>
            <a:ext cx="1737360" cy="29260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50" b="0" i="0">
                <a:solidFill>
                  <a:srgbClr val="1D3557"/>
                </a:solidFill>
                <a:latin typeface="Arial"/>
              </a:rPr>
              <a:t>TMB (right axis)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8961120" y="6437376"/>
            <a:ext cx="228600" cy="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264"/>
          <p:cNvSpPr txBox="1"/>
          <p:nvPr/>
        </p:nvSpPr>
        <p:spPr>
          <a:xfrm>
            <a:off x="9217152" y="6272784"/>
            <a:ext cx="1737360" cy="29260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50" b="0" i="0">
                <a:solidFill>
                  <a:srgbClr val="1D3557"/>
                </a:solidFill>
                <a:latin typeface="Arial"/>
              </a:rPr>
              <a:t>Poor | Good boundary</a:t>
            </a:r>
          </a:p>
        </p:txBody>
      </p:sp>
      <p:cxnSp>
        <p:nvCxnSpPr>
          <p:cNvPr id="266" name="Connector 265"/>
          <p:cNvCxnSpPr/>
          <p:nvPr/>
        </p:nvCxnSpPr>
        <p:spPr>
          <a:xfrm>
            <a:off x="10972800" y="6437376"/>
            <a:ext cx="228600" cy="0"/>
          </a:xfrm>
          <a:prstGeom prst="line">
            <a:avLst/>
          </a:prstGeom>
          <a:ln w="11430">
            <a:solidFill>
              <a:srgbClr val="1D35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11228832" y="6272784"/>
            <a:ext cx="1737360" cy="292608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/>
            <a:r>
              <a:rPr sz="950" b="0" i="0">
                <a:solidFill>
                  <a:srgbClr val="1D3557"/>
                </a:solidFill>
                <a:latin typeface="Arial"/>
              </a:rPr>
              <a:t>Paired | single boundary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