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868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365760" cy="36576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2200" b="1" i="0">
                <a:solidFill>
                  <a:srgbClr val="1D3557"/>
                </a:solidFill>
                <a:latin typeface="Arial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4630400" cy="347472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300" b="1" i="0">
                <a:solidFill>
                  <a:srgbClr val="1D3557"/>
                </a:solidFill>
                <a:latin typeface="Arial"/>
              </a:rPr>
              <a:t>Genome-wide copy number landscape — Poor (top, n=17) / Good (bottom, n=18); chr 1–22 + X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640080"/>
            <a:ext cx="991383" cy="32004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640080"/>
            <a:ext cx="991383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2042943" y="640080"/>
            <a:ext cx="964452" cy="320040"/>
          </a:xfrm>
          <a:prstGeom prst="rect">
            <a:avLst/>
          </a:prstGeom>
          <a:solidFill>
            <a:srgbClr val="88888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42943" y="640080"/>
            <a:ext cx="964452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7395" y="640080"/>
            <a:ext cx="789643" cy="32004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7395" y="640080"/>
            <a:ext cx="789643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7038" y="640080"/>
            <a:ext cx="757463" cy="320040"/>
          </a:xfrm>
          <a:prstGeom prst="rect">
            <a:avLst/>
          </a:prstGeom>
          <a:solidFill>
            <a:srgbClr val="88888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7038" y="640080"/>
            <a:ext cx="757463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4502" y="640080"/>
            <a:ext cx="722913" cy="32004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502" y="640080"/>
            <a:ext cx="722913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77415" y="640080"/>
            <a:ext cx="680175" cy="320040"/>
          </a:xfrm>
          <a:prstGeom prst="rect">
            <a:avLst/>
          </a:prstGeom>
          <a:solidFill>
            <a:srgbClr val="88888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7415" y="640080"/>
            <a:ext cx="680175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57591" y="640080"/>
            <a:ext cx="634540" cy="32004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7591" y="640080"/>
            <a:ext cx="634540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92132" y="640080"/>
            <a:ext cx="577964" cy="320040"/>
          </a:xfrm>
          <a:prstGeom prst="rect">
            <a:avLst/>
          </a:prstGeom>
          <a:solidFill>
            <a:srgbClr val="88888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2132" y="640080"/>
            <a:ext cx="577964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0096" y="640080"/>
            <a:ext cx="551109" cy="32004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0096" y="640080"/>
            <a:ext cx="551109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1205" y="640080"/>
            <a:ext cx="532802" cy="320040"/>
          </a:xfrm>
          <a:prstGeom prst="rect">
            <a:avLst/>
          </a:prstGeom>
          <a:solidFill>
            <a:srgbClr val="88888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1205" y="640080"/>
            <a:ext cx="532802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54007" y="640080"/>
            <a:ext cx="537935" cy="32004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4007" y="640080"/>
            <a:ext cx="537935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91943" y="640080"/>
            <a:ext cx="530722" cy="320040"/>
          </a:xfrm>
          <a:prstGeom prst="rect">
            <a:avLst/>
          </a:prstGeom>
          <a:solidFill>
            <a:srgbClr val="88888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1943" y="640080"/>
            <a:ext cx="530722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2666" y="640080"/>
            <a:ext cx="455416" cy="32004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2666" y="640080"/>
            <a:ext cx="455416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78083" y="640080"/>
            <a:ext cx="426264" cy="320040"/>
          </a:xfrm>
          <a:prstGeom prst="rect">
            <a:avLst/>
          </a:prstGeom>
          <a:solidFill>
            <a:srgbClr val="88888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78083" y="640080"/>
            <a:ext cx="426264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04347" y="640080"/>
            <a:ext cx="406144" cy="32004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04347" y="640080"/>
            <a:ext cx="406144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10492" y="640080"/>
            <a:ext cx="359741" cy="320040"/>
          </a:xfrm>
          <a:prstGeom prst="rect">
            <a:avLst/>
          </a:prstGeom>
          <a:solidFill>
            <a:srgbClr val="88888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0492" y="640080"/>
            <a:ext cx="359741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0233" y="640080"/>
            <a:ext cx="331544" cy="32004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0233" y="640080"/>
            <a:ext cx="331544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301777" y="640080"/>
            <a:ext cx="320058" cy="320040"/>
          </a:xfrm>
          <a:prstGeom prst="rect">
            <a:avLst/>
          </a:prstGeom>
          <a:solidFill>
            <a:srgbClr val="88888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01777" y="640080"/>
            <a:ext cx="320058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621836" y="640080"/>
            <a:ext cx="233424" cy="32004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621836" y="640080"/>
            <a:ext cx="233424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855260" y="640080"/>
            <a:ext cx="256626" cy="320040"/>
          </a:xfrm>
          <a:prstGeom prst="rect">
            <a:avLst/>
          </a:prstGeom>
          <a:solidFill>
            <a:srgbClr val="88888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55260" y="640080"/>
            <a:ext cx="256626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111887" y="640080"/>
            <a:ext cx="186006" cy="32004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111887" y="640080"/>
            <a:ext cx="186006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297894" y="640080"/>
            <a:ext cx="202367" cy="320040"/>
          </a:xfrm>
          <a:prstGeom prst="rect">
            <a:avLst/>
          </a:prstGeom>
          <a:solidFill>
            <a:srgbClr val="88888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297894" y="640080"/>
            <a:ext cx="202367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500261" y="640080"/>
            <a:ext cx="621378" cy="32004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500261" y="640080"/>
            <a:ext cx="621378" cy="3200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1005840"/>
            <a:ext cx="201168" cy="3242201"/>
          </a:xfrm>
          <a:prstGeom prst="rect">
            <a:avLst/>
          </a:prstGeom>
          <a:solidFill>
            <a:srgbClr val="E6394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" y="4248041"/>
            <a:ext cx="201168" cy="3432918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" y="2215460"/>
            <a:ext cx="457200" cy="82296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100" b="1" i="0">
                <a:solidFill>
                  <a:srgbClr val="E63946"/>
                </a:solidFill>
                <a:latin typeface="Arial"/>
              </a:rPr>
              <a:t>Poor</a:t>
            </a:r>
          </a:p>
          <a:p>
            <a:pPr algn="ctr"/>
            <a:r>
              <a:rPr sz="1100" b="1" i="0">
                <a:solidFill>
                  <a:srgbClr val="E63946"/>
                </a:solidFill>
                <a:latin typeface="Arial"/>
              </a:rPr>
              <a:t>(TRG 2–3)</a:t>
            </a:r>
          </a:p>
          <a:p>
            <a:pPr algn="ctr"/>
            <a:r>
              <a:rPr sz="1100" b="1" i="0">
                <a:solidFill>
                  <a:srgbClr val="E63946"/>
                </a:solidFill>
                <a:latin typeface="Arial"/>
              </a:rPr>
              <a:t>n = 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" y="5553020"/>
            <a:ext cx="457200" cy="82296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100" b="1" i="0">
                <a:solidFill>
                  <a:srgbClr val="2E86AB"/>
                </a:solidFill>
                <a:latin typeface="Arial"/>
              </a:rPr>
              <a:t>Good</a:t>
            </a:r>
          </a:p>
          <a:p>
            <a:pPr algn="ctr"/>
            <a:r>
              <a:rPr sz="1100" b="1" i="0">
                <a:solidFill>
                  <a:srgbClr val="2E86AB"/>
                </a:solidFill>
                <a:latin typeface="Arial"/>
              </a:rPr>
              <a:t>(TRG 0–1)</a:t>
            </a:r>
          </a:p>
          <a:p>
            <a:pPr algn="ctr"/>
            <a:r>
              <a:rPr sz="1100" b="1" i="0">
                <a:solidFill>
                  <a:srgbClr val="2E86AB"/>
                </a:solidFill>
                <a:latin typeface="Arial"/>
              </a:rPr>
              <a:t>n = 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55060" y="1005840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01844" y="1005840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54131" y="1005840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302764" y="1005840"/>
            <a:ext cx="31857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856339" y="1005840"/>
            <a:ext cx="10278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972397" y="1005840"/>
            <a:ext cx="1390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501392" y="1005840"/>
            <a:ext cx="62010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008181" y="1196557"/>
            <a:ext cx="30821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797250" y="1196557"/>
            <a:ext cx="756640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55060" y="1196557"/>
            <a:ext cx="72125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58363" y="1196557"/>
            <a:ext cx="63285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54778" y="1196557"/>
            <a:ext cx="15000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85814" y="1196557"/>
            <a:ext cx="164150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232425" y="1196557"/>
            <a:ext cx="29479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395408" y="1196557"/>
            <a:ext cx="38251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854131" y="1196557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283850" y="1196557"/>
            <a:ext cx="32578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610698" y="1196557"/>
            <a:ext cx="35856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970783" y="1196557"/>
            <a:ext cx="8825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302764" y="1196557"/>
            <a:ext cx="5877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385577" y="1196557"/>
            <a:ext cx="235758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972397" y="1196557"/>
            <a:ext cx="1390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2393298" y="1196557"/>
            <a:ext cx="15000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2437535" y="1196557"/>
            <a:ext cx="6255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2501392" y="1196557"/>
            <a:ext cx="620107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940824" y="1387275"/>
            <a:ext cx="61306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555060" y="1387275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01844" y="1387275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54131" y="1387275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972397" y="1387275"/>
            <a:ext cx="1390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2501392" y="1387275"/>
            <a:ext cx="446684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043123" y="1577993"/>
            <a:ext cx="96351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940824" y="1577993"/>
            <a:ext cx="61306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555060" y="1577993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958363" y="1577993"/>
            <a:ext cx="63285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779019" y="1577993"/>
            <a:ext cx="390739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02626" y="1577993"/>
            <a:ext cx="217838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395408" y="1577993"/>
            <a:ext cx="382517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854131" y="1577993"/>
            <a:ext cx="349544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283850" y="1577993"/>
            <a:ext cx="32578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610698" y="1577993"/>
            <a:ext cx="35856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302764" y="1577993"/>
            <a:ext cx="31857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972397" y="1577993"/>
            <a:ext cx="139026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797250" y="1768710"/>
            <a:ext cx="756640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958363" y="1768710"/>
            <a:ext cx="22782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593058" y="1768710"/>
            <a:ext cx="171473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9019" y="1768710"/>
            <a:ext cx="390739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44526" y="1768710"/>
            <a:ext cx="275938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395408" y="1768710"/>
            <a:ext cx="38251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970783" y="1768710"/>
            <a:ext cx="33051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1302764" y="1768710"/>
            <a:ext cx="31857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856339" y="1768710"/>
            <a:ext cx="255084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2213987" y="1768710"/>
            <a:ext cx="837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341460" y="1768710"/>
            <a:ext cx="15863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2501392" y="1768710"/>
            <a:ext cx="62010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194537" y="1959428"/>
            <a:ext cx="1991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555060" y="1959428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958363" y="1959428"/>
            <a:ext cx="63285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779019" y="1959428"/>
            <a:ext cx="390739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01844" y="1959428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54131" y="1959428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970783" y="1959428"/>
            <a:ext cx="8825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302764" y="1959428"/>
            <a:ext cx="31857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972397" y="1959428"/>
            <a:ext cx="139026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2501392" y="1959428"/>
            <a:ext cx="62010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194537" y="2150146"/>
            <a:ext cx="1991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555060" y="2150146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269235" y="2150146"/>
            <a:ext cx="16484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601844" y="2150146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854131" y="2150146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2501392" y="2150146"/>
            <a:ext cx="62010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555060" y="2340864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601844" y="2340864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980990" y="2340864"/>
            <a:ext cx="15000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2501392" y="2340864"/>
            <a:ext cx="62010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555060" y="2531581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269235" y="2531581"/>
            <a:ext cx="16484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601844" y="2531581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854131" y="2531581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501392" y="2531581"/>
            <a:ext cx="62010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55060" y="2722299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269235" y="2722299"/>
            <a:ext cx="1718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601844" y="2722299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854131" y="2722299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2131865" y="2722299"/>
            <a:ext cx="16584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2501392" y="2722299"/>
            <a:ext cx="62010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940824" y="2913017"/>
            <a:ext cx="61306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555060" y="2913017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679214" y="2913017"/>
            <a:ext cx="59709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958363" y="2913017"/>
            <a:ext cx="63285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170952" y="2913017"/>
            <a:ext cx="166210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254778" y="2913017"/>
            <a:ext cx="15000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269235" y="2913017"/>
            <a:ext cx="1718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601844" y="2913017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854131" y="2913017"/>
            <a:ext cx="349544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283850" y="2913017"/>
            <a:ext cx="32578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610698" y="2913017"/>
            <a:ext cx="35856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1302764" y="2913017"/>
            <a:ext cx="31857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856339" y="2913017"/>
            <a:ext cx="10278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972397" y="2913017"/>
            <a:ext cx="139026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2501392" y="2913017"/>
            <a:ext cx="620107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940824" y="3103734"/>
            <a:ext cx="61306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555060" y="3103734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5531115" y="3103734"/>
            <a:ext cx="42556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170952" y="3103734"/>
            <a:ext cx="166210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601844" y="3103734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854131" y="3103734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970783" y="3103734"/>
            <a:ext cx="1519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622956" y="3103734"/>
            <a:ext cx="2321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2213987" y="3103734"/>
            <a:ext cx="837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2501392" y="3103734"/>
            <a:ext cx="62010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940824" y="3294452"/>
            <a:ext cx="61306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555060" y="3294452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278801" y="3294452"/>
            <a:ext cx="677880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5958363" y="3294452"/>
            <a:ext cx="63285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593058" y="3294452"/>
            <a:ext cx="171473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779019" y="3294452"/>
            <a:ext cx="390739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395408" y="3294452"/>
            <a:ext cx="38251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0283850" y="3294452"/>
            <a:ext cx="32578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970783" y="3294452"/>
            <a:ext cx="8825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856339" y="3294452"/>
            <a:ext cx="255084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2341460" y="3294452"/>
            <a:ext cx="15863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2501392" y="3294452"/>
            <a:ext cx="62010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940824" y="3485170"/>
            <a:ext cx="61306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555060" y="3485170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601844" y="3485170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854131" y="3485170"/>
            <a:ext cx="349544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0980990" y="3485170"/>
            <a:ext cx="15000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0996895" y="3485170"/>
            <a:ext cx="62139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1302764" y="3485170"/>
            <a:ext cx="31857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1856339" y="3485170"/>
            <a:ext cx="255084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2501392" y="3485170"/>
            <a:ext cx="620107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940824" y="3675888"/>
            <a:ext cx="61306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555060" y="3675888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395408" y="3675888"/>
            <a:ext cx="171824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601844" y="3675888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1972397" y="3675888"/>
            <a:ext cx="1390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2131865" y="3675888"/>
            <a:ext cx="16584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2752329" y="3675888"/>
            <a:ext cx="369170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555060" y="3866605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269235" y="3866605"/>
            <a:ext cx="1658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220490" y="3866605"/>
            <a:ext cx="102013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601844" y="3866605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854131" y="3866605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2213987" y="3866605"/>
            <a:ext cx="837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2501392" y="3866605"/>
            <a:ext cx="62010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4555060" y="4057323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601844" y="4057323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854131" y="4057323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2213987" y="4057323"/>
            <a:ext cx="837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2501392" y="4057323"/>
            <a:ext cx="62010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3080472" y="4248041"/>
            <a:ext cx="15000" cy="190717"/>
          </a:xfrm>
          <a:prstGeom prst="rect">
            <a:avLst/>
          </a:prstGeom>
          <a:solidFill>
            <a:srgbClr val="083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3194537" y="4248041"/>
            <a:ext cx="1991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3940824" y="4248041"/>
            <a:ext cx="61306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555060" y="4248041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170952" y="4248041"/>
            <a:ext cx="166210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8269235" y="4248041"/>
            <a:ext cx="1658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601844" y="4248041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854131" y="4248041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1856339" y="4248041"/>
            <a:ext cx="255084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2043123" y="4438758"/>
            <a:ext cx="96351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3940824" y="4438758"/>
            <a:ext cx="61306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5278801" y="4438758"/>
            <a:ext cx="22942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531115" y="4438758"/>
            <a:ext cx="42556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958363" y="4438758"/>
            <a:ext cx="63285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593058" y="4438758"/>
            <a:ext cx="141175" cy="190717"/>
          </a:xfrm>
          <a:prstGeom prst="rect">
            <a:avLst/>
          </a:prstGeom>
          <a:solidFill>
            <a:srgbClr val="083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4383" y="4438758"/>
            <a:ext cx="43537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8254778" y="4438758"/>
            <a:ext cx="15000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286536" y="4438758"/>
            <a:ext cx="505009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792209" y="4438758"/>
            <a:ext cx="3065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395408" y="4438758"/>
            <a:ext cx="38251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0283850" y="4438758"/>
            <a:ext cx="32578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0970783" y="4438758"/>
            <a:ext cx="8825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1078922" y="4438758"/>
            <a:ext cx="222372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1302764" y="4438758"/>
            <a:ext cx="31857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1856339" y="4438758"/>
            <a:ext cx="255084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2213987" y="4438758"/>
            <a:ext cx="837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2043123" y="4629476"/>
            <a:ext cx="96351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4555060" y="4629476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958363" y="4629476"/>
            <a:ext cx="63285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593058" y="4629476"/>
            <a:ext cx="171473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7413394" y="4629476"/>
            <a:ext cx="30694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8254778" y="4629476"/>
            <a:ext cx="53676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226737" y="4629476"/>
            <a:ext cx="9576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395408" y="4629476"/>
            <a:ext cx="38251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854131" y="4629476"/>
            <a:ext cx="349544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0283850" y="4629476"/>
            <a:ext cx="32578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1385577" y="4629476"/>
            <a:ext cx="235758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1856339" y="4629476"/>
            <a:ext cx="255084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5958363" y="4820194"/>
            <a:ext cx="63285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7413394" y="4820194"/>
            <a:ext cx="30694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721401" y="4820194"/>
            <a:ext cx="532059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395408" y="4820194"/>
            <a:ext cx="38251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0610698" y="4820194"/>
            <a:ext cx="35856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1302764" y="4820194"/>
            <a:ext cx="31857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1856339" y="4820194"/>
            <a:ext cx="255084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3940824" y="5010912"/>
            <a:ext cx="61306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679214" y="5010912"/>
            <a:ext cx="59709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5958363" y="5010912"/>
            <a:ext cx="63285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7170952" y="5010912"/>
            <a:ext cx="549389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7721401" y="5010912"/>
            <a:ext cx="532059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8269235" y="5010912"/>
            <a:ext cx="1718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395408" y="5010912"/>
            <a:ext cx="38251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955308" y="5010912"/>
            <a:ext cx="24836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0283850" y="5010912"/>
            <a:ext cx="32578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1302764" y="5010912"/>
            <a:ext cx="31857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1856339" y="5010912"/>
            <a:ext cx="255084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2131865" y="5010912"/>
            <a:ext cx="16584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2501392" y="5010912"/>
            <a:ext cx="62010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4555060" y="5201629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6593058" y="5201629"/>
            <a:ext cx="576700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8792209" y="5201629"/>
            <a:ext cx="530294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601844" y="5201629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854131" y="5201629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1622956" y="5201629"/>
            <a:ext cx="2321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1856339" y="5201629"/>
            <a:ext cx="255084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2131865" y="5201629"/>
            <a:ext cx="6513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2213987" y="5201629"/>
            <a:ext cx="837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3080472" y="5392347"/>
            <a:ext cx="15000" cy="190717"/>
          </a:xfrm>
          <a:prstGeom prst="rect">
            <a:avLst/>
          </a:prstGeom>
          <a:solidFill>
            <a:srgbClr val="083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3194537" y="5392347"/>
            <a:ext cx="1991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3797250" y="5392347"/>
            <a:ext cx="122133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7721401" y="5392347"/>
            <a:ext cx="532059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601844" y="5392347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0970783" y="5392347"/>
            <a:ext cx="8825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1972397" y="5392347"/>
            <a:ext cx="1390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2501392" y="5392347"/>
            <a:ext cx="62010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4555060" y="5583065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601844" y="5583065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54131" y="5583065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2131865" y="5583065"/>
            <a:ext cx="16584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2501392" y="5583065"/>
            <a:ext cx="62010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4555060" y="5773782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601844" y="5773782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54131" y="5773782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2131865" y="5773782"/>
            <a:ext cx="16584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2501392" y="5773782"/>
            <a:ext cx="62010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4555060" y="5964500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8269235" y="5964500"/>
            <a:ext cx="1658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9854131" y="5964500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2213987" y="5964500"/>
            <a:ext cx="837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2501392" y="5964500"/>
            <a:ext cx="62010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2043123" y="6155218"/>
            <a:ext cx="96351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4555060" y="6155218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5958363" y="6155218"/>
            <a:ext cx="63285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721401" y="6155218"/>
            <a:ext cx="532059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9395408" y="6155218"/>
            <a:ext cx="38251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9854131" y="6155218"/>
            <a:ext cx="349544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283850" y="6155218"/>
            <a:ext cx="32578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970783" y="6155218"/>
            <a:ext cx="8825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078922" y="6155218"/>
            <a:ext cx="222372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1302764" y="6155218"/>
            <a:ext cx="31857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1622956" y="6155218"/>
            <a:ext cx="2321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1856339" y="6155218"/>
            <a:ext cx="255084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4555060" y="6345936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9601844" y="6345936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9854131" y="6345936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1622956" y="6345936"/>
            <a:ext cx="2321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1856339" y="6345936"/>
            <a:ext cx="255084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2131865" y="6345936"/>
            <a:ext cx="165848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2501392" y="6345936"/>
            <a:ext cx="62010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3194537" y="6536653"/>
            <a:ext cx="1991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4555060" y="6536653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721401" y="6536653"/>
            <a:ext cx="38673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8247520" y="6536653"/>
            <a:ext cx="15000" cy="190717"/>
          </a:xfrm>
          <a:prstGeom prst="rect">
            <a:avLst/>
          </a:prstGeom>
          <a:solidFill>
            <a:srgbClr val="670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8269235" y="6536653"/>
            <a:ext cx="1718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9601844" y="6536653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9854131" y="6536653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4555060" y="6727371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9601844" y="6727371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9854131" y="6727371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2501392" y="6727371"/>
            <a:ext cx="62010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3940824" y="6918089"/>
            <a:ext cx="61306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4555060" y="6918089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6593058" y="6918089"/>
            <a:ext cx="171473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6779019" y="6918089"/>
            <a:ext cx="390739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7170952" y="6918089"/>
            <a:ext cx="166210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9601844" y="6918089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9854131" y="6918089"/>
            <a:ext cx="349544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3850" y="6918089"/>
            <a:ext cx="102320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1078922" y="6918089"/>
            <a:ext cx="222372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1302764" y="6918089"/>
            <a:ext cx="31857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1856339" y="6918089"/>
            <a:ext cx="255084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2501392" y="6918089"/>
            <a:ext cx="62010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54816" y="7108806"/>
            <a:ext cx="6720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122023" y="7108806"/>
            <a:ext cx="92053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3797250" y="7108806"/>
            <a:ext cx="756640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4555060" y="7108806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4679214" y="7108806"/>
            <a:ext cx="59709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5278801" y="7108806"/>
            <a:ext cx="677880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5958363" y="7108806"/>
            <a:ext cx="22782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6209858" y="7108806"/>
            <a:ext cx="381363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7413394" y="7108806"/>
            <a:ext cx="30694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9601844" y="7108806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9955308" y="7108806"/>
            <a:ext cx="24836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283850" y="7108806"/>
            <a:ext cx="325782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970783" y="7108806"/>
            <a:ext cx="8825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1302764" y="7108806"/>
            <a:ext cx="31857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1622956" y="7108806"/>
            <a:ext cx="2321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1856339" y="7108806"/>
            <a:ext cx="255084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2341460" y="7108806"/>
            <a:ext cx="15863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3016043" y="7108806"/>
            <a:ext cx="10545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4555060" y="7299524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5278801" y="7299524"/>
            <a:ext cx="677880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9395408" y="7299524"/>
            <a:ext cx="382517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1302764" y="7299524"/>
            <a:ext cx="318571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1972397" y="7299524"/>
            <a:ext cx="1390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2501392" y="7299524"/>
            <a:ext cx="62010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3940824" y="7490242"/>
            <a:ext cx="613066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4555060" y="7490242"/>
            <a:ext cx="99755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9601844" y="7490242"/>
            <a:ext cx="176081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9854131" y="7490242"/>
            <a:ext cx="80977" cy="190717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1622956" y="7490242"/>
            <a:ext cx="2321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1972397" y="7490242"/>
            <a:ext cx="139026" cy="190717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7" name="Connector 366"/>
          <p:cNvCxnSpPr/>
          <p:nvPr/>
        </p:nvCxnSpPr>
        <p:spPr>
          <a:xfrm>
            <a:off x="2042943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3007395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3797038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4554502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5277415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5957591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6592132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7170096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7721205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8254007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8791943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9322666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9778083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10204347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10610492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10970233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11301777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11621836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11855260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12111887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12297894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12500261" y="1005840"/>
            <a:ext cx="0" cy="667512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1051560" y="4248041"/>
            <a:ext cx="12070080" cy="0"/>
          </a:xfrm>
          <a:prstGeom prst="line">
            <a:avLst/>
          </a:prstGeom>
          <a:ln w="279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1051560" y="1005840"/>
            <a:ext cx="12070080" cy="0"/>
          </a:xfrm>
          <a:prstGeom prst="line">
            <a:avLst/>
          </a:prstGeom>
          <a:ln w="101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1051560" y="7680960"/>
            <a:ext cx="12070080" cy="0"/>
          </a:xfrm>
          <a:prstGeom prst="line">
            <a:avLst/>
          </a:prstGeom>
          <a:ln w="101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1051560" y="1005840"/>
            <a:ext cx="0" cy="6675120"/>
          </a:xfrm>
          <a:prstGeom prst="line">
            <a:avLst/>
          </a:prstGeom>
          <a:ln w="101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13121640" y="1005840"/>
            <a:ext cx="0" cy="6675120"/>
          </a:xfrm>
          <a:prstGeom prst="line">
            <a:avLst/>
          </a:prstGeom>
          <a:ln w="101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TextBox 393"/>
          <p:cNvSpPr txBox="1"/>
          <p:nvPr/>
        </p:nvSpPr>
        <p:spPr>
          <a:xfrm>
            <a:off x="13167360" y="969264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1-PR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13167360" y="1159981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5-PR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13167360" y="1350699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7-PR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13167360" y="1541417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10-PR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13167360" y="1732134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11-PR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13167360" y="1922852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12-PR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3167360" y="2113570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13-PR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13167360" y="2304288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15-P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3167360" y="2495005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18-P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13167360" y="2685723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19-P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13167360" y="2876441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21-P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3167360" y="3067158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22-P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3167360" y="3257876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26-P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13167360" y="3448594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32-P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3167360" y="3639312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33-P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3167360" y="3830029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34-P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3167360" y="4020747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35-P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13167360" y="4211465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2-PR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13167360" y="4402182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3-PR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3167360" y="4592900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4-PR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13167360" y="4783618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6-PR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13167360" y="4974336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8-PR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13167360" y="5165053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9-PR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13167360" y="5355771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14-PR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13167360" y="5546489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16-P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13167360" y="5737206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17-P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3167360" y="5927924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20-P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13167360" y="6118642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23-P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13167360" y="6309360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24-P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13167360" y="6500077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25-P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13167360" y="6690795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27-P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3167360" y="6881513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28-P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3167360" y="7072230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29-P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3167360" y="7262948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30-P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13167360" y="7453666"/>
            <a:ext cx="640080" cy="263869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00" b="0" i="0">
                <a:solidFill>
                  <a:srgbClr val="1D3557"/>
                </a:solidFill>
                <a:latin typeface="Arial"/>
              </a:rPr>
              <a:t>31-P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13624560" y="2423160"/>
            <a:ext cx="1280160" cy="2743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1D3557"/>
                </a:solidFill>
                <a:latin typeface="Arial"/>
              </a:rPr>
              <a:t>Copy number</a:t>
            </a:r>
          </a:p>
        </p:txBody>
      </p:sp>
      <p:sp>
        <p:nvSpPr>
          <p:cNvPr id="430" name="Rectangle 429"/>
          <p:cNvSpPr/>
          <p:nvPr/>
        </p:nvSpPr>
        <p:spPr>
          <a:xfrm>
            <a:off x="13990320" y="2834640"/>
            <a:ext cx="274320" cy="411480"/>
          </a:xfrm>
          <a:prstGeom prst="rect">
            <a:avLst/>
          </a:prstGeom>
          <a:solidFill>
            <a:srgbClr val="67000D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14310360" y="2834640"/>
            <a:ext cx="1005840" cy="41148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00" b="0" i="0">
                <a:solidFill>
                  <a:srgbClr val="1D3557"/>
                </a:solidFill>
                <a:latin typeface="Arial"/>
              </a:rPr>
              <a:t>4+</a:t>
            </a:r>
          </a:p>
          <a:p>
            <a:pPr algn="l"/>
            <a:r>
              <a:rPr sz="900" b="0" i="0">
                <a:solidFill>
                  <a:srgbClr val="1D3557"/>
                </a:solidFill>
                <a:latin typeface="Arial"/>
              </a:rPr>
              <a:t>(amp)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13990320" y="3246120"/>
            <a:ext cx="274320" cy="411480"/>
          </a:xfrm>
          <a:prstGeom prst="rect">
            <a:avLst/>
          </a:prstGeom>
          <a:solidFill>
            <a:srgbClr val="FC9272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14310360" y="3246120"/>
            <a:ext cx="1005840" cy="41148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00" b="0" i="0">
                <a:solidFill>
                  <a:srgbClr val="1D3557"/>
                </a:solidFill>
                <a:latin typeface="Arial"/>
              </a:rPr>
              <a:t>3</a:t>
            </a:r>
          </a:p>
          <a:p>
            <a:pPr algn="l"/>
            <a:r>
              <a:rPr sz="900" b="0" i="0">
                <a:solidFill>
                  <a:srgbClr val="1D3557"/>
                </a:solidFill>
                <a:latin typeface="Arial"/>
              </a:rPr>
              <a:t>(gain)</a:t>
            </a:r>
          </a:p>
        </p:txBody>
      </p:sp>
      <p:sp>
        <p:nvSpPr>
          <p:cNvPr id="434" name="Rectangle 433"/>
          <p:cNvSpPr/>
          <p:nvPr/>
        </p:nvSpPr>
        <p:spPr>
          <a:xfrm>
            <a:off x="13990320" y="3657600"/>
            <a:ext cx="274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14310360" y="3657600"/>
            <a:ext cx="1005840" cy="41148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00" b="0" i="0">
                <a:solidFill>
                  <a:srgbClr val="1D3557"/>
                </a:solidFill>
                <a:latin typeface="Arial"/>
              </a:rPr>
              <a:t>2</a:t>
            </a:r>
          </a:p>
          <a:p>
            <a:pPr algn="l"/>
            <a:r>
              <a:rPr sz="900" b="0" i="0">
                <a:solidFill>
                  <a:srgbClr val="1D3557"/>
                </a:solidFill>
                <a:latin typeface="Arial"/>
              </a:rPr>
              <a:t>(neutral)</a:t>
            </a:r>
          </a:p>
        </p:txBody>
      </p:sp>
      <p:sp>
        <p:nvSpPr>
          <p:cNvPr id="436" name="Rectangle 435"/>
          <p:cNvSpPr/>
          <p:nvPr/>
        </p:nvSpPr>
        <p:spPr>
          <a:xfrm>
            <a:off x="13990320" y="4069080"/>
            <a:ext cx="274320" cy="411480"/>
          </a:xfrm>
          <a:prstGeom prst="rect">
            <a:avLst/>
          </a:prstGeom>
          <a:solidFill>
            <a:srgbClr val="6BAED6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TextBox 436"/>
          <p:cNvSpPr txBox="1"/>
          <p:nvPr/>
        </p:nvSpPr>
        <p:spPr>
          <a:xfrm>
            <a:off x="14310360" y="4069080"/>
            <a:ext cx="1005840" cy="41148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00" b="0" i="0">
                <a:solidFill>
                  <a:srgbClr val="1D3557"/>
                </a:solidFill>
                <a:latin typeface="Arial"/>
              </a:rPr>
              <a:t>1</a:t>
            </a:r>
          </a:p>
          <a:p>
            <a:pPr algn="l"/>
            <a:r>
              <a:rPr sz="900" b="0" i="0">
                <a:solidFill>
                  <a:srgbClr val="1D3557"/>
                </a:solidFill>
                <a:latin typeface="Arial"/>
              </a:rPr>
              <a:t>(loss)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13990320" y="4480560"/>
            <a:ext cx="274320" cy="411480"/>
          </a:xfrm>
          <a:prstGeom prst="rect">
            <a:avLst/>
          </a:prstGeom>
          <a:solidFill>
            <a:srgbClr val="08306B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14310360" y="4480560"/>
            <a:ext cx="1005840" cy="41148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00" b="0" i="0">
                <a:solidFill>
                  <a:srgbClr val="1D3557"/>
                </a:solidFill>
                <a:latin typeface="Arial"/>
              </a:rPr>
              <a:t>0</a:t>
            </a:r>
          </a:p>
          <a:p>
            <a:pPr algn="l"/>
            <a:r>
              <a:rPr sz="900" b="0" i="0">
                <a:solidFill>
                  <a:srgbClr val="1D3557"/>
                </a:solidFill>
                <a:latin typeface="Arial"/>
              </a:rPr>
              <a:t>(homo del)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