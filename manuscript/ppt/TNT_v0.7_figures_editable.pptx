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73152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3B5C"/>
                </a:solidFill>
                <a:latin typeface="Arial"/>
              </a:rPr>
              <a:t>TNT MSS LARC — Manuscript v0.7 Figure Set (Genome Medicine)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Arial"/>
              </a:rPr>
              <a:t>Editable figure deck</a:t>
            </a:r>
          </a:p>
          <a:p>
            <a:pPr algn="l"/>
            <a:r>
              <a:rPr sz="1400" b="0" i="0">
                <a:solidFill>
                  <a:srgbClr val="333333"/>
                </a:solidFill>
                <a:latin typeface="Arial"/>
              </a:rPr>
              <a:t>Version 0.7 — 2026-04-15</a:t>
            </a:r>
          </a:p>
          <a:p>
            <a:pPr algn="l"/>
            <a:r>
              <a:rPr sz="1400" b="0" i="0">
                <a:solidFill>
                  <a:srgbClr val="333333"/>
                </a:solidFill>
                <a:latin typeface="Arial"/>
              </a:rPr>
              <a:t/>
            </a:r>
          </a:p>
          <a:p>
            <a:pPr algn="l"/>
            <a:r>
              <a:rPr sz="1400" b="0" i="0">
                <a:solidFill>
                  <a:srgbClr val="333333"/>
                </a:solidFill>
                <a:latin typeface="Arial"/>
              </a:rPr>
              <a:t>Each slide embeds the final PNG (600 dpi) and carries:</a:t>
            </a:r>
          </a:p>
          <a:p>
            <a:pPr algn="l"/>
            <a:r>
              <a:rPr sz="1400" b="0" i="0">
                <a:solidFill>
                  <a:srgbClr val="333333"/>
                </a:solidFill>
                <a:latin typeface="Arial"/>
              </a:rPr>
              <a:t>  • Editable title and caption</a:t>
            </a:r>
          </a:p>
          <a:p>
            <a:pPr algn="l"/>
            <a:r>
              <a:rPr sz="1400" b="0" i="0">
                <a:solidFill>
                  <a:srgbClr val="333333"/>
                </a:solidFill>
                <a:latin typeface="Arial"/>
              </a:rPr>
              <a:t>  • Reference paper citation (top-tier Nature/Cell/Science family) describing the style source</a:t>
            </a:r>
          </a:p>
          <a:p>
            <a:pPr algn="l"/>
            <a:r>
              <a:rPr sz="1400" b="0" i="0">
                <a:solidFill>
                  <a:srgbClr val="333333"/>
                </a:solidFill>
                <a:latin typeface="Arial"/>
              </a:rPr>
              <a:t>  • Style notes reproducing the reference convention</a:t>
            </a:r>
          </a:p>
          <a:p>
            <a:pPr algn="l"/>
            <a:r>
              <a:rPr sz="1400" b="0" i="0">
                <a:solidFill>
                  <a:srgbClr val="333333"/>
                </a:solidFill>
                <a:latin typeface="Arial"/>
              </a:rPr>
              <a:t/>
            </a:r>
          </a:p>
          <a:p>
            <a:pPr algn="l"/>
            <a:r>
              <a:rPr sz="1400" b="0" i="0">
                <a:solidFill>
                  <a:srgbClr val="333333"/>
                </a:solidFill>
                <a:latin typeface="Arial"/>
              </a:rPr>
              <a:t>Paired PDF vector versions are co-located in /mnt/sda1/data/TNT/analysis/figures/.</a:t>
            </a:r>
          </a:p>
          <a:p>
            <a:pPr algn="l"/>
            <a:r>
              <a:rPr sz="1400" b="0" i="0">
                <a:solidFill>
                  <a:srgbClr val="333333"/>
                </a:solidFill>
                <a:latin typeface="Arial"/>
              </a:rPr>
              <a:t>Main figures in figures/panels/; supplementary figures in figures/supp/.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75488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Arial"/>
              </a:rPr>
              <a:t>Figures in this deck (in manuscript order):</a:t>
            </a:r>
          </a:p>
          <a:p>
            <a:pPr algn="l"/>
            <a:r>
              <a:rPr sz="1200" b="0" i="1">
                <a:solidFill>
                  <a:srgbClr val="555555"/>
                </a:solidFill>
                <a:latin typeface="Arial"/>
              </a:rPr>
              <a:t>  Fig 1  Cohort overview</a:t>
            </a:r>
          </a:p>
          <a:p>
            <a:pPr algn="l"/>
            <a:r>
              <a:rPr sz="1200" b="0" i="1">
                <a:solidFill>
                  <a:srgbClr val="555555"/>
                </a:solidFill>
                <a:latin typeface="Arial"/>
              </a:rPr>
              <a:t>  Fig 2  WES landscape</a:t>
            </a:r>
          </a:p>
          <a:p>
            <a:pPr algn="l"/>
            <a:r>
              <a:rPr sz="1200" b="0" i="1">
                <a:solidFill>
                  <a:srgbClr val="555555"/>
                </a:solidFill>
                <a:latin typeface="Arial"/>
              </a:rPr>
              <a:t>  Fig 3  RNA immune signatures</a:t>
            </a:r>
          </a:p>
          <a:p>
            <a:pPr algn="l"/>
            <a:r>
              <a:rPr sz="1200" b="0" i="1">
                <a:solidFill>
                  <a:srgbClr val="555555"/>
                </a:solidFill>
                <a:latin typeface="Arial"/>
              </a:rPr>
              <a:t>  Fig 4  GSEA integration</a:t>
            </a:r>
          </a:p>
          <a:p>
            <a:pPr algn="l"/>
            <a:r>
              <a:rPr sz="1200" b="0" i="1">
                <a:solidFill>
                  <a:srgbClr val="555555"/>
                </a:solidFill>
                <a:latin typeface="Arial"/>
              </a:rPr>
              <a:t>  Fig 4B Nested outer-LOOCV ROC (NEW, v0.7)</a:t>
            </a:r>
          </a:p>
          <a:p>
            <a:pPr algn="l"/>
            <a:r>
              <a:rPr sz="1200" b="0" i="1">
                <a:solidFill>
                  <a:srgbClr val="555555"/>
                </a:solidFill>
                <a:latin typeface="Arial"/>
              </a:rPr>
              <a:t>  Fig 5  Neoantigen clearance</a:t>
            </a:r>
          </a:p>
          <a:p>
            <a:pPr algn="l"/>
            <a:r>
              <a:rPr sz="1200" b="0" i="1">
                <a:solidFill>
                  <a:srgbClr val="555555"/>
                </a:solidFill>
                <a:latin typeface="Arial"/>
              </a:rPr>
              <a:t>  Fig 6  Cascade BCa bootstrap forest (NEW, v0.7)</a:t>
            </a:r>
          </a:p>
          <a:p>
            <a:pPr algn="l"/>
            <a:r>
              <a:rPr sz="1200" b="0" i="1">
                <a:solidFill>
                  <a:srgbClr val="555555"/>
                </a:solidFill>
                <a:latin typeface="Arial"/>
              </a:rPr>
              <a:t>  Fig 7  External CD8-cytotoxic validation + Akiyoshi 2023 convergence (NEW, v0.7)</a:t>
            </a:r>
          </a:p>
          <a:p>
            <a:pPr algn="l"/>
            <a:r>
              <a:rPr sz="1200" b="0" i="1">
                <a:solidFill>
                  <a:srgbClr val="555555"/>
                </a:solidFill>
                <a:latin typeface="Arial"/>
              </a:rPr>
              <a:t>  Supp Fig S1  CONSORT sample flow (NEW, v0.7)</a:t>
            </a:r>
          </a:p>
          <a:p>
            <a:pPr algn="l"/>
            <a:r>
              <a:rPr sz="1200" b="0" i="1">
                <a:solidFill>
                  <a:srgbClr val="555555"/>
                </a:solidFill>
                <a:latin typeface="Arial"/>
              </a:rPr>
              <a:t>  Supp Fig S3  HLA-LOH lite vs strict (NEW, v0.7)</a:t>
            </a:r>
          </a:p>
          <a:p>
            <a:pPr algn="l"/>
            <a:r>
              <a:rPr sz="1200" b="0" i="1">
                <a:solidFill>
                  <a:srgbClr val="555555"/>
                </a:solidFill>
                <a:latin typeface="Arial"/>
              </a:rPr>
              <a:t>  Supp Text S3  External meta v3 diagnostic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3716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B5C"/>
                </a:solidFill>
                <a:latin typeface="Arial"/>
              </a:rPr>
              <a:t>Figure 1 — Cohort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8368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A4C93"/>
                </a:solidFill>
                <a:latin typeface="Arial"/>
              </a:rPr>
              <a:t>Reference (style source): Chen P-L et al. Cancer Discov 2016, "Analysis of Immune Signatures in Longitudinal Tumor Samples" — used cohort pie + stacked-bar layout.</a:t>
            </a:r>
          </a:p>
        </p:txBody>
      </p:sp>
      <p:pic>
        <p:nvPicPr>
          <p:cNvPr id="4" name="Picture 3" descr="Fig1_coh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6313645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11430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B5C"/>
                </a:solidFill>
                <a:latin typeface="Arial"/>
              </a:rPr>
              <a:t>STYLE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463040"/>
            <a:ext cx="3931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Arial"/>
              </a:rPr>
              <a:t>Arial-like sans, 7.2×5.5 inches, 600 dpi, 0.6-pt spines, good=#2E86AB / bad=#E63946.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36118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B5C"/>
                </a:solidFill>
                <a:latin typeface="Arial"/>
              </a:rPr>
              <a:t>EDITABLE CAPTION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3931920"/>
            <a:ext cx="3931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Arial"/>
              </a:rPr>
              <a:t>Thirty-five MSS LARC patients (good n=18, bad n=17) analysed by matched WES (77 samples) and RNA-seq (56 samples). cT stage, age/sex, sample matrix, and study design panels.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6446520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99999"/>
                </a:solidFill>
                <a:latin typeface="Arial"/>
              </a:rPr>
              <a:t>TNT MSS LARC v0.7 — Genome Medicine target — 2026-04-15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3716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B5C"/>
                </a:solidFill>
                <a:latin typeface="Arial"/>
              </a:rPr>
              <a:t>Figure 2 — WES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8368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A4C93"/>
                </a:solidFill>
                <a:latin typeface="Arial"/>
              </a:rPr>
              <a:t>Reference (style source): Alexandrov LB et al. Nature 2020, "The repertoire of mutational signatures in human cancer" — SBS stacked-bar + driver oncoprint convention.</a:t>
            </a:r>
          </a:p>
        </p:txBody>
      </p:sp>
      <p:pic>
        <p:nvPicPr>
          <p:cNvPr id="4" name="Picture 3" descr="Fig2_WES_landsc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7315200" cy="27662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11430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B5C"/>
                </a:solidFill>
                <a:latin typeface="Arial"/>
              </a:rPr>
              <a:t>STYLE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463040"/>
            <a:ext cx="3931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Arial"/>
              </a:rPr>
              <a:t>Driver oncoprint rows = genes (APC, TP53, KRAS, FBXW7, KMT2D), cols = tumors; TMB/MSI strip above.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36118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B5C"/>
                </a:solidFill>
                <a:latin typeface="Arial"/>
              </a:rPr>
              <a:t>EDITABLE CAPTION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3931920"/>
            <a:ext cx="3931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Arial"/>
              </a:rPr>
              <a:t>TMB (good 1.85 vs bad 1.40 /Mb, P=0.186), MSI all &lt;0.19 %, driver oncoprint dominated by APC-TP53-KRAS, SBS5/SBS1 dominant, SBS3 absent, LST HRD-proxy trend higher in bad.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6446520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99999"/>
                </a:solidFill>
                <a:latin typeface="Arial"/>
              </a:rPr>
              <a:t>TNT MSS LARC v0.7 — Genome Medicine target — 2026-04-15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3716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B5C"/>
                </a:solidFill>
                <a:latin typeface="Arial"/>
              </a:rPr>
              <a:t>Figure 3 — RNA immune signatures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8368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A4C93"/>
                </a:solidFill>
                <a:latin typeface="Arial"/>
              </a:rPr>
              <a:t>Reference (style source): Mariathasan S et al. Nature 2018, "TGF-β attenuates tumour response to PD-L1 blockade" (IMvigor210) — immune signature heatmap and stratified boxplot convention.</a:t>
            </a:r>
          </a:p>
        </p:txBody>
      </p:sp>
      <p:pic>
        <p:nvPicPr>
          <p:cNvPr id="4" name="Picture 3" descr="Fig3_RNA_sign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7315200" cy="31883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11430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B5C"/>
                </a:solidFill>
                <a:latin typeface="Arial"/>
              </a:rPr>
              <a:t>STYLE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463040"/>
            <a:ext cx="3931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Arial"/>
              </a:rPr>
              <a:t>Z-score heatmap rows = 22 immune signatures, cols = samples, col annotation bar = response; boxplots with jittered points.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36118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B5C"/>
                </a:solidFill>
                <a:latin typeface="Arial"/>
              </a:rPr>
              <a:t>EDITABLE CAPTION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3931920"/>
            <a:ext cx="3931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Arial"/>
              </a:rPr>
              <a:t>22 immune signatures and pathway scores; pre-CRT CD8-proliferation higher in good (P=0.035); MHC II modestly lower in good (P=0.074); post-CRT immune activation in good responders.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6446520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99999"/>
                </a:solidFill>
                <a:latin typeface="Arial"/>
              </a:rPr>
              <a:t>TNT MSS LARC v0.7 — Genome Medicine target — 2026-04-15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3716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B5C"/>
                </a:solidFill>
                <a:latin typeface="Arial"/>
              </a:rPr>
              <a:t>Figure 4 — GSEA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8368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A4C93"/>
                </a:solidFill>
                <a:latin typeface="Arial"/>
              </a:rPr>
              <a:t>Reference (style source): Cristescu R et al. Science 2018, "Pan-tumor genomic biomarkers for PD-1 checkpoint blockade" — ssGSEA-style integration and Hallmark GSEA bar plots.</a:t>
            </a:r>
          </a:p>
        </p:txBody>
      </p:sp>
      <p:pic>
        <p:nvPicPr>
          <p:cNvPr id="4" name="Picture 3" descr="Fig4_GSEA_integ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7315200" cy="34422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11430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B5C"/>
                </a:solidFill>
                <a:latin typeface="Arial"/>
              </a:rPr>
              <a:t>STYLE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463040"/>
            <a:ext cx="3931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Arial"/>
              </a:rPr>
              <a:t>Hallmark GSEA bars ordered by NES, cap colour by P&lt;10⁻¹⁰; Reactome heatmap; ssGSEA top-box jitter panels.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36118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B5C"/>
                </a:solidFill>
                <a:latin typeface="Arial"/>
              </a:rPr>
              <a:t>EDITABLE CAPTION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3931920"/>
            <a:ext cx="3931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Arial"/>
              </a:rPr>
              <a:t>E2F targets (NES 2.78, P&lt;10⁻¹⁰), G2M, MYC, Reactome DSB/HDR up in good; EMT down. ssGSEA DSB P=0.007, HDR P=0.020.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6446520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99999"/>
                </a:solidFill>
                <a:latin typeface="Arial"/>
              </a:rPr>
              <a:t>TNT MSS LARC v0.7 — Genome Medicine target — 2026-04-15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3716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B5C"/>
                </a:solidFill>
                <a:latin typeface="Arial"/>
              </a:rPr>
              <a:t>Figure 4B — Nested outer-LOOCV ROC (NEW, v0.7)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8368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A4C93"/>
                </a:solidFill>
                <a:latin typeface="Arial"/>
              </a:rPr>
              <a:t>Reference (style source): McGranahan N et al. Cell 2017, "Allele-Specific HLA Loss and Immune Escape" Fig 5 — ROC with 95 % bootstrap CI band + permutation inset convention.</a:t>
            </a:r>
          </a:p>
        </p:txBody>
      </p:sp>
      <p:pic>
        <p:nvPicPr>
          <p:cNvPr id="4" name="Picture 3" descr="Fig4B_ROC_nes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4834111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11430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B5C"/>
                </a:solidFill>
                <a:latin typeface="Arial"/>
              </a:rPr>
              <a:t>STYLE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463040"/>
            <a:ext cx="3931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Arial"/>
              </a:rPr>
              <a:t>Nested outer-LOOCV + inner 5-fold hyperparam tuning (no leakage); bootstrap 95 % CI band; AUC reported with CI; contrast with leaked non-nested 0.755 for transparency.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36118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B5C"/>
                </a:solidFill>
                <a:latin typeface="Arial"/>
              </a:rPr>
              <a:t>EDITABLE CAPTION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3931920"/>
            <a:ext cx="3931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Arial"/>
              </a:rPr>
              <a:t>LASSO nested AUC 0.650 [0.45, 0.83]; ElasticNet nested AUC 0.686 [0.49, 0.85]. Non-nested (leaked) 0.755 shown as comparator. 95 % CI touching 0.5 — pre-CRT classifier is a modest discovery-stage predictor pending TNT-matched validation.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6446520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99999"/>
                </a:solidFill>
                <a:latin typeface="Arial"/>
              </a:rPr>
              <a:t>TNT MSS LARC v0.7 — Genome Medicine target — 2026-04-15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3716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B5C"/>
                </a:solidFill>
                <a:latin typeface="Arial"/>
              </a:rPr>
              <a:t>Figure 5 — Neoantigen clearance across radiation phase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8368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A4C93"/>
                </a:solidFill>
                <a:latin typeface="Arial"/>
              </a:rPr>
              <a:t>Reference (style source): McGranahan N et al. Science 2016, "Clonal neoantigens elicit T cell immunoreactivity and sensitivity to immune checkpoint blockade" — paired pre/post slopegraph + neoantigen burden boxplot convention; Riaz N et al. Cell 2017 (Nivolumab) for paired dynamics.</a:t>
            </a:r>
          </a:p>
        </p:txBody>
      </p:sp>
      <p:pic>
        <p:nvPicPr>
          <p:cNvPr id="4" name="Picture 3" descr="Fig5_neoantigen_casc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5613234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11430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B5C"/>
                </a:solidFill>
                <a:latin typeface="Arial"/>
              </a:rPr>
              <a:t>STYLE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463040"/>
            <a:ext cx="3931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Arial"/>
              </a:rPr>
              <a:t>Panels A–B boxplot with jitter, individual patient points; Panel C slopegraph (pre → post per subject), lines colored by response; Panel D optional HLA-LOH detail moved to Supp S3.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36118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B5C"/>
                </a:solidFill>
                <a:latin typeface="Arial"/>
              </a:rPr>
              <a:t>EDITABLE CAPTION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3931920"/>
            <a:ext cx="3931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Arial"/>
              </a:rPr>
              <a:t>Pre-CRT missense P=0.082, PCN P=0.15, strong binders P=0.55 (trend for good &gt; bad). Paired Δ binders good median −312 [−626, −123] vs bad −100; within-good CI excludes zero, between-group exploratory.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6446520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99999"/>
                </a:solidFill>
                <a:latin typeface="Arial"/>
              </a:rPr>
              <a:t>TNT MSS LARC v0.7 — Genome Medicine target — 2026-04-15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3716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B5C"/>
                </a:solidFill>
                <a:latin typeface="Arial"/>
              </a:rPr>
              <a:t>Figure 6 — Cascade BCa bootstrap forest (NEW, v0.7)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8368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A4C93"/>
                </a:solidFill>
                <a:latin typeface="Arial"/>
              </a:rPr>
              <a:t>Reference (style source): Mariathasan S et al. Nature 2018 Fig 4b; Tumeh PC et al. Nature 2014 — paired delta with 95 % CI forest; Chen DS, Mellman I Nature 2017 cancer-immunity-cycle figure as mental model.</a:t>
            </a:r>
          </a:p>
        </p:txBody>
      </p:sp>
      <p:pic>
        <p:nvPicPr>
          <p:cNvPr id="4" name="Picture 3" descr="Fig6_cascade_BCa_fo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7315200" cy="32755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11430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B5C"/>
                </a:solidFill>
                <a:latin typeface="Arial"/>
              </a:rPr>
              <a:t>STYLE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463040"/>
            <a:ext cx="3931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Arial"/>
              </a:rPr>
              <a:t>Two-panel forest: A = within-good (blue circle) and within-bad (red square) medians with BCa 95 % CIs, standardized per feature; B = between-group diff BCa 95 % CI with teal diamond for CIs excluding 0 (robust), grey diamond for CIs spanning 0 (exploratory).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36118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B5C"/>
                </a:solidFill>
                <a:latin typeface="Arial"/>
              </a:rPr>
              <a:t>EDITABLE CAPTION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3931920"/>
            <a:ext cx="3931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Arial"/>
              </a:rPr>
              <a:t>Treg is the only feature with between-group BCa CI excluding zero (MW P=0.026). All other cascade features (SBS5, neo-binder, MHC II, CD8 exhaustion, IGH, TRB Shannon) are reported as exploratory with CIs spanning zero at n = 14 paired subjects.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6446520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99999"/>
                </a:solidFill>
                <a:latin typeface="Arial"/>
              </a:rPr>
              <a:t>TNT MSS LARC v0.7 — Genome Medicine target — 2026-04-15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3716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B5C"/>
                </a:solidFill>
                <a:latin typeface="Arial"/>
              </a:rPr>
              <a:t>Figure 7 — External CD8-cytotoxic validation (10 cohorts, N &gt; 1,000) (NEW, v0.7)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8368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A4C93"/>
                </a:solidFill>
                <a:latin typeface="Arial"/>
              </a:rPr>
              <a:t>Reference (style source): Ayers M et al. J Clin Invest 2017, "IFN-γ–related mRNA profile predicts clinical response to PD-1 blockade" Fig 2; Rooney MS et al. Cell 2015 "Molecular and Genetic Properties of Tumors Associated with Local Immune Cytolytic Activity" — per-cohort forest + meta diamond style. Akiyoshi T et al. JAMA Netw Open 2023 independent 298-patient finding convergence.</a:t>
            </a:r>
          </a:p>
        </p:txBody>
      </p:sp>
      <p:pic>
        <p:nvPicPr>
          <p:cNvPr id="4" name="Picture 3" descr="Fig7_external_CD8_validation_v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7315200" cy="27585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11430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B5C"/>
                </a:solidFill>
                <a:latin typeface="Arial"/>
              </a:rPr>
              <a:t>STYLE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463040"/>
            <a:ext cx="3931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Arial"/>
              </a:rPr>
              <a:t>Panel A: 9 cohort forest + red meta diamond + separate purple Akiyoshi row (n=298, OR 3.81 [1.82, 7.97]) with dashed separator, labelled "&gt; 1,000 patients across 10 cohorts"; Panel B: Stouffer Z bar across signatures; Panel C: CD8 vs Tumor_cellcycle decoupling scatter.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36118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B5C"/>
                </a:solidFill>
                <a:latin typeface="Arial"/>
              </a:rPr>
              <a:t>EDITABLE CAPTION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3931920"/>
            <a:ext cx="3931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Arial"/>
              </a:rPr>
              <a:t>Stouffer Z = +2.74, P = 0.006 across 9 nCRT cohorts (N = 721), 8/9 concordant. Akiyoshi 2023 convergence brings total &gt; 1,000 patients. Tumor-intrinsic axes cohort-heterogeneous (P &gt; 0.19). EMT correct direction.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6446520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99999"/>
                </a:solidFill>
                <a:latin typeface="Arial"/>
              </a:rPr>
              <a:t>TNT MSS LARC v0.7 — Genome Medicine target — 2026-04-15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3716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B5C"/>
                </a:solidFill>
                <a:latin typeface="Arial"/>
              </a:rPr>
              <a:t>Supp Fig S1 — CONSORT sample flow (NEW, v0.7)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8368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A4C93"/>
                </a:solidFill>
                <a:latin typeface="Arial"/>
              </a:rPr>
              <a:t>Reference (style source): CONSORT 2010 Statement (Schulz KF et al. BMJ 2010) + STROBE Statement (von Elm E et al. Ann Intern Med 2007) — sample-flow diagram style. For molecular cohort adaptation see Rosenthal R et al. Nature 2019 Fig 1 CONSORT panel.</a:t>
            </a:r>
          </a:p>
        </p:txBody>
      </p:sp>
      <p:pic>
        <p:nvPicPr>
          <p:cNvPr id="4" name="Picture 3" descr="SuppFig_consort_sample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3697295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11430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B5C"/>
                </a:solidFill>
                <a:latin typeface="Arial"/>
              </a:rPr>
              <a:t>STYLE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463040"/>
            <a:ext cx="3931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Arial"/>
              </a:rPr>
              <a:t>Boxes colored by branch (WES blue, RNA-seq pink, paired green). Each box = analysis step; arrows = sample transitions; number of patients/tumors/paired sets annotated.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36118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B5C"/>
                </a:solidFill>
                <a:latin typeface="Arial"/>
              </a:rPr>
              <a:t>EDITABLE CAPTION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3931920"/>
            <a:ext cx="3931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Arial"/>
              </a:rPr>
              <a:t>35 enrolled → 18 good + 17 bad; 77 WES samples → 49 PASS Mutect2 VCFs → 41 matched T-N pairs → 14 paired pre-/post-CRT (WES) → 12 PyClone convergent / 11 neoantigen Δ; 56 RNA-seq → 33 pre-CRT for DEG/GSEA → 12 paired Δ (6 good + 6 bad for between-group).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6446520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99999"/>
                </a:solidFill>
                <a:latin typeface="Arial"/>
              </a:rPr>
              <a:t>TNT MSS LARC v0.7 — Genome Medicine target — 2026-04-15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3716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B5C"/>
                </a:solidFill>
                <a:latin typeface="Arial"/>
              </a:rPr>
              <a:t>Supp Fig S3 — HLA-LOH lite vs strict (NEW, v0.7)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8368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A4C93"/>
                </a:solidFill>
                <a:latin typeface="Arial"/>
              </a:rPr>
              <a:t>Reference (style source): McGranahan N et al. Cell 2017 "Allele-Specific HLA Loss and Immune Escape in Lung Cancer Evolution" Fig 2 and Fig 4 — LOHHLA subject panels + allele-imbalance convention. Rosenthal R et al. Nature 2019 "Neoantigen-directed immune escape" Fig 5 — LOH prevalence stratified barplot.</a:t>
            </a:r>
          </a:p>
        </p:txBody>
      </p:sp>
      <p:pic>
        <p:nvPicPr>
          <p:cNvPr id="4" name="Picture 3" descr="SuppFig_S3_HLA_LOH_lite_vs_stri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7315200" cy="24833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11430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B5C"/>
                </a:solidFill>
                <a:latin typeface="Arial"/>
              </a:rPr>
              <a:t>STYLE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463040"/>
            <a:ext cx="3931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Arial"/>
              </a:rPr>
              <a:t>Three panels: A grouped barplot lite vs strict LOH subject counts stratified by response; B per-subject strict-LOH pre→post resolution lines (subj 3: 2→0 loci, subj 4: 1→0); C text panel documenting thresholds (|Δratio|≥0.20, Bonferroni P&lt;0.01, depth ≥30).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36118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B5C"/>
                </a:solidFill>
                <a:latin typeface="Arial"/>
              </a:rPr>
              <a:t>EDITABLE CAPTION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3931920"/>
            <a:ext cx="3931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Arial"/>
              </a:rPr>
              <a:t>Under stricter Bonferroni-corrected IMGT-allele criteria, pre-CRT LOH events drop from 10 lite → 2 strict; both strict-LOH subjects are eventual good responders and both show complete pre→post resolution. Reported as anecdotal corroboration, not between-group statistical claim.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6446520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99999"/>
                </a:solidFill>
                <a:latin typeface="Arial"/>
              </a:rPr>
              <a:t>TNT MSS LARC v0.7 — Genome Medicine target — 2026-04-15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3716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B5C"/>
                </a:solidFill>
                <a:latin typeface="Arial"/>
              </a:rPr>
              <a:t>Supp Text S3 — External meta v3 diagnostic (signature and label correction)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8368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A4C93"/>
                </a:solidFill>
                <a:latin typeface="Arial"/>
              </a:rPr>
              <a:t>Reference (style source): Reporting-transparency precedent: Mariathasan S et al. Nature 2018 supplementary methods + Rosenthal R et al. Nature 2019 methods transparency on response classifier.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2743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888888"/>
                </a:solidFill>
                <a:latin typeface="Arial"/>
              </a:rPr>
              <a:t>[Text-only supplementary. See Supp_Text_S3_external_meta_diagnostic.md]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11430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B5C"/>
                </a:solidFill>
                <a:latin typeface="Arial"/>
              </a:rPr>
              <a:t>STYLE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463040"/>
            <a:ext cx="3931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Arial"/>
              </a:rPr>
              <a:t>Text-only slide. Describes the v1 classifier bug ("Non-responder" substring mismatch) and signature confounding (cell-cycle genes labelled CD8_proliferation), and the v3 correction (pure CD8-cytotoxic signature + manual per-cohort TRG scale + N rose from 179 to 721).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36118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B5C"/>
                </a:solidFill>
                <a:latin typeface="Arial"/>
              </a:rPr>
              <a:t>EDITABLE CAPTION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3931920"/>
            <a:ext cx="3931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Arial"/>
              </a:rPr>
              <a:t>Before (v1): CD8_proliferation Z=+0.06, P=0.48. After (v3): CD8_cytotoxic Z=+2.74, P=0.006 (8/9 concordant). EMT direction also recovered. The v1 artifact is retained in the main Methods and this Supp Text for reviewer-accessible transparency.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6446520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99999"/>
                </a:solidFill>
                <a:latin typeface="Arial"/>
              </a:rPr>
              <a:t>TNT MSS LARC v0.7 — Genome Medicine target — 2026-04-15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3716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B5C"/>
                </a:solidFill>
                <a:latin typeface="Arial"/>
              </a:rPr>
              <a:t>Appendix — Top-tier style references per figure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Fig 1  Chen P-L et al. Cancer Discov 2016 — cohort/schematic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Fig 2  Alexandrov LB et al. Nature 2020 — SBS signatures, driver oncoprint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Fig 3  Mariathasan S et al. Nature 2018 — immune signature heatmap (IMvigor210)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Fig 4  Cristescu R et al. Science 2018 — GSEA integration; Subramanian A 2005 — GSEA itself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Fig 4B McGranahan N et al. Cell 2017 Fig 5 — ROC + bootstrap CI band + permutation inset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Fig 5  McGranahan N et al. Science 2016 — paired pre/post neoantigen slopegraph; Riaz N Cell 2017 — nivolumab paired dynamics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Fig 6  Mariathasan S Nature 2018 Fig 4b — paired delta forest; Tumeh PC Nature 2014 — pre/post immune dynamics; Chen DS &amp; Mellman I Nature 2017 — cancer-immunity cycle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Fig 7  Ayers M et al. J Clin Invest 2017 — per-cohort forest; Rooney MS et al. Cell 2015 — cytolytic activity (GZMA × PRF1); Akiyoshi T JAMA Netw Open 2023 — convergent 298-patient validation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Supp S1  CONSORT 2010 (Schulz KF et al. BMJ 2010); Rosenthal R et al. Nature 2019 — adapted CONSORT for molecular cohorts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Supp S3  McGranahan N Cell 2017 Fig 2–4 — LOHHLA allele imbalance; Rosenthal R Nature 2019 — neoantigen-directed immune escape LOH stratification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Supp Text S3  Reporting-transparency precedent: Mariathasan S Nature 2018 supplementary; Rosenthal R Nature 2019 methods transparency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