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558" y="548640"/>
            <a:ext cx="11213835" cy="54864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2600" b="1" i="0">
                <a:solidFill>
                  <a:srgbClr val="1F3B5C"/>
                </a:solidFill>
                <a:latin typeface="Arial"/>
              </a:rPr>
              <a:t>TNT MSS LARC — v0.7 editable figure deck (v2, overlayed text)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447" y="1508760"/>
            <a:ext cx="10970056" cy="20574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v2 differences from v1: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  • Key numeric strings (AUC, meta Z, OR, P values) are rendered as native PowerPoint text boxes OVERLAID on the figure image.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  • The underlying figure PNG still carries the plot elements, but the "KEY STATISTICS" side panels and the big figure title are editable text.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  • Edit by double-clicking any text box in PowerPoint — the image is untouched.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  • For full in-plot text editability (axis labels, legend, data labels), the source PDFs are vector and can be opened in Illustrator / Affinity Designer.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3771900"/>
            <a:ext cx="10970056" cy="13716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Arial"/>
              </a:rPr>
              <a:t>Scope of v2 overlay treatment: Fig 4B nested ROC, Fig 6 cascade BCa forest, Fig 7 external CD8 validation (all three v0.7 additions). Fig 1–3, Fig 4A–F, Fig 5, and supplementary figures remain as in v1; their vector PDFs in /figures/panels_v3/ retain native text for editing.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4B_ROC_nes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23" y="822960"/>
            <a:ext cx="6703923" cy="5349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668" y="6377940"/>
            <a:ext cx="11457614" cy="3429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900" b="0" i="1">
                <a:solidFill>
                  <a:srgbClr val="6A4C93"/>
                </a:solidFill>
                <a:latin typeface="Arial"/>
              </a:rPr>
              <a:t>Reference (style source): McGranahan N et al. Cell 2017 Fig 5 — ROC with 95 % bootstrap CI band.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668" y="274320"/>
            <a:ext cx="3656685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2400" b="1" i="0">
                <a:solidFill>
                  <a:srgbClr val="1F3B5C"/>
                </a:solidFill>
                <a:latin typeface="Arial"/>
              </a:rPr>
              <a:t>Figure 4B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668" y="617220"/>
            <a:ext cx="6703923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Nested outer-LOOCV (leakage-free)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3371" y="822960"/>
            <a:ext cx="4388022" cy="3429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400" b="1" i="0">
                <a:solidFill>
                  <a:srgbClr val="1F3B5C"/>
                </a:solidFill>
                <a:latin typeface="Arial"/>
              </a:rPr>
              <a:t>AUC summary (editable)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3371" y="1303020"/>
            <a:ext cx="4388022" cy="342900"/>
          </a:xfrm>
          <a:prstGeom prst="rect">
            <a:avLst/>
          </a:prstGeom>
          <a:solidFill>
            <a:srgbClr val="E6F0FA"/>
          </a:solidFill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300" b="1" i="0">
                <a:solidFill>
                  <a:srgbClr val="1F77B4"/>
                </a:solidFill>
                <a:latin typeface="Arial"/>
              </a:rPr>
              <a:t>LASSO   AUC = 0.650   [0.45, 0.83]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3371" y="1714500"/>
            <a:ext cx="4388022" cy="342900"/>
          </a:xfrm>
          <a:prstGeom prst="rect">
            <a:avLst/>
          </a:prstGeom>
          <a:solidFill>
            <a:srgbClr val="E6F5E6"/>
          </a:solidFill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300" b="1" i="0">
                <a:solidFill>
                  <a:srgbClr val="2CA02C"/>
                </a:solidFill>
                <a:latin typeface="Arial"/>
              </a:rPr>
              <a:t>ElasticNet   AUC = 0.686   [0.49, 0.85]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3371" y="2263140"/>
            <a:ext cx="4388022" cy="3429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000" b="0" i="1">
                <a:solidFill>
                  <a:srgbClr val="885544"/>
                </a:solidFill>
                <a:latin typeface="Arial"/>
              </a:rPr>
              <a:t>Non-nested (leaked) 0.755 — shown for transparency.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3371" y="2674620"/>
            <a:ext cx="4388022" cy="3429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  <a:latin typeface="Arial"/>
              </a:rPr>
              <a:t>Permutation P — pending (time-prohibitive; 1000 × nested LOOCV).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3371" y="3291840"/>
            <a:ext cx="4388022" cy="1920240"/>
          </a:xfrm>
          <a:prstGeom prst="rect">
            <a:avLst/>
          </a:prstGeom>
          <a:solidFill>
            <a:srgbClr val="FFF8EC"/>
          </a:solidFill>
          <a:ln w="9525">
            <a:solidFill>
              <a:srgbClr val="CCAA66"/>
            </a:solidFill>
          </a:ln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Key message (editable):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Leakage-free AUC is modest with 95 % CI touching 0.5.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Pre-CRT tumor-intrinsic classifier = discovery-stage, awaits TNT-matched validation.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Immune (CD8-cytotoxic) axis is the externally-reproducible arm (Fig 7).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6_cascade_BCa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23" y="822960"/>
            <a:ext cx="8532266" cy="5349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668" y="6377940"/>
            <a:ext cx="11457614" cy="3429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900" b="0" i="1">
                <a:solidFill>
                  <a:srgbClr val="6A4C93"/>
                </a:solidFill>
                <a:latin typeface="Arial"/>
              </a:rPr>
              <a:t>Reference (style source): Mariathasan S et al. Nature 2018 Fig 4b; Tumeh PC Nature 2014; Chen DS &amp; Mellman I Nature 2017.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668" y="274320"/>
            <a:ext cx="2681569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2400" b="1" i="0">
                <a:solidFill>
                  <a:srgbClr val="1F3B5C"/>
                </a:solidFill>
                <a:latin typeface="Arial"/>
              </a:rPr>
              <a:t>Figure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668" y="617220"/>
            <a:ext cx="8532266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Within-group + between-group paired Δ with BCa 95 % CI (n = 14)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1714" y="960120"/>
            <a:ext cx="2681569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Arial"/>
              </a:rPr>
              <a:t>Robust (CI excludes 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1714" y="1303020"/>
            <a:ext cx="2681569" cy="548640"/>
          </a:xfrm>
          <a:prstGeom prst="rect">
            <a:avLst/>
          </a:prstGeom>
          <a:solidFill>
            <a:srgbClr val="E8F5F2"/>
          </a:solidFill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100" b="0" i="0">
                <a:solidFill>
                  <a:srgbClr val="2A9D8F"/>
                </a:solidFill>
                <a:latin typeface="Arial"/>
              </a:rPr>
              <a:t>• Treg   diff = +1.21 [+0.06, +1.97]</a:t>
            </a:r>
          </a:p>
          <a:p>
            <a:pPr algn="l"/>
            <a:r>
              <a:rPr sz="1100" b="0" i="0">
                <a:solidFill>
                  <a:srgbClr val="2A9D8F"/>
                </a:solidFill>
                <a:latin typeface="Arial"/>
              </a:rPr>
              <a:t>   MW P = 0.026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1714" y="2057400"/>
            <a:ext cx="2681569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200" b="1" i="0">
                <a:solidFill>
                  <a:srgbClr val="888888"/>
                </a:solidFill>
                <a:latin typeface="Arial"/>
              </a:rPr>
              <a:t>Exploratory (CI spans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1714" y="2400300"/>
            <a:ext cx="2681569" cy="1371600"/>
          </a:xfrm>
          <a:prstGeom prst="rect">
            <a:avLst/>
          </a:prstGeom>
          <a:solidFill>
            <a:srgbClr val="F5F5F5"/>
          </a:solidFill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• MHC-II, CD8 exhaustion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• IGH clonotype count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• SBS5 mutation clearance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• Neoantigen binders / sites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• TRB Shannon diversity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1714" y="3977639"/>
            <a:ext cx="2681569" cy="1920240"/>
          </a:xfrm>
          <a:prstGeom prst="rect">
            <a:avLst/>
          </a:prstGeom>
          <a:solidFill>
            <a:srgbClr val="FFF8EC"/>
          </a:solidFill>
          <a:ln w="9525">
            <a:solidFill>
              <a:srgbClr val="CCAA66"/>
            </a:solidFill>
          </a:ln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Caveat (editable):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Between-group BCa CIs reflect n = 6–7 per group.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Within-good CI excludes 0 for SBS5, neo-binders, Treg — within-group robustness is consistent even where between-group inference is under-powered.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7_external_CD8_validation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23" y="822960"/>
            <a:ext cx="7679039" cy="5623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668" y="6377940"/>
            <a:ext cx="11457614" cy="3429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900" b="0" i="1">
                <a:solidFill>
                  <a:srgbClr val="6A4C93"/>
                </a:solidFill>
                <a:latin typeface="Arial"/>
              </a:rPr>
              <a:t>Reference (style source): Ayers M et al. JCI 2017; Rooney MS et al. Cell 2015; Akiyoshi T et al. JAMA Netw Open 2023.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668" y="274320"/>
            <a:ext cx="2681569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2400" b="1" i="0">
                <a:solidFill>
                  <a:srgbClr val="1F3B5C"/>
                </a:solidFill>
                <a:latin typeface="Arial"/>
              </a:rPr>
              <a:t>Figure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668" y="617220"/>
            <a:ext cx="7922818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External validation — CD8-cytotoxic axis across 10 cohorts, N &gt; 1,000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0376" y="891540"/>
            <a:ext cx="3412906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300" b="1" i="0">
                <a:solidFill>
                  <a:srgbClr val="1F3B5C"/>
                </a:solidFill>
                <a:latin typeface="Arial"/>
              </a:rPr>
              <a:t>KEY 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0376" y="1234440"/>
            <a:ext cx="3412906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  <a:latin typeface="Arial"/>
              </a:rPr>
              <a:t>Our 9-cohort meta-analysis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0376" y="1508760"/>
            <a:ext cx="3412906" cy="480060"/>
          </a:xfrm>
          <a:prstGeom prst="rect">
            <a:avLst/>
          </a:prstGeom>
          <a:solidFill>
            <a:srgbClr val="FDECEE"/>
          </a:solidFill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100" b="0" i="0">
                <a:solidFill>
                  <a:srgbClr val="E63946"/>
                </a:solidFill>
                <a:latin typeface="Arial"/>
              </a:rPr>
              <a:t>   Stouffer Z = +2.74,  P = 0.006</a:t>
            </a:r>
          </a:p>
          <a:p>
            <a:pPr algn="l"/>
            <a:r>
              <a:rPr sz="1100" b="0" i="0">
                <a:solidFill>
                  <a:srgbClr val="E63946"/>
                </a:solidFill>
                <a:latin typeface="Arial"/>
              </a:rPr>
              <a:t>   N = 721 (8/9 cohorts concordant)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0376" y="2125980"/>
            <a:ext cx="3412906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100" b="1" i="0">
                <a:solidFill>
                  <a:srgbClr val="6A4C93"/>
                </a:solidFill>
                <a:latin typeface="Arial"/>
              </a:rPr>
              <a:t>Akiyoshi 2023 (GSE216616)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0376" y="2400300"/>
            <a:ext cx="3412906" cy="685800"/>
          </a:xfrm>
          <a:prstGeom prst="rect">
            <a:avLst/>
          </a:prstGeom>
          <a:solidFill>
            <a:srgbClr val="F1ECF7"/>
          </a:solidFill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100" b="0" i="0">
                <a:solidFill>
                  <a:srgbClr val="6A4C93"/>
                </a:solidFill>
                <a:latin typeface="Arial"/>
              </a:rPr>
              <a:t>   n = 298,  OR = 3.81 [1.82, 7.97]</a:t>
            </a:r>
          </a:p>
          <a:p>
            <a:pPr algn="l"/>
            <a:r>
              <a:rPr sz="1100" b="0" i="0">
                <a:solidFill>
                  <a:srgbClr val="6A4C93"/>
                </a:solidFill>
                <a:latin typeface="Arial"/>
              </a:rPr>
              <a:t>   GZMA × PRF1 P = 0.005</a:t>
            </a:r>
          </a:p>
          <a:p>
            <a:pPr algn="l"/>
            <a:r>
              <a:rPr sz="1100" b="0" i="0">
                <a:solidFill>
                  <a:srgbClr val="6A4C93"/>
                </a:solidFill>
                <a:latin typeface="Arial"/>
              </a:rPr>
              <a:t>   Hallmark IFN-γ enriched in good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0376" y="3223260"/>
            <a:ext cx="3412906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100" b="1" i="0">
                <a:solidFill>
                  <a:srgbClr val="1F3B5C"/>
                </a:solidFill>
                <a:latin typeface="Arial"/>
              </a:rPr>
              <a:t>Combined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0376" y="3497580"/>
            <a:ext cx="3412906" cy="548640"/>
          </a:xfrm>
          <a:prstGeom prst="rect">
            <a:avLst/>
          </a:prstGeom>
          <a:solidFill>
            <a:srgbClr val="E6F0FA"/>
          </a:solidFill>
          <a:ln w="9525">
            <a:solidFill>
              <a:srgbClr val="1F3B5C"/>
            </a:solidFill>
          </a:ln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100" b="0" i="0">
                <a:solidFill>
                  <a:srgbClr val="1F3B5C"/>
                </a:solidFill>
                <a:latin typeface="Arial"/>
              </a:rPr>
              <a:t>   &gt; 1,000 independent patients</a:t>
            </a:r>
          </a:p>
          <a:p>
            <a:pPr algn="l"/>
            <a:r>
              <a:rPr sz="1100" b="0" i="0">
                <a:solidFill>
                  <a:srgbClr val="1F3B5C"/>
                </a:solidFill>
                <a:latin typeface="Arial"/>
              </a:rPr>
              <a:t>   across 10 cohorts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0376" y="4251960"/>
            <a:ext cx="3412906" cy="2057400"/>
          </a:xfrm>
          <a:prstGeom prst="rect">
            <a:avLst/>
          </a:prstGeom>
          <a:solidFill>
            <a:srgbClr val="FFF8EC"/>
          </a:solidFill>
          <a:ln w="9525">
            <a:solidFill>
              <a:srgbClr val="CCAA66"/>
            </a:solidFill>
          </a:ln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Key message (editable):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Arial"/>
              </a:rPr>
              <a:t>The CD8-cytotoxic effector axis (GZMA/B, PRF1, IFNG, CD8A/B, NKG7, CXCL9/10) is the externally -reproducible arm of our discovery. Tumor-intrinsic DSB/HDR/E2F axes are cohort-heterogeneous and remain discovery-stage pending TNT-matched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558" y="342900"/>
            <a:ext cx="11213835" cy="48006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2200" b="1" i="0">
                <a:solidFill>
                  <a:srgbClr val="1F3B5C"/>
                </a:solidFill>
                <a:latin typeface="Arial"/>
              </a:rPr>
              <a:t>How to edit figure text in this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447" y="1028700"/>
            <a:ext cx="10970056" cy="51435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1. TITLE / KEY STATISTICS / CAPTION boxes = native PowerPoint text boxes.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   → Double-click to edit; all text, fonts, colors, and fills are editable.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2. IN-PLOT TEXT (axis labels, cohort names, legend) lives inside the image.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   → For in-plot editing, open the matching PDF in: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       Adobe Illustrator   (Open → File → commit changes → Save As PDF)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       Affinity Designer   (Open → edit text → Export PDF/PNG)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       Inkscape             (Open → Ctrl+T → edit → Save As PDF)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   PDFs are vector and keep every text run as an editable object.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3. Source PDFs for v0.7 additions: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     figures/panels_v3/Fig4B_ROC_nested.pdf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     figures/panels/Fig6_cascade_BCa_forest.pdf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     figures/panels/Fig7_external_CD8_validation_v4.pdf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     figures/supp/SuppFig_consort_sample_flow.pdf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     figures/supp/SuppFig_S3_HLA_LOH_lite_vs_strict.pdf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4. To re-render from scratch with new numbers, source matplotlib scripts are at: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     scripts/33_v3_forest_plot.py       (CD8 forest)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     scripts/38_forest_plus_akiyoshi.py  (forest + Akiyoshi row)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     scripts/39_cascade_and_loh_figures.py (cascade BCa + HLA-LOH)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     scripts/40_build_editable_ppt.py    (this deck)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